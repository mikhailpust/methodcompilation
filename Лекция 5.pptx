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2"/>
  </p:notesMasterIdLst>
  <p:sldIdLst>
    <p:sldId id="369" r:id="rId2"/>
    <p:sldId id="372" r:id="rId3"/>
    <p:sldId id="373" r:id="rId4"/>
    <p:sldId id="374" r:id="rId5"/>
    <p:sldId id="375" r:id="rId6"/>
    <p:sldId id="376" r:id="rId7"/>
    <p:sldId id="377" r:id="rId8"/>
    <p:sldId id="378" r:id="rId9"/>
    <p:sldId id="379" r:id="rId10"/>
    <p:sldId id="380" r:id="rId11"/>
    <p:sldId id="381" r:id="rId12"/>
    <p:sldId id="382" r:id="rId13"/>
    <p:sldId id="383" r:id="rId14"/>
    <p:sldId id="347" r:id="rId15"/>
    <p:sldId id="348" r:id="rId16"/>
    <p:sldId id="350" r:id="rId17"/>
    <p:sldId id="370" r:id="rId18"/>
    <p:sldId id="351" r:id="rId19"/>
    <p:sldId id="384" r:id="rId20"/>
    <p:sldId id="371" r:id="rId21"/>
    <p:sldId id="352" r:id="rId22"/>
    <p:sldId id="353" r:id="rId23"/>
    <p:sldId id="354" r:id="rId24"/>
    <p:sldId id="355" r:id="rId25"/>
    <p:sldId id="356" r:id="rId26"/>
    <p:sldId id="357" r:id="rId27"/>
    <p:sldId id="358" r:id="rId28"/>
    <p:sldId id="385" r:id="rId29"/>
    <p:sldId id="386" r:id="rId30"/>
    <p:sldId id="387" r:id="rId31"/>
  </p:sldIdLst>
  <p:sldSz cx="9144000" cy="6858000" type="screen4x3"/>
  <p:notesSz cx="6858000" cy="9144000"/>
  <p:defaultTextStyle>
    <a:defPPr>
      <a:defRPr lang="ru-RU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0066"/>
    <a:srgbClr val="008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0" d="100"/>
          <a:sy n="90" d="100"/>
        </p:scale>
        <p:origin x="-120" y="-15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9FA5A011-45C5-4630-91F7-E6920A3EE5AA}" type="datetimeFigureOut">
              <a:rPr lang="ru-RU"/>
              <a:pPr>
                <a:defRPr/>
              </a:pPr>
              <a:t>03.02.2024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ru-RU" noProof="0" smtClean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noProof="0" smtClean="0"/>
              <a:t>Образец текста</a:t>
            </a:r>
          </a:p>
          <a:p>
            <a:pPr lvl="1"/>
            <a:r>
              <a:rPr lang="ru-RU" noProof="0" smtClean="0"/>
              <a:t>Второй уровень</a:t>
            </a:r>
          </a:p>
          <a:p>
            <a:pPr lvl="2"/>
            <a:r>
              <a:rPr lang="ru-RU" noProof="0" smtClean="0"/>
              <a:t>Третий уровень</a:t>
            </a:r>
          </a:p>
          <a:p>
            <a:pPr lvl="3"/>
            <a:r>
              <a:rPr lang="ru-RU" noProof="0" smtClean="0"/>
              <a:t>Четвертый уровень</a:t>
            </a:r>
          </a:p>
          <a:p>
            <a:pPr lvl="4"/>
            <a:r>
              <a:rPr lang="ru-RU" noProof="0" smtClean="0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39D9EDD7-1628-48B9-BA8A-9E8A935F91A0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1684941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Образ слайда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3795" name="Заметки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ru-RU" altLang="ru-RU" smtClean="0"/>
          </a:p>
        </p:txBody>
      </p:sp>
      <p:sp>
        <p:nvSpPr>
          <p:cNvPr id="33796" name="Номер слайда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C8602C42-E772-48D8-87A8-DCAB7029CBBC}" type="slidenum">
              <a:rPr lang="ru-RU" altLang="ru-RU">
                <a:latin typeface="Arial" charset="0"/>
              </a:rPr>
              <a:pPr algn="r" eaLnBrk="1" hangingPunct="1">
                <a:spcBef>
                  <a:spcPct val="0"/>
                </a:spcBef>
              </a:pPr>
              <a:t>1</a:t>
            </a:fld>
            <a:endParaRPr lang="ru-RU" altLang="ru-RU">
              <a:latin typeface="Arial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C300780-BED3-48A5-96C7-35E25B41204E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01059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7E97595-E96E-4388-8B59-39E05629B8FF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501247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65C7D3D-2703-4310-BAC8-211EB8AD8C0E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437125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E43396B-585E-4BDD-ABDC-FB4E35FD4CE0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870280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3868695-E7BA-4A7B-96C2-DE218A8DCBF0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15036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10D6DE8-AFA6-4E2D-B314-6F102003F840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163931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452E69D-6ACE-4542-A667-5B13AD89107C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798275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7B98318-3914-48A4-8C66-6F982D71B8FF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064637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ru-RU" noProof="0" smtClean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5C1FDE5-CA5C-48F2-9098-6ADCED94AB4F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977669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9E00327-4E5E-428C-9B8D-BACA10B275D3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619567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E81D602-F3DE-479A-8A8A-66CD9519F3EE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193019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Заголовок и таблиц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аблица 2"/>
          <p:cNvSpPr>
            <a:spLocks noGrp="1"/>
          </p:cNvSpPr>
          <p:nvPr>
            <p:ph type="tbl"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lvl="0"/>
            <a:endParaRPr lang="ru-RU" noProof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8DD3FF0-2091-465B-8F40-37A8F38565DC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0316190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Заголовок, текст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263879F-A343-4D9A-A01C-333329376141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238347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ru-RU" altLang="ru-RU" smtClean="0"/>
              <a:t>Образец заголовка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altLang="ru-RU" smtClean="0"/>
              <a:t>Образец текста</a:t>
            </a:r>
          </a:p>
          <a:p>
            <a:pPr lvl="1"/>
            <a:r>
              <a:rPr lang="ru-RU" altLang="ru-RU" smtClean="0"/>
              <a:t>Второй уровень</a:t>
            </a:r>
          </a:p>
          <a:p>
            <a:pPr lvl="2"/>
            <a:r>
              <a:rPr lang="ru-RU" altLang="ru-RU" smtClean="0"/>
              <a:t>Третий уровень</a:t>
            </a:r>
          </a:p>
          <a:p>
            <a:pPr lvl="3"/>
            <a:r>
              <a:rPr lang="ru-RU" altLang="ru-RU" smtClean="0"/>
              <a:t>Четвертый уровень</a:t>
            </a:r>
          </a:p>
          <a:p>
            <a:pPr lvl="4"/>
            <a:r>
              <a:rPr lang="ru-RU" altLang="ru-RU" smtClean="0"/>
              <a:t>Пятый уровень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2122B6D5-263C-4A3A-A85F-8A182914B4DF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Заголовок 1"/>
          <p:cNvSpPr>
            <a:spLocks noGrp="1"/>
          </p:cNvSpPr>
          <p:nvPr>
            <p:ph type="title" idx="4294967295"/>
          </p:nvPr>
        </p:nvSpPr>
        <p:spPr>
          <a:xfrm>
            <a:off x="0" y="115888"/>
            <a:ext cx="9144000" cy="1512887"/>
          </a:xfrm>
        </p:spPr>
        <p:txBody>
          <a:bodyPr/>
          <a:lstStyle/>
          <a:p>
            <a:r>
              <a:rPr lang="ru-RU" altLang="ru-RU" sz="2800" b="1" smtClean="0"/>
              <a:t>ТОМСКИЙ ГОСУДАРСТВЕННЫЙ УНИВЕРСИТЕТ</a:t>
            </a:r>
            <a:br>
              <a:rPr lang="ru-RU" altLang="ru-RU" sz="2800" b="1" smtClean="0"/>
            </a:br>
            <a:endParaRPr lang="ru-RU" altLang="ru-RU" sz="2800" smtClean="0"/>
          </a:p>
        </p:txBody>
      </p:sp>
      <p:sp>
        <p:nvSpPr>
          <p:cNvPr id="2051" name="Объект 2"/>
          <p:cNvSpPr>
            <a:spLocks noGrp="1"/>
          </p:cNvSpPr>
          <p:nvPr>
            <p:ph idx="4294967295"/>
          </p:nvPr>
        </p:nvSpPr>
        <p:spPr>
          <a:xfrm>
            <a:off x="457200" y="1484313"/>
            <a:ext cx="8229600" cy="4968875"/>
          </a:xfrm>
        </p:spPr>
        <p:txBody>
          <a:bodyPr/>
          <a:lstStyle/>
          <a:p>
            <a:pPr marL="0" indent="0" algn="ctr">
              <a:buFontTx/>
              <a:buNone/>
            </a:pPr>
            <a:r>
              <a:rPr lang="ru-RU" altLang="ru-RU" dirty="0" smtClean="0"/>
              <a:t>Костюк Ю. Л.</a:t>
            </a:r>
          </a:p>
          <a:p>
            <a:pPr marL="0" indent="0" algn="ctr">
              <a:buFontTx/>
              <a:buNone/>
            </a:pPr>
            <a:endParaRPr lang="ru-RU" altLang="ru-RU" sz="3600" b="1" dirty="0" smtClean="0"/>
          </a:p>
          <a:p>
            <a:pPr marL="0" indent="0" algn="ctr">
              <a:buFontTx/>
              <a:buNone/>
            </a:pPr>
            <a:r>
              <a:rPr lang="ru-RU" altLang="ru-RU" sz="3600" b="1"/>
              <a:t>МЕТОДЫ КОМПИЛЯЦИИ</a:t>
            </a:r>
          </a:p>
          <a:p>
            <a:pPr marL="0" indent="0" algn="ctr" eaLnBrk="1" hangingPunct="1">
              <a:buFontTx/>
              <a:buNone/>
            </a:pPr>
            <a:endParaRPr lang="ru-RU" altLang="ru-RU" sz="3600" b="1" dirty="0" smtClean="0"/>
          </a:p>
          <a:p>
            <a:pPr marL="0" indent="0" algn="ctr" eaLnBrk="1" hangingPunct="1">
              <a:buFontTx/>
              <a:buNone/>
            </a:pPr>
            <a:r>
              <a:rPr lang="ru-RU" altLang="ru-RU" sz="3600" b="1" dirty="0" smtClean="0"/>
              <a:t>Лекция 5</a:t>
            </a:r>
            <a:r>
              <a:rPr lang="ru-RU" altLang="ru-RU" sz="3600" dirty="0" smtClean="0"/>
              <a:t> </a:t>
            </a:r>
          </a:p>
          <a:p>
            <a:pPr marL="0" indent="0" algn="ctr">
              <a:buFontTx/>
              <a:buNone/>
            </a:pPr>
            <a:endParaRPr lang="ru-RU" altLang="ru-RU" sz="3600" dirty="0" smtClean="0"/>
          </a:p>
        </p:txBody>
      </p:sp>
      <p:sp>
        <p:nvSpPr>
          <p:cNvPr id="2052" name="Номер слайда 1"/>
          <p:cNvSpPr txBox="1">
            <a:spLocks noGrp="1"/>
          </p:cNvSpPr>
          <p:nvPr/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52430AC6-CDE3-4256-897D-5DEAED7E8658}" type="slidenum">
              <a:rPr lang="ru-RU" altLang="ru-RU" sz="1400"/>
              <a:pPr algn="r" eaLnBrk="1" hangingPunct="1">
                <a:spcBef>
                  <a:spcPct val="0"/>
                </a:spcBef>
                <a:buFontTx/>
                <a:buNone/>
              </a:pPr>
              <a:t>1</a:t>
            </a:fld>
            <a:endParaRPr lang="ru-RU" altLang="ru-RU" sz="1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79388" y="0"/>
            <a:ext cx="8785225" cy="908050"/>
          </a:xfrm>
        </p:spPr>
        <p:txBody>
          <a:bodyPr/>
          <a:lstStyle/>
          <a:p>
            <a:pPr eaLnBrk="1" hangingPunct="1"/>
            <a:r>
              <a:rPr lang="ru-RU" altLang="ru-RU" sz="3200" b="1" smtClean="0">
                <a:solidFill>
                  <a:schemeClr val="accent2"/>
                </a:solidFill>
              </a:rPr>
              <a:t>Грамматика со сравнениями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981075"/>
            <a:ext cx="8362950" cy="5472113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Результат операции сравнения </a:t>
            </a:r>
            <a:r>
              <a:rPr lang="en-US" altLang="ru-RU" sz="2400" smtClean="0">
                <a:latin typeface="Times New Roman" pitchFamily="18" charset="0"/>
              </a:rPr>
              <a:t>(</a:t>
            </a:r>
            <a:r>
              <a:rPr lang="ru-RU" altLang="ru-RU" sz="2400" smtClean="0">
                <a:latin typeface="Times New Roman" pitchFamily="18" charset="0"/>
              </a:rPr>
              <a:t>=, ≠, &lt;, &gt;, </a:t>
            </a:r>
            <a:r>
              <a:rPr lang="ru-RU" altLang="ru-RU" sz="2400" smtClean="0">
                <a:latin typeface="Times New Roman" pitchFamily="18" charset="0"/>
                <a:cs typeface="Times New Roman" pitchFamily="18" charset="0"/>
              </a:rPr>
              <a:t>≤</a:t>
            </a:r>
            <a:r>
              <a:rPr lang="en-US" altLang="ru-RU" sz="2400" smtClean="0">
                <a:latin typeface="Times New Roman" pitchFamily="18" charset="0"/>
                <a:cs typeface="Arial" charset="0"/>
              </a:rPr>
              <a:t>, </a:t>
            </a:r>
            <a:r>
              <a:rPr lang="ru-RU" altLang="ru-RU" sz="2400" smtClean="0">
                <a:latin typeface="Times New Roman" pitchFamily="18" charset="0"/>
                <a:cs typeface="Times New Roman" pitchFamily="18" charset="0"/>
              </a:rPr>
              <a:t>≥</a:t>
            </a:r>
            <a:r>
              <a:rPr lang="en-US" altLang="ru-RU" sz="2400" smtClean="0">
                <a:latin typeface="Times New Roman" pitchFamily="18" charset="0"/>
              </a:rPr>
              <a:t>) </a:t>
            </a:r>
            <a:r>
              <a:rPr lang="ru-RU" altLang="ru-RU" sz="2400" smtClean="0">
                <a:latin typeface="Times New Roman" pitchFamily="18" charset="0"/>
              </a:rPr>
              <a:t>– истина (</a:t>
            </a:r>
            <a:r>
              <a:rPr lang="en-US" altLang="ru-RU" sz="2400" smtClean="0">
                <a:latin typeface="Times New Roman" pitchFamily="18" charset="0"/>
              </a:rPr>
              <a:t>true</a:t>
            </a:r>
            <a:r>
              <a:rPr lang="ru-RU" altLang="ru-RU" sz="2400" smtClean="0">
                <a:latin typeface="Times New Roman" pitchFamily="18" charset="0"/>
              </a:rPr>
              <a:t>)</a:t>
            </a:r>
            <a:r>
              <a:rPr lang="en-US" altLang="ru-RU" sz="2400" smtClean="0">
                <a:latin typeface="Times New Roman" pitchFamily="18" charset="0"/>
              </a:rPr>
              <a:t> </a:t>
            </a:r>
            <a:r>
              <a:rPr lang="ru-RU" altLang="ru-RU" sz="2400" smtClean="0">
                <a:latin typeface="Times New Roman" pitchFamily="18" charset="0"/>
              </a:rPr>
              <a:t>или ложь (</a:t>
            </a:r>
            <a:r>
              <a:rPr lang="en-US" altLang="ru-RU" sz="2400" smtClean="0">
                <a:latin typeface="Times New Roman" pitchFamily="18" charset="0"/>
              </a:rPr>
              <a:t>false</a:t>
            </a:r>
            <a:r>
              <a:rPr lang="ru-RU" altLang="ru-RU" sz="2400" smtClean="0">
                <a:latin typeface="Times New Roman" pitchFamily="18" charset="0"/>
              </a:rPr>
              <a:t>)</a:t>
            </a:r>
            <a:r>
              <a:rPr lang="en-US" altLang="ru-RU" sz="2400" smtClean="0">
                <a:latin typeface="Times New Roman" pitchFamily="18" charset="0"/>
              </a:rPr>
              <a:t>.</a:t>
            </a:r>
            <a:r>
              <a:rPr lang="ru-RU" altLang="ru-RU" sz="2400" smtClean="0">
                <a:latin typeface="Times New Roman" pitchFamily="18" charset="0"/>
              </a:rPr>
              <a:t> Во входной цепочке символов операция ≠ может кодироваться, например, как &lt;&gt;, операция </a:t>
            </a:r>
            <a:r>
              <a:rPr lang="ru-RU" altLang="ru-RU" sz="2400" smtClean="0">
                <a:latin typeface="Times New Roman" pitchFamily="18" charset="0"/>
                <a:cs typeface="Times New Roman" pitchFamily="18" charset="0"/>
              </a:rPr>
              <a:t>≤ в виде </a:t>
            </a:r>
            <a:r>
              <a:rPr lang="en-US" altLang="ru-RU" sz="2400" smtClean="0">
                <a:latin typeface="Times New Roman" pitchFamily="18" charset="0"/>
                <a:cs typeface="Times New Roman" pitchFamily="18" charset="0"/>
              </a:rPr>
              <a:t>&lt;=, </a:t>
            </a:r>
            <a:r>
              <a:rPr lang="ru-RU" altLang="ru-RU" sz="2400" smtClean="0">
                <a:latin typeface="Times New Roman" pitchFamily="18" charset="0"/>
              </a:rPr>
              <a:t>операция </a:t>
            </a:r>
            <a:r>
              <a:rPr lang="ru-RU" altLang="ru-RU" sz="2400" smtClean="0">
                <a:latin typeface="Times New Roman" pitchFamily="18" charset="0"/>
                <a:cs typeface="Times New Roman" pitchFamily="18" charset="0"/>
              </a:rPr>
              <a:t>≥ в виде </a:t>
            </a:r>
            <a:r>
              <a:rPr lang="en-US" altLang="ru-RU" sz="2400" smtClean="0">
                <a:latin typeface="Times New Roman" pitchFamily="18" charset="0"/>
                <a:cs typeface="Times New Roman" pitchFamily="18" charset="0"/>
              </a:rPr>
              <a:t>&gt;=.</a:t>
            </a:r>
            <a:endParaRPr lang="en-US" altLang="ru-RU" sz="2400" smtClean="0">
              <a:latin typeface="Times New Roman" pitchFamily="18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Порождающие правила для сравнения двух выражений</a:t>
            </a:r>
            <a:r>
              <a:rPr lang="en-US" altLang="ru-RU" sz="2400" smtClean="0">
                <a:latin typeface="Times New Roman" pitchFamily="18" charset="0"/>
              </a:rPr>
              <a:t> </a:t>
            </a:r>
            <a:r>
              <a:rPr lang="ru-RU" altLang="ru-RU" sz="2400" smtClean="0">
                <a:latin typeface="Times New Roman" pitchFamily="18" charset="0"/>
              </a:rPr>
              <a:t>(например, операциями &lt; и </a:t>
            </a:r>
            <a:r>
              <a:rPr lang="en-US" altLang="ru-RU" sz="2400" smtClean="0">
                <a:latin typeface="Times New Roman" pitchFamily="18" charset="0"/>
              </a:rPr>
              <a:t>&gt;</a:t>
            </a:r>
            <a:r>
              <a:rPr lang="ru-RU" altLang="ru-RU" sz="2400" smtClean="0">
                <a:latin typeface="Times New Roman" pitchFamily="18" charset="0"/>
              </a:rPr>
              <a:t>):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 </a:t>
            </a:r>
            <a:r>
              <a:rPr lang="en-US" altLang="ru-RU" sz="2400" smtClean="0">
                <a:latin typeface="Times New Roman" pitchFamily="18" charset="0"/>
              </a:rPr>
              <a:t>		</a:t>
            </a:r>
            <a:r>
              <a:rPr lang="pt-BR" altLang="ru-RU" sz="2400" i="1" smtClean="0">
                <a:latin typeface="Times New Roman" pitchFamily="18" charset="0"/>
              </a:rPr>
              <a:t>C</a:t>
            </a:r>
            <a:r>
              <a:rPr lang="pt-BR" altLang="ru-RU" sz="2400" smtClean="0">
                <a:latin typeface="Times New Roman" pitchFamily="18" charset="0"/>
              </a:rPr>
              <a:t> </a:t>
            </a:r>
            <a:r>
              <a:rPr lang="ru-RU" altLang="ru-RU" sz="2400" smtClean="0">
                <a:latin typeface="Times New Roman" pitchFamily="18" charset="0"/>
              </a:rPr>
              <a:t>→</a:t>
            </a:r>
            <a:r>
              <a:rPr lang="pt-BR" altLang="ru-RU" sz="2400" smtClean="0">
                <a:latin typeface="Times New Roman" pitchFamily="18" charset="0"/>
              </a:rPr>
              <a:t> </a:t>
            </a:r>
            <a:r>
              <a:rPr lang="pt-BR" altLang="ru-RU" sz="2400" i="1" smtClean="0">
                <a:latin typeface="Times New Roman" pitchFamily="18" charset="0"/>
              </a:rPr>
              <a:t>S</a:t>
            </a:r>
            <a:r>
              <a:rPr lang="ru-RU" altLang="ru-RU" sz="2400" smtClean="0">
                <a:latin typeface="Times New Roman" pitchFamily="18" charset="0"/>
              </a:rPr>
              <a:t>&lt;</a:t>
            </a:r>
            <a:r>
              <a:rPr lang="pt-BR" altLang="ru-RU" sz="2400" i="1" smtClean="0">
                <a:latin typeface="Times New Roman" pitchFamily="18" charset="0"/>
              </a:rPr>
              <a:t>SZ </a:t>
            </a:r>
            <a:r>
              <a:rPr lang="en-US" altLang="ru-RU" sz="2400" smtClean="0">
                <a:latin typeface="Times New Roman" pitchFamily="18" charset="0"/>
              </a:rPr>
              <a:t>| </a:t>
            </a:r>
            <a:r>
              <a:rPr lang="pt-BR" altLang="ru-RU" sz="2400" i="1" smtClean="0">
                <a:latin typeface="Times New Roman" pitchFamily="18" charset="0"/>
              </a:rPr>
              <a:t>S</a:t>
            </a:r>
            <a:r>
              <a:rPr lang="en-US" altLang="ru-RU" sz="2400" smtClean="0">
                <a:latin typeface="Times New Roman" pitchFamily="18" charset="0"/>
              </a:rPr>
              <a:t>&gt;</a:t>
            </a:r>
            <a:r>
              <a:rPr lang="pt-BR" altLang="ru-RU" sz="2400" i="1" smtClean="0">
                <a:latin typeface="Times New Roman" pitchFamily="18" charset="0"/>
              </a:rPr>
              <a:t>SZ</a:t>
            </a:r>
            <a:endParaRPr lang="ru-RU" altLang="ru-RU" sz="2400" i="1" smtClean="0">
              <a:latin typeface="Times New Roman" pitchFamily="18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После преобразования к нормальной форме Грейбах и факторизации:</a:t>
            </a:r>
            <a:endParaRPr lang="en-US" altLang="ru-RU" sz="2400" smtClean="0">
              <a:latin typeface="Times New Roman" pitchFamily="18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ru-RU" sz="2400" i="1" smtClean="0">
                <a:latin typeface="Times New Roman" pitchFamily="18" charset="0"/>
              </a:rPr>
              <a:t>		C </a:t>
            </a:r>
            <a:r>
              <a:rPr lang="ru-RU" altLang="ru-RU" sz="2400" smtClean="0">
                <a:latin typeface="Times New Roman" pitchFamily="18" charset="0"/>
              </a:rPr>
              <a:t>→</a:t>
            </a:r>
            <a:r>
              <a:rPr lang="en-US" altLang="ru-RU" sz="2400" i="1" smtClean="0">
                <a:latin typeface="Times New Roman" pitchFamily="18" charset="0"/>
              </a:rPr>
              <a:t> </a:t>
            </a:r>
            <a:r>
              <a:rPr lang="ru-RU" altLang="ru-RU" sz="2400" smtClean="0">
                <a:latin typeface="Times New Roman" pitchFamily="18" charset="0"/>
              </a:rPr>
              <a:t>(</a:t>
            </a:r>
            <a:r>
              <a:rPr lang="en-US" altLang="ru-RU" sz="2400" i="1" smtClean="0">
                <a:latin typeface="Times New Roman" pitchFamily="18" charset="0"/>
              </a:rPr>
              <a:t>S</a:t>
            </a:r>
            <a:r>
              <a:rPr lang="ru-RU" altLang="ru-RU" sz="2400" smtClean="0">
                <a:latin typeface="Times New Roman" pitchFamily="18" charset="0"/>
              </a:rPr>
              <a:t>)</a:t>
            </a:r>
            <a:r>
              <a:rPr lang="en-US" altLang="ru-RU" sz="2400" i="1" smtClean="0">
                <a:latin typeface="Times New Roman" pitchFamily="18" charset="0"/>
              </a:rPr>
              <a:t>VUD </a:t>
            </a:r>
            <a:r>
              <a:rPr lang="ru-RU" altLang="ru-RU" sz="2400" i="1" smtClean="0">
                <a:latin typeface="Times New Roman" pitchFamily="18" charset="0"/>
              </a:rPr>
              <a:t>|</a:t>
            </a:r>
            <a:r>
              <a:rPr lang="en-US" altLang="ru-RU" sz="2400" i="1" smtClean="0">
                <a:latin typeface="Times New Roman" pitchFamily="18" charset="0"/>
              </a:rPr>
              <a:t> aHVUD </a:t>
            </a:r>
            <a:r>
              <a:rPr lang="ru-RU" altLang="ru-RU" sz="2400" smtClean="0">
                <a:latin typeface="Times New Roman" pitchFamily="18" charset="0"/>
              </a:rPr>
              <a:t>|</a:t>
            </a:r>
            <a:r>
              <a:rPr lang="en-US" altLang="ru-RU" sz="2400" smtClean="0">
                <a:latin typeface="Times New Roman" pitchFamily="18" charset="0"/>
              </a:rPr>
              <a:t> </a:t>
            </a:r>
            <a:r>
              <a:rPr lang="en-US" altLang="ru-RU" sz="2400" i="1" smtClean="0">
                <a:latin typeface="Times New Roman" pitchFamily="18" charset="0"/>
              </a:rPr>
              <a:t>kVUD</a:t>
            </a:r>
            <a:r>
              <a:rPr lang="ru-RU" altLang="ru-RU" sz="2400" i="1" smtClean="0">
                <a:latin typeface="Times New Roman" pitchFamily="18" charset="0"/>
              </a:rPr>
              <a:t> </a:t>
            </a:r>
            <a:r>
              <a:rPr lang="pt-BR" altLang="ru-RU" sz="2400" smtClean="0">
                <a:latin typeface="Times New Roman" pitchFamily="18" charset="0"/>
              </a:rPr>
              <a:t>|</a:t>
            </a:r>
            <a:r>
              <a:rPr lang="ru-RU" altLang="ru-RU" sz="2400" smtClean="0">
                <a:latin typeface="Times New Roman" pitchFamily="18" charset="0"/>
              </a:rPr>
              <a:t> +</a:t>
            </a:r>
            <a:r>
              <a:rPr lang="en-US" altLang="ru-RU" sz="2400" i="1" smtClean="0">
                <a:latin typeface="Times New Roman" pitchFamily="18" charset="0"/>
              </a:rPr>
              <a:t>GV</a:t>
            </a:r>
            <a:r>
              <a:rPr lang="pt-BR" altLang="ru-RU" sz="2400" i="1" smtClean="0">
                <a:latin typeface="Times New Roman" pitchFamily="18" charset="0"/>
              </a:rPr>
              <a:t>U</a:t>
            </a:r>
            <a:r>
              <a:rPr lang="en-US" altLang="ru-RU" sz="2400" i="1" smtClean="0">
                <a:latin typeface="Times New Roman" pitchFamily="18" charset="0"/>
              </a:rPr>
              <a:t>D </a:t>
            </a:r>
            <a:r>
              <a:rPr lang="pt-BR" altLang="ru-RU" sz="2400" smtClean="0">
                <a:latin typeface="Times New Roman" pitchFamily="18" charset="0"/>
              </a:rPr>
              <a:t>| </a:t>
            </a:r>
            <a:r>
              <a:rPr lang="ru-RU" altLang="ru-RU" sz="2400" smtClean="0">
                <a:latin typeface="Times New Roman" pitchFamily="18" charset="0"/>
              </a:rPr>
              <a:t>–</a:t>
            </a:r>
            <a:r>
              <a:rPr lang="pt-BR" altLang="ru-RU" sz="2400" i="1" smtClean="0">
                <a:latin typeface="Times New Roman" pitchFamily="18" charset="0"/>
              </a:rPr>
              <a:t>G</a:t>
            </a:r>
            <a:r>
              <a:rPr lang="en-US" altLang="ru-RU" sz="2400" i="1" smtClean="0">
                <a:latin typeface="Times New Roman" pitchFamily="18" charset="0"/>
              </a:rPr>
              <a:t>V</a:t>
            </a:r>
            <a:r>
              <a:rPr lang="pt-BR" altLang="ru-RU" sz="2400" i="1" smtClean="0">
                <a:latin typeface="Times New Roman" pitchFamily="18" charset="0"/>
              </a:rPr>
              <a:t>U</a:t>
            </a:r>
            <a:r>
              <a:rPr lang="en-US" altLang="ru-RU" sz="2400" i="1" smtClean="0">
                <a:latin typeface="Times New Roman" pitchFamily="18" charset="0"/>
              </a:rPr>
              <a:t>D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pt-BR" altLang="ru-RU" sz="2400" i="1" smtClean="0">
                <a:latin typeface="Times New Roman" pitchFamily="18" charset="0"/>
              </a:rPr>
              <a:t>		D </a:t>
            </a:r>
            <a:r>
              <a:rPr lang="ru-RU" altLang="ru-RU" sz="2400" smtClean="0">
                <a:latin typeface="Times New Roman" pitchFamily="18" charset="0"/>
              </a:rPr>
              <a:t>→</a:t>
            </a:r>
            <a:r>
              <a:rPr lang="pt-BR" altLang="ru-RU" sz="2400" i="1" smtClean="0">
                <a:latin typeface="Times New Roman" pitchFamily="18" charset="0"/>
              </a:rPr>
              <a:t> </a:t>
            </a:r>
            <a:r>
              <a:rPr lang="ru-RU" altLang="ru-RU" sz="2400" i="1" smtClean="0">
                <a:latin typeface="Times New Roman" pitchFamily="18" charset="0"/>
              </a:rPr>
              <a:t>&lt;</a:t>
            </a:r>
            <a:r>
              <a:rPr lang="pt-BR" altLang="ru-RU" sz="2400" i="1" smtClean="0">
                <a:latin typeface="Times New Roman" pitchFamily="18" charset="0"/>
              </a:rPr>
              <a:t>SZ </a:t>
            </a:r>
            <a:r>
              <a:rPr lang="en-US" altLang="ru-RU" sz="2400" smtClean="0">
                <a:latin typeface="Times New Roman" pitchFamily="18" charset="0"/>
              </a:rPr>
              <a:t>| &gt;</a:t>
            </a:r>
            <a:r>
              <a:rPr lang="pt-BR" altLang="ru-RU" sz="2400" i="1" smtClean="0">
                <a:latin typeface="Times New Roman" pitchFamily="18" charset="0"/>
              </a:rPr>
              <a:t>SZ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ru-RU" sz="2400" smtClean="0">
                <a:latin typeface="Times New Roman" pitchFamily="18" charset="0"/>
              </a:rPr>
              <a:t>C</a:t>
            </a:r>
            <a:r>
              <a:rPr lang="ru-RU" altLang="ru-RU" sz="2400" smtClean="0">
                <a:latin typeface="Times New Roman" pitchFamily="18" charset="0"/>
              </a:rPr>
              <a:t>емантические действия генератора ОПС для нетерминала </a:t>
            </a:r>
            <a:r>
              <a:rPr lang="ru-RU" altLang="ru-RU" sz="2400" i="1" smtClean="0">
                <a:latin typeface="Times New Roman" pitchFamily="18" charset="0"/>
              </a:rPr>
              <a:t>С</a:t>
            </a:r>
            <a:r>
              <a:rPr lang="ru-RU" altLang="ru-RU" sz="2400" smtClean="0">
                <a:latin typeface="Times New Roman" pitchFamily="18" charset="0"/>
              </a:rPr>
              <a:t>: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		□□□□□□ </a:t>
            </a:r>
            <a:r>
              <a:rPr lang="ru-RU" altLang="ru-RU" sz="2400" i="1" smtClean="0">
                <a:latin typeface="Times New Roman" pitchFamily="18" charset="0"/>
              </a:rPr>
              <a:t>|</a:t>
            </a:r>
            <a:r>
              <a:rPr lang="en-US" altLang="ru-RU" sz="2400" smtClean="0">
                <a:latin typeface="Times New Roman" pitchFamily="18" charset="0"/>
              </a:rPr>
              <a:t> </a:t>
            </a:r>
            <a:r>
              <a:rPr lang="pt-BR" altLang="ru-RU" sz="2400" i="1" smtClean="0">
                <a:latin typeface="Times New Roman" pitchFamily="18" charset="0"/>
              </a:rPr>
              <a:t>a</a:t>
            </a:r>
            <a:r>
              <a:rPr lang="ru-RU" altLang="ru-RU" sz="2400" smtClean="0">
                <a:latin typeface="Times New Roman" pitchFamily="18" charset="0"/>
              </a:rPr>
              <a:t>□□□□ </a:t>
            </a:r>
            <a:r>
              <a:rPr lang="ru-RU" altLang="ru-RU" sz="2400" i="1" smtClean="0">
                <a:latin typeface="Times New Roman" pitchFamily="18" charset="0"/>
              </a:rPr>
              <a:t>|</a:t>
            </a:r>
            <a:r>
              <a:rPr lang="ru-RU" altLang="ru-RU" sz="2400" smtClean="0">
                <a:latin typeface="Times New Roman" pitchFamily="18" charset="0"/>
              </a:rPr>
              <a:t> </a:t>
            </a:r>
            <a:r>
              <a:rPr lang="en-US" altLang="ru-RU" sz="2400" i="1" smtClean="0">
                <a:latin typeface="Times New Roman" pitchFamily="18" charset="0"/>
              </a:rPr>
              <a:t>k</a:t>
            </a:r>
            <a:r>
              <a:rPr lang="ru-RU" altLang="ru-RU" sz="2400" smtClean="0">
                <a:latin typeface="Times New Roman" pitchFamily="18" charset="0"/>
              </a:rPr>
              <a:t>□□□ </a:t>
            </a:r>
            <a:r>
              <a:rPr lang="ru-RU" altLang="ru-RU" sz="2400" i="1" smtClean="0">
                <a:latin typeface="Times New Roman" pitchFamily="18" charset="0"/>
              </a:rPr>
              <a:t>|</a:t>
            </a:r>
            <a:r>
              <a:rPr lang="ru-RU" altLang="ru-RU" sz="2400" smtClean="0">
                <a:latin typeface="Times New Roman" pitchFamily="18" charset="0"/>
              </a:rPr>
              <a:t> □□□□□ </a:t>
            </a:r>
            <a:r>
              <a:rPr lang="ru-RU" altLang="ru-RU" sz="2400" i="1" smtClean="0">
                <a:latin typeface="Times New Roman" pitchFamily="18" charset="0"/>
              </a:rPr>
              <a:t>|</a:t>
            </a:r>
            <a:r>
              <a:rPr lang="ru-RU" altLang="ru-RU" sz="2400" smtClean="0">
                <a:latin typeface="Times New Roman" pitchFamily="18" charset="0"/>
              </a:rPr>
              <a:t> □□–</a:t>
            </a:r>
            <a:r>
              <a:rPr lang="en-US" altLang="ru-RU" sz="2400" smtClean="0">
                <a:latin typeface="Times New Roman" pitchFamily="18" charset="0"/>
              </a:rPr>
              <a:t>’</a:t>
            </a:r>
            <a:r>
              <a:rPr lang="ru-RU" altLang="ru-RU" sz="2400" smtClean="0">
                <a:latin typeface="Times New Roman" pitchFamily="18" charset="0"/>
              </a:rPr>
              <a:t>□□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     а для нетерминала </a:t>
            </a:r>
            <a:r>
              <a:rPr lang="en-US" altLang="ru-RU" sz="2400" i="1" smtClean="0">
                <a:latin typeface="Times New Roman" pitchFamily="18" charset="0"/>
              </a:rPr>
              <a:t>D</a:t>
            </a:r>
            <a:r>
              <a:rPr lang="ru-RU" altLang="ru-RU" sz="2400" smtClean="0">
                <a:latin typeface="Times New Roman" pitchFamily="18" charset="0"/>
              </a:rPr>
              <a:t> соответственно:</a:t>
            </a:r>
            <a:endParaRPr lang="en-US" altLang="ru-RU" sz="2400" smtClean="0">
              <a:latin typeface="Times New Roman" pitchFamily="18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ru-RU" sz="2400" smtClean="0">
                <a:latin typeface="Times New Roman" pitchFamily="18" charset="0"/>
              </a:rPr>
              <a:t>		</a:t>
            </a:r>
            <a:r>
              <a:rPr lang="ru-RU" altLang="ru-RU" sz="2400" smtClean="0">
                <a:latin typeface="Times New Roman" pitchFamily="18" charset="0"/>
              </a:rPr>
              <a:t>□□&lt;</a:t>
            </a:r>
            <a:r>
              <a:rPr lang="en-US" altLang="ru-RU" sz="2400" smtClean="0">
                <a:latin typeface="Times New Roman" pitchFamily="18" charset="0"/>
              </a:rPr>
              <a:t> </a:t>
            </a:r>
            <a:r>
              <a:rPr lang="ru-RU" altLang="ru-RU" sz="2400" smtClean="0">
                <a:latin typeface="Times New Roman" pitchFamily="18" charset="0"/>
              </a:rPr>
              <a:t> </a:t>
            </a:r>
            <a:r>
              <a:rPr lang="en-US" altLang="ru-RU" sz="2400" smtClean="0">
                <a:latin typeface="Times New Roman" pitchFamily="18" charset="0"/>
              </a:rPr>
              <a:t> </a:t>
            </a:r>
            <a:r>
              <a:rPr lang="ru-RU" altLang="ru-RU" sz="2400" i="1" smtClean="0">
                <a:latin typeface="Times New Roman" pitchFamily="18" charset="0"/>
              </a:rPr>
              <a:t>|</a:t>
            </a:r>
            <a:r>
              <a:rPr lang="en-US" altLang="ru-RU" sz="2400" smtClean="0">
                <a:latin typeface="Times New Roman" pitchFamily="18" charset="0"/>
              </a:rPr>
              <a:t>    </a:t>
            </a:r>
            <a:r>
              <a:rPr lang="ru-RU" altLang="ru-RU" sz="2400" smtClean="0">
                <a:latin typeface="Times New Roman" pitchFamily="18" charset="0"/>
              </a:rPr>
              <a:t>□□&gt;</a:t>
            </a:r>
          </a:p>
        </p:txBody>
      </p:sp>
      <p:sp>
        <p:nvSpPr>
          <p:cNvPr id="3076" name="Номер слайда 1"/>
          <p:cNvSpPr txBox="1">
            <a:spLocks noGrp="1"/>
          </p:cNvSpPr>
          <p:nvPr/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2F8F628B-5AE8-44C7-B496-FE99FE1B61D0}" type="slidenum">
              <a:rPr lang="ru-RU" altLang="ru-RU" sz="1400"/>
              <a:pPr algn="r" eaLnBrk="1" hangingPunct="1">
                <a:spcBef>
                  <a:spcPct val="0"/>
                </a:spcBef>
                <a:buFontTx/>
                <a:buNone/>
              </a:pPr>
              <a:t>2</a:t>
            </a:fld>
            <a:endParaRPr lang="ru-RU" altLang="ru-RU" sz="1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323850" y="0"/>
            <a:ext cx="8424863" cy="908050"/>
          </a:xfrm>
        </p:spPr>
        <p:txBody>
          <a:bodyPr/>
          <a:lstStyle/>
          <a:p>
            <a:pPr eaLnBrk="1" hangingPunct="1"/>
            <a:r>
              <a:rPr lang="ru-RU" altLang="ru-RU" sz="3200" b="1" smtClean="0">
                <a:solidFill>
                  <a:schemeClr val="accent2"/>
                </a:solidFill>
              </a:rPr>
              <a:t>Грамматика с условными</a:t>
            </a:r>
            <a:r>
              <a:rPr lang="en-US" altLang="ru-RU" sz="3200" b="1" smtClean="0">
                <a:solidFill>
                  <a:schemeClr val="accent2"/>
                </a:solidFill>
              </a:rPr>
              <a:t> </a:t>
            </a:r>
            <a:r>
              <a:rPr lang="ru-RU" altLang="ru-RU" sz="3200" b="1" smtClean="0">
                <a:solidFill>
                  <a:schemeClr val="accent2"/>
                </a:solidFill>
              </a:rPr>
              <a:t>операторами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052513"/>
            <a:ext cx="8229600" cy="5616575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Порождающие правила, задающие условные операторы в полной и сокращенной форме (</a:t>
            </a:r>
            <a:r>
              <a:rPr lang="ru-RU" altLang="ru-RU" sz="2400" smtClean="0">
                <a:latin typeface="Times New Roman" pitchFamily="18" charset="0"/>
                <a:cs typeface="Times New Roman" pitchFamily="18" charset="0"/>
              </a:rPr>
              <a:t>служебные слова</a:t>
            </a:r>
            <a:r>
              <a:rPr lang="ru-RU" altLang="ru-RU" sz="2400" smtClean="0">
                <a:latin typeface="Times New Roman" pitchFamily="18" charset="0"/>
              </a:rPr>
              <a:t> </a:t>
            </a:r>
            <a:r>
              <a:rPr lang="en-US" altLang="ru-RU" sz="2400" b="1" smtClean="0">
                <a:latin typeface="Times New Roman" pitchFamily="18" charset="0"/>
              </a:rPr>
              <a:t>if</a:t>
            </a:r>
            <a:r>
              <a:rPr lang="ru-RU" altLang="ru-RU" sz="2400" smtClean="0">
                <a:latin typeface="Times New Roman" pitchFamily="18" charset="0"/>
              </a:rPr>
              <a:t>, </a:t>
            </a:r>
            <a:r>
              <a:rPr lang="en-US" altLang="ru-RU" sz="2400" b="1" smtClean="0">
                <a:latin typeface="Times New Roman" pitchFamily="18" charset="0"/>
              </a:rPr>
              <a:t>then</a:t>
            </a:r>
            <a:r>
              <a:rPr lang="ru-RU" altLang="ru-RU" sz="2400" smtClean="0">
                <a:latin typeface="Times New Roman" pitchFamily="18" charset="0"/>
              </a:rPr>
              <a:t>, </a:t>
            </a:r>
            <a:r>
              <a:rPr lang="en-US" altLang="ru-RU" sz="2400" b="1" smtClean="0">
                <a:latin typeface="Times New Roman" pitchFamily="18" charset="0"/>
              </a:rPr>
              <a:t>else</a:t>
            </a:r>
            <a:r>
              <a:rPr lang="ru-RU" altLang="ru-RU" sz="2400" b="1" smtClean="0">
                <a:latin typeface="Times New Roman" pitchFamily="18" charset="0"/>
              </a:rPr>
              <a:t> </a:t>
            </a:r>
            <a:r>
              <a:rPr lang="ru-RU" altLang="ru-RU" sz="2400" smtClean="0">
                <a:latin typeface="Times New Roman" pitchFamily="18" charset="0"/>
                <a:cs typeface="Times New Roman" pitchFamily="18" charset="0"/>
              </a:rPr>
              <a:t>– терминалы</a:t>
            </a:r>
            <a:r>
              <a:rPr lang="ru-RU" altLang="ru-RU" sz="2400" smtClean="0">
                <a:latin typeface="Times New Roman" pitchFamily="18" charset="0"/>
              </a:rPr>
              <a:t>):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 </a:t>
            </a:r>
            <a:r>
              <a:rPr lang="en-US" altLang="ru-RU" sz="2400" smtClean="0">
                <a:latin typeface="Times New Roman" pitchFamily="18" charset="0"/>
              </a:rPr>
              <a:t>			</a:t>
            </a:r>
            <a:r>
              <a:rPr lang="en-US" altLang="ru-RU" sz="2400" i="1" smtClean="0">
                <a:latin typeface="Times New Roman" pitchFamily="18" charset="0"/>
              </a:rPr>
              <a:t>A → </a:t>
            </a:r>
            <a:r>
              <a:rPr lang="en-US" altLang="ru-RU" sz="2400" b="1" smtClean="0">
                <a:latin typeface="Times New Roman" pitchFamily="18" charset="0"/>
              </a:rPr>
              <a:t>if</a:t>
            </a:r>
            <a:r>
              <a:rPr lang="en-US" altLang="ru-RU" sz="2400" i="1" smtClean="0">
                <a:latin typeface="Times New Roman" pitchFamily="18" charset="0"/>
              </a:rPr>
              <a:t> C </a:t>
            </a:r>
            <a:r>
              <a:rPr lang="en-US" altLang="ru-RU" sz="2400" b="1" smtClean="0">
                <a:latin typeface="Times New Roman" pitchFamily="18" charset="0"/>
              </a:rPr>
              <a:t>then</a:t>
            </a:r>
            <a:r>
              <a:rPr lang="en-US" altLang="ru-RU" sz="2400" i="1" smtClean="0">
                <a:latin typeface="Times New Roman" pitchFamily="18" charset="0"/>
              </a:rPr>
              <a:t> AEZ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ru-RU" sz="2400" i="1" smtClean="0">
                <a:latin typeface="Times New Roman" pitchFamily="18" charset="0"/>
              </a:rPr>
              <a:t>			E </a:t>
            </a:r>
            <a:r>
              <a:rPr lang="ru-RU" altLang="ru-RU" sz="2400" i="1" smtClean="0">
                <a:latin typeface="Times New Roman" pitchFamily="18" charset="0"/>
              </a:rPr>
              <a:t>→</a:t>
            </a:r>
            <a:r>
              <a:rPr lang="en-US" altLang="ru-RU" sz="2400" i="1" smtClean="0">
                <a:latin typeface="Times New Roman" pitchFamily="18" charset="0"/>
              </a:rPr>
              <a:t> </a:t>
            </a:r>
            <a:r>
              <a:rPr lang="en-US" altLang="ru-RU" sz="2400" b="1" smtClean="0">
                <a:latin typeface="Times New Roman" pitchFamily="18" charset="0"/>
              </a:rPr>
              <a:t>else</a:t>
            </a:r>
            <a:r>
              <a:rPr lang="en-US" altLang="ru-RU" sz="2400" i="1" smtClean="0">
                <a:latin typeface="Times New Roman" pitchFamily="18" charset="0"/>
              </a:rPr>
              <a:t> A</a:t>
            </a:r>
            <a:r>
              <a:rPr lang="ru-RU" altLang="ru-RU" sz="2400" i="1" smtClean="0">
                <a:latin typeface="Times New Roman" pitchFamily="18" charset="0"/>
              </a:rPr>
              <a:t> |</a:t>
            </a:r>
            <a:r>
              <a:rPr lang="en-US" altLang="ru-RU" sz="2400" i="1" smtClean="0">
                <a:latin typeface="Times New Roman" pitchFamily="18" charset="0"/>
              </a:rPr>
              <a:t> </a:t>
            </a:r>
            <a:r>
              <a:rPr lang="en-US" altLang="ru-RU" sz="2400" smtClean="0">
                <a:latin typeface="Times New Roman" pitchFamily="18" charset="0"/>
              </a:rPr>
              <a:t>λ</a:t>
            </a:r>
            <a:endParaRPr lang="ru-RU" altLang="ru-RU" sz="2400" i="1" smtClean="0">
              <a:latin typeface="Times New Roman" pitchFamily="18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ru-RU" altLang="ru-RU" sz="2400" smtClean="0">
              <a:latin typeface="Times New Roman" pitchFamily="18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ru-RU" sz="2400" smtClean="0">
                <a:latin typeface="Times New Roman" pitchFamily="18" charset="0"/>
              </a:rPr>
              <a:t>C</a:t>
            </a:r>
            <a:r>
              <a:rPr lang="ru-RU" altLang="ru-RU" sz="2400" smtClean="0">
                <a:latin typeface="Times New Roman" pitchFamily="18" charset="0"/>
              </a:rPr>
              <a:t>емантические действия генератора ОПС при порождении условных операторов нетерминалом </a:t>
            </a:r>
            <a:r>
              <a:rPr lang="en-US" altLang="ru-RU" sz="2400" i="1" smtClean="0">
                <a:latin typeface="Times New Roman" pitchFamily="18" charset="0"/>
              </a:rPr>
              <a:t>A</a:t>
            </a:r>
            <a:r>
              <a:rPr lang="ru-RU" altLang="ru-RU" sz="2400" smtClean="0">
                <a:latin typeface="Times New Roman" pitchFamily="18" charset="0"/>
              </a:rPr>
              <a:t>: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			□□</a:t>
            </a:r>
            <a:r>
              <a:rPr lang="en-US" altLang="ru-RU" sz="2400" b="1" smtClean="0">
                <a:latin typeface="Times New Roman" pitchFamily="18" charset="0"/>
              </a:rPr>
              <a:t>1</a:t>
            </a:r>
            <a:r>
              <a:rPr lang="ru-RU" altLang="ru-RU" sz="2400" smtClean="0">
                <a:latin typeface="Times New Roman" pitchFamily="18" charset="0"/>
              </a:rPr>
              <a:t>□□</a:t>
            </a:r>
            <a:r>
              <a:rPr lang="ru-RU" altLang="ru-RU" sz="2400" b="1" smtClean="0">
                <a:latin typeface="Times New Roman" pitchFamily="18" charset="0"/>
              </a:rPr>
              <a:t>3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 </a:t>
            </a:r>
            <a:r>
              <a:rPr lang="en-US" altLang="ru-RU" sz="2400" smtClean="0">
                <a:latin typeface="Times New Roman" pitchFamily="18" charset="0"/>
              </a:rPr>
              <a:t>C</a:t>
            </a:r>
            <a:r>
              <a:rPr lang="ru-RU" altLang="ru-RU" sz="2400" smtClean="0">
                <a:latin typeface="Times New Roman" pitchFamily="18" charset="0"/>
              </a:rPr>
              <a:t>емантические действия для нетерминала </a:t>
            </a:r>
            <a:r>
              <a:rPr lang="en-US" altLang="ru-RU" sz="2400" i="1" smtClean="0">
                <a:latin typeface="Times New Roman" pitchFamily="18" charset="0"/>
              </a:rPr>
              <a:t>E</a:t>
            </a:r>
            <a:r>
              <a:rPr lang="ru-RU" altLang="ru-RU" sz="2400" smtClean="0">
                <a:latin typeface="Times New Roman" pitchFamily="18" charset="0"/>
              </a:rPr>
              <a:t>:</a:t>
            </a:r>
            <a:endParaRPr lang="en-US" altLang="ru-RU" sz="2400" smtClean="0">
              <a:latin typeface="Times New Roman" pitchFamily="18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ru-RU" sz="2400" smtClean="0">
                <a:latin typeface="Times New Roman" pitchFamily="18" charset="0"/>
              </a:rPr>
              <a:t>			</a:t>
            </a:r>
            <a:r>
              <a:rPr lang="en-US" altLang="ru-RU" sz="2400" b="1" smtClean="0">
                <a:latin typeface="Times New Roman" pitchFamily="18" charset="0"/>
              </a:rPr>
              <a:t>2</a:t>
            </a:r>
            <a:r>
              <a:rPr lang="ru-RU" altLang="ru-RU" sz="2400" smtClean="0">
                <a:latin typeface="Times New Roman" pitchFamily="18" charset="0"/>
              </a:rPr>
              <a:t>□</a:t>
            </a:r>
            <a:r>
              <a:rPr lang="en-US" altLang="ru-RU" sz="2400" smtClean="0">
                <a:latin typeface="Times New Roman" pitchFamily="18" charset="0"/>
              </a:rPr>
              <a:t> </a:t>
            </a:r>
            <a:r>
              <a:rPr lang="ru-RU" altLang="ru-RU" sz="2400" smtClean="0">
                <a:latin typeface="Times New Roman" pitchFamily="18" charset="0"/>
              </a:rPr>
              <a:t>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ru-RU" altLang="ru-RU" sz="2400" smtClean="0">
              <a:latin typeface="Times New Roman" pitchFamily="18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Числа </a:t>
            </a:r>
            <a:r>
              <a:rPr lang="ru-RU" altLang="ru-RU" sz="2400" b="1" smtClean="0">
                <a:latin typeface="Times New Roman" pitchFamily="18" charset="0"/>
              </a:rPr>
              <a:t>1, 2, 3</a:t>
            </a:r>
            <a:r>
              <a:rPr lang="en-US" altLang="ru-RU" sz="2400" b="1" smtClean="0">
                <a:latin typeface="Times New Roman" pitchFamily="18" charset="0"/>
              </a:rPr>
              <a:t> </a:t>
            </a:r>
            <a:r>
              <a:rPr lang="ru-RU" altLang="ru-RU" sz="2400" smtClean="0">
                <a:latin typeface="Times New Roman" pitchFamily="18" charset="0"/>
              </a:rPr>
              <a:t>в семантических действиях обозначают выполнение семантических программ, генерирующих в ОПС операнды-метки (номера элементов ОПС) и операции условного и безусловного перехода на метки.</a:t>
            </a:r>
          </a:p>
        </p:txBody>
      </p:sp>
      <p:sp>
        <p:nvSpPr>
          <p:cNvPr id="4100" name="Номер слайда 1"/>
          <p:cNvSpPr txBox="1">
            <a:spLocks noGrp="1"/>
          </p:cNvSpPr>
          <p:nvPr/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4FAE546B-3F70-4BAD-B1A8-94EBFF75B948}" type="slidenum">
              <a:rPr lang="ru-RU" altLang="ru-RU" sz="1400"/>
              <a:pPr algn="r" eaLnBrk="1" hangingPunct="1">
                <a:spcBef>
                  <a:spcPct val="0"/>
                </a:spcBef>
                <a:buFontTx/>
                <a:buNone/>
              </a:pPr>
              <a:t>3</a:t>
            </a:fld>
            <a:endParaRPr lang="ru-RU" altLang="ru-RU" sz="1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323850" y="0"/>
            <a:ext cx="8424863" cy="908050"/>
          </a:xfrm>
        </p:spPr>
        <p:txBody>
          <a:bodyPr/>
          <a:lstStyle/>
          <a:p>
            <a:pPr eaLnBrk="1" hangingPunct="1"/>
            <a:r>
              <a:rPr lang="ru-RU" altLang="ru-RU" sz="3200" b="1" smtClean="0">
                <a:solidFill>
                  <a:schemeClr val="accent2"/>
                </a:solidFill>
              </a:rPr>
              <a:t>Грамматика с циклами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052513"/>
            <a:ext cx="8229600" cy="5616575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Порождающее правило для задания оператора цикла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     (</a:t>
            </a:r>
            <a:r>
              <a:rPr lang="ru-RU" altLang="ru-RU" sz="2400" smtClean="0">
                <a:latin typeface="Times New Roman" pitchFamily="18" charset="0"/>
                <a:cs typeface="Times New Roman" pitchFamily="18" charset="0"/>
              </a:rPr>
              <a:t>служебные слова</a:t>
            </a:r>
            <a:r>
              <a:rPr lang="ru-RU" altLang="ru-RU" smtClean="0"/>
              <a:t> </a:t>
            </a:r>
            <a:r>
              <a:rPr lang="ru-RU" altLang="ru-RU" sz="2400" smtClean="0">
                <a:latin typeface="Times New Roman" pitchFamily="18" charset="0"/>
              </a:rPr>
              <a:t> </a:t>
            </a:r>
            <a:r>
              <a:rPr lang="en-US" altLang="ru-RU" sz="2400" b="1" smtClean="0">
                <a:latin typeface="Times New Roman" pitchFamily="18" charset="0"/>
              </a:rPr>
              <a:t>while</a:t>
            </a:r>
            <a:r>
              <a:rPr lang="ru-RU" altLang="ru-RU" sz="2400" smtClean="0">
                <a:latin typeface="Times New Roman" pitchFamily="18" charset="0"/>
              </a:rPr>
              <a:t>, </a:t>
            </a:r>
            <a:r>
              <a:rPr lang="en-US" altLang="ru-RU" sz="2400" b="1" smtClean="0">
                <a:latin typeface="Times New Roman" pitchFamily="18" charset="0"/>
              </a:rPr>
              <a:t>do</a:t>
            </a:r>
            <a:r>
              <a:rPr lang="ru-RU" altLang="ru-RU" sz="2400" b="1" smtClean="0">
                <a:latin typeface="Times New Roman" pitchFamily="18" charset="0"/>
              </a:rPr>
              <a:t> </a:t>
            </a:r>
            <a:r>
              <a:rPr lang="ru-RU" altLang="ru-RU" sz="2400" smtClean="0">
                <a:latin typeface="Times New Roman" pitchFamily="18" charset="0"/>
                <a:cs typeface="Times New Roman" pitchFamily="18" charset="0"/>
              </a:rPr>
              <a:t>– терминалы</a:t>
            </a:r>
            <a:r>
              <a:rPr lang="ru-RU" altLang="ru-RU" sz="2400" smtClean="0">
                <a:latin typeface="Times New Roman" pitchFamily="18" charset="0"/>
              </a:rPr>
              <a:t>):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ru-RU" sz="2400" smtClean="0">
                <a:latin typeface="Times New Roman" pitchFamily="18" charset="0"/>
              </a:rPr>
              <a:t>		 </a:t>
            </a:r>
            <a:r>
              <a:rPr lang="ru-RU" altLang="ru-RU" sz="2400" smtClean="0">
                <a:latin typeface="Times New Roman" pitchFamily="18" charset="0"/>
              </a:rPr>
              <a:t>	</a:t>
            </a:r>
            <a:r>
              <a:rPr lang="en-US" altLang="ru-RU" sz="2400" i="1" smtClean="0">
                <a:latin typeface="Times New Roman" pitchFamily="18" charset="0"/>
              </a:rPr>
              <a:t>A → </a:t>
            </a:r>
            <a:r>
              <a:rPr lang="en-US" altLang="ru-RU" sz="2400" b="1" smtClean="0">
                <a:latin typeface="Times New Roman" pitchFamily="18" charset="0"/>
              </a:rPr>
              <a:t>while</a:t>
            </a:r>
            <a:r>
              <a:rPr lang="en-US" altLang="ru-RU" sz="2400" i="1" smtClean="0">
                <a:latin typeface="Times New Roman" pitchFamily="18" charset="0"/>
              </a:rPr>
              <a:t> C </a:t>
            </a:r>
            <a:r>
              <a:rPr lang="en-US" altLang="ru-RU" sz="2400" b="1" smtClean="0">
                <a:latin typeface="Times New Roman" pitchFamily="18" charset="0"/>
              </a:rPr>
              <a:t>do</a:t>
            </a:r>
            <a:r>
              <a:rPr lang="en-US" altLang="ru-RU" sz="2400" i="1" smtClean="0">
                <a:latin typeface="Times New Roman" pitchFamily="18" charset="0"/>
              </a:rPr>
              <a:t> AZ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ru-RU" altLang="ru-RU" sz="2400" smtClean="0">
              <a:latin typeface="Times New Roman" pitchFamily="18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ru-RU" sz="2400" smtClean="0">
                <a:latin typeface="Times New Roman" pitchFamily="18" charset="0"/>
              </a:rPr>
              <a:t>C</a:t>
            </a:r>
            <a:r>
              <a:rPr lang="ru-RU" altLang="ru-RU" sz="2400" smtClean="0">
                <a:latin typeface="Times New Roman" pitchFamily="18" charset="0"/>
              </a:rPr>
              <a:t>емантические действия генератора ОПС  при порождении</a:t>
            </a:r>
            <a:r>
              <a:rPr lang="en-US" altLang="ru-RU" sz="2400" smtClean="0">
                <a:latin typeface="Times New Roman" pitchFamily="18" charset="0"/>
              </a:rPr>
              <a:t> </a:t>
            </a:r>
            <a:r>
              <a:rPr lang="ru-RU" altLang="ru-RU" sz="2400" smtClean="0">
                <a:latin typeface="Times New Roman" pitchFamily="18" charset="0"/>
              </a:rPr>
              <a:t>цикла:</a:t>
            </a:r>
            <a:endParaRPr lang="en-US" altLang="ru-RU" sz="2400" smtClean="0">
              <a:latin typeface="Times New Roman" pitchFamily="18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ru-RU" sz="2400" b="1" smtClean="0">
                <a:latin typeface="Times New Roman" pitchFamily="18" charset="0"/>
              </a:rPr>
              <a:t>			 4</a:t>
            </a:r>
            <a:r>
              <a:rPr lang="ru-RU" altLang="ru-RU" sz="2400" smtClean="0">
                <a:latin typeface="Times New Roman" pitchFamily="18" charset="0"/>
              </a:rPr>
              <a:t>□</a:t>
            </a:r>
            <a:r>
              <a:rPr lang="en-US" altLang="ru-RU" sz="2400" b="1" smtClean="0">
                <a:latin typeface="Times New Roman" pitchFamily="18" charset="0"/>
              </a:rPr>
              <a:t>1</a:t>
            </a:r>
            <a:r>
              <a:rPr lang="ru-RU" altLang="ru-RU" sz="2400" smtClean="0">
                <a:latin typeface="Times New Roman" pitchFamily="18" charset="0"/>
              </a:rPr>
              <a:t>□</a:t>
            </a:r>
            <a:r>
              <a:rPr lang="en-US" altLang="ru-RU" sz="2400" b="1" smtClean="0">
                <a:latin typeface="Times New Roman" pitchFamily="18" charset="0"/>
              </a:rPr>
              <a:t>5</a:t>
            </a:r>
            <a:endParaRPr lang="ru-RU" altLang="ru-RU" sz="2400" b="1" smtClean="0">
              <a:latin typeface="Times New Roman" pitchFamily="18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ru-RU" altLang="ru-RU" sz="2400" smtClean="0">
              <a:latin typeface="Times New Roman" pitchFamily="18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Числа </a:t>
            </a:r>
            <a:r>
              <a:rPr lang="ru-RU" altLang="ru-RU" sz="2400" b="1" smtClean="0">
                <a:latin typeface="Times New Roman" pitchFamily="18" charset="0"/>
              </a:rPr>
              <a:t>1, 2, 3</a:t>
            </a:r>
            <a:r>
              <a:rPr lang="en-US" altLang="ru-RU" sz="2400" b="1" smtClean="0">
                <a:latin typeface="Times New Roman" pitchFamily="18" charset="0"/>
              </a:rPr>
              <a:t>, 4, 5</a:t>
            </a:r>
            <a:r>
              <a:rPr lang="ru-RU" altLang="ru-RU" sz="2400" smtClean="0">
                <a:latin typeface="Times New Roman" pitchFamily="18" charset="0"/>
              </a:rPr>
              <a:t> в семантических действиях обозначают выполнение семантических программ, генерирующих в ОПС операнды-метки (номера элементов ОПС) и операции условного и безусловного перехода на эти метки.</a:t>
            </a:r>
          </a:p>
        </p:txBody>
      </p:sp>
      <p:sp>
        <p:nvSpPr>
          <p:cNvPr id="5124" name="Номер слайда 1"/>
          <p:cNvSpPr txBox="1">
            <a:spLocks noGrp="1"/>
          </p:cNvSpPr>
          <p:nvPr/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AC950B18-C470-4478-97C1-CB6DCFB751BC}" type="slidenum">
              <a:rPr lang="ru-RU" altLang="ru-RU" sz="1400"/>
              <a:pPr algn="r" eaLnBrk="1" hangingPunct="1">
                <a:spcBef>
                  <a:spcPct val="0"/>
                </a:spcBef>
                <a:buFontTx/>
                <a:buNone/>
              </a:pPr>
              <a:t>4</a:t>
            </a:fld>
            <a:endParaRPr lang="ru-RU" altLang="ru-RU" sz="1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0"/>
            <a:ext cx="8229600" cy="188913"/>
          </a:xfrm>
        </p:spPr>
        <p:txBody>
          <a:bodyPr/>
          <a:lstStyle/>
          <a:p>
            <a:pPr eaLnBrk="1" hangingPunct="1"/>
            <a:endParaRPr lang="ru-RU" altLang="ru-RU" sz="4000" smtClean="0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260350"/>
            <a:ext cx="8229600" cy="6337300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Tx/>
              <a:buNone/>
            </a:pPr>
            <a:r>
              <a:rPr lang="ru-RU" altLang="ru-RU" sz="2400" b="1" smtClean="0">
                <a:latin typeface="Times New Roman" pitchFamily="18" charset="0"/>
              </a:rPr>
              <a:t>Семантические программы</a:t>
            </a:r>
            <a:r>
              <a:rPr lang="ru-RU" altLang="ru-RU" sz="2400" smtClean="0">
                <a:latin typeface="Times New Roman" pitchFamily="18" charset="0"/>
              </a:rPr>
              <a:t> используют счетчик </a:t>
            </a:r>
            <a:r>
              <a:rPr lang="en-US" altLang="ru-RU" sz="2400" smtClean="0">
                <a:latin typeface="Times New Roman" pitchFamily="18" charset="0"/>
              </a:rPr>
              <a:t>k </a:t>
            </a:r>
            <a:r>
              <a:rPr lang="ru-RU" altLang="ru-RU" sz="2400" smtClean="0">
                <a:latin typeface="Times New Roman" pitchFamily="18" charset="0"/>
              </a:rPr>
              <a:t>– номер очередного генерируемого элемента ОПС , а также еще один магазин – магазин меток.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ru-RU" altLang="ru-RU" sz="2400" smtClean="0">
              <a:latin typeface="Times New Roman" pitchFamily="18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ru-RU" altLang="ru-RU" sz="2400" b="1" smtClean="0">
                <a:latin typeface="Times New Roman" pitchFamily="18" charset="0"/>
              </a:rPr>
              <a:t>Программа 1.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1. В магазин меток записывается </a:t>
            </a:r>
            <a:r>
              <a:rPr lang="en-US" altLang="ru-RU" sz="2400" smtClean="0">
                <a:latin typeface="Times New Roman" pitchFamily="18" charset="0"/>
              </a:rPr>
              <a:t>k</a:t>
            </a:r>
            <a:r>
              <a:rPr lang="ru-RU" altLang="ru-RU" sz="2400" smtClean="0">
                <a:latin typeface="Times New Roman" pitchFamily="18" charset="0"/>
              </a:rPr>
              <a:t>.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2. В ОПС записывается пустой элемент – место для будущей метки.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3. В ОПС записывается операция </a:t>
            </a:r>
            <a:r>
              <a:rPr lang="en-US" altLang="ru-RU" sz="2400" b="1" smtClean="0">
                <a:latin typeface="Times New Roman" pitchFamily="18" charset="0"/>
              </a:rPr>
              <a:t>jf</a:t>
            </a:r>
            <a:r>
              <a:rPr lang="en-US" altLang="ru-RU" sz="2400" smtClean="0">
                <a:latin typeface="Times New Roman" pitchFamily="18" charset="0"/>
              </a:rPr>
              <a:t> </a:t>
            </a:r>
            <a:r>
              <a:rPr lang="ru-RU" altLang="ru-RU" sz="2400" smtClean="0">
                <a:latin typeface="Times New Roman" pitchFamily="18" charset="0"/>
              </a:rPr>
              <a:t>– переход при условии </a:t>
            </a:r>
            <a:r>
              <a:rPr lang="en-US" altLang="ru-RU" sz="2400" smtClean="0">
                <a:latin typeface="Times New Roman" pitchFamily="18" charset="0"/>
              </a:rPr>
              <a:t>false</a:t>
            </a:r>
            <a:r>
              <a:rPr lang="ru-RU" altLang="ru-RU" sz="2400" smtClean="0">
                <a:latin typeface="Times New Roman" pitchFamily="18" charset="0"/>
              </a:rPr>
              <a:t>.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ru-RU" altLang="ru-RU" sz="2400" smtClean="0">
              <a:latin typeface="Times New Roman" pitchFamily="18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ru-RU" altLang="ru-RU" sz="2400" b="1" smtClean="0">
                <a:latin typeface="Times New Roman" pitchFamily="18" charset="0"/>
              </a:rPr>
              <a:t>Программа 2.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1. Через верхний элемент магазина меток, как ссылку на ранее заготовленное место для метки, записывается </a:t>
            </a:r>
            <a:r>
              <a:rPr lang="en-US" altLang="ru-RU" sz="2400" smtClean="0">
                <a:latin typeface="Times New Roman" pitchFamily="18" charset="0"/>
              </a:rPr>
              <a:t>k</a:t>
            </a:r>
            <a:r>
              <a:rPr lang="ru-RU" altLang="ru-RU" sz="2400" smtClean="0">
                <a:latin typeface="Times New Roman" pitchFamily="18" charset="0"/>
              </a:rPr>
              <a:t> + 2.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2. В магазин меток записывается </a:t>
            </a:r>
            <a:r>
              <a:rPr lang="en-US" altLang="ru-RU" sz="2400" smtClean="0">
                <a:latin typeface="Times New Roman" pitchFamily="18" charset="0"/>
              </a:rPr>
              <a:t>k</a:t>
            </a:r>
            <a:r>
              <a:rPr lang="ru-RU" altLang="ru-RU" sz="2400" smtClean="0">
                <a:latin typeface="Times New Roman" pitchFamily="18" charset="0"/>
              </a:rPr>
              <a:t>.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3. В ОПС записывается пустой элемент – место для будущей метки.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4. В ОПС записывается операция </a:t>
            </a:r>
            <a:r>
              <a:rPr lang="en-US" altLang="ru-RU" sz="2400" b="1" smtClean="0">
                <a:latin typeface="Times New Roman" pitchFamily="18" charset="0"/>
              </a:rPr>
              <a:t>j</a:t>
            </a:r>
            <a:r>
              <a:rPr lang="en-US" altLang="ru-RU" sz="2400" smtClean="0">
                <a:latin typeface="Times New Roman" pitchFamily="18" charset="0"/>
              </a:rPr>
              <a:t> </a:t>
            </a:r>
            <a:r>
              <a:rPr lang="ru-RU" altLang="ru-RU" sz="2400" smtClean="0">
                <a:latin typeface="Times New Roman" pitchFamily="18" charset="0"/>
              </a:rPr>
              <a:t>– безусловный переход.</a:t>
            </a:r>
          </a:p>
        </p:txBody>
      </p:sp>
      <p:sp>
        <p:nvSpPr>
          <p:cNvPr id="6148" name="Номер слайда 1"/>
          <p:cNvSpPr txBox="1">
            <a:spLocks noGrp="1"/>
          </p:cNvSpPr>
          <p:nvPr/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0303CD9B-A5F4-4F92-8ADE-E080200654D2}" type="slidenum">
              <a:rPr lang="ru-RU" altLang="ru-RU" sz="1400"/>
              <a:pPr algn="r" eaLnBrk="1" hangingPunct="1">
                <a:spcBef>
                  <a:spcPct val="0"/>
                </a:spcBef>
                <a:buFontTx/>
                <a:buNone/>
              </a:pPr>
              <a:t>5</a:t>
            </a:fld>
            <a:endParaRPr lang="ru-RU" altLang="ru-RU" sz="1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0"/>
            <a:ext cx="8229600" cy="188913"/>
          </a:xfrm>
        </p:spPr>
        <p:txBody>
          <a:bodyPr/>
          <a:lstStyle/>
          <a:p>
            <a:pPr eaLnBrk="1" hangingPunct="1"/>
            <a:endParaRPr lang="ru-RU" altLang="ru-RU" sz="4000" smtClean="0"/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476250"/>
            <a:ext cx="8229600" cy="6121400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Tx/>
              <a:buNone/>
            </a:pPr>
            <a:r>
              <a:rPr lang="ru-RU" altLang="ru-RU" sz="2400" b="1" smtClean="0">
                <a:latin typeface="Times New Roman" pitchFamily="18" charset="0"/>
              </a:rPr>
              <a:t>Программа 3.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1. Через верхний элемент магазина меток, как ссылку на ранее заготовленное место для метки, записывается </a:t>
            </a:r>
            <a:r>
              <a:rPr lang="en-US" altLang="ru-RU" sz="2400" smtClean="0">
                <a:latin typeface="Times New Roman" pitchFamily="18" charset="0"/>
              </a:rPr>
              <a:t>k</a:t>
            </a:r>
            <a:r>
              <a:rPr lang="ru-RU" altLang="ru-RU" sz="2400" smtClean="0">
                <a:latin typeface="Times New Roman" pitchFamily="18" charset="0"/>
              </a:rPr>
              <a:t>.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ru-RU" altLang="ru-RU" sz="2400" smtClean="0">
              <a:latin typeface="Times New Roman" pitchFamily="18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ru-RU" altLang="ru-RU" sz="2400" b="1" smtClean="0">
                <a:latin typeface="Times New Roman" pitchFamily="18" charset="0"/>
              </a:rPr>
              <a:t>Программа 4.</a:t>
            </a:r>
            <a:r>
              <a:rPr lang="ru-RU" altLang="ru-RU" sz="2400" smtClean="0">
                <a:latin typeface="Times New Roman" pitchFamily="18" charset="0"/>
              </a:rPr>
              <a:t>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1. В магазин меток записывается </a:t>
            </a:r>
            <a:r>
              <a:rPr lang="en-US" altLang="ru-RU" sz="2400" smtClean="0">
                <a:latin typeface="Times New Roman" pitchFamily="18" charset="0"/>
              </a:rPr>
              <a:t>k</a:t>
            </a:r>
            <a:r>
              <a:rPr lang="ru-RU" altLang="ru-RU" sz="2400" smtClean="0">
                <a:latin typeface="Times New Roman" pitchFamily="18" charset="0"/>
              </a:rPr>
              <a:t>.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ru-RU" altLang="ru-RU" sz="2400" smtClean="0">
              <a:latin typeface="Times New Roman" pitchFamily="18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ru-RU" altLang="ru-RU" sz="2400" b="1" smtClean="0">
                <a:latin typeface="Times New Roman" pitchFamily="18" charset="0"/>
              </a:rPr>
              <a:t>Программа 5.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1. Через верхний элемент магазина меток, как ссылку на ранее заготовленное место для метки, записывается </a:t>
            </a:r>
            <a:r>
              <a:rPr lang="en-US" altLang="ru-RU" sz="2400" smtClean="0">
                <a:latin typeface="Times New Roman" pitchFamily="18" charset="0"/>
              </a:rPr>
              <a:t>k</a:t>
            </a:r>
            <a:r>
              <a:rPr lang="ru-RU" altLang="ru-RU" sz="2400" smtClean="0">
                <a:latin typeface="Times New Roman" pitchFamily="18" charset="0"/>
              </a:rPr>
              <a:t> + 2.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2. В ОПС записывается метка, значение для которой читается из магазина меток.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3. В ОПС записывается операция </a:t>
            </a:r>
            <a:r>
              <a:rPr lang="en-US" altLang="ru-RU" sz="2400" b="1" smtClean="0">
                <a:latin typeface="Times New Roman" pitchFamily="18" charset="0"/>
              </a:rPr>
              <a:t>j</a:t>
            </a:r>
            <a:r>
              <a:rPr lang="en-US" altLang="ru-RU" sz="2400" smtClean="0">
                <a:latin typeface="Times New Roman" pitchFamily="18" charset="0"/>
              </a:rPr>
              <a:t> </a:t>
            </a:r>
            <a:r>
              <a:rPr lang="ru-RU" altLang="ru-RU" sz="2400" smtClean="0">
                <a:latin typeface="Times New Roman" pitchFamily="18" charset="0"/>
              </a:rPr>
              <a:t>– безусловный переход.</a:t>
            </a:r>
          </a:p>
        </p:txBody>
      </p:sp>
      <p:sp>
        <p:nvSpPr>
          <p:cNvPr id="7172" name="Номер слайда 1"/>
          <p:cNvSpPr txBox="1">
            <a:spLocks noGrp="1"/>
          </p:cNvSpPr>
          <p:nvPr/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20C56570-F436-46B2-8D90-A9B8273B8BE4}" type="slidenum">
              <a:rPr lang="ru-RU" altLang="ru-RU" sz="1400"/>
              <a:pPr algn="r" eaLnBrk="1" hangingPunct="1">
                <a:spcBef>
                  <a:spcPct val="0"/>
                </a:spcBef>
                <a:buFontTx/>
                <a:buNone/>
              </a:pPr>
              <a:t>6</a:t>
            </a:fld>
            <a:endParaRPr lang="ru-RU" altLang="ru-RU" sz="1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0"/>
            <a:ext cx="8229600" cy="188913"/>
          </a:xfrm>
        </p:spPr>
        <p:txBody>
          <a:bodyPr/>
          <a:lstStyle/>
          <a:p>
            <a:pPr eaLnBrk="1" hangingPunct="1"/>
            <a:endParaRPr lang="ru-RU" altLang="ru-RU" sz="4000" smtClean="0"/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68313" y="188913"/>
            <a:ext cx="8229600" cy="6337300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При исполнении ОПС метки, как и другие операнды, записываются в магазин интерпретатора.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ru-RU" altLang="ru-RU" sz="1000" smtClean="0">
              <a:latin typeface="Times New Roman" pitchFamily="18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Выполнение операции безусловного перехода </a:t>
            </a:r>
            <a:r>
              <a:rPr lang="en-US" altLang="ru-RU" sz="2400" b="1" smtClean="0">
                <a:latin typeface="Times New Roman" pitchFamily="18" charset="0"/>
              </a:rPr>
              <a:t>j</a:t>
            </a:r>
            <a:r>
              <a:rPr lang="ru-RU" altLang="ru-RU" sz="2400" smtClean="0">
                <a:latin typeface="Times New Roman" pitchFamily="18" charset="0"/>
              </a:rPr>
              <a:t>: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1) из магазина извлекается операнд (метка);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2) счетчику, который содержит текущий номер исполняемого элемента ОПС, присваивается значение метки (т.е. производится переход), в магазин ничего не записывается.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ru-RU" altLang="ru-RU" sz="1000" smtClean="0">
                <a:latin typeface="Times New Roman" pitchFamily="18" charset="0"/>
              </a:rPr>
              <a:t>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Выполнение операции условного перехода </a:t>
            </a:r>
            <a:r>
              <a:rPr lang="en-US" altLang="ru-RU" sz="2400" b="1" smtClean="0">
                <a:latin typeface="Times New Roman" pitchFamily="18" charset="0"/>
              </a:rPr>
              <a:t>jf</a:t>
            </a:r>
            <a:r>
              <a:rPr lang="ru-RU" altLang="ru-RU" sz="2400" smtClean="0">
                <a:latin typeface="Times New Roman" pitchFamily="18" charset="0"/>
              </a:rPr>
              <a:t>: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1) из магазина извлекается 1-й операнд (</a:t>
            </a:r>
            <a:r>
              <a:rPr lang="en-US" altLang="ru-RU" sz="2400" smtClean="0">
                <a:latin typeface="Times New Roman" pitchFamily="18" charset="0"/>
              </a:rPr>
              <a:t>true</a:t>
            </a:r>
            <a:r>
              <a:rPr lang="ru-RU" altLang="ru-RU" sz="2400" smtClean="0">
                <a:latin typeface="Times New Roman" pitchFamily="18" charset="0"/>
              </a:rPr>
              <a:t> или </a:t>
            </a:r>
            <a:r>
              <a:rPr lang="en-US" altLang="ru-RU" sz="2400" smtClean="0">
                <a:latin typeface="Times New Roman" pitchFamily="18" charset="0"/>
              </a:rPr>
              <a:t>false</a:t>
            </a:r>
            <a:r>
              <a:rPr lang="ru-RU" altLang="ru-RU" sz="2400" smtClean="0">
                <a:latin typeface="Times New Roman" pitchFamily="18" charset="0"/>
              </a:rPr>
              <a:t>)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2) из магазина извлекается 2-й операнд (метка);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3) если 1-й операнд </a:t>
            </a:r>
            <a:r>
              <a:rPr lang="en-US" altLang="ru-RU" sz="2400" smtClean="0">
                <a:latin typeface="Times New Roman" pitchFamily="18" charset="0"/>
              </a:rPr>
              <a:t>false</a:t>
            </a:r>
            <a:r>
              <a:rPr lang="ru-RU" altLang="ru-RU" sz="2400" smtClean="0">
                <a:latin typeface="Times New Roman" pitchFamily="18" charset="0"/>
              </a:rPr>
              <a:t>, то счетчику, который содержит текущий номер исполняемого элемента ОПС, присваивается значение 2-го операнда (т.е. производится переход),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    если 1-й операнд </a:t>
            </a:r>
            <a:r>
              <a:rPr lang="en-US" altLang="ru-RU" sz="2400" smtClean="0">
                <a:latin typeface="Times New Roman" pitchFamily="18" charset="0"/>
              </a:rPr>
              <a:t>true</a:t>
            </a:r>
            <a:r>
              <a:rPr lang="ru-RU" altLang="ru-RU" sz="2400" smtClean="0">
                <a:latin typeface="Times New Roman" pitchFamily="18" charset="0"/>
              </a:rPr>
              <a:t>, то перехода не производится,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    и в обоих случаях в магазин ничего не записывается.</a:t>
            </a:r>
          </a:p>
        </p:txBody>
      </p:sp>
      <p:sp>
        <p:nvSpPr>
          <p:cNvPr id="8196" name="Номер слайда 1"/>
          <p:cNvSpPr txBox="1">
            <a:spLocks noGrp="1"/>
          </p:cNvSpPr>
          <p:nvPr/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AF1E067A-22A3-4B11-BA74-02855B9D9C78}" type="slidenum">
              <a:rPr lang="ru-RU" altLang="ru-RU" sz="1400"/>
              <a:pPr algn="r" eaLnBrk="1" hangingPunct="1">
                <a:spcBef>
                  <a:spcPct val="0"/>
                </a:spcBef>
                <a:buFontTx/>
                <a:buNone/>
              </a:pPr>
              <a:t>7</a:t>
            </a:fld>
            <a:endParaRPr lang="ru-RU" altLang="ru-RU" sz="1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0"/>
            <a:ext cx="8229600" cy="188913"/>
          </a:xfrm>
        </p:spPr>
        <p:txBody>
          <a:bodyPr/>
          <a:lstStyle/>
          <a:p>
            <a:pPr eaLnBrk="1" hangingPunct="1"/>
            <a:endParaRPr lang="ru-RU" altLang="ru-RU" sz="4000" smtClean="0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260350"/>
            <a:ext cx="8229600" cy="6337300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Tx/>
              <a:buNone/>
            </a:pPr>
            <a:r>
              <a:rPr lang="ru-RU" altLang="ru-RU" sz="2400" b="1" smtClean="0">
                <a:latin typeface="Times New Roman" pitchFamily="18" charset="0"/>
              </a:rPr>
              <a:t>Пример.</a:t>
            </a:r>
            <a:r>
              <a:rPr lang="ru-RU" altLang="ru-RU" sz="2400" smtClean="0">
                <a:latin typeface="Times New Roman" pitchFamily="18" charset="0"/>
              </a:rPr>
              <a:t> На входе цепочка:</a:t>
            </a:r>
            <a:endParaRPr lang="en-US" altLang="ru-RU" sz="2400" smtClean="0">
              <a:latin typeface="Times New Roman" pitchFamily="18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ru-RU" altLang="ru-RU" sz="2400" b="1" smtClean="0">
                <a:latin typeface="Times New Roman" pitchFamily="18" charset="0"/>
              </a:rPr>
              <a:t>			</a:t>
            </a:r>
            <a:r>
              <a:rPr lang="en-US" altLang="ru-RU" sz="2400" b="1" smtClean="0">
                <a:latin typeface="Times New Roman" pitchFamily="18" charset="0"/>
              </a:rPr>
              <a:t>if</a:t>
            </a:r>
            <a:r>
              <a:rPr lang="en-US" altLang="ru-RU" sz="2400" smtClean="0">
                <a:latin typeface="Times New Roman" pitchFamily="18" charset="0"/>
              </a:rPr>
              <a:t> a&gt;b </a:t>
            </a:r>
            <a:r>
              <a:rPr lang="en-US" altLang="ru-RU" sz="2400" b="1" smtClean="0">
                <a:latin typeface="Times New Roman" pitchFamily="18" charset="0"/>
              </a:rPr>
              <a:t>then</a:t>
            </a:r>
            <a:r>
              <a:rPr lang="en-US" altLang="ru-RU" sz="2400" smtClean="0">
                <a:latin typeface="Times New Roman" pitchFamily="18" charset="0"/>
              </a:rPr>
              <a:t> a:=b </a:t>
            </a:r>
            <a:r>
              <a:rPr lang="en-US" altLang="ru-RU" sz="2400" b="1" smtClean="0">
                <a:latin typeface="Times New Roman" pitchFamily="18" charset="0"/>
              </a:rPr>
              <a:t>else</a:t>
            </a:r>
            <a:r>
              <a:rPr lang="en-US" altLang="ru-RU" sz="2400" smtClean="0">
                <a:latin typeface="Times New Roman" pitchFamily="18" charset="0"/>
              </a:rPr>
              <a:t> b:=a </a:t>
            </a:r>
            <a:r>
              <a:rPr lang="en-US" altLang="ru-RU" sz="2400" baseline="-25000" smtClean="0">
                <a:latin typeface="Times New Roman" pitchFamily="18" charset="0"/>
              </a:rPr>
              <a:t>┴</a:t>
            </a:r>
            <a:endParaRPr lang="ru-RU" altLang="ru-RU" sz="2400" baseline="-25000" smtClean="0">
              <a:latin typeface="Times New Roman" pitchFamily="18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будет сгенерирована следующая ОПС:</a:t>
            </a:r>
            <a:endParaRPr lang="en-US" altLang="ru-RU" sz="2400" smtClean="0">
              <a:latin typeface="Times New Roman" pitchFamily="18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			</a:t>
            </a:r>
            <a:r>
              <a:rPr lang="en-US" altLang="ru-RU" sz="2400" smtClean="0">
                <a:latin typeface="Times New Roman" pitchFamily="18" charset="0"/>
              </a:rPr>
              <a:t>a b &gt; m</a:t>
            </a:r>
            <a:r>
              <a:rPr lang="en-US" altLang="ru-RU" sz="2400" baseline="-25000" smtClean="0">
                <a:latin typeface="Times New Roman" pitchFamily="18" charset="0"/>
              </a:rPr>
              <a:t>1</a:t>
            </a:r>
            <a:r>
              <a:rPr lang="en-US" altLang="ru-RU" sz="2400" smtClean="0">
                <a:latin typeface="Times New Roman" pitchFamily="18" charset="0"/>
              </a:rPr>
              <a:t> </a:t>
            </a:r>
            <a:r>
              <a:rPr lang="en-US" altLang="ru-RU" sz="2400" b="1" smtClean="0">
                <a:latin typeface="Times New Roman" pitchFamily="18" charset="0"/>
              </a:rPr>
              <a:t>jf</a:t>
            </a:r>
            <a:r>
              <a:rPr lang="en-US" altLang="ru-RU" sz="2400" smtClean="0">
                <a:latin typeface="Times New Roman" pitchFamily="18" charset="0"/>
              </a:rPr>
              <a:t> a b := m</a:t>
            </a:r>
            <a:r>
              <a:rPr lang="en-US" altLang="ru-RU" sz="2400" baseline="-25000" smtClean="0">
                <a:latin typeface="Times New Roman" pitchFamily="18" charset="0"/>
              </a:rPr>
              <a:t>2</a:t>
            </a:r>
            <a:r>
              <a:rPr lang="ru-RU" altLang="ru-RU" sz="2400" baseline="-25000" smtClean="0">
                <a:latin typeface="Times New Roman" pitchFamily="18" charset="0"/>
              </a:rPr>
              <a:t> </a:t>
            </a:r>
            <a:r>
              <a:rPr lang="en-US" altLang="ru-RU" sz="2400" b="1" smtClean="0">
                <a:latin typeface="Times New Roman" pitchFamily="18" charset="0"/>
              </a:rPr>
              <a:t>j</a:t>
            </a:r>
            <a:r>
              <a:rPr lang="ru-RU" altLang="ru-RU" sz="2400" b="1" smtClean="0">
                <a:latin typeface="Times New Roman" pitchFamily="18" charset="0"/>
              </a:rPr>
              <a:t> </a:t>
            </a:r>
            <a:r>
              <a:rPr lang="en-US" altLang="ru-RU" sz="2400" smtClean="0">
                <a:latin typeface="Times New Roman" pitchFamily="18" charset="0"/>
              </a:rPr>
              <a:t>b a :=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					</a:t>
            </a:r>
            <a:r>
              <a:rPr lang="en-US" altLang="ru-RU" sz="2400" smtClean="0">
                <a:latin typeface="Times New Roman" pitchFamily="18" charset="0"/>
              </a:rPr>
              <a:t> </a:t>
            </a:r>
            <a:r>
              <a:rPr lang="ru-RU" altLang="ru-RU" sz="2400" smtClean="0">
                <a:latin typeface="Times New Roman" pitchFamily="18" charset="0"/>
              </a:rPr>
              <a:t>          </a:t>
            </a:r>
            <a:r>
              <a:rPr lang="en-US" altLang="ru-RU" sz="2400" smtClean="0">
                <a:latin typeface="Times New Roman" pitchFamily="18" charset="0"/>
              </a:rPr>
              <a:t>↑  </a:t>
            </a:r>
            <a:r>
              <a:rPr lang="ru-RU" altLang="ru-RU" sz="2400" smtClean="0">
                <a:latin typeface="Times New Roman" pitchFamily="18" charset="0"/>
              </a:rPr>
              <a:t>     </a:t>
            </a:r>
            <a:r>
              <a:rPr lang="en-US" altLang="ru-RU" sz="2400" smtClean="0">
                <a:latin typeface="Times New Roman" pitchFamily="18" charset="0"/>
              </a:rPr>
              <a:t> ↑</a:t>
            </a:r>
            <a:endParaRPr lang="ru-RU" altLang="ru-RU" sz="2400" smtClean="0">
              <a:latin typeface="Times New Roman" pitchFamily="18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					          </a:t>
            </a:r>
            <a:r>
              <a:rPr lang="en-US" altLang="ru-RU" sz="2400" smtClean="0">
                <a:latin typeface="Times New Roman" pitchFamily="18" charset="0"/>
              </a:rPr>
              <a:t>m</a:t>
            </a:r>
            <a:r>
              <a:rPr lang="ru-RU" altLang="ru-RU" sz="2400" baseline="-25000" smtClean="0">
                <a:latin typeface="Times New Roman" pitchFamily="18" charset="0"/>
              </a:rPr>
              <a:t>1</a:t>
            </a:r>
            <a:r>
              <a:rPr lang="ru-RU" altLang="ru-RU" sz="2400" smtClean="0">
                <a:latin typeface="Times New Roman" pitchFamily="18" charset="0"/>
              </a:rPr>
              <a:t>      </a:t>
            </a:r>
            <a:r>
              <a:rPr lang="en-US" altLang="ru-RU" sz="2400" smtClean="0">
                <a:latin typeface="Times New Roman" pitchFamily="18" charset="0"/>
              </a:rPr>
              <a:t>m</a:t>
            </a:r>
            <a:r>
              <a:rPr lang="ru-RU" altLang="ru-RU" sz="2400" baseline="-25000" smtClean="0">
                <a:latin typeface="Times New Roman" pitchFamily="18" charset="0"/>
              </a:rPr>
              <a:t>2</a:t>
            </a:r>
            <a:endParaRPr lang="ru-RU" altLang="ru-RU" sz="2400" smtClean="0">
              <a:latin typeface="Times New Roman" pitchFamily="18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Вычисление ОПС при </a:t>
            </a:r>
            <a:r>
              <a:rPr lang="en-US" altLang="ru-RU" sz="2400" smtClean="0">
                <a:latin typeface="Times New Roman" pitchFamily="18" charset="0"/>
              </a:rPr>
              <a:t>a</a:t>
            </a:r>
            <a:r>
              <a:rPr lang="ru-RU" altLang="ru-RU" sz="2400" smtClean="0">
                <a:latin typeface="Times New Roman" pitchFamily="18" charset="0"/>
              </a:rPr>
              <a:t> = 5, </a:t>
            </a:r>
            <a:r>
              <a:rPr lang="en-US" altLang="ru-RU" sz="2400" smtClean="0">
                <a:latin typeface="Times New Roman" pitchFamily="18" charset="0"/>
              </a:rPr>
              <a:t>b</a:t>
            </a:r>
            <a:r>
              <a:rPr lang="ru-RU" altLang="ru-RU" sz="2400" smtClean="0">
                <a:latin typeface="Times New Roman" pitchFamily="18" charset="0"/>
              </a:rPr>
              <a:t> = 2. </a:t>
            </a:r>
          </a:p>
        </p:txBody>
      </p:sp>
      <p:sp>
        <p:nvSpPr>
          <p:cNvPr id="9220" name="Номер слайда 1"/>
          <p:cNvSpPr txBox="1">
            <a:spLocks noGrp="1"/>
          </p:cNvSpPr>
          <p:nvPr/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C1EF166A-298C-46CE-985C-71F6A599108A}" type="slidenum">
              <a:rPr lang="ru-RU" altLang="ru-RU" sz="1400"/>
              <a:pPr algn="r" eaLnBrk="1" hangingPunct="1">
                <a:spcBef>
                  <a:spcPct val="0"/>
                </a:spcBef>
                <a:buFontTx/>
                <a:buNone/>
              </a:pPr>
              <a:t>8</a:t>
            </a:fld>
            <a:endParaRPr lang="ru-RU" altLang="ru-RU" sz="1400"/>
          </a:p>
        </p:txBody>
      </p:sp>
      <p:graphicFrame>
        <p:nvGraphicFramePr>
          <p:cNvPr id="100357" name="Group 5"/>
          <p:cNvGraphicFramePr>
            <a:graphicFrameLocks noGrp="1"/>
          </p:cNvGraphicFramePr>
          <p:nvPr/>
        </p:nvGraphicFramePr>
        <p:xfrm>
          <a:off x="1187450" y="3068638"/>
          <a:ext cx="6913563" cy="3108852"/>
        </p:xfrm>
        <a:graphic>
          <a:graphicData uri="http://schemas.openxmlformats.org/drawingml/2006/table">
            <a:tbl>
              <a:tblPr/>
              <a:tblGrid>
                <a:gridCol w="1079500"/>
                <a:gridCol w="1944688"/>
                <a:gridCol w="1873250"/>
                <a:gridCol w="1008062"/>
                <a:gridCol w="1008063"/>
              </a:tblGrid>
              <a:tr h="518054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Шаг </a:t>
                      </a:r>
                    </a:p>
                  </a:txBody>
                  <a:tcPr marT="45711" marB="4571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Магазин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Операция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a</a:t>
                      </a:r>
                      <a:endParaRPr kumimoji="0" lang="ru-RU" altLang="ru-R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b</a:t>
                      </a:r>
                      <a:endParaRPr kumimoji="0" lang="ru-RU" altLang="ru-R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054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marT="45711" marB="4571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a</a:t>
                      </a:r>
                      <a:r>
                        <a:rPr kumimoji="0" lang="ru-RU" altLang="ru-RU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, </a:t>
                      </a:r>
                      <a:r>
                        <a:rPr kumimoji="0" lang="en-US" altLang="ru-RU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 b</a:t>
                      </a:r>
                      <a:endParaRPr kumimoji="0" lang="ru-RU" altLang="ru-R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&gt;</a:t>
                      </a:r>
                      <a:endParaRPr kumimoji="0" lang="ru-RU" altLang="ru-R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5</a:t>
                      </a:r>
                      <a:endParaRPr kumimoji="0" lang="ru-RU" altLang="ru-R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2</a:t>
                      </a:r>
                      <a:endParaRPr kumimoji="0" lang="ru-RU" altLang="ru-R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054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2</a:t>
                      </a:r>
                    </a:p>
                  </a:txBody>
                  <a:tcPr marT="45711" marB="4571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tru</a:t>
                      </a:r>
                      <a:r>
                        <a:rPr kumimoji="0" lang="ru-RU" altLang="ru-RU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e</a:t>
                      </a:r>
                      <a:r>
                        <a:rPr kumimoji="0" lang="en-US" altLang="ru-RU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, </a:t>
                      </a:r>
                      <a:r>
                        <a:rPr kumimoji="0" lang="en-US" altLang="ru-RU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m</a:t>
                      </a:r>
                      <a:r>
                        <a:rPr kumimoji="0" lang="en-US" altLang="ru-RU" sz="24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  <a:endParaRPr kumimoji="0" lang="ru-RU" altLang="ru-RU" sz="2400" b="0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jf</a:t>
                      </a:r>
                      <a:endParaRPr kumimoji="0" lang="ru-RU" altLang="ru-RU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5</a:t>
                      </a:r>
                      <a:endParaRPr kumimoji="0" lang="ru-RU" altLang="ru-RU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2</a:t>
                      </a:r>
                      <a:endParaRPr kumimoji="0" lang="ru-RU" altLang="ru-RU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054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3</a:t>
                      </a:r>
                    </a:p>
                  </a:txBody>
                  <a:tcPr marT="45711" marB="4571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a, b</a:t>
                      </a:r>
                      <a:endParaRPr kumimoji="0" lang="ru-RU" altLang="ru-R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:</a:t>
                      </a:r>
                      <a:r>
                        <a:rPr kumimoji="0" lang="en-US" altLang="ru-RU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=</a:t>
                      </a:r>
                      <a:endParaRPr kumimoji="0" lang="ru-RU" altLang="ru-R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5</a:t>
                      </a:r>
                      <a:endParaRPr kumimoji="0" lang="ru-RU" altLang="ru-R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2</a:t>
                      </a:r>
                      <a:endParaRPr kumimoji="0" lang="ru-RU" altLang="ru-R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054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4</a:t>
                      </a:r>
                    </a:p>
                  </a:txBody>
                  <a:tcPr marT="45711" marB="4571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m</a:t>
                      </a:r>
                      <a:r>
                        <a:rPr kumimoji="0" lang="en-US" altLang="ru-RU" sz="24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2</a:t>
                      </a:r>
                      <a:endParaRPr kumimoji="0" lang="ru-RU" altLang="ru-RU" sz="2400" b="0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j</a:t>
                      </a:r>
                      <a:endParaRPr kumimoji="0" lang="ru-RU" altLang="ru-RU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2</a:t>
                      </a:r>
                      <a:endParaRPr kumimoji="0" lang="ru-RU" altLang="ru-R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2</a:t>
                      </a:r>
                      <a:endParaRPr kumimoji="0" lang="ru-RU" altLang="ru-R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054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5</a:t>
                      </a:r>
                    </a:p>
                  </a:txBody>
                  <a:tcPr marT="45711" marB="4571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altLang="ru-R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altLang="ru-R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altLang="ru-R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altLang="ru-R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0"/>
            <a:ext cx="8229600" cy="188913"/>
          </a:xfrm>
        </p:spPr>
        <p:txBody>
          <a:bodyPr/>
          <a:lstStyle/>
          <a:p>
            <a:pPr eaLnBrk="1" hangingPunct="1"/>
            <a:endParaRPr lang="ru-RU" altLang="ru-RU" sz="4000" smtClean="0"/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260350"/>
            <a:ext cx="8229600" cy="6337300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Tx/>
              <a:buNone/>
            </a:pPr>
            <a:r>
              <a:rPr lang="ru-RU" altLang="ru-RU" sz="2400" b="1" smtClean="0">
                <a:latin typeface="Times New Roman" pitchFamily="18" charset="0"/>
              </a:rPr>
              <a:t> </a:t>
            </a:r>
            <a:endParaRPr lang="en-US" altLang="ru-RU" sz="2400" smtClean="0">
              <a:latin typeface="Times New Roman" pitchFamily="18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ru-RU" sz="2400" smtClean="0">
                <a:latin typeface="Times New Roman" pitchFamily="18" charset="0"/>
              </a:rPr>
              <a:t>C</a:t>
            </a:r>
            <a:r>
              <a:rPr lang="ru-RU" altLang="ru-RU" sz="2400" smtClean="0">
                <a:latin typeface="Times New Roman" pitchFamily="18" charset="0"/>
              </a:rPr>
              <a:t>генерированная ОПС:</a:t>
            </a:r>
            <a:endParaRPr lang="en-US" altLang="ru-RU" sz="2400" smtClean="0">
              <a:latin typeface="Times New Roman" pitchFamily="18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			</a:t>
            </a:r>
            <a:r>
              <a:rPr lang="en-US" altLang="ru-RU" sz="2400" smtClean="0">
                <a:latin typeface="Times New Roman" pitchFamily="18" charset="0"/>
              </a:rPr>
              <a:t>a b &gt; m</a:t>
            </a:r>
            <a:r>
              <a:rPr lang="en-US" altLang="ru-RU" sz="2400" baseline="-25000" smtClean="0">
                <a:latin typeface="Times New Roman" pitchFamily="18" charset="0"/>
              </a:rPr>
              <a:t>1</a:t>
            </a:r>
            <a:r>
              <a:rPr lang="en-US" altLang="ru-RU" sz="2400" smtClean="0">
                <a:latin typeface="Times New Roman" pitchFamily="18" charset="0"/>
              </a:rPr>
              <a:t> </a:t>
            </a:r>
            <a:r>
              <a:rPr lang="en-US" altLang="ru-RU" sz="2400" b="1" smtClean="0">
                <a:latin typeface="Times New Roman" pitchFamily="18" charset="0"/>
              </a:rPr>
              <a:t>jf</a:t>
            </a:r>
            <a:r>
              <a:rPr lang="en-US" altLang="ru-RU" sz="2400" smtClean="0">
                <a:latin typeface="Times New Roman" pitchFamily="18" charset="0"/>
              </a:rPr>
              <a:t> a b := m</a:t>
            </a:r>
            <a:r>
              <a:rPr lang="en-US" altLang="ru-RU" sz="2400" baseline="-25000" smtClean="0">
                <a:latin typeface="Times New Roman" pitchFamily="18" charset="0"/>
              </a:rPr>
              <a:t>2</a:t>
            </a:r>
            <a:r>
              <a:rPr lang="ru-RU" altLang="ru-RU" sz="2400" baseline="-25000" smtClean="0">
                <a:latin typeface="Times New Roman" pitchFamily="18" charset="0"/>
              </a:rPr>
              <a:t> </a:t>
            </a:r>
            <a:r>
              <a:rPr lang="en-US" altLang="ru-RU" sz="2400" b="1" smtClean="0">
                <a:latin typeface="Times New Roman" pitchFamily="18" charset="0"/>
              </a:rPr>
              <a:t>j</a:t>
            </a:r>
            <a:r>
              <a:rPr lang="ru-RU" altLang="ru-RU" sz="2400" b="1" smtClean="0">
                <a:latin typeface="Times New Roman" pitchFamily="18" charset="0"/>
              </a:rPr>
              <a:t> </a:t>
            </a:r>
            <a:r>
              <a:rPr lang="en-US" altLang="ru-RU" sz="2400" smtClean="0">
                <a:latin typeface="Times New Roman" pitchFamily="18" charset="0"/>
              </a:rPr>
              <a:t>b a :=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					</a:t>
            </a:r>
            <a:r>
              <a:rPr lang="en-US" altLang="ru-RU" sz="2400" smtClean="0">
                <a:latin typeface="Times New Roman" pitchFamily="18" charset="0"/>
              </a:rPr>
              <a:t> </a:t>
            </a:r>
            <a:r>
              <a:rPr lang="ru-RU" altLang="ru-RU" sz="2400" smtClean="0">
                <a:latin typeface="Times New Roman" pitchFamily="18" charset="0"/>
              </a:rPr>
              <a:t>          </a:t>
            </a:r>
            <a:r>
              <a:rPr lang="en-US" altLang="ru-RU" sz="2400" smtClean="0">
                <a:latin typeface="Times New Roman" pitchFamily="18" charset="0"/>
              </a:rPr>
              <a:t>↑  </a:t>
            </a:r>
            <a:r>
              <a:rPr lang="ru-RU" altLang="ru-RU" sz="2400" smtClean="0">
                <a:latin typeface="Times New Roman" pitchFamily="18" charset="0"/>
              </a:rPr>
              <a:t>     </a:t>
            </a:r>
            <a:r>
              <a:rPr lang="en-US" altLang="ru-RU" sz="2400" smtClean="0">
                <a:latin typeface="Times New Roman" pitchFamily="18" charset="0"/>
              </a:rPr>
              <a:t> ↑</a:t>
            </a:r>
            <a:endParaRPr lang="ru-RU" altLang="ru-RU" sz="2400" smtClean="0">
              <a:latin typeface="Times New Roman" pitchFamily="18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					          </a:t>
            </a:r>
            <a:r>
              <a:rPr lang="en-US" altLang="ru-RU" sz="2400" smtClean="0">
                <a:latin typeface="Times New Roman" pitchFamily="18" charset="0"/>
              </a:rPr>
              <a:t>m</a:t>
            </a:r>
            <a:r>
              <a:rPr lang="ru-RU" altLang="ru-RU" sz="2400" baseline="-25000" smtClean="0">
                <a:latin typeface="Times New Roman" pitchFamily="18" charset="0"/>
              </a:rPr>
              <a:t>1</a:t>
            </a:r>
            <a:r>
              <a:rPr lang="ru-RU" altLang="ru-RU" sz="2400" smtClean="0">
                <a:latin typeface="Times New Roman" pitchFamily="18" charset="0"/>
              </a:rPr>
              <a:t>      </a:t>
            </a:r>
            <a:r>
              <a:rPr lang="en-US" altLang="ru-RU" sz="2400" smtClean="0">
                <a:latin typeface="Times New Roman" pitchFamily="18" charset="0"/>
              </a:rPr>
              <a:t>m</a:t>
            </a:r>
            <a:r>
              <a:rPr lang="ru-RU" altLang="ru-RU" sz="2400" baseline="-25000" smtClean="0">
                <a:latin typeface="Times New Roman" pitchFamily="18" charset="0"/>
              </a:rPr>
              <a:t>2</a:t>
            </a:r>
            <a:endParaRPr lang="ru-RU" altLang="ru-RU" sz="2400" smtClean="0">
              <a:latin typeface="Times New Roman" pitchFamily="18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Вычисление ОПС при </a:t>
            </a:r>
            <a:r>
              <a:rPr lang="en-US" altLang="ru-RU" sz="2400" smtClean="0">
                <a:latin typeface="Times New Roman" pitchFamily="18" charset="0"/>
              </a:rPr>
              <a:t>a</a:t>
            </a:r>
            <a:r>
              <a:rPr lang="ru-RU" altLang="ru-RU" sz="2400" smtClean="0">
                <a:latin typeface="Times New Roman" pitchFamily="18" charset="0"/>
              </a:rPr>
              <a:t> = </a:t>
            </a:r>
            <a:r>
              <a:rPr lang="en-US" altLang="ru-RU" sz="2400" smtClean="0">
                <a:latin typeface="Times New Roman" pitchFamily="18" charset="0"/>
              </a:rPr>
              <a:t>2</a:t>
            </a:r>
            <a:r>
              <a:rPr lang="ru-RU" altLang="ru-RU" sz="2400" smtClean="0">
                <a:latin typeface="Times New Roman" pitchFamily="18" charset="0"/>
              </a:rPr>
              <a:t>, </a:t>
            </a:r>
            <a:r>
              <a:rPr lang="en-US" altLang="ru-RU" sz="2400" smtClean="0">
                <a:latin typeface="Times New Roman" pitchFamily="18" charset="0"/>
              </a:rPr>
              <a:t>b</a:t>
            </a:r>
            <a:r>
              <a:rPr lang="ru-RU" altLang="ru-RU" sz="2400" smtClean="0">
                <a:latin typeface="Times New Roman" pitchFamily="18" charset="0"/>
              </a:rPr>
              <a:t> = </a:t>
            </a:r>
            <a:r>
              <a:rPr lang="en-US" altLang="ru-RU" sz="2400" smtClean="0">
                <a:latin typeface="Times New Roman" pitchFamily="18" charset="0"/>
              </a:rPr>
              <a:t>5</a:t>
            </a:r>
            <a:r>
              <a:rPr lang="ru-RU" altLang="ru-RU" sz="2400" smtClean="0">
                <a:latin typeface="Times New Roman" pitchFamily="18" charset="0"/>
              </a:rPr>
              <a:t>. </a:t>
            </a:r>
          </a:p>
        </p:txBody>
      </p:sp>
      <p:sp>
        <p:nvSpPr>
          <p:cNvPr id="10244" name="Номер слайда 1"/>
          <p:cNvSpPr txBox="1">
            <a:spLocks noGrp="1"/>
          </p:cNvSpPr>
          <p:nvPr/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DB7FA93B-DC88-4787-9CFB-8EE318E4E8A5}" type="slidenum">
              <a:rPr lang="ru-RU" altLang="ru-RU" sz="1400"/>
              <a:pPr algn="r" eaLnBrk="1" hangingPunct="1">
                <a:spcBef>
                  <a:spcPct val="0"/>
                </a:spcBef>
                <a:buFontTx/>
                <a:buNone/>
              </a:pPr>
              <a:t>9</a:t>
            </a:fld>
            <a:endParaRPr lang="ru-RU" altLang="ru-RU" sz="1400"/>
          </a:p>
        </p:txBody>
      </p:sp>
      <p:graphicFrame>
        <p:nvGraphicFramePr>
          <p:cNvPr id="101381" name="Group 5"/>
          <p:cNvGraphicFramePr>
            <a:graphicFrameLocks noGrp="1"/>
          </p:cNvGraphicFramePr>
          <p:nvPr/>
        </p:nvGraphicFramePr>
        <p:xfrm>
          <a:off x="1187450" y="3068638"/>
          <a:ext cx="6913563" cy="2590800"/>
        </p:xfrm>
        <a:graphic>
          <a:graphicData uri="http://schemas.openxmlformats.org/drawingml/2006/table">
            <a:tbl>
              <a:tblPr/>
              <a:tblGrid>
                <a:gridCol w="1079500"/>
                <a:gridCol w="1944688"/>
                <a:gridCol w="1873250"/>
                <a:gridCol w="1008062"/>
                <a:gridCol w="1008063"/>
              </a:tblGrid>
              <a:tr h="31115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Шаг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Магазин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Операция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a</a:t>
                      </a:r>
                      <a:endParaRPr kumimoji="0" lang="ru-RU" altLang="ru-R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b</a:t>
                      </a:r>
                      <a:endParaRPr kumimoji="0" lang="ru-RU" altLang="ru-R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4132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a</a:t>
                      </a:r>
                      <a:r>
                        <a:rPr kumimoji="0" lang="ru-RU" altLang="ru-RU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, </a:t>
                      </a:r>
                      <a:r>
                        <a:rPr kumimoji="0" lang="en-US" altLang="ru-RU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 b</a:t>
                      </a:r>
                      <a:endParaRPr kumimoji="0" lang="ru-RU" altLang="ru-R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&gt;</a:t>
                      </a:r>
                      <a:endParaRPr kumimoji="0" lang="ru-RU" altLang="ru-R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556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false, </a:t>
                      </a:r>
                      <a:r>
                        <a:rPr kumimoji="0" lang="en-US" altLang="ru-RU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m</a:t>
                      </a:r>
                      <a:r>
                        <a:rPr kumimoji="0" lang="en-US" altLang="ru-RU" sz="24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  <a:endParaRPr kumimoji="0" lang="ru-RU" altLang="ru-RU" sz="2400" b="0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jf</a:t>
                      </a:r>
                      <a:endParaRPr kumimoji="0" lang="ru-RU" altLang="ru-RU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1433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b, a</a:t>
                      </a:r>
                      <a:endParaRPr kumimoji="0" lang="ru-RU" altLang="ru-R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:</a:t>
                      </a:r>
                      <a:r>
                        <a:rPr kumimoji="0" lang="en-US" altLang="ru-RU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=</a:t>
                      </a:r>
                      <a:endParaRPr kumimoji="0" lang="ru-RU" altLang="ru-R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730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altLang="ru-RU" sz="2400" b="0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altLang="ru-RU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0"/>
            <a:ext cx="8229600" cy="188913"/>
          </a:xfrm>
        </p:spPr>
        <p:txBody>
          <a:bodyPr/>
          <a:lstStyle/>
          <a:p>
            <a:pPr eaLnBrk="1" hangingPunct="1"/>
            <a:endParaRPr lang="ru-RU" altLang="ru-RU" sz="4000" smtClean="0"/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260350"/>
            <a:ext cx="8229600" cy="6337300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Tx/>
              <a:buNone/>
            </a:pPr>
            <a:r>
              <a:rPr lang="ru-RU" altLang="ru-RU" sz="2400" b="1" smtClean="0">
                <a:latin typeface="Times New Roman" pitchFamily="18" charset="0"/>
              </a:rPr>
              <a:t>Пример.</a:t>
            </a:r>
            <a:r>
              <a:rPr lang="ru-RU" altLang="ru-RU" sz="2400" smtClean="0">
                <a:latin typeface="Times New Roman" pitchFamily="18" charset="0"/>
              </a:rPr>
              <a:t> На входе цепочка:</a:t>
            </a:r>
            <a:endParaRPr lang="en-US" altLang="ru-RU" sz="2400" smtClean="0">
              <a:latin typeface="Times New Roman" pitchFamily="18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ru-RU" altLang="ru-RU" sz="2400" b="1" smtClean="0">
                <a:latin typeface="Times New Roman" pitchFamily="18" charset="0"/>
              </a:rPr>
              <a:t>			</a:t>
            </a:r>
            <a:r>
              <a:rPr lang="en-US" altLang="ru-RU" sz="2400" b="1" smtClean="0">
                <a:latin typeface="Times New Roman" pitchFamily="18" charset="0"/>
              </a:rPr>
              <a:t>while</a:t>
            </a:r>
            <a:r>
              <a:rPr lang="en-US" altLang="ru-RU" sz="2400" smtClean="0">
                <a:latin typeface="Times New Roman" pitchFamily="18" charset="0"/>
              </a:rPr>
              <a:t> a&gt;b </a:t>
            </a:r>
            <a:r>
              <a:rPr lang="en-US" altLang="ru-RU" sz="2400" b="1" smtClean="0">
                <a:latin typeface="Times New Roman" pitchFamily="18" charset="0"/>
              </a:rPr>
              <a:t>do</a:t>
            </a:r>
            <a:r>
              <a:rPr lang="en-US" altLang="ru-RU" sz="2400" smtClean="0">
                <a:latin typeface="Times New Roman" pitchFamily="18" charset="0"/>
              </a:rPr>
              <a:t> a:=b </a:t>
            </a:r>
            <a:r>
              <a:rPr lang="en-US" altLang="ru-RU" sz="2400" baseline="-25000" smtClean="0">
                <a:latin typeface="Times New Roman" pitchFamily="18" charset="0"/>
              </a:rPr>
              <a:t>┴</a:t>
            </a:r>
            <a:endParaRPr lang="ru-RU" altLang="ru-RU" sz="2400" baseline="-25000" smtClean="0">
              <a:latin typeface="Times New Roman" pitchFamily="18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ru-RU" altLang="ru-RU" sz="1000" baseline="-25000" smtClean="0">
              <a:latin typeface="Times New Roman" pitchFamily="18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будет сгенерирована следующая ОПС:</a:t>
            </a:r>
            <a:endParaRPr lang="en-US" altLang="ru-RU" sz="2400" smtClean="0">
              <a:latin typeface="Times New Roman" pitchFamily="18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			</a:t>
            </a:r>
            <a:r>
              <a:rPr lang="en-US" altLang="ru-RU" sz="2400" smtClean="0">
                <a:latin typeface="Times New Roman" pitchFamily="18" charset="0"/>
              </a:rPr>
              <a:t>a b &gt; m</a:t>
            </a:r>
            <a:r>
              <a:rPr lang="en-US" altLang="ru-RU" sz="2400" baseline="-25000" smtClean="0">
                <a:latin typeface="Times New Roman" pitchFamily="18" charset="0"/>
              </a:rPr>
              <a:t>1</a:t>
            </a:r>
            <a:r>
              <a:rPr lang="en-US" altLang="ru-RU" sz="2400" smtClean="0">
                <a:latin typeface="Times New Roman" pitchFamily="18" charset="0"/>
              </a:rPr>
              <a:t> </a:t>
            </a:r>
            <a:r>
              <a:rPr lang="en-US" altLang="ru-RU" sz="2400" b="1" smtClean="0">
                <a:latin typeface="Times New Roman" pitchFamily="18" charset="0"/>
              </a:rPr>
              <a:t>jf</a:t>
            </a:r>
            <a:r>
              <a:rPr lang="en-US" altLang="ru-RU" sz="2400" smtClean="0">
                <a:latin typeface="Times New Roman" pitchFamily="18" charset="0"/>
              </a:rPr>
              <a:t> a b := m</a:t>
            </a:r>
            <a:r>
              <a:rPr lang="en-US" altLang="ru-RU" sz="2400" baseline="-25000" smtClean="0">
                <a:latin typeface="Times New Roman" pitchFamily="18" charset="0"/>
              </a:rPr>
              <a:t>0</a:t>
            </a:r>
            <a:r>
              <a:rPr lang="ru-RU" altLang="ru-RU" sz="2400" baseline="-25000" smtClean="0">
                <a:latin typeface="Times New Roman" pitchFamily="18" charset="0"/>
              </a:rPr>
              <a:t> </a:t>
            </a:r>
            <a:r>
              <a:rPr lang="en-US" altLang="ru-RU" sz="2400" b="1" smtClean="0">
                <a:latin typeface="Times New Roman" pitchFamily="18" charset="0"/>
              </a:rPr>
              <a:t>j</a:t>
            </a:r>
            <a:r>
              <a:rPr lang="ru-RU" altLang="ru-RU" sz="2400" b="1" smtClean="0">
                <a:latin typeface="Times New Roman" pitchFamily="18" charset="0"/>
              </a:rPr>
              <a:t> </a:t>
            </a:r>
            <a:r>
              <a:rPr lang="ru-RU" altLang="ru-RU" sz="2400" smtClean="0">
                <a:latin typeface="Times New Roman" pitchFamily="18" charset="0"/>
              </a:rPr>
              <a:t>					</a:t>
            </a:r>
            <a:r>
              <a:rPr lang="en-US" altLang="ru-RU" sz="2400" smtClean="0">
                <a:latin typeface="Times New Roman" pitchFamily="18" charset="0"/>
              </a:rPr>
              <a:t> </a:t>
            </a:r>
            <a:r>
              <a:rPr lang="ru-RU" altLang="ru-RU" sz="2400" smtClean="0">
                <a:latin typeface="Times New Roman" pitchFamily="18" charset="0"/>
              </a:rPr>
              <a:t>      </a:t>
            </a:r>
            <a:r>
              <a:rPr lang="en-US" altLang="ru-RU" sz="2400" smtClean="0">
                <a:latin typeface="Times New Roman" pitchFamily="18" charset="0"/>
              </a:rPr>
              <a:t>     ↑     </a:t>
            </a:r>
            <a:r>
              <a:rPr lang="ru-RU" altLang="ru-RU" sz="2400" smtClean="0">
                <a:latin typeface="Times New Roman" pitchFamily="18" charset="0"/>
              </a:rPr>
              <a:t>	</a:t>
            </a:r>
            <a:r>
              <a:rPr lang="en-US" altLang="ru-RU" sz="2400" smtClean="0">
                <a:latin typeface="Times New Roman" pitchFamily="18" charset="0"/>
              </a:rPr>
              <a:t>  	</a:t>
            </a:r>
            <a:r>
              <a:rPr lang="ru-RU" altLang="ru-RU" sz="2400" smtClean="0">
                <a:latin typeface="Times New Roman" pitchFamily="18" charset="0"/>
              </a:rPr>
              <a:t>           </a:t>
            </a:r>
            <a:r>
              <a:rPr lang="en-US" altLang="ru-RU" sz="2400" smtClean="0">
                <a:latin typeface="Times New Roman" pitchFamily="18" charset="0"/>
              </a:rPr>
              <a:t>↑</a:t>
            </a:r>
            <a:endParaRPr lang="ru-RU" altLang="ru-RU" sz="2400" smtClean="0">
              <a:latin typeface="Times New Roman" pitchFamily="18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		           </a:t>
            </a:r>
            <a:r>
              <a:rPr lang="en-US" altLang="ru-RU" sz="2400" smtClean="0">
                <a:latin typeface="Times New Roman" pitchFamily="18" charset="0"/>
              </a:rPr>
              <a:t>m</a:t>
            </a:r>
            <a:r>
              <a:rPr lang="en-US" altLang="ru-RU" sz="2400" baseline="-25000" smtClean="0">
                <a:latin typeface="Times New Roman" pitchFamily="18" charset="0"/>
              </a:rPr>
              <a:t>0</a:t>
            </a:r>
            <a:r>
              <a:rPr lang="ru-RU" altLang="ru-RU" sz="2400" smtClean="0">
                <a:latin typeface="Times New Roman" pitchFamily="18" charset="0"/>
              </a:rPr>
              <a:t>    </a:t>
            </a:r>
            <a:r>
              <a:rPr lang="en-US" altLang="ru-RU" sz="2400" smtClean="0">
                <a:latin typeface="Times New Roman" pitchFamily="18" charset="0"/>
              </a:rPr>
              <a:t>		   </a:t>
            </a:r>
            <a:r>
              <a:rPr lang="ru-RU" altLang="ru-RU" sz="2400" smtClean="0">
                <a:latin typeface="Times New Roman" pitchFamily="18" charset="0"/>
              </a:rPr>
              <a:t>      </a:t>
            </a:r>
            <a:r>
              <a:rPr lang="en-US" altLang="ru-RU" sz="2400" smtClean="0">
                <a:latin typeface="Times New Roman" pitchFamily="18" charset="0"/>
              </a:rPr>
              <a:t> m</a:t>
            </a:r>
            <a:r>
              <a:rPr lang="en-US" altLang="ru-RU" sz="2400" baseline="-25000" smtClean="0">
                <a:latin typeface="Times New Roman" pitchFamily="18" charset="0"/>
              </a:rPr>
              <a:t>1</a:t>
            </a:r>
            <a:endParaRPr lang="ru-RU" altLang="ru-RU" sz="2400" smtClean="0">
              <a:latin typeface="Times New Roman" pitchFamily="18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Вычисление ОПС при </a:t>
            </a:r>
            <a:r>
              <a:rPr lang="en-US" altLang="ru-RU" sz="2400" smtClean="0">
                <a:latin typeface="Times New Roman" pitchFamily="18" charset="0"/>
              </a:rPr>
              <a:t>a</a:t>
            </a:r>
            <a:r>
              <a:rPr lang="ru-RU" altLang="ru-RU" sz="2400" smtClean="0">
                <a:latin typeface="Times New Roman" pitchFamily="18" charset="0"/>
              </a:rPr>
              <a:t> = 5, </a:t>
            </a:r>
            <a:r>
              <a:rPr lang="en-US" altLang="ru-RU" sz="2400" smtClean="0">
                <a:latin typeface="Times New Roman" pitchFamily="18" charset="0"/>
              </a:rPr>
              <a:t>b</a:t>
            </a:r>
            <a:r>
              <a:rPr lang="ru-RU" altLang="ru-RU" sz="2400" smtClean="0">
                <a:latin typeface="Times New Roman" pitchFamily="18" charset="0"/>
              </a:rPr>
              <a:t> = 2. </a:t>
            </a:r>
          </a:p>
        </p:txBody>
      </p:sp>
      <p:sp>
        <p:nvSpPr>
          <p:cNvPr id="11268" name="Номер слайда 1"/>
          <p:cNvSpPr txBox="1">
            <a:spLocks noGrp="1"/>
          </p:cNvSpPr>
          <p:nvPr/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7FA27C25-6CA1-4E71-80C9-70959B82AB94}" type="slidenum">
              <a:rPr lang="ru-RU" altLang="ru-RU" sz="1400"/>
              <a:pPr algn="r" eaLnBrk="1" hangingPunct="1">
                <a:spcBef>
                  <a:spcPct val="0"/>
                </a:spcBef>
                <a:buFontTx/>
                <a:buNone/>
              </a:pPr>
              <a:t>10</a:t>
            </a:fld>
            <a:endParaRPr lang="ru-RU" altLang="ru-RU" sz="1400"/>
          </a:p>
        </p:txBody>
      </p:sp>
      <p:graphicFrame>
        <p:nvGraphicFramePr>
          <p:cNvPr id="102405" name="Group 5"/>
          <p:cNvGraphicFramePr>
            <a:graphicFrameLocks noGrp="1"/>
          </p:cNvGraphicFramePr>
          <p:nvPr/>
        </p:nvGraphicFramePr>
        <p:xfrm>
          <a:off x="1187450" y="3068638"/>
          <a:ext cx="6913563" cy="3627435"/>
        </p:xfrm>
        <a:graphic>
          <a:graphicData uri="http://schemas.openxmlformats.org/drawingml/2006/table">
            <a:tbl>
              <a:tblPr/>
              <a:tblGrid>
                <a:gridCol w="1079500"/>
                <a:gridCol w="1944688"/>
                <a:gridCol w="1873250"/>
                <a:gridCol w="1008062"/>
                <a:gridCol w="1008063"/>
              </a:tblGrid>
              <a:tr h="51820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Шаг </a:t>
                      </a:r>
                    </a:p>
                  </a:txBody>
                  <a:tcPr marT="45724" marB="4572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Магазин</a:t>
                      </a: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Операция</a:t>
                      </a: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a</a:t>
                      </a:r>
                      <a:endParaRPr kumimoji="0" lang="ru-RU" altLang="ru-R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b</a:t>
                      </a:r>
                      <a:endParaRPr kumimoji="0" lang="ru-RU" altLang="ru-R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20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marT="45724" marB="4572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a</a:t>
                      </a:r>
                      <a:r>
                        <a:rPr kumimoji="0" lang="ru-RU" altLang="ru-RU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, </a:t>
                      </a:r>
                      <a:r>
                        <a:rPr kumimoji="0" lang="en-US" altLang="ru-RU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 b</a:t>
                      </a:r>
                      <a:endParaRPr kumimoji="0" lang="ru-RU" altLang="ru-R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&gt;</a:t>
                      </a:r>
                      <a:endParaRPr kumimoji="0" lang="ru-RU" altLang="ru-R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5</a:t>
                      </a:r>
                      <a:endParaRPr kumimoji="0" lang="ru-RU" altLang="ru-R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2</a:t>
                      </a:r>
                      <a:endParaRPr kumimoji="0" lang="ru-RU" altLang="ru-R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20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2</a:t>
                      </a:r>
                    </a:p>
                  </a:txBody>
                  <a:tcPr marT="45724" marB="4572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tru</a:t>
                      </a:r>
                      <a:r>
                        <a:rPr kumimoji="0" lang="ru-RU" altLang="ru-RU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e</a:t>
                      </a:r>
                      <a:r>
                        <a:rPr kumimoji="0" lang="en-US" altLang="ru-RU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, </a:t>
                      </a:r>
                      <a:r>
                        <a:rPr kumimoji="0" lang="en-US" altLang="ru-RU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m</a:t>
                      </a:r>
                      <a:r>
                        <a:rPr kumimoji="0" lang="en-US" altLang="ru-RU" sz="24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  <a:endParaRPr kumimoji="0" lang="ru-RU" altLang="ru-RU" sz="2400" b="0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jf</a:t>
                      </a:r>
                      <a:endParaRPr kumimoji="0" lang="ru-RU" altLang="ru-RU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5</a:t>
                      </a:r>
                      <a:endParaRPr kumimoji="0" lang="ru-RU" altLang="ru-RU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2</a:t>
                      </a:r>
                      <a:endParaRPr kumimoji="0" lang="ru-RU" altLang="ru-RU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20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3</a:t>
                      </a:r>
                    </a:p>
                  </a:txBody>
                  <a:tcPr marT="45724" marB="4572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a, b</a:t>
                      </a:r>
                      <a:endParaRPr kumimoji="0" lang="ru-RU" altLang="ru-R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:</a:t>
                      </a:r>
                      <a:r>
                        <a:rPr kumimoji="0" lang="en-US" altLang="ru-RU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=</a:t>
                      </a:r>
                      <a:endParaRPr kumimoji="0" lang="ru-RU" altLang="ru-R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5</a:t>
                      </a:r>
                      <a:endParaRPr kumimoji="0" lang="ru-RU" altLang="ru-R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2</a:t>
                      </a:r>
                      <a:endParaRPr kumimoji="0" lang="ru-RU" altLang="ru-R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20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4</a:t>
                      </a:r>
                    </a:p>
                  </a:txBody>
                  <a:tcPr marT="45724" marB="4572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m</a:t>
                      </a:r>
                      <a:r>
                        <a:rPr kumimoji="0" lang="ru-RU" altLang="ru-RU" sz="24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j</a:t>
                      </a:r>
                      <a:endParaRPr kumimoji="0" lang="ru-RU" altLang="ru-RU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2</a:t>
                      </a:r>
                      <a:endParaRPr kumimoji="0" lang="ru-RU" altLang="ru-R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2</a:t>
                      </a:r>
                      <a:endParaRPr kumimoji="0" lang="ru-RU" altLang="ru-R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20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5</a:t>
                      </a:r>
                    </a:p>
                  </a:txBody>
                  <a:tcPr marT="45724" marB="4572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a</a:t>
                      </a:r>
                      <a:r>
                        <a:rPr kumimoji="0" lang="ru-RU" altLang="ru-RU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, </a:t>
                      </a:r>
                      <a:r>
                        <a:rPr kumimoji="0" lang="en-US" altLang="ru-RU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 b</a:t>
                      </a:r>
                      <a:endParaRPr kumimoji="0" lang="ru-RU" altLang="ru-R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&gt;</a:t>
                      </a:r>
                      <a:endParaRPr kumimoji="0" lang="ru-RU" altLang="ru-R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2</a:t>
                      </a: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2</a:t>
                      </a: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20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6</a:t>
                      </a:r>
                    </a:p>
                  </a:txBody>
                  <a:tcPr marT="45724" marB="4572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</a:t>
                      </a:r>
                      <a:r>
                        <a:rPr kumimoji="0" lang="en-US" altLang="ru-RU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alse, </a:t>
                      </a:r>
                      <a:r>
                        <a:rPr kumimoji="0" lang="en-US" altLang="ru-RU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m</a:t>
                      </a:r>
                      <a:r>
                        <a:rPr kumimoji="0" lang="en-US" altLang="ru-RU" sz="24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  <a:endParaRPr kumimoji="0" lang="ru-RU" altLang="ru-RU" sz="2400" b="0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jf</a:t>
                      </a:r>
                      <a:endParaRPr kumimoji="0" lang="ru-RU" altLang="ru-RU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2</a:t>
                      </a: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2</a:t>
                      </a: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79388" y="0"/>
            <a:ext cx="8785225" cy="692150"/>
          </a:xfrm>
        </p:spPr>
        <p:txBody>
          <a:bodyPr/>
          <a:lstStyle/>
          <a:p>
            <a:pPr eaLnBrk="1" hangingPunct="1"/>
            <a:r>
              <a:rPr lang="ru-RU" altLang="ru-RU" sz="3200" b="1" smtClean="0">
                <a:solidFill>
                  <a:schemeClr val="accent2"/>
                </a:solidFill>
              </a:rPr>
              <a:t>Грамматика с составными операторами</a:t>
            </a:r>
            <a:r>
              <a:rPr lang="ru-RU" altLang="ru-RU" sz="4000" smtClean="0"/>
              <a:t> 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196975"/>
            <a:ext cx="8229600" cy="5256213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Порождающие правила</a:t>
            </a:r>
            <a:r>
              <a:rPr lang="en-US" altLang="ru-RU" sz="2400" smtClean="0">
                <a:latin typeface="Times New Roman" pitchFamily="18" charset="0"/>
              </a:rPr>
              <a:t> </a:t>
            </a:r>
            <a:r>
              <a:rPr lang="ru-RU" altLang="ru-RU" sz="2400" smtClean="0">
                <a:latin typeface="Times New Roman" pitchFamily="18" charset="0"/>
              </a:rPr>
              <a:t>для задания составного оператора, </a:t>
            </a:r>
            <a:endParaRPr lang="en-US" altLang="ru-RU" sz="2400" smtClean="0">
              <a:latin typeface="Times New Roman" pitchFamily="18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ru-RU" sz="2400" smtClean="0">
                <a:latin typeface="Times New Roman" pitchFamily="18" charset="0"/>
              </a:rPr>
              <a:t>     </a:t>
            </a:r>
            <a:r>
              <a:rPr lang="ru-RU" altLang="ru-RU" sz="2400" smtClean="0">
                <a:latin typeface="Times New Roman" pitchFamily="18" charset="0"/>
              </a:rPr>
              <a:t>т.е. последовательности других операторов </a:t>
            </a:r>
            <a:endParaRPr lang="en-US" altLang="ru-RU" sz="2400" smtClean="0">
              <a:latin typeface="Times New Roman" pitchFamily="18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ru-RU" sz="2400" smtClean="0">
                <a:latin typeface="Times New Roman" pitchFamily="18" charset="0"/>
              </a:rPr>
              <a:t>     </a:t>
            </a:r>
            <a:r>
              <a:rPr lang="ru-RU" altLang="ru-RU" sz="2400" smtClean="0">
                <a:latin typeface="Times New Roman" pitchFamily="18" charset="0"/>
              </a:rPr>
              <a:t>(точка с запятой и </a:t>
            </a:r>
            <a:r>
              <a:rPr lang="ru-RU" altLang="ru-RU" sz="2400" smtClean="0">
                <a:latin typeface="Times New Roman" pitchFamily="18" charset="0"/>
                <a:cs typeface="Times New Roman" pitchFamily="18" charset="0"/>
              </a:rPr>
              <a:t>служебные слова</a:t>
            </a:r>
            <a:r>
              <a:rPr lang="ru-RU" altLang="ru-RU" sz="2400" smtClean="0">
                <a:latin typeface="Times New Roman" pitchFamily="18" charset="0"/>
              </a:rPr>
              <a:t> </a:t>
            </a:r>
            <a:r>
              <a:rPr lang="en-US" altLang="ru-RU" sz="2400" b="1" smtClean="0">
                <a:latin typeface="Times New Roman" pitchFamily="18" charset="0"/>
              </a:rPr>
              <a:t>begin</a:t>
            </a:r>
            <a:r>
              <a:rPr lang="ru-RU" altLang="ru-RU" sz="2400" smtClean="0">
                <a:latin typeface="Times New Roman" pitchFamily="18" charset="0"/>
              </a:rPr>
              <a:t>, </a:t>
            </a:r>
            <a:r>
              <a:rPr lang="en-US" altLang="ru-RU" sz="2400" b="1" smtClean="0">
                <a:latin typeface="Times New Roman" pitchFamily="18" charset="0"/>
              </a:rPr>
              <a:t>end</a:t>
            </a:r>
            <a:r>
              <a:rPr lang="ru-RU" altLang="ru-RU" sz="2400" smtClean="0">
                <a:latin typeface="Times New Roman" pitchFamily="18" charset="0"/>
              </a:rPr>
              <a:t>,</a:t>
            </a:r>
            <a:r>
              <a:rPr lang="ru-RU" altLang="ru-RU" sz="2400" smtClean="0">
                <a:latin typeface="Times New Roman" pitchFamily="18" charset="0"/>
                <a:cs typeface="Times New Roman" pitchFamily="18" charset="0"/>
              </a:rPr>
              <a:t>– терминалы</a:t>
            </a:r>
            <a:r>
              <a:rPr lang="ru-RU" altLang="ru-RU" sz="2400" smtClean="0">
                <a:latin typeface="Times New Roman" pitchFamily="18" charset="0"/>
              </a:rPr>
              <a:t>):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	 </a:t>
            </a:r>
            <a:r>
              <a:rPr lang="en-US" altLang="ru-RU" sz="2400" smtClean="0">
                <a:latin typeface="Times New Roman" pitchFamily="18" charset="0"/>
              </a:rPr>
              <a:t>			</a:t>
            </a:r>
            <a:r>
              <a:rPr lang="en-US" altLang="ru-RU" sz="2400" i="1" smtClean="0">
                <a:latin typeface="Times New Roman" pitchFamily="18" charset="0"/>
              </a:rPr>
              <a:t>A</a:t>
            </a:r>
            <a:r>
              <a:rPr lang="en-US" altLang="ru-RU" sz="2400" smtClean="0">
                <a:latin typeface="Times New Roman" pitchFamily="18" charset="0"/>
              </a:rPr>
              <a:t> → </a:t>
            </a:r>
            <a:r>
              <a:rPr lang="en-US" altLang="ru-RU" sz="2400" b="1" smtClean="0">
                <a:latin typeface="Times New Roman" pitchFamily="18" charset="0"/>
              </a:rPr>
              <a:t>begin</a:t>
            </a:r>
            <a:r>
              <a:rPr lang="en-US" altLang="ru-RU" sz="2400" smtClean="0">
                <a:latin typeface="Times New Roman" pitchFamily="18" charset="0"/>
              </a:rPr>
              <a:t> </a:t>
            </a:r>
            <a:r>
              <a:rPr lang="en-US" altLang="ru-RU" sz="2400" i="1" smtClean="0">
                <a:latin typeface="Times New Roman" pitchFamily="18" charset="0"/>
              </a:rPr>
              <a:t>AQ </a:t>
            </a:r>
            <a:r>
              <a:rPr lang="en-US" altLang="ru-RU" sz="2400" b="1" smtClean="0">
                <a:latin typeface="Times New Roman" pitchFamily="18" charset="0"/>
              </a:rPr>
              <a:t>end</a:t>
            </a:r>
            <a:endParaRPr lang="pt-BR" altLang="ru-RU" sz="2400" b="1" i="1" smtClean="0">
              <a:latin typeface="Times New Roman" pitchFamily="18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ru-RU" altLang="ru-RU" sz="2400" i="1" smtClean="0">
                <a:latin typeface="Times New Roman" pitchFamily="18" charset="0"/>
              </a:rPr>
              <a:t>				</a:t>
            </a:r>
            <a:r>
              <a:rPr lang="pt-BR" altLang="ru-RU" sz="2400" i="1" smtClean="0">
                <a:latin typeface="Times New Roman" pitchFamily="18" charset="0"/>
              </a:rPr>
              <a:t>Q</a:t>
            </a:r>
            <a:r>
              <a:rPr lang="pt-BR" altLang="ru-RU" sz="2400" smtClean="0">
                <a:latin typeface="Times New Roman" pitchFamily="18" charset="0"/>
              </a:rPr>
              <a:t> </a:t>
            </a:r>
            <a:r>
              <a:rPr lang="en-US" altLang="ru-RU" sz="2400" smtClean="0">
                <a:latin typeface="Times New Roman" pitchFamily="18" charset="0"/>
              </a:rPr>
              <a:t>→</a:t>
            </a:r>
            <a:r>
              <a:rPr lang="pt-BR" altLang="ru-RU" sz="2400" smtClean="0">
                <a:latin typeface="Times New Roman" pitchFamily="18" charset="0"/>
              </a:rPr>
              <a:t> </a:t>
            </a:r>
            <a:r>
              <a:rPr lang="en-US" altLang="ru-RU" sz="2400" smtClean="0">
                <a:latin typeface="Times New Roman" pitchFamily="18" charset="0"/>
              </a:rPr>
              <a:t>;</a:t>
            </a:r>
            <a:r>
              <a:rPr lang="en-US" altLang="ru-RU" sz="2400" i="1" smtClean="0">
                <a:latin typeface="Times New Roman" pitchFamily="18" charset="0"/>
              </a:rPr>
              <a:t>A</a:t>
            </a:r>
            <a:r>
              <a:rPr lang="pt-BR" altLang="ru-RU" sz="2400" i="1" smtClean="0">
                <a:latin typeface="Times New Roman" pitchFamily="18" charset="0"/>
              </a:rPr>
              <a:t>Q </a:t>
            </a:r>
            <a:r>
              <a:rPr lang="en-US" altLang="ru-RU" sz="2400" smtClean="0">
                <a:latin typeface="Times New Roman" pitchFamily="18" charset="0"/>
              </a:rPr>
              <a:t>|</a:t>
            </a:r>
            <a:r>
              <a:rPr lang="pt-BR" altLang="ru-RU" sz="2400" smtClean="0">
                <a:latin typeface="Times New Roman" pitchFamily="18" charset="0"/>
              </a:rPr>
              <a:t> λ</a:t>
            </a:r>
            <a:endParaRPr lang="ru-RU" altLang="ru-RU" sz="2400" smtClean="0">
              <a:latin typeface="Times New Roman" pitchFamily="18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altLang="ru-RU" sz="2400" smtClean="0">
              <a:latin typeface="Times New Roman" pitchFamily="18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При этом семантические действия генератора ОПС для нетерминала </a:t>
            </a:r>
            <a:r>
              <a:rPr lang="ru-RU" altLang="ru-RU" sz="2400" i="1" smtClean="0">
                <a:latin typeface="Times New Roman" pitchFamily="18" charset="0"/>
              </a:rPr>
              <a:t>А</a:t>
            </a:r>
            <a:r>
              <a:rPr lang="ru-RU" altLang="ru-RU" sz="2400" smtClean="0">
                <a:latin typeface="Times New Roman" pitchFamily="18" charset="0"/>
              </a:rPr>
              <a:t>: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				□□□□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altLang="ru-RU" sz="2400" smtClean="0">
              <a:latin typeface="Times New Roman" pitchFamily="18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а для нетерминала </a:t>
            </a:r>
            <a:r>
              <a:rPr lang="pt-BR" altLang="ru-RU" sz="2400" i="1" smtClean="0">
                <a:latin typeface="Times New Roman" pitchFamily="18" charset="0"/>
              </a:rPr>
              <a:t>Q</a:t>
            </a:r>
            <a:r>
              <a:rPr lang="ru-RU" altLang="ru-RU" sz="2400" smtClean="0">
                <a:latin typeface="Times New Roman" pitchFamily="18" charset="0"/>
              </a:rPr>
              <a:t> соответственно:</a:t>
            </a:r>
            <a:endParaRPr lang="en-US" altLang="ru-RU" sz="2400" smtClean="0">
              <a:latin typeface="Times New Roman" pitchFamily="18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ru-RU" sz="2400" smtClean="0">
                <a:latin typeface="Times New Roman" pitchFamily="18" charset="0"/>
              </a:rPr>
              <a:t>			</a:t>
            </a:r>
            <a:r>
              <a:rPr lang="ru-RU" altLang="ru-RU" sz="2400" smtClean="0">
                <a:latin typeface="Times New Roman" pitchFamily="18" charset="0"/>
              </a:rPr>
              <a:t>	□□□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ru-RU" altLang="ru-RU" sz="2400" smtClean="0">
              <a:latin typeface="Times New Roman" pitchFamily="18" charset="0"/>
            </a:endParaRPr>
          </a:p>
        </p:txBody>
      </p:sp>
      <p:sp>
        <p:nvSpPr>
          <p:cNvPr id="12292" name="Номер слайда 1"/>
          <p:cNvSpPr txBox="1">
            <a:spLocks noGrp="1"/>
          </p:cNvSpPr>
          <p:nvPr/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4788182D-9F9E-4C63-BB67-2887CF249F5A}" type="slidenum">
              <a:rPr lang="ru-RU" altLang="ru-RU" sz="1400"/>
              <a:pPr algn="r" eaLnBrk="1" hangingPunct="1">
                <a:spcBef>
                  <a:spcPct val="0"/>
                </a:spcBef>
                <a:buFontTx/>
                <a:buNone/>
              </a:pPr>
              <a:t>11</a:t>
            </a:fld>
            <a:endParaRPr lang="ru-RU" altLang="ru-RU" sz="1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484313"/>
          </a:xfrm>
        </p:spPr>
        <p:txBody>
          <a:bodyPr/>
          <a:lstStyle/>
          <a:p>
            <a:pPr eaLnBrk="1" hangingPunct="1"/>
            <a:r>
              <a:rPr lang="ru-RU" altLang="ru-RU" sz="3200" b="1" smtClean="0">
                <a:solidFill>
                  <a:schemeClr val="accent2"/>
                </a:solidFill>
              </a:rPr>
              <a:t>Грамматика с операторами</a:t>
            </a:r>
            <a:br>
              <a:rPr lang="ru-RU" altLang="ru-RU" sz="3200" b="1" smtClean="0">
                <a:solidFill>
                  <a:schemeClr val="accent2"/>
                </a:solidFill>
              </a:rPr>
            </a:br>
            <a:r>
              <a:rPr lang="ru-RU" altLang="ru-RU" sz="3200" smtClean="0"/>
              <a:t> </a:t>
            </a:r>
            <a:r>
              <a:rPr lang="ru-RU" altLang="ru-RU" sz="3200" b="1" smtClean="0">
                <a:solidFill>
                  <a:schemeClr val="accent2"/>
                </a:solidFill>
              </a:rPr>
              <a:t>ввода и вывода</a:t>
            </a:r>
            <a:r>
              <a:rPr lang="ru-RU" altLang="ru-RU" sz="3200" smtClean="0">
                <a:latin typeface="Times New Roman" pitchFamily="18" charset="0"/>
              </a:rPr>
              <a:t> 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700213"/>
            <a:ext cx="8507413" cy="4752975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Порождающие правила</a:t>
            </a:r>
            <a:r>
              <a:rPr lang="en-US" altLang="ru-RU" sz="2400" smtClean="0">
                <a:latin typeface="Times New Roman" pitchFamily="18" charset="0"/>
              </a:rPr>
              <a:t> </a:t>
            </a:r>
            <a:r>
              <a:rPr lang="ru-RU" altLang="ru-RU" sz="2400" smtClean="0">
                <a:latin typeface="Times New Roman" pitchFamily="18" charset="0"/>
              </a:rPr>
              <a:t>для задания стандартных  операторов ввода и вывода (служебные слова</a:t>
            </a:r>
            <a:r>
              <a:rPr lang="ru-RU" altLang="ru-RU" smtClean="0"/>
              <a:t> </a:t>
            </a:r>
            <a:r>
              <a:rPr lang="en-US" altLang="ru-RU" sz="2400" b="1" smtClean="0">
                <a:latin typeface="Times New Roman" pitchFamily="18" charset="0"/>
              </a:rPr>
              <a:t>read</a:t>
            </a:r>
            <a:r>
              <a:rPr lang="ru-RU" altLang="ru-RU" sz="2400" smtClean="0">
                <a:latin typeface="Times New Roman" pitchFamily="18" charset="0"/>
              </a:rPr>
              <a:t>, </a:t>
            </a:r>
            <a:r>
              <a:rPr lang="en-US" altLang="ru-RU" sz="2400" b="1" smtClean="0">
                <a:latin typeface="Times New Roman" pitchFamily="18" charset="0"/>
              </a:rPr>
              <a:t>write</a:t>
            </a:r>
            <a:r>
              <a:rPr lang="ru-RU" altLang="ru-RU" sz="2400" b="1" smtClean="0">
                <a:latin typeface="Times New Roman" pitchFamily="18" charset="0"/>
              </a:rPr>
              <a:t> </a:t>
            </a:r>
            <a:r>
              <a:rPr lang="ru-RU" altLang="ru-RU" sz="2400" smtClean="0">
                <a:latin typeface="Times New Roman" pitchFamily="18" charset="0"/>
                <a:cs typeface="Times New Roman" pitchFamily="18" charset="0"/>
              </a:rPr>
              <a:t>– терминалы</a:t>
            </a:r>
            <a:r>
              <a:rPr lang="ru-RU" altLang="ru-RU" sz="2400" smtClean="0">
                <a:latin typeface="Times New Roman" pitchFamily="18" charset="0"/>
              </a:rPr>
              <a:t>):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ru-RU" altLang="ru-RU" sz="1200" smtClean="0">
              <a:latin typeface="Times New Roman" pitchFamily="18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	 </a:t>
            </a:r>
            <a:r>
              <a:rPr lang="en-US" altLang="ru-RU" sz="2400" smtClean="0">
                <a:latin typeface="Times New Roman" pitchFamily="18" charset="0"/>
              </a:rPr>
              <a:t>			</a:t>
            </a:r>
            <a:r>
              <a:rPr lang="en-US" altLang="ru-RU" sz="2400" i="1" smtClean="0">
                <a:latin typeface="Times New Roman" pitchFamily="18" charset="0"/>
              </a:rPr>
              <a:t>A</a:t>
            </a:r>
            <a:r>
              <a:rPr lang="en-US" altLang="ru-RU" sz="2400" smtClean="0">
                <a:latin typeface="Times New Roman" pitchFamily="18" charset="0"/>
              </a:rPr>
              <a:t> → </a:t>
            </a:r>
            <a:r>
              <a:rPr lang="en-US" altLang="ru-RU" sz="2400" b="1" smtClean="0">
                <a:latin typeface="Times New Roman" pitchFamily="18" charset="0"/>
              </a:rPr>
              <a:t>read</a:t>
            </a:r>
            <a:r>
              <a:rPr lang="en-US" altLang="ru-RU" sz="2400" smtClean="0">
                <a:latin typeface="Times New Roman" pitchFamily="18" charset="0"/>
              </a:rPr>
              <a:t> (</a:t>
            </a:r>
            <a:r>
              <a:rPr lang="en-US" altLang="ru-RU" sz="2400" i="1" smtClean="0">
                <a:latin typeface="Times New Roman" pitchFamily="18" charset="0"/>
              </a:rPr>
              <a:t>aH</a:t>
            </a:r>
            <a:r>
              <a:rPr lang="en-US" altLang="ru-RU" sz="2400" smtClean="0">
                <a:latin typeface="Times New Roman" pitchFamily="18" charset="0"/>
              </a:rPr>
              <a:t>) | </a:t>
            </a:r>
            <a:r>
              <a:rPr lang="en-US" altLang="ru-RU" sz="2400" b="1" smtClean="0">
                <a:latin typeface="Times New Roman" pitchFamily="18" charset="0"/>
              </a:rPr>
              <a:t>write</a:t>
            </a:r>
            <a:r>
              <a:rPr lang="en-US" altLang="ru-RU" sz="2400" smtClean="0">
                <a:latin typeface="Times New Roman" pitchFamily="18" charset="0"/>
              </a:rPr>
              <a:t> (</a:t>
            </a:r>
            <a:r>
              <a:rPr lang="en-US" altLang="ru-RU" sz="2400" i="1" smtClean="0">
                <a:latin typeface="Times New Roman" pitchFamily="18" charset="0"/>
              </a:rPr>
              <a:t>S</a:t>
            </a:r>
            <a:r>
              <a:rPr lang="en-US" altLang="ru-RU" sz="2400" smtClean="0">
                <a:latin typeface="Times New Roman" pitchFamily="18" charset="0"/>
              </a:rPr>
              <a:t>)</a:t>
            </a:r>
            <a:endParaRPr lang="pt-BR" altLang="ru-RU" sz="2400" smtClean="0">
              <a:latin typeface="Times New Roman" pitchFamily="18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ru-RU" altLang="ru-RU" sz="1200" smtClean="0">
              <a:latin typeface="Times New Roman" pitchFamily="18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Семантические действия генератора ОПС соответственно: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ru-RU" altLang="ru-RU" sz="1200" smtClean="0">
              <a:latin typeface="Times New Roman" pitchFamily="18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ru-RU" sz="2400" smtClean="0">
                <a:latin typeface="Times New Roman" pitchFamily="18" charset="0"/>
              </a:rPr>
              <a:t>			</a:t>
            </a:r>
            <a:r>
              <a:rPr lang="ru-RU" altLang="ru-RU" sz="2400" smtClean="0">
                <a:latin typeface="Times New Roman" pitchFamily="18" charset="0"/>
              </a:rPr>
              <a:t>	□□</a:t>
            </a:r>
            <a:r>
              <a:rPr lang="en-US" altLang="ru-RU" sz="2400" i="1" smtClean="0">
                <a:latin typeface="Times New Roman" pitchFamily="18" charset="0"/>
              </a:rPr>
              <a:t>a</a:t>
            </a:r>
            <a:r>
              <a:rPr lang="ru-RU" altLang="ru-RU" sz="2400" smtClean="0">
                <a:latin typeface="Times New Roman" pitchFamily="18" charset="0"/>
              </a:rPr>
              <a:t>□</a:t>
            </a:r>
            <a:r>
              <a:rPr lang="en-US" altLang="ru-RU" sz="2400" b="1" smtClean="0">
                <a:latin typeface="Times New Roman" pitchFamily="18" charset="0"/>
              </a:rPr>
              <a:t>r </a:t>
            </a:r>
            <a:r>
              <a:rPr lang="ru-RU" altLang="ru-RU" sz="2400" b="1" smtClean="0">
                <a:latin typeface="Times New Roman" pitchFamily="18" charset="0"/>
              </a:rPr>
              <a:t>   |</a:t>
            </a:r>
            <a:r>
              <a:rPr lang="en-US" altLang="ru-RU" sz="2400" b="1" smtClean="0">
                <a:latin typeface="Times New Roman" pitchFamily="18" charset="0"/>
              </a:rPr>
              <a:t>   </a:t>
            </a:r>
            <a:r>
              <a:rPr lang="ru-RU" altLang="ru-RU" sz="2400" smtClean="0">
                <a:latin typeface="Times New Roman" pitchFamily="18" charset="0"/>
              </a:rPr>
              <a:t>□□□</a:t>
            </a:r>
            <a:r>
              <a:rPr lang="en-US" altLang="ru-RU" sz="2400" b="1" smtClean="0">
                <a:latin typeface="Times New Roman" pitchFamily="18" charset="0"/>
              </a:rPr>
              <a:t>w</a:t>
            </a:r>
            <a:endParaRPr lang="ru-RU" altLang="ru-RU" sz="2400" b="1" smtClean="0">
              <a:latin typeface="Times New Roman" pitchFamily="18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ru-RU" altLang="ru-RU" sz="1200" b="1" smtClean="0">
              <a:latin typeface="Times New Roman" pitchFamily="18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ru-RU" sz="2400" b="1" smtClean="0">
                <a:latin typeface="Times New Roman" pitchFamily="18" charset="0"/>
              </a:rPr>
              <a:t>r</a:t>
            </a:r>
            <a:r>
              <a:rPr lang="ru-RU" altLang="ru-RU" sz="2400" smtClean="0">
                <a:latin typeface="Times New Roman" pitchFamily="18" charset="0"/>
              </a:rPr>
              <a:t> </a:t>
            </a:r>
            <a:r>
              <a:rPr lang="en-US" altLang="ru-RU" sz="2400" smtClean="0">
                <a:latin typeface="Times New Roman" pitchFamily="18" charset="0"/>
              </a:rPr>
              <a:t>–</a:t>
            </a:r>
            <a:r>
              <a:rPr lang="ru-RU" altLang="ru-RU" sz="2400" smtClean="0">
                <a:latin typeface="Times New Roman" pitchFamily="18" charset="0"/>
              </a:rPr>
              <a:t> операция</a:t>
            </a:r>
            <a:r>
              <a:rPr lang="en-US" altLang="ru-RU" sz="2400" smtClean="0">
                <a:latin typeface="Times New Roman" pitchFamily="18" charset="0"/>
              </a:rPr>
              <a:t> </a:t>
            </a:r>
            <a:r>
              <a:rPr lang="ru-RU" altLang="ru-RU" sz="2400" smtClean="0">
                <a:latin typeface="Times New Roman" pitchFamily="18" charset="0"/>
              </a:rPr>
              <a:t> чтения со стандартного устройства ввода в переменную, операнд должен быть ссылкой на переменную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ru-RU" sz="2400" b="1" smtClean="0">
                <a:latin typeface="Times New Roman" pitchFamily="18" charset="0"/>
              </a:rPr>
              <a:t>w</a:t>
            </a:r>
            <a:r>
              <a:rPr lang="ru-RU" altLang="ru-RU" sz="2400" b="1" smtClean="0">
                <a:latin typeface="Times New Roman" pitchFamily="18" charset="0"/>
              </a:rPr>
              <a:t> </a:t>
            </a:r>
            <a:r>
              <a:rPr lang="en-US" altLang="ru-RU" sz="2400" smtClean="0">
                <a:latin typeface="Times New Roman" pitchFamily="18" charset="0"/>
              </a:rPr>
              <a:t>- </a:t>
            </a:r>
            <a:r>
              <a:rPr lang="ru-RU" altLang="ru-RU" sz="2400" smtClean="0">
                <a:latin typeface="Times New Roman" pitchFamily="18" charset="0"/>
              </a:rPr>
              <a:t> вывод значения арифметического выражения в стандартное устройство вывода, операнд </a:t>
            </a:r>
            <a:r>
              <a:rPr lang="ru-RU" altLang="ru-RU" sz="2400" smtClean="0">
                <a:latin typeface="Times New Roman" pitchFamily="18" charset="0"/>
                <a:cs typeface="Times New Roman" pitchFamily="18" charset="0"/>
              </a:rPr>
              <a:t>– числовое </a:t>
            </a:r>
            <a:r>
              <a:rPr lang="ru-RU" altLang="ru-RU" sz="2400" smtClean="0">
                <a:latin typeface="Times New Roman" pitchFamily="18" charset="0"/>
              </a:rPr>
              <a:t>значение</a:t>
            </a:r>
            <a:r>
              <a:rPr lang="ru-RU" altLang="ru-RU" sz="2400" smtClean="0"/>
              <a:t>. </a:t>
            </a:r>
          </a:p>
        </p:txBody>
      </p:sp>
      <p:sp>
        <p:nvSpPr>
          <p:cNvPr id="13316" name="Номер слайда 1"/>
          <p:cNvSpPr txBox="1">
            <a:spLocks noGrp="1"/>
          </p:cNvSpPr>
          <p:nvPr/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C0002ADC-FE37-4C3F-B577-F27E29A4AABD}" type="slidenum">
              <a:rPr lang="ru-RU" altLang="ru-RU" sz="1400"/>
              <a:pPr algn="r" eaLnBrk="1" hangingPunct="1">
                <a:spcBef>
                  <a:spcPct val="0"/>
                </a:spcBef>
                <a:buFontTx/>
                <a:buNone/>
              </a:pPr>
              <a:t>12</a:t>
            </a:fld>
            <a:endParaRPr lang="ru-RU" altLang="ru-RU" sz="1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0"/>
            <a:ext cx="8229600" cy="188913"/>
          </a:xfrm>
        </p:spPr>
        <p:txBody>
          <a:bodyPr/>
          <a:lstStyle/>
          <a:p>
            <a:pPr eaLnBrk="1" hangingPunct="1"/>
            <a:endParaRPr lang="ru-RU" altLang="ru-RU" sz="4000" smtClean="0"/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333375"/>
            <a:ext cx="8229600" cy="6048375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ru-RU" altLang="ru-RU" sz="2400" b="1" smtClean="0"/>
              <a:t>Пример.</a:t>
            </a:r>
            <a:r>
              <a:rPr lang="ru-RU" altLang="ru-RU" sz="2400" smtClean="0"/>
              <a:t> </a:t>
            </a:r>
            <a:r>
              <a:rPr lang="ru-RU" altLang="ru-RU" sz="2400" smtClean="0">
                <a:latin typeface="Times New Roman" pitchFamily="18" charset="0"/>
              </a:rPr>
              <a:t>Задана входная цепочка:</a:t>
            </a:r>
            <a:endParaRPr lang="en-US" altLang="ru-RU" sz="2400" smtClean="0">
              <a:latin typeface="Times New Roman" pitchFamily="18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ru-RU" altLang="ru-RU" sz="2400" b="1" smtClean="0">
                <a:latin typeface="Times New Roman" pitchFamily="18" charset="0"/>
              </a:rPr>
              <a:t>		</a:t>
            </a:r>
            <a:r>
              <a:rPr lang="en-US" altLang="ru-RU" sz="2400" b="1" smtClean="0">
                <a:latin typeface="Times New Roman" pitchFamily="18" charset="0"/>
              </a:rPr>
              <a:t>begin read</a:t>
            </a:r>
            <a:r>
              <a:rPr lang="en-US" altLang="ru-RU" sz="2400" smtClean="0">
                <a:latin typeface="Times New Roman" pitchFamily="18" charset="0"/>
              </a:rPr>
              <a:t>(</a:t>
            </a:r>
            <a:r>
              <a:rPr lang="ru-RU" altLang="ru-RU" sz="2400" smtClean="0">
                <a:latin typeface="Times New Roman" pitchFamily="18" charset="0"/>
              </a:rPr>
              <a:t>а</a:t>
            </a:r>
            <a:r>
              <a:rPr lang="en-US" altLang="ru-RU" sz="2400" smtClean="0">
                <a:latin typeface="Times New Roman" pitchFamily="18" charset="0"/>
              </a:rPr>
              <a:t>); </a:t>
            </a:r>
            <a:r>
              <a:rPr lang="en-US" altLang="ru-RU" sz="2400" b="1" smtClean="0">
                <a:latin typeface="Times New Roman" pitchFamily="18" charset="0"/>
              </a:rPr>
              <a:t>read</a:t>
            </a:r>
            <a:r>
              <a:rPr lang="en-US" altLang="ru-RU" sz="2400" smtClean="0">
                <a:latin typeface="Times New Roman" pitchFamily="18" charset="0"/>
              </a:rPr>
              <a:t>(M[</a:t>
            </a:r>
            <a:r>
              <a:rPr lang="ru-RU" altLang="ru-RU" sz="2400" smtClean="0">
                <a:latin typeface="Times New Roman" pitchFamily="18" charset="0"/>
              </a:rPr>
              <a:t>а</a:t>
            </a:r>
            <a:r>
              <a:rPr lang="en-US" altLang="ru-RU" sz="2400" smtClean="0">
                <a:latin typeface="Times New Roman" pitchFamily="18" charset="0"/>
              </a:rPr>
              <a:t>]); </a:t>
            </a:r>
            <a:r>
              <a:rPr lang="en-US" altLang="ru-RU" sz="2400" b="1" smtClean="0">
                <a:latin typeface="Times New Roman" pitchFamily="18" charset="0"/>
              </a:rPr>
              <a:t>write</a:t>
            </a:r>
            <a:r>
              <a:rPr lang="en-US" altLang="ru-RU" sz="2400" smtClean="0">
                <a:latin typeface="Times New Roman" pitchFamily="18" charset="0"/>
              </a:rPr>
              <a:t>(M[</a:t>
            </a:r>
            <a:r>
              <a:rPr lang="ru-RU" altLang="ru-RU" sz="2400" smtClean="0">
                <a:latin typeface="Times New Roman" pitchFamily="18" charset="0"/>
              </a:rPr>
              <a:t>а</a:t>
            </a:r>
            <a:r>
              <a:rPr lang="en-US" altLang="ru-RU" sz="2400" smtClean="0">
                <a:latin typeface="Times New Roman" pitchFamily="18" charset="0"/>
              </a:rPr>
              <a:t>]*</a:t>
            </a:r>
            <a:r>
              <a:rPr lang="ru-RU" altLang="ru-RU" sz="2400" smtClean="0">
                <a:latin typeface="Times New Roman" pitchFamily="18" charset="0"/>
              </a:rPr>
              <a:t>а</a:t>
            </a:r>
            <a:r>
              <a:rPr lang="en-US" altLang="ru-RU" sz="2400" smtClean="0">
                <a:latin typeface="Times New Roman" pitchFamily="18" charset="0"/>
              </a:rPr>
              <a:t>) </a:t>
            </a:r>
            <a:r>
              <a:rPr lang="en-US" altLang="ru-RU" sz="2400" b="1" smtClean="0">
                <a:latin typeface="Times New Roman" pitchFamily="18" charset="0"/>
              </a:rPr>
              <a:t>end</a:t>
            </a:r>
            <a:endParaRPr lang="ru-RU" altLang="ru-RU" sz="2400" b="1" smtClean="0">
              <a:latin typeface="Times New Roman" pitchFamily="18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будет сгенерирована ОПС:</a:t>
            </a:r>
            <a:endParaRPr lang="pt-BR" altLang="ru-RU" sz="2400" smtClean="0">
              <a:latin typeface="Times New Roman" pitchFamily="18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		а</a:t>
            </a:r>
            <a:r>
              <a:rPr lang="pt-BR" altLang="ru-RU" sz="2400" smtClean="0">
                <a:latin typeface="Times New Roman" pitchFamily="18" charset="0"/>
              </a:rPr>
              <a:t> </a:t>
            </a:r>
            <a:r>
              <a:rPr lang="pt-BR" altLang="ru-RU" sz="2400" b="1" smtClean="0">
                <a:latin typeface="Times New Roman" pitchFamily="18" charset="0"/>
              </a:rPr>
              <a:t>r</a:t>
            </a:r>
            <a:r>
              <a:rPr lang="pt-BR" altLang="ru-RU" sz="2400" smtClean="0">
                <a:latin typeface="Times New Roman" pitchFamily="18" charset="0"/>
              </a:rPr>
              <a:t> M </a:t>
            </a:r>
            <a:r>
              <a:rPr lang="ru-RU" altLang="ru-RU" sz="2400" smtClean="0">
                <a:latin typeface="Times New Roman" pitchFamily="18" charset="0"/>
              </a:rPr>
              <a:t>а</a:t>
            </a:r>
            <a:r>
              <a:rPr lang="pt-BR" altLang="ru-RU" sz="2400" smtClean="0">
                <a:latin typeface="Times New Roman" pitchFamily="18" charset="0"/>
              </a:rPr>
              <a:t> </a:t>
            </a:r>
            <a:r>
              <a:rPr lang="pt-BR" altLang="ru-RU" sz="2400" b="1" smtClean="0">
                <a:latin typeface="Times New Roman" pitchFamily="18" charset="0"/>
              </a:rPr>
              <a:t>i</a:t>
            </a:r>
            <a:r>
              <a:rPr lang="pt-BR" altLang="ru-RU" sz="2400" smtClean="0">
                <a:latin typeface="Times New Roman" pitchFamily="18" charset="0"/>
              </a:rPr>
              <a:t> </a:t>
            </a:r>
            <a:r>
              <a:rPr lang="pt-BR" altLang="ru-RU" sz="2400" b="1" smtClean="0">
                <a:latin typeface="Times New Roman" pitchFamily="18" charset="0"/>
              </a:rPr>
              <a:t>r</a:t>
            </a:r>
            <a:r>
              <a:rPr lang="pt-BR" altLang="ru-RU" sz="2400" smtClean="0">
                <a:latin typeface="Times New Roman" pitchFamily="18" charset="0"/>
              </a:rPr>
              <a:t> M </a:t>
            </a:r>
            <a:r>
              <a:rPr lang="ru-RU" altLang="ru-RU" sz="2400" smtClean="0">
                <a:latin typeface="Times New Roman" pitchFamily="18" charset="0"/>
              </a:rPr>
              <a:t>а</a:t>
            </a:r>
            <a:r>
              <a:rPr lang="pt-BR" altLang="ru-RU" sz="2400" smtClean="0">
                <a:latin typeface="Times New Roman" pitchFamily="18" charset="0"/>
              </a:rPr>
              <a:t> </a:t>
            </a:r>
            <a:r>
              <a:rPr lang="pt-BR" altLang="ru-RU" sz="2400" b="1" smtClean="0">
                <a:latin typeface="Times New Roman" pitchFamily="18" charset="0"/>
              </a:rPr>
              <a:t>i</a:t>
            </a:r>
            <a:r>
              <a:rPr lang="ru-RU" altLang="ru-RU" sz="2400" b="1" smtClean="0">
                <a:latin typeface="Times New Roman" pitchFamily="18" charset="0"/>
              </a:rPr>
              <a:t> </a:t>
            </a:r>
            <a:r>
              <a:rPr lang="ru-RU" altLang="ru-RU" sz="2400" smtClean="0">
                <a:latin typeface="Times New Roman" pitchFamily="18" charset="0"/>
              </a:rPr>
              <a:t>а</a:t>
            </a:r>
            <a:r>
              <a:rPr lang="pt-BR" altLang="ru-RU" sz="2400" smtClean="0">
                <a:latin typeface="Times New Roman" pitchFamily="18" charset="0"/>
              </a:rPr>
              <a:t> * </a:t>
            </a:r>
            <a:r>
              <a:rPr lang="pt-BR" altLang="ru-RU" sz="2400" b="1" smtClean="0">
                <a:latin typeface="Times New Roman" pitchFamily="18" charset="0"/>
              </a:rPr>
              <a:t>w</a:t>
            </a:r>
            <a:endParaRPr lang="ru-RU" altLang="ru-RU" sz="2400" smtClean="0">
              <a:latin typeface="Times New Roman" pitchFamily="18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Вычисление этой ОПС: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ru-RU" sz="2800" smtClean="0">
                <a:latin typeface="Times New Roman" pitchFamily="18" charset="0"/>
              </a:rPr>
              <a:t>   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ru-RU" altLang="ru-RU" sz="2800" smtClean="0">
              <a:latin typeface="Times New Roman" pitchFamily="18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altLang="ru-RU" sz="2800" smtClean="0">
              <a:latin typeface="Times New Roman" pitchFamily="18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altLang="ru-RU" sz="2800" smtClean="0">
              <a:latin typeface="Times New Roman" pitchFamily="18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ru-RU" sz="2800" smtClean="0">
                <a:latin typeface="Times New Roman" pitchFamily="18" charset="0"/>
              </a:rPr>
              <a:t>   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altLang="ru-RU" sz="2800" smtClean="0">
              <a:latin typeface="Times New Roman" pitchFamily="18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altLang="ru-RU" sz="2800" smtClean="0">
              <a:latin typeface="Times New Roman" pitchFamily="18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ru-RU" sz="2800" smtClean="0">
                <a:latin typeface="Times New Roman" pitchFamily="18" charset="0"/>
              </a:rPr>
              <a:t>  </a:t>
            </a:r>
          </a:p>
        </p:txBody>
      </p:sp>
      <p:sp>
        <p:nvSpPr>
          <p:cNvPr id="14340" name="Номер слайда 1"/>
          <p:cNvSpPr txBox="1">
            <a:spLocks noGrp="1"/>
          </p:cNvSpPr>
          <p:nvPr/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C8893662-1FDF-4A96-B400-CA8AE752110C}" type="slidenum">
              <a:rPr lang="ru-RU" altLang="ru-RU" sz="1400"/>
              <a:pPr algn="r" eaLnBrk="1" hangingPunct="1">
                <a:spcBef>
                  <a:spcPct val="0"/>
                </a:spcBef>
                <a:buFontTx/>
                <a:buNone/>
              </a:pPr>
              <a:t>13</a:t>
            </a:fld>
            <a:endParaRPr lang="ru-RU" altLang="ru-RU" sz="1400"/>
          </a:p>
        </p:txBody>
      </p:sp>
      <p:graphicFrame>
        <p:nvGraphicFramePr>
          <p:cNvPr id="105477" name="Group 5"/>
          <p:cNvGraphicFramePr>
            <a:graphicFrameLocks noGrp="1"/>
          </p:cNvGraphicFramePr>
          <p:nvPr/>
        </p:nvGraphicFramePr>
        <p:xfrm>
          <a:off x="1476375" y="2565400"/>
          <a:ext cx="6096000" cy="3413125"/>
        </p:xfrm>
        <a:graphic>
          <a:graphicData uri="http://schemas.openxmlformats.org/drawingml/2006/table">
            <a:tbl>
              <a:tblPr/>
              <a:tblGrid>
                <a:gridCol w="1079500"/>
                <a:gridCol w="3097213"/>
                <a:gridCol w="1919287"/>
              </a:tblGrid>
              <a:tr h="6477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Шаг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Магазин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Операция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4132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r</a:t>
                      </a:r>
                      <a:endParaRPr kumimoji="0" lang="ru-RU" altLang="ru-RU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556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M,   a</a:t>
                      </a:r>
                      <a:endParaRPr kumimoji="0" lang="ru-RU" altLang="ru-RU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i</a:t>
                      </a:r>
                      <a:endParaRPr kumimoji="0" lang="ru-RU" altLang="ru-RU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1433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M[a]</a:t>
                      </a:r>
                      <a:endParaRPr kumimoji="0" lang="ru-RU" altLang="ru-RU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r</a:t>
                      </a:r>
                      <a:endParaRPr kumimoji="0" lang="ru-RU" altLang="ru-RU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730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M,   a</a:t>
                      </a:r>
                      <a:endParaRPr kumimoji="0" lang="ru-RU" altLang="ru-RU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i</a:t>
                      </a:r>
                      <a:endParaRPr kumimoji="0" lang="ru-RU" altLang="ru-RU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603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M[a],   a</a:t>
                      </a:r>
                      <a:endParaRPr kumimoji="0" lang="ru-RU" altLang="ru-RU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*</a:t>
                      </a:r>
                      <a:endParaRPr kumimoji="0" lang="ru-RU" altLang="ru-RU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603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6</a:t>
                      </a:r>
                      <a:endParaRPr kumimoji="0" lang="ru-RU" altLang="ru-RU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M[a]*a</a:t>
                      </a:r>
                      <a:endParaRPr kumimoji="0" lang="ru-RU" altLang="ru-RU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w</a:t>
                      </a:r>
                      <a:endParaRPr kumimoji="0" lang="ru-RU" altLang="ru-RU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1196975"/>
          </a:xfrm>
        </p:spPr>
        <p:txBody>
          <a:bodyPr/>
          <a:lstStyle/>
          <a:p>
            <a:pPr eaLnBrk="1" hangingPunct="1"/>
            <a:r>
              <a:rPr lang="ru-RU" altLang="ru-RU" sz="3200" b="1" i="1" smtClean="0">
                <a:solidFill>
                  <a:schemeClr val="accent2"/>
                </a:solidFill>
              </a:rPr>
              <a:t>Распределение памяти и описание переменных</a:t>
            </a:r>
            <a:r>
              <a:rPr lang="ru-RU" altLang="ru-RU" sz="4000" smtClean="0"/>
              <a:t> 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412875"/>
            <a:ext cx="8229600" cy="5040313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Tx/>
              <a:buNone/>
            </a:pPr>
            <a:r>
              <a:rPr lang="ru-RU" altLang="ru-RU" sz="2400" b="1" smtClean="0"/>
              <a:t>Статический способ.</a:t>
            </a:r>
            <a:r>
              <a:rPr lang="ru-RU" altLang="ru-RU" sz="2400" smtClean="0"/>
              <a:t> Память распределяется в процессе трансляции. Для каждой переменной вычисляется ее адрес (размещение в памяти относительно начала выделенного участка). При использовании переменной подставляется ее адрес.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ru-RU" altLang="ru-RU" sz="2400" smtClean="0"/>
              <a:t>Этот способ используется для глобальных переменных, существующих от начала до самого конца выполнения программы. Если это массивы, то их длина должна быть задана константой.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ru-RU" altLang="ru-RU" sz="2400" smtClean="0"/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ru-RU" altLang="ru-RU" sz="2400" b="1" smtClean="0"/>
              <a:t>Динамический способ.</a:t>
            </a:r>
            <a:r>
              <a:rPr lang="ru-RU" altLang="ru-RU" sz="2400" smtClean="0"/>
              <a:t> Распределение памяти </a:t>
            </a:r>
            <a:r>
              <a:rPr lang="ru-RU" altLang="ru-RU" sz="2400" smtClean="0">
                <a:cs typeface="Arial" charset="0"/>
              </a:rPr>
              <a:t>– </a:t>
            </a:r>
            <a:r>
              <a:rPr lang="ru-RU" altLang="ru-RU" sz="2400" smtClean="0"/>
              <a:t>при выполнении программы по запросу. Например, для массива, после того, как вычислен его размер. Однако память для паспорта (описателя) массива может распределяться статическим способом.</a:t>
            </a:r>
          </a:p>
        </p:txBody>
      </p:sp>
      <p:sp>
        <p:nvSpPr>
          <p:cNvPr id="15364" name="Номер слайда 1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F3E6A61E-28A4-4114-B396-A43D40530B26}" type="slidenum">
              <a:rPr lang="ru-RU" altLang="ru-RU" sz="1400" smtClean="0"/>
              <a:pPr eaLnBrk="1" hangingPunct="1">
                <a:spcBef>
                  <a:spcPct val="0"/>
                </a:spcBef>
                <a:buFontTx/>
                <a:buNone/>
              </a:pPr>
              <a:t>14</a:t>
            </a:fld>
            <a:endParaRPr lang="ru-RU" altLang="ru-RU" sz="140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908050"/>
          </a:xfrm>
        </p:spPr>
        <p:txBody>
          <a:bodyPr/>
          <a:lstStyle/>
          <a:p>
            <a:pPr eaLnBrk="1" hangingPunct="1"/>
            <a:r>
              <a:rPr lang="ru-RU" altLang="ru-RU" sz="3200" b="1" smtClean="0">
                <a:solidFill>
                  <a:schemeClr val="accent2"/>
                </a:solidFill>
              </a:rPr>
              <a:t>Грамматика с описаниями переменных</a:t>
            </a:r>
            <a:r>
              <a:rPr lang="ru-RU" altLang="ru-RU" sz="4000" smtClean="0"/>
              <a:t> 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850" y="1052513"/>
            <a:ext cx="8362950" cy="5616575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Начальный нетерминал </a:t>
            </a:r>
            <a:r>
              <a:rPr lang="en-US" altLang="ru-RU" sz="2400" i="1" smtClean="0">
                <a:latin typeface="Times New Roman" pitchFamily="18" charset="0"/>
              </a:rPr>
              <a:t>P</a:t>
            </a:r>
            <a:r>
              <a:rPr lang="en-US" altLang="ru-RU" sz="2400" smtClean="0">
                <a:latin typeface="Times New Roman" pitchFamily="18" charset="0"/>
              </a:rPr>
              <a:t> </a:t>
            </a:r>
            <a:r>
              <a:rPr lang="ru-RU" altLang="ru-RU" sz="2400" smtClean="0">
                <a:latin typeface="Times New Roman" pitchFamily="18" charset="0"/>
              </a:rPr>
              <a:t>определяет программу в целом: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ru-RU" altLang="ru-RU" sz="2400" i="1" smtClean="0">
                <a:latin typeface="Times New Roman" pitchFamily="18" charset="0"/>
              </a:rPr>
              <a:t>	</a:t>
            </a:r>
            <a:r>
              <a:rPr lang="en-US" altLang="ru-RU" sz="2400" i="1" smtClean="0">
                <a:latin typeface="Times New Roman" pitchFamily="18" charset="0"/>
              </a:rPr>
              <a:t>P</a:t>
            </a:r>
            <a:r>
              <a:rPr lang="en-US" altLang="ru-RU" sz="2400" smtClean="0">
                <a:latin typeface="Times New Roman" pitchFamily="18" charset="0"/>
              </a:rPr>
              <a:t> → </a:t>
            </a:r>
            <a:r>
              <a:rPr lang="en-US" altLang="ru-RU" sz="2400" b="1" smtClean="0">
                <a:latin typeface="Times New Roman" pitchFamily="18" charset="0"/>
              </a:rPr>
              <a:t>int</a:t>
            </a:r>
            <a:r>
              <a:rPr lang="en-US" altLang="ru-RU" sz="2400" smtClean="0">
                <a:latin typeface="Times New Roman" pitchFamily="18" charset="0"/>
              </a:rPr>
              <a:t> </a:t>
            </a:r>
            <a:r>
              <a:rPr lang="en-US" altLang="ru-RU" sz="2400" i="1" smtClean="0">
                <a:latin typeface="Times New Roman" pitchFamily="18" charset="0"/>
              </a:rPr>
              <a:t>R P</a:t>
            </a:r>
            <a:r>
              <a:rPr lang="en-US" altLang="ru-RU" sz="2400" smtClean="0">
                <a:latin typeface="Times New Roman" pitchFamily="18" charset="0"/>
              </a:rPr>
              <a:t> | </a:t>
            </a:r>
            <a:r>
              <a:rPr lang="en-US" altLang="ru-RU" sz="2400" b="1" smtClean="0">
                <a:latin typeface="Times New Roman" pitchFamily="18" charset="0"/>
              </a:rPr>
              <a:t>int1</a:t>
            </a:r>
            <a:r>
              <a:rPr lang="en-US" altLang="ru-RU" sz="2400" smtClean="0">
                <a:latin typeface="Times New Roman" pitchFamily="18" charset="0"/>
              </a:rPr>
              <a:t> </a:t>
            </a:r>
            <a:r>
              <a:rPr lang="en-US" altLang="ru-RU" sz="2400" i="1" smtClean="0">
                <a:latin typeface="Times New Roman" pitchFamily="18" charset="0"/>
              </a:rPr>
              <a:t>R P</a:t>
            </a:r>
            <a:r>
              <a:rPr lang="en-US" altLang="ru-RU" sz="2400" smtClean="0">
                <a:latin typeface="Times New Roman" pitchFamily="18" charset="0"/>
              </a:rPr>
              <a:t> | </a:t>
            </a:r>
            <a:r>
              <a:rPr lang="en-US" altLang="ru-RU" sz="2400" b="1" smtClean="0">
                <a:latin typeface="Times New Roman" pitchFamily="18" charset="0"/>
              </a:rPr>
              <a:t>int2</a:t>
            </a:r>
            <a:r>
              <a:rPr lang="en-US" altLang="ru-RU" sz="2400" smtClean="0">
                <a:latin typeface="Times New Roman" pitchFamily="18" charset="0"/>
              </a:rPr>
              <a:t> </a:t>
            </a:r>
            <a:r>
              <a:rPr lang="en-US" altLang="ru-RU" sz="2400" i="1" smtClean="0">
                <a:latin typeface="Times New Roman" pitchFamily="18" charset="0"/>
              </a:rPr>
              <a:t>R P</a:t>
            </a:r>
            <a:r>
              <a:rPr lang="en-US" altLang="ru-RU" sz="2400" smtClean="0">
                <a:latin typeface="Times New Roman" pitchFamily="18" charset="0"/>
              </a:rPr>
              <a:t> | </a:t>
            </a:r>
            <a:r>
              <a:rPr lang="en-US" altLang="ru-RU" sz="2400" b="1" smtClean="0">
                <a:latin typeface="Times New Roman" pitchFamily="18" charset="0"/>
              </a:rPr>
              <a:t>begin</a:t>
            </a:r>
            <a:r>
              <a:rPr lang="en-US" altLang="ru-RU" sz="2400" smtClean="0">
                <a:latin typeface="Times New Roman" pitchFamily="18" charset="0"/>
              </a:rPr>
              <a:t> </a:t>
            </a:r>
            <a:r>
              <a:rPr lang="en-US" altLang="ru-RU" sz="2400" i="1" smtClean="0">
                <a:latin typeface="Times New Roman" pitchFamily="18" charset="0"/>
              </a:rPr>
              <a:t>A Q </a:t>
            </a:r>
            <a:r>
              <a:rPr lang="en-US" altLang="ru-RU" sz="2400" b="1" smtClean="0">
                <a:latin typeface="Times New Roman" pitchFamily="18" charset="0"/>
              </a:rPr>
              <a:t>end</a:t>
            </a:r>
            <a:endParaRPr lang="en-US" altLang="ru-RU" sz="2400" b="1" i="1" smtClean="0">
              <a:latin typeface="Times New Roman" pitchFamily="18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ru-RU" altLang="ru-RU" sz="2400" i="1" smtClean="0">
                <a:latin typeface="Times New Roman" pitchFamily="18" charset="0"/>
              </a:rPr>
              <a:t>	</a:t>
            </a:r>
            <a:r>
              <a:rPr lang="en-US" altLang="ru-RU" sz="2400" i="1" smtClean="0">
                <a:latin typeface="Times New Roman" pitchFamily="18" charset="0"/>
              </a:rPr>
              <a:t>R</a:t>
            </a:r>
            <a:r>
              <a:rPr lang="en-US" altLang="ru-RU" sz="2400" smtClean="0">
                <a:latin typeface="Times New Roman" pitchFamily="18" charset="0"/>
              </a:rPr>
              <a:t> </a:t>
            </a:r>
            <a:r>
              <a:rPr lang="ru-RU" altLang="ru-RU" sz="2400" smtClean="0">
                <a:latin typeface="Times New Roman" pitchFamily="18" charset="0"/>
              </a:rPr>
              <a:t>→</a:t>
            </a:r>
            <a:r>
              <a:rPr lang="en-US" altLang="ru-RU" sz="2400" smtClean="0">
                <a:latin typeface="Times New Roman" pitchFamily="18" charset="0"/>
              </a:rPr>
              <a:t> </a:t>
            </a:r>
            <a:r>
              <a:rPr lang="en-US" altLang="ru-RU" sz="2400" i="1" smtClean="0">
                <a:latin typeface="Times New Roman" pitchFamily="18" charset="0"/>
              </a:rPr>
              <a:t>a</a:t>
            </a:r>
            <a:r>
              <a:rPr lang="en-US" altLang="ru-RU" sz="2400" smtClean="0">
                <a:latin typeface="Times New Roman" pitchFamily="18" charset="0"/>
              </a:rPr>
              <a:t> </a:t>
            </a:r>
            <a:r>
              <a:rPr lang="en-US" altLang="ru-RU" sz="2400" i="1" smtClean="0">
                <a:latin typeface="Times New Roman" pitchFamily="18" charset="0"/>
              </a:rPr>
              <a:t>M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ru-RU" altLang="ru-RU" sz="2400" i="1" smtClean="0">
                <a:latin typeface="Times New Roman" pitchFamily="18" charset="0"/>
              </a:rPr>
              <a:t>	</a:t>
            </a:r>
            <a:r>
              <a:rPr lang="en-US" altLang="ru-RU" sz="2400" i="1" smtClean="0">
                <a:latin typeface="Times New Roman" pitchFamily="18" charset="0"/>
              </a:rPr>
              <a:t>M</a:t>
            </a:r>
            <a:r>
              <a:rPr lang="ru-RU" altLang="ru-RU" sz="2400" smtClean="0">
                <a:latin typeface="Times New Roman" pitchFamily="18" charset="0"/>
              </a:rPr>
              <a:t> → , </a:t>
            </a:r>
            <a:r>
              <a:rPr lang="en-US" altLang="ru-RU" sz="2400" i="1" smtClean="0">
                <a:latin typeface="Times New Roman" pitchFamily="18" charset="0"/>
              </a:rPr>
              <a:t>a M</a:t>
            </a:r>
            <a:r>
              <a:rPr lang="ru-RU" altLang="ru-RU" sz="2400" smtClean="0">
                <a:latin typeface="Times New Roman" pitchFamily="18" charset="0"/>
              </a:rPr>
              <a:t> | 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ru-RU" sz="2400" smtClean="0">
                <a:latin typeface="Times New Roman" pitchFamily="18" charset="0"/>
              </a:rPr>
              <a:t>C</a:t>
            </a:r>
            <a:r>
              <a:rPr lang="ru-RU" altLang="ru-RU" sz="2400" smtClean="0">
                <a:latin typeface="Times New Roman" pitchFamily="18" charset="0"/>
              </a:rPr>
              <a:t>лужебные слова</a:t>
            </a:r>
            <a:r>
              <a:rPr lang="ru-RU" altLang="ru-RU" smtClean="0"/>
              <a:t> </a:t>
            </a:r>
            <a:r>
              <a:rPr lang="en-US" altLang="ru-RU" sz="2400" b="1" smtClean="0">
                <a:latin typeface="Times New Roman" pitchFamily="18" charset="0"/>
              </a:rPr>
              <a:t>int</a:t>
            </a:r>
            <a:r>
              <a:rPr lang="ru-RU" altLang="ru-RU" sz="2400" i="1" smtClean="0">
                <a:latin typeface="Times New Roman" pitchFamily="18" charset="0"/>
              </a:rPr>
              <a:t>,</a:t>
            </a:r>
            <a:r>
              <a:rPr lang="en-US" altLang="ru-RU" sz="2400" smtClean="0">
                <a:latin typeface="Times New Roman" pitchFamily="18" charset="0"/>
              </a:rPr>
              <a:t> </a:t>
            </a:r>
            <a:r>
              <a:rPr lang="en-US" altLang="ru-RU" sz="2400" b="1" smtClean="0">
                <a:latin typeface="Times New Roman" pitchFamily="18" charset="0"/>
              </a:rPr>
              <a:t>int1</a:t>
            </a:r>
            <a:r>
              <a:rPr lang="ru-RU" altLang="ru-RU" sz="2400" i="1" smtClean="0">
                <a:latin typeface="Times New Roman" pitchFamily="18" charset="0"/>
              </a:rPr>
              <a:t>,</a:t>
            </a:r>
            <a:r>
              <a:rPr lang="en-US" altLang="ru-RU" sz="2400" smtClean="0">
                <a:latin typeface="Times New Roman" pitchFamily="18" charset="0"/>
              </a:rPr>
              <a:t> </a:t>
            </a:r>
            <a:r>
              <a:rPr lang="en-US" altLang="ru-RU" sz="2400" b="1" smtClean="0">
                <a:latin typeface="Times New Roman" pitchFamily="18" charset="0"/>
              </a:rPr>
              <a:t>int2</a:t>
            </a:r>
            <a:r>
              <a:rPr lang="en-US" altLang="ru-RU" sz="2400" smtClean="0">
                <a:latin typeface="Times New Roman" pitchFamily="18" charset="0"/>
              </a:rPr>
              <a:t> </a:t>
            </a:r>
            <a:r>
              <a:rPr lang="ru-RU" altLang="ru-RU" sz="2400" smtClean="0">
                <a:latin typeface="Times New Roman" pitchFamily="18" charset="0"/>
              </a:rPr>
              <a:t>задают описания</a:t>
            </a:r>
            <a:r>
              <a:rPr lang="en-US" altLang="ru-RU" sz="2400" smtClean="0">
                <a:latin typeface="Times New Roman" pitchFamily="18" charset="0"/>
              </a:rPr>
              <a:t>: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 </a:t>
            </a:r>
            <a:r>
              <a:rPr lang="en-US" altLang="ru-RU" sz="2400" smtClean="0">
                <a:latin typeface="Times New Roman" pitchFamily="18" charset="0"/>
              </a:rPr>
              <a:t>    </a:t>
            </a:r>
            <a:r>
              <a:rPr lang="en-US" altLang="ru-RU" sz="2400" b="1" smtClean="0">
                <a:latin typeface="Times New Roman" pitchFamily="18" charset="0"/>
              </a:rPr>
              <a:t>int</a:t>
            </a:r>
            <a:r>
              <a:rPr lang="ru-RU" altLang="ru-RU" sz="2400" smtClean="0">
                <a:latin typeface="Times New Roman" pitchFamily="18" charset="0"/>
              </a:rPr>
              <a:t> </a:t>
            </a:r>
            <a:r>
              <a:rPr lang="en-US" altLang="ru-RU" sz="2400" smtClean="0">
                <a:latin typeface="Times New Roman" pitchFamily="18" charset="0"/>
              </a:rPr>
              <a:t>-</a:t>
            </a:r>
            <a:r>
              <a:rPr lang="ru-RU" altLang="ru-RU" sz="2400" smtClean="0">
                <a:latin typeface="Times New Roman" pitchFamily="18" charset="0"/>
              </a:rPr>
              <a:t> целых переменных, </a:t>
            </a:r>
            <a:r>
              <a:rPr lang="en-US" altLang="ru-RU" sz="2400" b="1" smtClean="0">
                <a:latin typeface="Times New Roman" pitchFamily="18" charset="0"/>
              </a:rPr>
              <a:t>int</a:t>
            </a:r>
            <a:r>
              <a:rPr lang="ru-RU" altLang="ru-RU" sz="2400" b="1" smtClean="0">
                <a:latin typeface="Times New Roman" pitchFamily="18" charset="0"/>
              </a:rPr>
              <a:t>1</a:t>
            </a:r>
            <a:r>
              <a:rPr lang="ru-RU" altLang="ru-RU" sz="2400" smtClean="0">
                <a:latin typeface="Times New Roman" pitchFamily="18" charset="0"/>
              </a:rPr>
              <a:t> </a:t>
            </a:r>
            <a:r>
              <a:rPr lang="en-US" altLang="ru-RU" sz="2400" smtClean="0">
                <a:latin typeface="Times New Roman" pitchFamily="18" charset="0"/>
              </a:rPr>
              <a:t>-</a:t>
            </a:r>
            <a:r>
              <a:rPr lang="ru-RU" altLang="ru-RU" sz="2400" smtClean="0">
                <a:latin typeface="Times New Roman" pitchFamily="18" charset="0"/>
              </a:rPr>
              <a:t>одномерных массивов целых</a:t>
            </a:r>
            <a:r>
              <a:rPr lang="en-US" altLang="ru-RU" sz="2400" smtClean="0">
                <a:latin typeface="Times New Roman" pitchFamily="18" charset="0"/>
              </a:rPr>
              <a:t>, </a:t>
            </a:r>
            <a:r>
              <a:rPr lang="en-US" altLang="ru-RU" sz="2400" b="1" smtClean="0">
                <a:latin typeface="Times New Roman" pitchFamily="18" charset="0"/>
              </a:rPr>
              <a:t>int</a:t>
            </a:r>
            <a:r>
              <a:rPr lang="ru-RU" altLang="ru-RU" sz="2400" b="1" smtClean="0">
                <a:latin typeface="Times New Roman" pitchFamily="18" charset="0"/>
              </a:rPr>
              <a:t>2</a:t>
            </a:r>
            <a:r>
              <a:rPr lang="ru-RU" altLang="ru-RU" sz="2400" smtClean="0">
                <a:latin typeface="Times New Roman" pitchFamily="18" charset="0"/>
              </a:rPr>
              <a:t> двумерных массивов целых.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Семантические действия генератора ОПС соответственно</a:t>
            </a:r>
            <a:endParaRPr lang="en-US" altLang="ru-RU" sz="2400" smtClean="0">
              <a:latin typeface="Times New Roman" pitchFamily="18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для нетерминала </a:t>
            </a:r>
            <a:r>
              <a:rPr lang="en-US" altLang="ru-RU" sz="2400" i="1" smtClean="0">
                <a:latin typeface="Times New Roman" pitchFamily="18" charset="0"/>
              </a:rPr>
              <a:t>P</a:t>
            </a:r>
            <a:r>
              <a:rPr lang="ru-RU" altLang="ru-RU" sz="2400" smtClean="0">
                <a:latin typeface="Times New Roman" pitchFamily="18" charset="0"/>
              </a:rPr>
              <a:t>:</a:t>
            </a:r>
          </a:p>
          <a:p>
            <a:pPr algn="ctr" eaLnBrk="1" hangingPunct="1">
              <a:lnSpc>
                <a:spcPct val="80000"/>
              </a:lnSpc>
              <a:buFontTx/>
              <a:buNone/>
            </a:pPr>
            <a:r>
              <a:rPr lang="en-US" altLang="ru-RU" sz="2400" b="1" smtClean="0">
                <a:latin typeface="Times New Roman" pitchFamily="18" charset="0"/>
              </a:rPr>
              <a:t>11</a:t>
            </a:r>
            <a:r>
              <a:rPr lang="en-US" altLang="ru-RU" sz="2400" smtClean="0">
                <a:latin typeface="Times New Roman" pitchFamily="18" charset="0"/>
              </a:rPr>
              <a:t>□□</a:t>
            </a:r>
            <a:r>
              <a:rPr lang="ru-RU" altLang="ru-RU" sz="2400" smtClean="0">
                <a:latin typeface="Times New Roman" pitchFamily="18" charset="0"/>
              </a:rPr>
              <a:t>  </a:t>
            </a:r>
            <a:r>
              <a:rPr lang="en-US" altLang="ru-RU" sz="2400" smtClean="0">
                <a:latin typeface="Times New Roman" pitchFamily="18" charset="0"/>
              </a:rPr>
              <a:t>|  </a:t>
            </a:r>
            <a:r>
              <a:rPr lang="en-US" altLang="ru-RU" sz="2400" b="1" smtClean="0">
                <a:latin typeface="Times New Roman" pitchFamily="18" charset="0"/>
              </a:rPr>
              <a:t>12</a:t>
            </a:r>
            <a:r>
              <a:rPr lang="en-US" altLang="ru-RU" sz="2400" smtClean="0">
                <a:latin typeface="Times New Roman" pitchFamily="18" charset="0"/>
              </a:rPr>
              <a:t>□□  |  </a:t>
            </a:r>
            <a:r>
              <a:rPr lang="en-US" altLang="ru-RU" sz="2400" b="1" smtClean="0">
                <a:latin typeface="Times New Roman" pitchFamily="18" charset="0"/>
              </a:rPr>
              <a:t>13</a:t>
            </a:r>
            <a:r>
              <a:rPr lang="en-US" altLang="ru-RU" sz="2400" smtClean="0">
                <a:latin typeface="Times New Roman" pitchFamily="18" charset="0"/>
              </a:rPr>
              <a:t>□□  |  </a:t>
            </a:r>
            <a:r>
              <a:rPr lang="en-US" altLang="ru-RU" sz="2400" b="1" smtClean="0">
                <a:latin typeface="Times New Roman" pitchFamily="18" charset="0"/>
              </a:rPr>
              <a:t>14</a:t>
            </a:r>
            <a:r>
              <a:rPr lang="en-US" altLang="ru-RU" sz="2400" smtClean="0">
                <a:latin typeface="Times New Roman" pitchFamily="18" charset="0"/>
              </a:rPr>
              <a:t>□□</a:t>
            </a:r>
            <a:r>
              <a:rPr lang="en-US" altLang="ru-RU" sz="2400" b="1" smtClean="0">
                <a:latin typeface="Times New Roman" pitchFamily="18" charset="0"/>
              </a:rPr>
              <a:t>15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для нетерминала </a:t>
            </a:r>
            <a:r>
              <a:rPr lang="en-US" altLang="ru-RU" sz="2400" i="1" smtClean="0">
                <a:latin typeface="Times New Roman" pitchFamily="18" charset="0"/>
              </a:rPr>
              <a:t>R</a:t>
            </a:r>
            <a:r>
              <a:rPr lang="ru-RU" altLang="ru-RU" sz="2400" smtClean="0">
                <a:latin typeface="Times New Roman" pitchFamily="18" charset="0"/>
              </a:rPr>
              <a:t>:</a:t>
            </a:r>
          </a:p>
          <a:p>
            <a:pPr algn="ctr" eaLnBrk="1" hangingPunct="1">
              <a:lnSpc>
                <a:spcPct val="80000"/>
              </a:lnSpc>
              <a:buFontTx/>
              <a:buNone/>
            </a:pPr>
            <a:r>
              <a:rPr lang="en-US" altLang="ru-RU" sz="2400" b="1" smtClean="0">
                <a:latin typeface="Times New Roman" pitchFamily="18" charset="0"/>
              </a:rPr>
              <a:t>16</a:t>
            </a:r>
            <a:r>
              <a:rPr lang="en-US" altLang="ru-RU" sz="2400" smtClean="0">
                <a:latin typeface="Times New Roman" pitchFamily="18" charset="0"/>
              </a:rPr>
              <a:t>□</a:t>
            </a:r>
            <a:endParaRPr lang="ru-RU" altLang="ru-RU" sz="2400" smtClean="0">
              <a:latin typeface="Times New Roman" pitchFamily="18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для нетерминала </a:t>
            </a:r>
            <a:r>
              <a:rPr lang="en-US" altLang="ru-RU" sz="2400" i="1" smtClean="0">
                <a:latin typeface="Times New Roman" pitchFamily="18" charset="0"/>
              </a:rPr>
              <a:t>R</a:t>
            </a:r>
            <a:r>
              <a:rPr lang="ru-RU" altLang="ru-RU" sz="2400" smtClean="0">
                <a:latin typeface="Times New Roman" pitchFamily="18" charset="0"/>
              </a:rPr>
              <a:t>:</a:t>
            </a:r>
          </a:p>
          <a:p>
            <a:pPr algn="ctr" eaLnBrk="1" hangingPunct="1">
              <a:lnSpc>
                <a:spcPct val="80000"/>
              </a:lnSpc>
              <a:buFontTx/>
              <a:buNone/>
            </a:pPr>
            <a:r>
              <a:rPr lang="en-US" altLang="ru-RU" sz="2400" smtClean="0">
                <a:latin typeface="Times New Roman" pitchFamily="18" charset="0"/>
              </a:rPr>
              <a:t>□</a:t>
            </a:r>
            <a:r>
              <a:rPr lang="en-US" altLang="ru-RU" sz="2400" b="1" smtClean="0">
                <a:latin typeface="Times New Roman" pitchFamily="18" charset="0"/>
              </a:rPr>
              <a:t>16</a:t>
            </a:r>
            <a:r>
              <a:rPr lang="en-US" altLang="ru-RU" sz="2400" smtClean="0">
                <a:latin typeface="Times New Roman" pitchFamily="18" charset="0"/>
              </a:rPr>
              <a:t>□  |  □</a:t>
            </a:r>
            <a:endParaRPr lang="ru-RU" altLang="ru-RU" sz="2400" smtClean="0">
              <a:latin typeface="Times New Roman" pitchFamily="18" charset="0"/>
            </a:endParaRPr>
          </a:p>
          <a:p>
            <a:pPr algn="ctr" eaLnBrk="1" hangingPunct="1">
              <a:lnSpc>
                <a:spcPct val="80000"/>
              </a:lnSpc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Числа </a:t>
            </a:r>
            <a:r>
              <a:rPr lang="ru-RU" altLang="ru-RU" sz="2400" b="1" smtClean="0">
                <a:latin typeface="Times New Roman" pitchFamily="18" charset="0"/>
              </a:rPr>
              <a:t>11, 12, 13, 14, 15</a:t>
            </a:r>
            <a:r>
              <a:rPr lang="ru-RU" altLang="ru-RU" sz="2400" smtClean="0">
                <a:latin typeface="Times New Roman" pitchFamily="18" charset="0"/>
              </a:rPr>
              <a:t> задают семантические программы.</a:t>
            </a:r>
          </a:p>
        </p:txBody>
      </p:sp>
      <p:sp>
        <p:nvSpPr>
          <p:cNvPr id="16388" name="Номер слайда 1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A83F2B35-C867-4B04-8EFF-45F093D66D76}" type="slidenum">
              <a:rPr lang="ru-RU" altLang="ru-RU" sz="1400" smtClean="0"/>
              <a:pPr eaLnBrk="1" hangingPunct="1">
                <a:spcBef>
                  <a:spcPct val="0"/>
                </a:spcBef>
                <a:buFontTx/>
                <a:buNone/>
              </a:pPr>
              <a:t>15</a:t>
            </a:fld>
            <a:endParaRPr lang="ru-RU" altLang="ru-RU" sz="140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201612"/>
          </a:xfrm>
        </p:spPr>
        <p:txBody>
          <a:bodyPr/>
          <a:lstStyle/>
          <a:p>
            <a:pPr eaLnBrk="1" hangingPunct="1"/>
            <a:endParaRPr lang="ru-RU" altLang="ru-RU" sz="4000" smtClean="0"/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88913"/>
            <a:ext cx="8686800" cy="65532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ru-RU" altLang="ru-RU" b="1" smtClean="0">
                <a:solidFill>
                  <a:schemeClr val="accent2"/>
                </a:solidFill>
              </a:rPr>
              <a:t>Семантические программы</a:t>
            </a:r>
            <a:r>
              <a:rPr lang="ru-RU" altLang="ru-RU" sz="2800" smtClean="0"/>
              <a:t> 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ru-RU" altLang="ru-RU" sz="2800" smtClean="0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ru-RU" altLang="ru-RU" sz="2400" b="1" smtClean="0"/>
              <a:t>Программа 11.</a:t>
            </a:r>
            <a:r>
              <a:rPr lang="ru-RU" altLang="ru-RU" sz="2400" smtClean="0"/>
              <a:t> 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Переключение на заполнение таблицы переменных типа </a:t>
            </a:r>
            <a:r>
              <a:rPr lang="pt-BR" altLang="ru-RU" sz="2400" b="1" smtClean="0">
                <a:latin typeface="Times New Roman" pitchFamily="18" charset="0"/>
              </a:rPr>
              <a:t>int</a:t>
            </a:r>
            <a:r>
              <a:rPr lang="ru-RU" altLang="ru-RU" sz="2400" b="1" smtClean="0">
                <a:latin typeface="Times New Roman" pitchFamily="18" charset="0"/>
              </a:rPr>
              <a:t> </a:t>
            </a:r>
            <a:r>
              <a:rPr lang="ru-RU" altLang="ru-RU" sz="2400" smtClean="0">
                <a:latin typeface="Times New Roman" pitchFamily="18" charset="0"/>
              </a:rPr>
              <a:t>(целочисленных), в таблице будут записываться имена переменных. 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ru-RU" altLang="ru-RU" sz="2400" smtClean="0">
              <a:latin typeface="Times New Roman" pitchFamily="18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ru-RU" altLang="ru-RU" sz="2400" b="1" smtClean="0"/>
              <a:t>Программа 12.</a:t>
            </a:r>
            <a:r>
              <a:rPr lang="ru-RU" altLang="ru-RU" sz="2400" smtClean="0"/>
              <a:t> 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Переключение на заполнение таблицы переменных типа одномерный массив </a:t>
            </a:r>
            <a:r>
              <a:rPr lang="pt-BR" altLang="ru-RU" sz="2400" b="1" smtClean="0">
                <a:latin typeface="Times New Roman" pitchFamily="18" charset="0"/>
              </a:rPr>
              <a:t>int</a:t>
            </a:r>
            <a:r>
              <a:rPr lang="ru-RU" altLang="ru-RU" sz="2400" b="1" smtClean="0">
                <a:latin typeface="Times New Roman" pitchFamily="18" charset="0"/>
              </a:rPr>
              <a:t>1</a:t>
            </a:r>
            <a:r>
              <a:rPr lang="ru-RU" altLang="ru-RU" sz="2400" smtClean="0">
                <a:latin typeface="Times New Roman" pitchFamily="18" charset="0"/>
              </a:rPr>
              <a:t> (целочисленных), в таблице будут записываться имена массивов.</a:t>
            </a:r>
            <a:r>
              <a:rPr lang="ru-RU" altLang="ru-RU" sz="2400" smtClean="0"/>
              <a:t> 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ru-RU" altLang="ru-RU" sz="2400" smtClean="0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ru-RU" altLang="ru-RU" sz="2400" b="1" smtClean="0"/>
              <a:t>Программа 13. 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Переключение на заполнение таблицы переменных типа двумерный массив </a:t>
            </a:r>
            <a:r>
              <a:rPr lang="pt-BR" altLang="ru-RU" sz="2400" b="1" smtClean="0">
                <a:latin typeface="Times New Roman" pitchFamily="18" charset="0"/>
              </a:rPr>
              <a:t>int</a:t>
            </a:r>
            <a:r>
              <a:rPr lang="ru-RU" altLang="ru-RU" sz="2400" b="1" smtClean="0">
                <a:latin typeface="Times New Roman" pitchFamily="18" charset="0"/>
              </a:rPr>
              <a:t>2</a:t>
            </a:r>
            <a:r>
              <a:rPr lang="ru-RU" altLang="ru-RU" sz="2400" smtClean="0">
                <a:latin typeface="Times New Roman" pitchFamily="18" charset="0"/>
              </a:rPr>
              <a:t> (целочисленных), в таблице будут записываться имена массивов.</a:t>
            </a:r>
            <a:r>
              <a:rPr lang="ru-RU" altLang="ru-RU" sz="2400" smtClean="0"/>
              <a:t> 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ru-RU" altLang="ru-RU" sz="2400" smtClean="0"/>
          </a:p>
        </p:txBody>
      </p:sp>
      <p:sp>
        <p:nvSpPr>
          <p:cNvPr id="17412" name="Номер слайда 1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CB7FE6D6-799F-45BA-A4D9-C4DCA7D66BC6}" type="slidenum">
              <a:rPr lang="ru-RU" altLang="ru-RU" sz="1400" smtClean="0"/>
              <a:pPr eaLnBrk="1" hangingPunct="1">
                <a:spcBef>
                  <a:spcPct val="0"/>
                </a:spcBef>
                <a:buFontTx/>
                <a:buNone/>
              </a:pPr>
              <a:t>16</a:t>
            </a:fld>
            <a:endParaRPr lang="ru-RU" altLang="ru-RU" sz="140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274638"/>
            <a:ext cx="8229600" cy="201612"/>
          </a:xfrm>
        </p:spPr>
        <p:txBody>
          <a:bodyPr/>
          <a:lstStyle/>
          <a:p>
            <a:pPr eaLnBrk="1" hangingPunct="1"/>
            <a:endParaRPr lang="ru-RU" altLang="ru-RU" sz="4000" smtClean="0"/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88913"/>
            <a:ext cx="8686800" cy="65532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ru-RU" altLang="ru-RU" b="1" smtClean="0">
                <a:solidFill>
                  <a:schemeClr val="accent2"/>
                </a:solidFill>
              </a:rPr>
              <a:t>Семантические программы</a:t>
            </a:r>
            <a:r>
              <a:rPr lang="ru-RU" altLang="ru-RU" sz="2800" smtClean="0"/>
              <a:t> </a:t>
            </a:r>
          </a:p>
          <a:p>
            <a:pPr eaLnBrk="1" hangingPunct="1">
              <a:buFontTx/>
              <a:buNone/>
            </a:pPr>
            <a:endParaRPr lang="ru-RU" altLang="ru-RU" sz="1400" smtClean="0"/>
          </a:p>
          <a:p>
            <a:pPr eaLnBrk="1" hangingPunct="1">
              <a:buFontTx/>
              <a:buNone/>
            </a:pPr>
            <a:endParaRPr lang="ru-RU" altLang="ru-RU" sz="1400" smtClean="0"/>
          </a:p>
          <a:p>
            <a:pPr eaLnBrk="1" hangingPunct="1">
              <a:buFontTx/>
              <a:buNone/>
            </a:pPr>
            <a:r>
              <a:rPr lang="ru-RU" altLang="ru-RU" sz="2400" b="1" smtClean="0"/>
              <a:t>Программа 14. </a:t>
            </a:r>
          </a:p>
          <a:p>
            <a:pPr eaLnBrk="1" hangingPunct="1"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1. Завершение формирования таблиц переменных.</a:t>
            </a:r>
          </a:p>
          <a:p>
            <a:pPr eaLnBrk="1" hangingPunct="1"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2. Генерация в ОПС операций выделения памяти блоками для каждого из типов переменных: </a:t>
            </a:r>
          </a:p>
          <a:p>
            <a:pPr eaLnBrk="1" hangingPunct="1"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– для типа </a:t>
            </a:r>
            <a:r>
              <a:rPr lang="pt-BR" altLang="ru-RU" sz="2400" b="1" smtClean="0">
                <a:latin typeface="Times New Roman" pitchFamily="18" charset="0"/>
              </a:rPr>
              <a:t>int</a:t>
            </a:r>
            <a:r>
              <a:rPr lang="ru-RU" altLang="ru-RU" sz="2400" smtClean="0">
                <a:latin typeface="Times New Roman" pitchFamily="18" charset="0"/>
              </a:rPr>
              <a:t> – в виде массива целых, каждая переменная в нем занимает отдельный элемент и ей приписан номер;</a:t>
            </a:r>
          </a:p>
          <a:p>
            <a:pPr eaLnBrk="1" hangingPunct="1"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– для типа </a:t>
            </a:r>
            <a:r>
              <a:rPr lang="pt-BR" altLang="ru-RU" sz="2400" b="1" smtClean="0">
                <a:latin typeface="Times New Roman" pitchFamily="18" charset="0"/>
              </a:rPr>
              <a:t>int</a:t>
            </a:r>
            <a:r>
              <a:rPr lang="ru-RU" altLang="ru-RU" sz="2400" b="1" smtClean="0">
                <a:latin typeface="Times New Roman" pitchFamily="18" charset="0"/>
              </a:rPr>
              <a:t>1</a:t>
            </a:r>
            <a:r>
              <a:rPr lang="ru-RU" altLang="ru-RU" sz="2400" smtClean="0">
                <a:latin typeface="Times New Roman" pitchFamily="18" charset="0"/>
              </a:rPr>
              <a:t> и </a:t>
            </a:r>
            <a:r>
              <a:rPr lang="pt-BR" altLang="ru-RU" sz="2400" b="1" smtClean="0">
                <a:latin typeface="Times New Roman" pitchFamily="18" charset="0"/>
              </a:rPr>
              <a:t>int</a:t>
            </a:r>
            <a:r>
              <a:rPr lang="ru-RU" altLang="ru-RU" sz="2400" b="1" smtClean="0">
                <a:latin typeface="Times New Roman" pitchFamily="18" charset="0"/>
              </a:rPr>
              <a:t>2</a:t>
            </a:r>
            <a:r>
              <a:rPr lang="ru-RU" altLang="ru-RU" sz="2400" smtClean="0">
                <a:latin typeface="Times New Roman" pitchFamily="18" charset="0"/>
              </a:rPr>
              <a:t> – в виде массива паспортов массивов, в них записывается размерность по одному или двум измерениям соответственно, а также ссылка на начало размещения массива в памяти .</a:t>
            </a:r>
          </a:p>
          <a:p>
            <a:pPr eaLnBrk="1" hangingPunct="1"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3. Генерация в ОПС операций обнуления паспортов</a:t>
            </a:r>
            <a:r>
              <a:rPr lang="ru-RU" altLang="ru-RU" sz="2400" smtClean="0"/>
              <a:t> </a:t>
            </a:r>
            <a:r>
              <a:rPr lang="ru-RU" altLang="ru-RU" sz="2400" smtClean="0">
                <a:latin typeface="Times New Roman" pitchFamily="18" charset="0"/>
              </a:rPr>
              <a:t>массивов для переменных типа </a:t>
            </a:r>
            <a:r>
              <a:rPr lang="pt-BR" altLang="ru-RU" sz="2400" b="1" smtClean="0">
                <a:latin typeface="Times New Roman" pitchFamily="18" charset="0"/>
              </a:rPr>
              <a:t>int</a:t>
            </a:r>
            <a:r>
              <a:rPr lang="ru-RU" altLang="ru-RU" sz="2400" b="1" smtClean="0">
                <a:latin typeface="Times New Roman" pitchFamily="18" charset="0"/>
              </a:rPr>
              <a:t>1</a:t>
            </a:r>
            <a:r>
              <a:rPr lang="ru-RU" altLang="ru-RU" sz="2400" smtClean="0">
                <a:latin typeface="Times New Roman" pitchFamily="18" charset="0"/>
              </a:rPr>
              <a:t> и </a:t>
            </a:r>
            <a:r>
              <a:rPr lang="pt-BR" altLang="ru-RU" sz="2400" b="1" smtClean="0">
                <a:latin typeface="Times New Roman" pitchFamily="18" charset="0"/>
              </a:rPr>
              <a:t>int</a:t>
            </a:r>
            <a:r>
              <a:rPr lang="ru-RU" altLang="ru-RU" sz="2400" b="1" smtClean="0">
                <a:latin typeface="Times New Roman" pitchFamily="18" charset="0"/>
              </a:rPr>
              <a:t>2</a:t>
            </a:r>
            <a:r>
              <a:rPr lang="ru-RU" altLang="ru-RU" sz="2400" smtClean="0">
                <a:latin typeface="Times New Roman" pitchFamily="18" charset="0"/>
              </a:rPr>
              <a:t>.</a:t>
            </a:r>
          </a:p>
          <a:p>
            <a:pPr eaLnBrk="1" hangingPunct="1">
              <a:buFontTx/>
              <a:buNone/>
            </a:pPr>
            <a:endParaRPr lang="ru-RU" altLang="ru-RU" sz="2400" smtClean="0">
              <a:latin typeface="Times New Roman" pitchFamily="18" charset="0"/>
            </a:endParaRPr>
          </a:p>
        </p:txBody>
      </p:sp>
      <p:sp>
        <p:nvSpPr>
          <p:cNvPr id="18436" name="Номер слайда 1"/>
          <p:cNvSpPr txBox="1">
            <a:spLocks noGrp="1"/>
          </p:cNvSpPr>
          <p:nvPr/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A329A0E7-9A5E-4D14-B49E-9419A9AD2AB7}" type="slidenum">
              <a:rPr lang="ru-RU" altLang="ru-RU" sz="1400"/>
              <a:pPr algn="r" eaLnBrk="1" hangingPunct="1">
                <a:spcBef>
                  <a:spcPct val="0"/>
                </a:spcBef>
                <a:buFontTx/>
                <a:buNone/>
              </a:pPr>
              <a:t>17</a:t>
            </a:fld>
            <a:endParaRPr lang="ru-RU" altLang="ru-RU" sz="1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201612"/>
          </a:xfrm>
        </p:spPr>
        <p:txBody>
          <a:bodyPr/>
          <a:lstStyle/>
          <a:p>
            <a:pPr eaLnBrk="1" hangingPunct="1"/>
            <a:endParaRPr lang="ru-RU" altLang="ru-RU" sz="4000" smtClean="0"/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88913"/>
            <a:ext cx="8229600" cy="5976937"/>
          </a:xfrm>
        </p:spPr>
        <p:txBody>
          <a:bodyPr/>
          <a:lstStyle/>
          <a:p>
            <a:pPr marL="457200" indent="-457200" eaLnBrk="1" hangingPunct="1">
              <a:buFontTx/>
              <a:buNone/>
            </a:pPr>
            <a:r>
              <a:rPr lang="ru-RU" altLang="ru-RU" b="1" smtClean="0">
                <a:solidFill>
                  <a:schemeClr val="accent2"/>
                </a:solidFill>
              </a:rPr>
              <a:t>Семантические программы</a:t>
            </a:r>
            <a:r>
              <a:rPr lang="ru-RU" altLang="ru-RU" smtClean="0"/>
              <a:t> </a:t>
            </a:r>
          </a:p>
          <a:p>
            <a:pPr marL="457200" indent="-457200" eaLnBrk="1" hangingPunct="1">
              <a:buFontTx/>
              <a:buNone/>
            </a:pPr>
            <a:endParaRPr lang="ru-RU" altLang="ru-RU" sz="1600" smtClean="0">
              <a:latin typeface="Times New Roman" pitchFamily="18" charset="0"/>
            </a:endParaRPr>
          </a:p>
          <a:p>
            <a:pPr marL="457200" indent="-457200" eaLnBrk="1" hangingPunct="1">
              <a:buFontTx/>
              <a:buNone/>
            </a:pPr>
            <a:r>
              <a:rPr lang="ru-RU" altLang="ru-RU" sz="2400" b="1" smtClean="0"/>
              <a:t>Программа 15. </a:t>
            </a:r>
          </a:p>
          <a:p>
            <a:pPr marL="457200" indent="-457200" eaLnBrk="1" hangingPunct="1"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Генерация в ОПС операций освобождения всех выделенных в процессе выполнения программы блоков памяти.</a:t>
            </a:r>
          </a:p>
          <a:p>
            <a:pPr marL="457200" indent="-457200" eaLnBrk="1" hangingPunct="1">
              <a:buFontTx/>
              <a:buNone/>
            </a:pPr>
            <a:endParaRPr lang="ru-RU" altLang="ru-RU" sz="2400" smtClean="0"/>
          </a:p>
          <a:p>
            <a:pPr marL="457200" indent="-457200" eaLnBrk="1" hangingPunct="1">
              <a:buFontTx/>
              <a:buNone/>
            </a:pPr>
            <a:r>
              <a:rPr lang="ru-RU" altLang="ru-RU" sz="2400" b="1" smtClean="0"/>
              <a:t>Программа 16. </a:t>
            </a:r>
          </a:p>
          <a:p>
            <a:pPr marL="457200" indent="-457200" eaLnBrk="1" hangingPunct="1"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1. Проверка имени переменной, поступающей из входной цепочки, на совпадение с именами, ранее занесенными в таблицы. Если есть совпадение, то сигнализация об ошибке «повторное описание переменной».</a:t>
            </a:r>
          </a:p>
          <a:p>
            <a:pPr marL="457200" indent="-457200" eaLnBrk="1" hangingPunct="1"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2. Если ошибки нет, то добавление имени переменной в одну из таблиц переменных (на которую ранее было переключение).</a:t>
            </a:r>
            <a:endParaRPr lang="ru-RU" altLang="ru-RU" sz="2400" smtClean="0"/>
          </a:p>
        </p:txBody>
      </p:sp>
      <p:sp>
        <p:nvSpPr>
          <p:cNvPr id="19460" name="Номер слайда 1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36D315A3-AB36-4289-A5A3-CAF007BCA332}" type="slidenum">
              <a:rPr lang="ru-RU" altLang="ru-RU" sz="1400" smtClean="0"/>
              <a:pPr eaLnBrk="1" hangingPunct="1">
                <a:spcBef>
                  <a:spcPct val="0"/>
                </a:spcBef>
                <a:buFontTx/>
                <a:buNone/>
              </a:pPr>
              <a:t>18</a:t>
            </a:fld>
            <a:endParaRPr lang="ru-RU" altLang="ru-RU" sz="140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0"/>
            <a:ext cx="8229600" cy="1196975"/>
          </a:xfrm>
        </p:spPr>
        <p:txBody>
          <a:bodyPr/>
          <a:lstStyle/>
          <a:p>
            <a:pPr eaLnBrk="1" hangingPunct="1"/>
            <a:r>
              <a:rPr lang="ru-RU" altLang="ru-RU" sz="3600" b="1" smtClean="0">
                <a:solidFill>
                  <a:schemeClr val="accent2"/>
                </a:solidFill>
              </a:rPr>
              <a:t>Динамическое выделение памяти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196975"/>
            <a:ext cx="8229600" cy="5327650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Tx/>
              <a:buNone/>
            </a:pPr>
            <a:r>
              <a:rPr lang="ru-RU" altLang="ru-RU" sz="2800" smtClean="0">
                <a:latin typeface="Times New Roman" pitchFamily="18" charset="0"/>
              </a:rPr>
              <a:t>Память скалярным переменным и паспортам массивов выделяется статически, а элементам массивов – динамически.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ru-RU" altLang="ru-RU" sz="2800" smtClean="0">
                <a:latin typeface="Times New Roman" pitchFamily="18" charset="0"/>
              </a:rPr>
              <a:t>Для одно- и двумерным массивам определены стандартные операторы: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ru-RU" altLang="ru-RU" sz="2800" smtClean="0">
                <a:latin typeface="Times New Roman" pitchFamily="18" charset="0"/>
              </a:rPr>
              <a:t> 		</a:t>
            </a:r>
            <a:r>
              <a:rPr lang="pt-BR" altLang="ru-RU" sz="2800" i="1" smtClean="0">
                <a:latin typeface="Times New Roman" pitchFamily="18" charset="0"/>
              </a:rPr>
              <a:t>A</a:t>
            </a:r>
            <a:r>
              <a:rPr lang="pt-BR" altLang="ru-RU" sz="2800" smtClean="0">
                <a:latin typeface="Times New Roman" pitchFamily="18" charset="0"/>
              </a:rPr>
              <a:t> → </a:t>
            </a:r>
            <a:r>
              <a:rPr lang="pt-BR" altLang="ru-RU" sz="2800" b="1" smtClean="0">
                <a:latin typeface="Times New Roman" pitchFamily="18" charset="0"/>
              </a:rPr>
              <a:t>mem1</a:t>
            </a:r>
            <a:r>
              <a:rPr lang="pt-BR" altLang="ru-RU" sz="2800" smtClean="0">
                <a:latin typeface="Times New Roman" pitchFamily="18" charset="0"/>
              </a:rPr>
              <a:t> (</a:t>
            </a:r>
            <a:r>
              <a:rPr lang="pt-BR" altLang="ru-RU" sz="2800" i="1" smtClean="0">
                <a:latin typeface="Times New Roman" pitchFamily="18" charset="0"/>
              </a:rPr>
              <a:t>a</a:t>
            </a:r>
            <a:r>
              <a:rPr lang="pt-BR" altLang="ru-RU" sz="2800" smtClean="0">
                <a:latin typeface="Times New Roman" pitchFamily="18" charset="0"/>
              </a:rPr>
              <a:t>,</a:t>
            </a:r>
            <a:r>
              <a:rPr lang="pt-BR" altLang="ru-RU" sz="2800" i="1" smtClean="0">
                <a:latin typeface="Times New Roman" pitchFamily="18" charset="0"/>
              </a:rPr>
              <a:t> S</a:t>
            </a:r>
            <a:r>
              <a:rPr lang="pt-BR" altLang="ru-RU" sz="2800" smtClean="0">
                <a:latin typeface="Times New Roman" pitchFamily="18" charset="0"/>
              </a:rPr>
              <a:t>) | </a:t>
            </a:r>
            <a:r>
              <a:rPr lang="pt-BR" altLang="ru-RU" sz="2800" b="1" smtClean="0">
                <a:latin typeface="Times New Roman" pitchFamily="18" charset="0"/>
              </a:rPr>
              <a:t>mem2</a:t>
            </a:r>
            <a:r>
              <a:rPr lang="pt-BR" altLang="ru-RU" sz="2800" smtClean="0">
                <a:latin typeface="Times New Roman" pitchFamily="18" charset="0"/>
              </a:rPr>
              <a:t> (</a:t>
            </a:r>
            <a:r>
              <a:rPr lang="pt-BR" altLang="ru-RU" sz="2800" i="1" smtClean="0">
                <a:latin typeface="Times New Roman" pitchFamily="18" charset="0"/>
              </a:rPr>
              <a:t>a</a:t>
            </a:r>
            <a:r>
              <a:rPr lang="pt-BR" altLang="ru-RU" sz="2800" smtClean="0">
                <a:latin typeface="Times New Roman" pitchFamily="18" charset="0"/>
              </a:rPr>
              <a:t>,</a:t>
            </a:r>
            <a:r>
              <a:rPr lang="pt-BR" altLang="ru-RU" sz="2800" i="1" smtClean="0">
                <a:latin typeface="Times New Roman" pitchFamily="18" charset="0"/>
              </a:rPr>
              <a:t> S</a:t>
            </a:r>
            <a:r>
              <a:rPr lang="pt-BR" altLang="ru-RU" sz="2800" smtClean="0">
                <a:latin typeface="Times New Roman" pitchFamily="18" charset="0"/>
              </a:rPr>
              <a:t>,</a:t>
            </a:r>
            <a:r>
              <a:rPr lang="pt-BR" altLang="ru-RU" sz="2800" i="1" smtClean="0">
                <a:latin typeface="Times New Roman" pitchFamily="18" charset="0"/>
              </a:rPr>
              <a:t> S</a:t>
            </a:r>
            <a:r>
              <a:rPr lang="pt-BR" altLang="ru-RU" sz="2800" smtClean="0">
                <a:latin typeface="Times New Roman" pitchFamily="18" charset="0"/>
              </a:rPr>
              <a:t>)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ru-RU" altLang="ru-RU" sz="2800" smtClean="0">
                <a:latin typeface="Times New Roman" pitchFamily="18" charset="0"/>
              </a:rPr>
              <a:t>Семантические действия генератора ОПС соответственно: </a:t>
            </a:r>
            <a:endParaRPr lang="en-US" altLang="ru-RU" sz="2800" smtClean="0">
              <a:latin typeface="Times New Roman" pitchFamily="18" charset="0"/>
            </a:endParaRPr>
          </a:p>
          <a:p>
            <a:pPr algn="ctr" eaLnBrk="1" hangingPunct="1">
              <a:lnSpc>
                <a:spcPct val="80000"/>
              </a:lnSpc>
              <a:buFontTx/>
              <a:buNone/>
            </a:pPr>
            <a:r>
              <a:rPr lang="en-US" altLang="ru-RU" sz="2800" smtClean="0">
                <a:latin typeface="Times New Roman" pitchFamily="18" charset="0"/>
              </a:rPr>
              <a:t>□□</a:t>
            </a:r>
            <a:r>
              <a:rPr lang="ru-RU" altLang="ru-RU" sz="2800" smtClean="0">
                <a:latin typeface="Times New Roman" pitchFamily="18" charset="0"/>
              </a:rPr>
              <a:t> </a:t>
            </a:r>
            <a:r>
              <a:rPr lang="pt-BR" altLang="ru-RU" sz="2800" i="1" smtClean="0">
                <a:latin typeface="Times New Roman" pitchFamily="18" charset="0"/>
              </a:rPr>
              <a:t>a</a:t>
            </a:r>
            <a:r>
              <a:rPr lang="ru-RU" altLang="ru-RU" sz="2800" i="1" smtClean="0">
                <a:latin typeface="Times New Roman" pitchFamily="18" charset="0"/>
              </a:rPr>
              <a:t> </a:t>
            </a:r>
            <a:r>
              <a:rPr lang="en-US" altLang="ru-RU" sz="2800" smtClean="0">
                <a:latin typeface="Times New Roman" pitchFamily="18" charset="0"/>
              </a:rPr>
              <a:t>□□</a:t>
            </a:r>
            <a:r>
              <a:rPr lang="ru-RU" altLang="ru-RU" sz="2800" smtClean="0">
                <a:latin typeface="Times New Roman" pitchFamily="18" charset="0"/>
              </a:rPr>
              <a:t> </a:t>
            </a:r>
            <a:r>
              <a:rPr lang="en-US" altLang="ru-RU" sz="2800" b="1" smtClean="0">
                <a:latin typeface="Times New Roman" pitchFamily="18" charset="0"/>
              </a:rPr>
              <a:t>m1  |  </a:t>
            </a:r>
            <a:r>
              <a:rPr lang="en-US" altLang="ru-RU" sz="2800" smtClean="0">
                <a:latin typeface="Times New Roman" pitchFamily="18" charset="0"/>
              </a:rPr>
              <a:t>□□</a:t>
            </a:r>
            <a:r>
              <a:rPr lang="ru-RU" altLang="ru-RU" sz="2800" smtClean="0">
                <a:latin typeface="Times New Roman" pitchFamily="18" charset="0"/>
              </a:rPr>
              <a:t> </a:t>
            </a:r>
            <a:r>
              <a:rPr lang="pt-BR" altLang="ru-RU" sz="2800" i="1" smtClean="0">
                <a:latin typeface="Times New Roman" pitchFamily="18" charset="0"/>
              </a:rPr>
              <a:t>a</a:t>
            </a:r>
            <a:r>
              <a:rPr lang="ru-RU" altLang="ru-RU" sz="2800" i="1" smtClean="0">
                <a:latin typeface="Times New Roman" pitchFamily="18" charset="0"/>
              </a:rPr>
              <a:t> </a:t>
            </a:r>
            <a:r>
              <a:rPr lang="en-US" altLang="ru-RU" sz="2800" smtClean="0">
                <a:latin typeface="Times New Roman" pitchFamily="18" charset="0"/>
              </a:rPr>
              <a:t>□□□□</a:t>
            </a:r>
            <a:r>
              <a:rPr lang="ru-RU" altLang="ru-RU" sz="2800" smtClean="0">
                <a:latin typeface="Times New Roman" pitchFamily="18" charset="0"/>
              </a:rPr>
              <a:t> </a:t>
            </a:r>
            <a:r>
              <a:rPr lang="en-US" altLang="ru-RU" sz="2800" b="1" smtClean="0">
                <a:latin typeface="Times New Roman" pitchFamily="18" charset="0"/>
              </a:rPr>
              <a:t>m2</a:t>
            </a:r>
            <a:endParaRPr lang="ru-RU" altLang="ru-RU" sz="2800" b="1" smtClean="0">
              <a:latin typeface="Times New Roman" pitchFamily="18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ru-RU" sz="2800" b="1" smtClean="0">
                <a:latin typeface="Times New Roman" pitchFamily="18" charset="0"/>
              </a:rPr>
              <a:t>m1</a:t>
            </a:r>
            <a:r>
              <a:rPr lang="ru-RU" altLang="ru-RU" sz="2800" b="1" smtClean="0">
                <a:latin typeface="Times New Roman" pitchFamily="18" charset="0"/>
              </a:rPr>
              <a:t> </a:t>
            </a:r>
            <a:r>
              <a:rPr lang="ru-RU" altLang="ru-RU" sz="2800" smtClean="0">
                <a:latin typeface="Times New Roman" pitchFamily="18" charset="0"/>
              </a:rPr>
              <a:t>– запись в ОПС операции выделения памяти одномерному массиву.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ru-RU" sz="2800" b="1" smtClean="0">
                <a:latin typeface="Times New Roman" pitchFamily="18" charset="0"/>
              </a:rPr>
              <a:t>m</a:t>
            </a:r>
            <a:r>
              <a:rPr lang="ru-RU" altLang="ru-RU" sz="2800" b="1" smtClean="0">
                <a:latin typeface="Times New Roman" pitchFamily="18" charset="0"/>
              </a:rPr>
              <a:t>2 </a:t>
            </a:r>
            <a:r>
              <a:rPr lang="ru-RU" altLang="ru-RU" sz="2800" smtClean="0">
                <a:latin typeface="Times New Roman" pitchFamily="18" charset="0"/>
              </a:rPr>
              <a:t>– запись в ОПС операции выделения памяти двумерному массиву.</a:t>
            </a:r>
          </a:p>
        </p:txBody>
      </p:sp>
      <p:sp>
        <p:nvSpPr>
          <p:cNvPr id="20484" name="Номер слайда 1"/>
          <p:cNvSpPr txBox="1">
            <a:spLocks noGrp="1"/>
          </p:cNvSpPr>
          <p:nvPr/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232EDEA1-145C-44B6-A74E-FDDF3570045A}" type="slidenum">
              <a:rPr lang="ru-RU" altLang="ru-RU" sz="1400"/>
              <a:pPr algn="r" eaLnBrk="1" hangingPunct="1">
                <a:spcBef>
                  <a:spcPct val="0"/>
                </a:spcBef>
                <a:buFontTx/>
                <a:buNone/>
              </a:pPr>
              <a:t>19</a:t>
            </a:fld>
            <a:endParaRPr lang="ru-RU" altLang="ru-RU" sz="1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15888"/>
            <a:ext cx="8229600" cy="936625"/>
          </a:xfrm>
        </p:spPr>
        <p:txBody>
          <a:bodyPr/>
          <a:lstStyle/>
          <a:p>
            <a:r>
              <a:rPr lang="ru-RU" altLang="ru-RU" sz="3200" b="1" smtClean="0">
                <a:solidFill>
                  <a:schemeClr val="accent2"/>
                </a:solidFill>
              </a:rPr>
              <a:t>Выполнение операций </a:t>
            </a:r>
            <a:r>
              <a:rPr lang="en-US" altLang="ru-RU" sz="3200" b="1" smtClean="0">
                <a:solidFill>
                  <a:schemeClr val="accent2"/>
                </a:solidFill>
                <a:latin typeface="Times New Roman" pitchFamily="18" charset="0"/>
              </a:rPr>
              <a:t>m</a:t>
            </a:r>
            <a:r>
              <a:rPr lang="ru-RU" altLang="ru-RU" sz="3200" b="1" smtClean="0">
                <a:solidFill>
                  <a:schemeClr val="accent2"/>
                </a:solidFill>
                <a:latin typeface="Times New Roman" pitchFamily="18" charset="0"/>
              </a:rPr>
              <a:t>1</a:t>
            </a:r>
            <a:r>
              <a:rPr lang="ru-RU" altLang="ru-RU" sz="3200" b="1" smtClean="0">
                <a:solidFill>
                  <a:schemeClr val="accent2"/>
                </a:solidFill>
              </a:rPr>
              <a:t> и </a:t>
            </a:r>
            <a:r>
              <a:rPr lang="en-US" altLang="ru-RU" sz="3200" b="1" smtClean="0">
                <a:solidFill>
                  <a:schemeClr val="accent2"/>
                </a:solidFill>
                <a:latin typeface="Times New Roman" pitchFamily="18" charset="0"/>
              </a:rPr>
              <a:t>m</a:t>
            </a:r>
            <a:r>
              <a:rPr lang="ru-RU" altLang="ru-RU" sz="3200" b="1" smtClean="0">
                <a:solidFill>
                  <a:schemeClr val="accent2"/>
                </a:solidFill>
                <a:latin typeface="Times New Roman" pitchFamily="18" charset="0"/>
              </a:rPr>
              <a:t>2 </a:t>
            </a:r>
            <a:r>
              <a:rPr lang="ru-RU" altLang="ru-RU" sz="3200" b="1" smtClean="0">
                <a:solidFill>
                  <a:schemeClr val="accent2"/>
                </a:solidFill>
              </a:rPr>
              <a:t>при работе интерпретатора</a:t>
            </a:r>
            <a:r>
              <a:rPr lang="ru-RU" altLang="ru-RU" sz="3200" smtClean="0">
                <a:latin typeface="Times New Roman" pitchFamily="18" charset="0"/>
              </a:rPr>
              <a:t> 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341438"/>
            <a:ext cx="8435975" cy="5183187"/>
          </a:xfrm>
        </p:spPr>
        <p:txBody>
          <a:bodyPr/>
          <a:lstStyle/>
          <a:p>
            <a:pPr marL="609600" indent="-609600" eaLnBrk="1" hangingPunct="1">
              <a:lnSpc>
                <a:spcPct val="80000"/>
              </a:lnSpc>
              <a:buFontTx/>
              <a:buNone/>
            </a:pPr>
            <a:r>
              <a:rPr lang="en-US" altLang="ru-RU" sz="2400" b="1" smtClean="0">
                <a:latin typeface="Times New Roman" pitchFamily="18" charset="0"/>
              </a:rPr>
              <a:t>m1</a:t>
            </a:r>
            <a:r>
              <a:rPr lang="ru-RU" altLang="ru-RU" sz="2400" b="1" smtClean="0">
                <a:latin typeface="Times New Roman" pitchFamily="18" charset="0"/>
              </a:rPr>
              <a:t> </a:t>
            </a:r>
            <a:r>
              <a:rPr lang="ru-RU" altLang="ru-RU" sz="2400" smtClean="0">
                <a:latin typeface="Times New Roman" pitchFamily="18" charset="0"/>
              </a:rPr>
              <a:t>– требует двух операндов: </a:t>
            </a:r>
          </a:p>
          <a:p>
            <a:pPr marL="609600" indent="-609600" eaLnBrk="1" hangingPunct="1">
              <a:lnSpc>
                <a:spcPct val="80000"/>
              </a:lnSpc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        1) ссылка на паспорт массива, </a:t>
            </a:r>
          </a:p>
          <a:p>
            <a:pPr marL="609600" indent="-609600" eaLnBrk="1" hangingPunct="1">
              <a:lnSpc>
                <a:spcPct val="80000"/>
              </a:lnSpc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        2) количество элементов в массиве.</a:t>
            </a:r>
          </a:p>
          <a:p>
            <a:pPr marL="609600" indent="-609600" eaLnBrk="1" hangingPunct="1">
              <a:lnSpc>
                <a:spcPct val="80000"/>
              </a:lnSpc>
              <a:buFontTx/>
              <a:buNone/>
            </a:pPr>
            <a:r>
              <a:rPr lang="en-US" altLang="ru-RU" sz="2400" b="1" smtClean="0">
                <a:latin typeface="Times New Roman" pitchFamily="18" charset="0"/>
              </a:rPr>
              <a:t>m</a:t>
            </a:r>
            <a:r>
              <a:rPr lang="ru-RU" altLang="ru-RU" sz="2400" b="1" smtClean="0">
                <a:latin typeface="Times New Roman" pitchFamily="18" charset="0"/>
              </a:rPr>
              <a:t>2 </a:t>
            </a:r>
            <a:r>
              <a:rPr lang="ru-RU" altLang="ru-RU" sz="2400" smtClean="0">
                <a:latin typeface="Times New Roman" pitchFamily="18" charset="0"/>
              </a:rPr>
              <a:t>– требует трёх операндов: </a:t>
            </a:r>
          </a:p>
          <a:p>
            <a:pPr marL="609600" indent="-609600" eaLnBrk="1" hangingPunct="1">
              <a:lnSpc>
                <a:spcPct val="80000"/>
              </a:lnSpc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        1) ссылка на паспорт массива, </a:t>
            </a:r>
          </a:p>
          <a:p>
            <a:pPr marL="609600" indent="-609600" eaLnBrk="1" hangingPunct="1">
              <a:lnSpc>
                <a:spcPct val="80000"/>
              </a:lnSpc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        2) количество строк в массиве,</a:t>
            </a:r>
          </a:p>
          <a:p>
            <a:pPr marL="609600" indent="-609600" eaLnBrk="1" hangingPunct="1">
              <a:lnSpc>
                <a:spcPct val="80000"/>
              </a:lnSpc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        3) количество и  элементов в строках массива.</a:t>
            </a:r>
            <a:endParaRPr lang="ru-RU" altLang="ru-RU" sz="2400" smtClean="0"/>
          </a:p>
          <a:p>
            <a:pPr marL="609600" indent="-609600" eaLnBrk="1" hangingPunct="1">
              <a:lnSpc>
                <a:spcPct val="80000"/>
              </a:lnSpc>
              <a:buFontTx/>
              <a:buNone/>
            </a:pPr>
            <a:r>
              <a:rPr lang="ru-RU" altLang="ru-RU" sz="2400" b="1" smtClean="0">
                <a:solidFill>
                  <a:schemeClr val="accent2"/>
                </a:solidFill>
              </a:rPr>
              <a:t>Выполняются следующие действия: </a:t>
            </a:r>
          </a:p>
          <a:p>
            <a:pPr marL="609600" indent="-609600" eaLnBrk="1" hangingPunct="1">
              <a:lnSpc>
                <a:spcPct val="80000"/>
              </a:lnSpc>
              <a:buFontTx/>
              <a:buAutoNum type="arabicParenR"/>
            </a:pPr>
            <a:r>
              <a:rPr lang="ru-RU" altLang="ru-RU" sz="2400" smtClean="0">
                <a:latin typeface="Times New Roman" pitchFamily="18" charset="0"/>
              </a:rPr>
              <a:t>проверяется, не выделялась ли раньше память для переменной, указанной в первом операнде; </a:t>
            </a:r>
          </a:p>
          <a:p>
            <a:pPr marL="609600" indent="-609600" eaLnBrk="1" hangingPunct="1">
              <a:lnSpc>
                <a:spcPct val="80000"/>
              </a:lnSpc>
              <a:buFontTx/>
              <a:buAutoNum type="arabicParenR"/>
            </a:pPr>
            <a:r>
              <a:rPr lang="ru-RU" altLang="ru-RU" sz="2400" smtClean="0">
                <a:latin typeface="Times New Roman" pitchFamily="18" charset="0"/>
              </a:rPr>
              <a:t>Если да, то ошибка, а если нет, то выделяется (по запросу к операционной системе) требуемая память, после чего в паспорт массива записывается ссылка (адрес) на нулевой элемент массива, а также размерность по одному или двум измерениям соответственно.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908050"/>
          </a:xfrm>
        </p:spPr>
        <p:txBody>
          <a:bodyPr/>
          <a:lstStyle/>
          <a:p>
            <a:pPr eaLnBrk="1" hangingPunct="1"/>
            <a:r>
              <a:rPr lang="ru-RU" altLang="ru-RU" sz="3200" b="1" smtClean="0">
                <a:solidFill>
                  <a:schemeClr val="accent2"/>
                </a:solidFill>
                <a:latin typeface="Times New Roman" pitchFamily="18" charset="0"/>
              </a:rPr>
              <a:t>Грамматика с процедурами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836613"/>
            <a:ext cx="8507413" cy="5832475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ru-RU" altLang="ru-RU" sz="2200" smtClean="0">
                <a:latin typeface="Times New Roman" pitchFamily="18" charset="0"/>
              </a:rPr>
              <a:t>К ранее описанной грамматике для начального нетерминала </a:t>
            </a:r>
            <a:r>
              <a:rPr lang="en-US" altLang="ru-RU" sz="2200" i="1" smtClean="0">
                <a:latin typeface="Times New Roman" pitchFamily="18" charset="0"/>
              </a:rPr>
              <a:t>P</a:t>
            </a:r>
            <a:r>
              <a:rPr lang="en-US" altLang="ru-RU" sz="2200" smtClean="0">
                <a:latin typeface="Times New Roman" pitchFamily="18" charset="0"/>
              </a:rPr>
              <a:t> </a:t>
            </a:r>
            <a:r>
              <a:rPr lang="ru-RU" altLang="ru-RU" sz="2200" smtClean="0">
                <a:latin typeface="Times New Roman" pitchFamily="18" charset="0"/>
              </a:rPr>
              <a:t>добавляется еще один вариант порождения - описание процедуры:</a:t>
            </a:r>
          </a:p>
          <a:p>
            <a:pPr eaLnBrk="1" hangingPunct="1">
              <a:buFontTx/>
              <a:buNone/>
            </a:pPr>
            <a:r>
              <a:rPr lang="ru-RU" altLang="ru-RU" sz="2400" i="1" smtClean="0">
                <a:latin typeface="Times New Roman" pitchFamily="18" charset="0"/>
              </a:rPr>
              <a:t>	        </a:t>
            </a:r>
            <a:r>
              <a:rPr lang="en-US" altLang="ru-RU" sz="2400" i="1" smtClean="0">
                <a:latin typeface="Times New Roman" pitchFamily="18" charset="0"/>
              </a:rPr>
              <a:t>P</a:t>
            </a:r>
            <a:r>
              <a:rPr lang="en-US" altLang="ru-RU" sz="2400" smtClean="0">
                <a:latin typeface="Times New Roman" pitchFamily="18" charset="0"/>
              </a:rPr>
              <a:t> → </a:t>
            </a:r>
            <a:r>
              <a:rPr lang="en-US" altLang="ru-RU" sz="2400" b="1" smtClean="0">
                <a:latin typeface="Times New Roman" pitchFamily="18" charset="0"/>
              </a:rPr>
              <a:t>proc</a:t>
            </a:r>
            <a:r>
              <a:rPr lang="en-US" altLang="ru-RU" sz="2400" smtClean="0">
                <a:latin typeface="Times New Roman" pitchFamily="18" charset="0"/>
              </a:rPr>
              <a:t> </a:t>
            </a:r>
            <a:r>
              <a:rPr lang="en-US" altLang="ru-RU" sz="2400" i="1" smtClean="0">
                <a:latin typeface="Times New Roman" pitchFamily="18" charset="0"/>
              </a:rPr>
              <a:t>a </a:t>
            </a:r>
            <a:r>
              <a:rPr lang="en-US" altLang="ru-RU" sz="2400" smtClean="0">
                <a:latin typeface="Times New Roman" pitchFamily="18" charset="0"/>
              </a:rPr>
              <a:t>(</a:t>
            </a:r>
            <a:r>
              <a:rPr lang="en-US" altLang="ru-RU" sz="2400" i="1" smtClean="0">
                <a:latin typeface="Times New Roman" pitchFamily="18" charset="0"/>
              </a:rPr>
              <a:t>O</a:t>
            </a:r>
            <a:r>
              <a:rPr lang="en-US" altLang="ru-RU" sz="2400" smtClean="0">
                <a:latin typeface="Times New Roman" pitchFamily="18" charset="0"/>
              </a:rPr>
              <a:t>) </a:t>
            </a:r>
            <a:r>
              <a:rPr lang="en-US" altLang="ru-RU" sz="2400" i="1" smtClean="0">
                <a:latin typeface="Times New Roman" pitchFamily="18" charset="0"/>
              </a:rPr>
              <a:t>I</a:t>
            </a:r>
            <a:r>
              <a:rPr lang="en-US" altLang="ru-RU" sz="2400" b="1" smtClean="0">
                <a:latin typeface="Times New Roman" pitchFamily="18" charset="0"/>
              </a:rPr>
              <a:t> ; </a:t>
            </a:r>
            <a:r>
              <a:rPr lang="en-US" altLang="ru-RU" sz="2400" i="1" smtClean="0">
                <a:latin typeface="Times New Roman" pitchFamily="18" charset="0"/>
              </a:rPr>
              <a:t>P</a:t>
            </a:r>
          </a:p>
          <a:p>
            <a:pPr eaLnBrk="1" hangingPunct="1">
              <a:buFontTx/>
              <a:buNone/>
            </a:pPr>
            <a:r>
              <a:rPr lang="ru-RU" altLang="ru-RU" sz="2400" i="1" smtClean="0">
                <a:latin typeface="Times New Roman" pitchFamily="18" charset="0"/>
              </a:rPr>
              <a:t>	        </a:t>
            </a:r>
            <a:r>
              <a:rPr lang="en-US" altLang="ru-RU" sz="2400" i="1" smtClean="0">
                <a:latin typeface="Times New Roman" pitchFamily="18" charset="0"/>
              </a:rPr>
              <a:t>O</a:t>
            </a:r>
            <a:r>
              <a:rPr lang="en-US" altLang="ru-RU" sz="2400" smtClean="0">
                <a:latin typeface="Times New Roman" pitchFamily="18" charset="0"/>
              </a:rPr>
              <a:t> </a:t>
            </a:r>
            <a:r>
              <a:rPr lang="ru-RU" altLang="ru-RU" sz="2400" smtClean="0">
                <a:latin typeface="Times New Roman" pitchFamily="18" charset="0"/>
              </a:rPr>
              <a:t>→</a:t>
            </a:r>
            <a:r>
              <a:rPr lang="en-US" altLang="ru-RU" sz="2400" b="1" smtClean="0">
                <a:latin typeface="Times New Roman" pitchFamily="18" charset="0"/>
              </a:rPr>
              <a:t> int</a:t>
            </a:r>
            <a:r>
              <a:rPr lang="en-US" altLang="ru-RU" sz="2400" smtClean="0">
                <a:latin typeface="Times New Roman" pitchFamily="18" charset="0"/>
              </a:rPr>
              <a:t> </a:t>
            </a:r>
            <a:r>
              <a:rPr lang="en-US" altLang="ru-RU" sz="2400" i="1" smtClean="0">
                <a:latin typeface="Times New Roman" pitchFamily="18" charset="0"/>
              </a:rPr>
              <a:t>a W</a:t>
            </a:r>
            <a:r>
              <a:rPr lang="en-US" altLang="ru-RU" sz="2400" smtClean="0">
                <a:latin typeface="Times New Roman" pitchFamily="18" charset="0"/>
              </a:rPr>
              <a:t> | </a:t>
            </a:r>
            <a:r>
              <a:rPr lang="en-US" altLang="ru-RU" sz="2400" b="1" smtClean="0">
                <a:latin typeface="Times New Roman" pitchFamily="18" charset="0"/>
              </a:rPr>
              <a:t>int1</a:t>
            </a:r>
            <a:r>
              <a:rPr lang="en-US" altLang="ru-RU" sz="2400" smtClean="0">
                <a:latin typeface="Times New Roman" pitchFamily="18" charset="0"/>
              </a:rPr>
              <a:t> </a:t>
            </a:r>
            <a:r>
              <a:rPr lang="en-US" altLang="ru-RU" sz="2400" i="1" smtClean="0">
                <a:latin typeface="Times New Roman" pitchFamily="18" charset="0"/>
              </a:rPr>
              <a:t>a W</a:t>
            </a:r>
            <a:r>
              <a:rPr lang="en-US" altLang="ru-RU" sz="2400" smtClean="0">
                <a:latin typeface="Times New Roman" pitchFamily="18" charset="0"/>
              </a:rPr>
              <a:t> | </a:t>
            </a:r>
            <a:r>
              <a:rPr lang="en-US" altLang="ru-RU" sz="2400" b="1" smtClean="0">
                <a:latin typeface="Times New Roman" pitchFamily="18" charset="0"/>
              </a:rPr>
              <a:t>int2</a:t>
            </a:r>
            <a:r>
              <a:rPr lang="en-US" altLang="ru-RU" sz="2400" smtClean="0">
                <a:latin typeface="Times New Roman" pitchFamily="18" charset="0"/>
              </a:rPr>
              <a:t> </a:t>
            </a:r>
            <a:r>
              <a:rPr lang="en-US" altLang="ru-RU" sz="2400" i="1" smtClean="0">
                <a:latin typeface="Times New Roman" pitchFamily="18" charset="0"/>
              </a:rPr>
              <a:t>a W</a:t>
            </a:r>
            <a:r>
              <a:rPr lang="en-US" altLang="ru-RU" sz="2400" smtClean="0">
                <a:latin typeface="Times New Roman" pitchFamily="18" charset="0"/>
              </a:rPr>
              <a:t> | λ</a:t>
            </a:r>
            <a:endParaRPr lang="en-US" altLang="ru-RU" sz="2400" i="1" smtClean="0">
              <a:latin typeface="Times New Roman" pitchFamily="18" charset="0"/>
            </a:endParaRPr>
          </a:p>
          <a:p>
            <a:pPr eaLnBrk="1" hangingPunct="1">
              <a:buFontTx/>
              <a:buNone/>
            </a:pPr>
            <a:r>
              <a:rPr lang="ru-RU" altLang="ru-RU" sz="2400" i="1" smtClean="0">
                <a:latin typeface="Times New Roman" pitchFamily="18" charset="0"/>
              </a:rPr>
              <a:t>	        </a:t>
            </a:r>
            <a:r>
              <a:rPr lang="en-US" altLang="ru-RU" sz="2400" i="1" smtClean="0">
                <a:latin typeface="Times New Roman" pitchFamily="18" charset="0"/>
              </a:rPr>
              <a:t>W</a:t>
            </a:r>
            <a:r>
              <a:rPr lang="ru-RU" altLang="ru-RU" sz="2400" smtClean="0">
                <a:latin typeface="Times New Roman" pitchFamily="18" charset="0"/>
              </a:rPr>
              <a:t> → , </a:t>
            </a:r>
            <a:r>
              <a:rPr lang="en-US" altLang="ru-RU" sz="2400" i="1" smtClean="0">
                <a:latin typeface="Times New Roman" pitchFamily="18" charset="0"/>
              </a:rPr>
              <a:t>O</a:t>
            </a:r>
            <a:r>
              <a:rPr lang="ru-RU" altLang="ru-RU" sz="2400" smtClean="0">
                <a:latin typeface="Times New Roman" pitchFamily="18" charset="0"/>
              </a:rPr>
              <a:t> | </a:t>
            </a:r>
            <a:r>
              <a:rPr lang="en-US" altLang="ru-RU" sz="2400" smtClean="0">
                <a:latin typeface="Times New Roman" pitchFamily="18" charset="0"/>
              </a:rPr>
              <a:t>λ</a:t>
            </a:r>
          </a:p>
          <a:p>
            <a:pPr eaLnBrk="1" hangingPunct="1">
              <a:buFontTx/>
              <a:buNone/>
            </a:pPr>
            <a:r>
              <a:rPr lang="en-US" altLang="ru-RU" sz="2400" i="1" smtClean="0">
                <a:latin typeface="Times New Roman" pitchFamily="18" charset="0"/>
              </a:rPr>
              <a:t>    </a:t>
            </a:r>
            <a:r>
              <a:rPr lang="ru-RU" altLang="ru-RU" sz="2400" i="1" smtClean="0">
                <a:latin typeface="Times New Roman" pitchFamily="18" charset="0"/>
              </a:rPr>
              <a:t>         </a:t>
            </a:r>
            <a:r>
              <a:rPr lang="en-US" altLang="ru-RU" sz="2400" i="1" smtClean="0">
                <a:latin typeface="Times New Roman" pitchFamily="18" charset="0"/>
              </a:rPr>
              <a:t>I</a:t>
            </a:r>
            <a:r>
              <a:rPr lang="en-US" altLang="ru-RU" sz="2400" smtClean="0">
                <a:latin typeface="Times New Roman" pitchFamily="18" charset="0"/>
              </a:rPr>
              <a:t> </a:t>
            </a:r>
            <a:r>
              <a:rPr lang="ru-RU" altLang="ru-RU" sz="2400" smtClean="0">
                <a:latin typeface="Times New Roman" pitchFamily="18" charset="0"/>
              </a:rPr>
              <a:t>→</a:t>
            </a:r>
            <a:r>
              <a:rPr lang="en-US" altLang="ru-RU" sz="2400" b="1" smtClean="0">
                <a:latin typeface="Times New Roman" pitchFamily="18" charset="0"/>
              </a:rPr>
              <a:t> int</a:t>
            </a:r>
            <a:r>
              <a:rPr lang="en-US" altLang="ru-RU" sz="2400" smtClean="0">
                <a:latin typeface="Times New Roman" pitchFamily="18" charset="0"/>
              </a:rPr>
              <a:t> </a:t>
            </a:r>
            <a:r>
              <a:rPr lang="en-US" altLang="ru-RU" sz="2400" i="1" smtClean="0">
                <a:latin typeface="Times New Roman" pitchFamily="18" charset="0"/>
              </a:rPr>
              <a:t>a </a:t>
            </a:r>
            <a:r>
              <a:rPr lang="en-US" altLang="ru-RU" sz="2400" b="1" smtClean="0">
                <a:latin typeface="Times New Roman" pitchFamily="18" charset="0"/>
              </a:rPr>
              <a:t>;</a:t>
            </a:r>
            <a:r>
              <a:rPr lang="en-US" altLang="ru-RU" sz="2400" i="1" smtClean="0">
                <a:latin typeface="Times New Roman" pitchFamily="18" charset="0"/>
              </a:rPr>
              <a:t> I</a:t>
            </a:r>
            <a:r>
              <a:rPr lang="en-US" altLang="ru-RU" sz="2400" smtClean="0">
                <a:latin typeface="Times New Roman" pitchFamily="18" charset="0"/>
              </a:rPr>
              <a:t> | </a:t>
            </a:r>
            <a:r>
              <a:rPr lang="en-US" altLang="ru-RU" sz="2400" b="1" smtClean="0">
                <a:latin typeface="Times New Roman" pitchFamily="18" charset="0"/>
              </a:rPr>
              <a:t>int1</a:t>
            </a:r>
            <a:r>
              <a:rPr lang="en-US" altLang="ru-RU" sz="2400" smtClean="0">
                <a:latin typeface="Times New Roman" pitchFamily="18" charset="0"/>
              </a:rPr>
              <a:t> </a:t>
            </a:r>
            <a:r>
              <a:rPr lang="en-US" altLang="ru-RU" sz="2400" i="1" smtClean="0">
                <a:latin typeface="Times New Roman" pitchFamily="18" charset="0"/>
              </a:rPr>
              <a:t>a </a:t>
            </a:r>
            <a:r>
              <a:rPr lang="en-US" altLang="ru-RU" sz="2400" b="1" smtClean="0">
                <a:latin typeface="Times New Roman" pitchFamily="18" charset="0"/>
              </a:rPr>
              <a:t>; </a:t>
            </a:r>
            <a:r>
              <a:rPr lang="en-US" altLang="ru-RU" sz="2400" i="1" smtClean="0">
                <a:latin typeface="Times New Roman" pitchFamily="18" charset="0"/>
              </a:rPr>
              <a:t>I</a:t>
            </a:r>
            <a:r>
              <a:rPr lang="en-US" altLang="ru-RU" sz="2400" smtClean="0">
                <a:latin typeface="Times New Roman" pitchFamily="18" charset="0"/>
              </a:rPr>
              <a:t> | </a:t>
            </a:r>
            <a:r>
              <a:rPr lang="en-US" altLang="ru-RU" sz="2400" b="1" smtClean="0">
                <a:latin typeface="Times New Roman" pitchFamily="18" charset="0"/>
              </a:rPr>
              <a:t>int2</a:t>
            </a:r>
            <a:r>
              <a:rPr lang="en-US" altLang="ru-RU" sz="2400" smtClean="0">
                <a:latin typeface="Times New Roman" pitchFamily="18" charset="0"/>
              </a:rPr>
              <a:t> </a:t>
            </a:r>
            <a:r>
              <a:rPr lang="en-US" altLang="ru-RU" sz="2400" i="1" smtClean="0">
                <a:latin typeface="Times New Roman" pitchFamily="18" charset="0"/>
              </a:rPr>
              <a:t>a</a:t>
            </a:r>
            <a:r>
              <a:rPr lang="en-US" altLang="ru-RU" sz="2400" b="1" smtClean="0">
                <a:latin typeface="Times New Roman" pitchFamily="18" charset="0"/>
              </a:rPr>
              <a:t> ;</a:t>
            </a:r>
            <a:r>
              <a:rPr lang="en-US" altLang="ru-RU" sz="2400" i="1" smtClean="0">
                <a:latin typeface="Times New Roman" pitchFamily="18" charset="0"/>
              </a:rPr>
              <a:t> I</a:t>
            </a:r>
            <a:r>
              <a:rPr lang="en-US" altLang="ru-RU" sz="2400" smtClean="0">
                <a:latin typeface="Times New Roman" pitchFamily="18" charset="0"/>
              </a:rPr>
              <a:t> | </a:t>
            </a:r>
            <a:r>
              <a:rPr lang="en-US" altLang="ru-RU" sz="2400" b="1" smtClean="0">
                <a:latin typeface="Times New Roman" pitchFamily="18" charset="0"/>
              </a:rPr>
              <a:t>begin</a:t>
            </a:r>
            <a:r>
              <a:rPr lang="en-US" altLang="ru-RU" sz="2400" smtClean="0">
                <a:latin typeface="Times New Roman" pitchFamily="18" charset="0"/>
              </a:rPr>
              <a:t> </a:t>
            </a:r>
            <a:r>
              <a:rPr lang="en-US" altLang="ru-RU" sz="2400" i="1" smtClean="0">
                <a:latin typeface="Times New Roman" pitchFamily="18" charset="0"/>
              </a:rPr>
              <a:t>A Q </a:t>
            </a:r>
            <a:r>
              <a:rPr lang="en-US" altLang="ru-RU" sz="2400" b="1" smtClean="0">
                <a:latin typeface="Times New Roman" pitchFamily="18" charset="0"/>
              </a:rPr>
              <a:t>end</a:t>
            </a:r>
            <a:endParaRPr lang="ru-RU" altLang="ru-RU" sz="2400" smtClean="0">
              <a:latin typeface="Times New Roman" pitchFamily="18" charset="0"/>
            </a:endParaRPr>
          </a:p>
          <a:p>
            <a:pPr eaLnBrk="1" hangingPunct="1">
              <a:buFontTx/>
              <a:buNone/>
            </a:pPr>
            <a:r>
              <a:rPr lang="ru-RU" altLang="ru-RU" sz="2200" smtClean="0">
                <a:latin typeface="Times New Roman" pitchFamily="18" charset="0"/>
              </a:rPr>
              <a:t>Вызов процедуры определяется еще одним вариантом порождения нетерминала </a:t>
            </a:r>
            <a:r>
              <a:rPr lang="ru-RU" altLang="ru-RU" sz="2200" i="1" smtClean="0">
                <a:latin typeface="Times New Roman" pitchFamily="18" charset="0"/>
              </a:rPr>
              <a:t>А</a:t>
            </a:r>
            <a:r>
              <a:rPr lang="ru-RU" altLang="ru-RU" sz="2200" smtClean="0">
                <a:latin typeface="Times New Roman" pitchFamily="18" charset="0"/>
              </a:rPr>
              <a:t>:</a:t>
            </a:r>
            <a:endParaRPr lang="en-US" altLang="ru-RU" sz="2200" i="1" smtClean="0">
              <a:latin typeface="Times New Roman" pitchFamily="18" charset="0"/>
            </a:endParaRPr>
          </a:p>
          <a:p>
            <a:pPr eaLnBrk="1" hangingPunct="1">
              <a:buFontTx/>
              <a:buNone/>
            </a:pPr>
            <a:r>
              <a:rPr lang="ru-RU" altLang="ru-RU" sz="2400" i="1" smtClean="0">
                <a:latin typeface="Times New Roman" pitchFamily="18" charset="0"/>
              </a:rPr>
              <a:t>		</a:t>
            </a:r>
            <a:r>
              <a:rPr lang="en-US" altLang="ru-RU" sz="2400" i="1" smtClean="0">
                <a:latin typeface="Times New Roman" pitchFamily="18" charset="0"/>
              </a:rPr>
              <a:t>A </a:t>
            </a:r>
            <a:r>
              <a:rPr lang="en-US" altLang="ru-RU" sz="2400" smtClean="0">
                <a:latin typeface="Times New Roman" pitchFamily="18" charset="0"/>
              </a:rPr>
              <a:t>→</a:t>
            </a:r>
            <a:r>
              <a:rPr lang="en-US" altLang="ru-RU" sz="2400" i="1" smtClean="0">
                <a:latin typeface="Times New Roman" pitchFamily="18" charset="0"/>
              </a:rPr>
              <a:t> a </a:t>
            </a:r>
            <a:r>
              <a:rPr lang="en-US" altLang="ru-RU" sz="2400" smtClean="0">
                <a:latin typeface="Times New Roman" pitchFamily="18" charset="0"/>
              </a:rPr>
              <a:t>(</a:t>
            </a:r>
            <a:r>
              <a:rPr lang="en-US" altLang="ru-RU" sz="2400" i="1" smtClean="0">
                <a:latin typeface="Times New Roman" pitchFamily="18" charset="0"/>
              </a:rPr>
              <a:t>L</a:t>
            </a:r>
            <a:r>
              <a:rPr lang="en-US" altLang="ru-RU" sz="2400" smtClean="0">
                <a:latin typeface="Times New Roman" pitchFamily="18" charset="0"/>
              </a:rPr>
              <a:t>)</a:t>
            </a:r>
            <a:r>
              <a:rPr lang="ru-RU" altLang="ru-RU" sz="2400" smtClean="0">
                <a:latin typeface="Times New Roman" pitchFamily="18" charset="0"/>
              </a:rPr>
              <a:t> </a:t>
            </a:r>
            <a:endParaRPr lang="en-US" altLang="ru-RU" sz="2400" i="1" smtClean="0">
              <a:latin typeface="Times New Roman" pitchFamily="18" charset="0"/>
            </a:endParaRPr>
          </a:p>
          <a:p>
            <a:pPr eaLnBrk="1" hangingPunct="1">
              <a:buFontTx/>
              <a:buNone/>
            </a:pPr>
            <a:r>
              <a:rPr lang="en-US" altLang="ru-RU" sz="2400" i="1" smtClean="0">
                <a:latin typeface="Times New Roman" pitchFamily="18" charset="0"/>
              </a:rPr>
              <a:t>		L </a:t>
            </a:r>
            <a:r>
              <a:rPr lang="en-US" altLang="ru-RU" sz="2400" smtClean="0">
                <a:latin typeface="Times New Roman" pitchFamily="18" charset="0"/>
              </a:rPr>
              <a:t>→ </a:t>
            </a:r>
            <a:r>
              <a:rPr lang="en-US" altLang="ru-RU" sz="2400" i="1" smtClean="0">
                <a:latin typeface="Times New Roman" pitchFamily="18" charset="0"/>
              </a:rPr>
              <a:t>S J</a:t>
            </a:r>
            <a:r>
              <a:rPr lang="en-US" altLang="ru-RU" sz="2400" smtClean="0">
                <a:latin typeface="Times New Roman" pitchFamily="18" charset="0"/>
              </a:rPr>
              <a:t> </a:t>
            </a:r>
            <a:r>
              <a:rPr lang="pt-BR" altLang="ru-RU" sz="2400" smtClean="0">
                <a:latin typeface="Times New Roman" pitchFamily="18" charset="0"/>
              </a:rPr>
              <a:t>| </a:t>
            </a:r>
            <a:r>
              <a:rPr lang="en-US" altLang="ru-RU" sz="2400" smtClean="0">
                <a:latin typeface="Times New Roman" pitchFamily="18" charset="0"/>
              </a:rPr>
              <a:t>λ</a:t>
            </a:r>
            <a:endParaRPr lang="ru-RU" altLang="ru-RU" sz="2400" smtClean="0">
              <a:latin typeface="Times New Roman" pitchFamily="18" charset="0"/>
            </a:endParaRPr>
          </a:p>
          <a:p>
            <a:pPr eaLnBrk="1" hangingPunct="1">
              <a:buFontTx/>
              <a:buNone/>
            </a:pPr>
            <a:r>
              <a:rPr lang="ru-RU" altLang="ru-RU" sz="2400" i="1" smtClean="0">
                <a:latin typeface="Times New Roman" pitchFamily="18" charset="0"/>
              </a:rPr>
              <a:t>		</a:t>
            </a:r>
            <a:r>
              <a:rPr lang="en-US" altLang="ru-RU" sz="2400" i="1" smtClean="0">
                <a:latin typeface="Times New Roman" pitchFamily="18" charset="0"/>
              </a:rPr>
              <a:t>J </a:t>
            </a:r>
            <a:r>
              <a:rPr lang="en-US" altLang="ru-RU" sz="2400" smtClean="0">
                <a:latin typeface="Times New Roman" pitchFamily="18" charset="0"/>
              </a:rPr>
              <a:t>→ ,</a:t>
            </a:r>
            <a:r>
              <a:rPr lang="en-US" altLang="ru-RU" sz="2400" i="1" smtClean="0">
                <a:latin typeface="Times New Roman" pitchFamily="18" charset="0"/>
              </a:rPr>
              <a:t> S J</a:t>
            </a:r>
            <a:r>
              <a:rPr lang="en-US" altLang="ru-RU" sz="2400" smtClean="0">
                <a:latin typeface="Times New Roman" pitchFamily="18" charset="0"/>
              </a:rPr>
              <a:t> </a:t>
            </a:r>
            <a:r>
              <a:rPr lang="pt-BR" altLang="ru-RU" sz="2400" smtClean="0">
                <a:latin typeface="Times New Roman" pitchFamily="18" charset="0"/>
              </a:rPr>
              <a:t>| </a:t>
            </a:r>
            <a:r>
              <a:rPr lang="en-US" altLang="ru-RU" sz="2400" smtClean="0">
                <a:latin typeface="Times New Roman" pitchFamily="18" charset="0"/>
              </a:rPr>
              <a:t>λ</a:t>
            </a:r>
          </a:p>
          <a:p>
            <a:pPr eaLnBrk="1" hangingPunct="1">
              <a:buFontTx/>
              <a:buNone/>
            </a:pPr>
            <a:r>
              <a:rPr lang="ru-RU" altLang="ru-RU" sz="2200" smtClean="0">
                <a:latin typeface="Times New Roman" pitchFamily="18" charset="0"/>
              </a:rPr>
              <a:t>Этот вариант порождения нетерминала </a:t>
            </a:r>
            <a:r>
              <a:rPr lang="ru-RU" altLang="ru-RU" sz="2200" i="1" smtClean="0">
                <a:latin typeface="Times New Roman" pitchFamily="18" charset="0"/>
              </a:rPr>
              <a:t>А</a:t>
            </a:r>
            <a:r>
              <a:rPr lang="ru-RU" altLang="ru-RU" sz="2200" smtClean="0">
                <a:latin typeface="Times New Roman" pitchFamily="18" charset="0"/>
              </a:rPr>
              <a:t> неразличим по первому терминальному символу с порождением оператора присваивания,</a:t>
            </a:r>
            <a:r>
              <a:rPr lang="en-US" altLang="ru-RU" sz="2200" smtClean="0">
                <a:latin typeface="Times New Roman" pitchFamily="18" charset="0"/>
              </a:rPr>
              <a:t> </a:t>
            </a:r>
            <a:r>
              <a:rPr lang="ru-RU" altLang="ru-RU" sz="2200" smtClean="0">
                <a:latin typeface="Times New Roman" pitchFamily="18" charset="0"/>
              </a:rPr>
              <a:t>поэтому требуется преобразование «факторизация».</a:t>
            </a:r>
            <a:endParaRPr lang="ru-RU" altLang="ru-RU" sz="2400" smtClean="0">
              <a:latin typeface="Times New Roman" pitchFamily="18" charset="0"/>
            </a:endParaRPr>
          </a:p>
        </p:txBody>
      </p:sp>
      <p:sp>
        <p:nvSpPr>
          <p:cNvPr id="22532" name="Номер слайда 1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8696A760-4EF6-490D-A29F-02B70955694B}" type="slidenum">
              <a:rPr lang="ru-RU" altLang="ru-RU" sz="1400" smtClean="0"/>
              <a:pPr eaLnBrk="1" hangingPunct="1">
                <a:spcBef>
                  <a:spcPct val="0"/>
                </a:spcBef>
                <a:buFontTx/>
                <a:buNone/>
              </a:pPr>
              <a:t>21</a:t>
            </a:fld>
            <a:endParaRPr lang="ru-RU" altLang="ru-RU" sz="140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0"/>
            <a:ext cx="8229600" cy="836613"/>
          </a:xfrm>
        </p:spPr>
        <p:txBody>
          <a:bodyPr/>
          <a:lstStyle/>
          <a:p>
            <a:pPr eaLnBrk="1" hangingPunct="1"/>
            <a:r>
              <a:rPr lang="ru-RU" altLang="ru-RU" sz="3000" b="1" smtClean="0">
                <a:solidFill>
                  <a:schemeClr val="accent2"/>
                </a:solidFill>
                <a:latin typeface="Times New Roman" pitchFamily="18" charset="0"/>
              </a:rPr>
              <a:t>Правила грамматики после факторизации</a:t>
            </a:r>
          </a:p>
        </p:txBody>
      </p:sp>
      <p:sp>
        <p:nvSpPr>
          <p:cNvPr id="5939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250825" y="765175"/>
            <a:ext cx="8785225" cy="5876925"/>
          </a:xfrm>
        </p:spPr>
        <p:txBody>
          <a:bodyPr/>
          <a:lstStyle/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  <a:defRPr/>
            </a:pPr>
            <a:r>
              <a:rPr lang="ru-RU" altLang="ru-RU" sz="2400" dirty="0" smtClean="0">
                <a:latin typeface="Times New Roman" pitchFamily="18" charset="0"/>
              </a:rPr>
              <a:t>Вместо порождающих правил: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  <a:defRPr/>
            </a:pPr>
            <a:r>
              <a:rPr lang="ru-RU" altLang="ru-RU" sz="2400" dirty="0" smtClean="0">
                <a:latin typeface="Times New Roman" pitchFamily="18" charset="0"/>
              </a:rPr>
              <a:t> </a:t>
            </a:r>
            <a:r>
              <a:rPr lang="ru-RU" altLang="ru-RU" sz="2400" i="1" dirty="0" smtClean="0">
                <a:latin typeface="Times New Roman" pitchFamily="18" charset="0"/>
              </a:rPr>
              <a:t>			</a:t>
            </a:r>
            <a:r>
              <a:rPr lang="en-US" altLang="ru-RU" sz="2400" i="1" dirty="0" smtClean="0">
                <a:latin typeface="Times New Roman" pitchFamily="18" charset="0"/>
              </a:rPr>
              <a:t>A </a:t>
            </a:r>
            <a:r>
              <a:rPr lang="en-US" altLang="ru-RU" sz="2400" dirty="0" smtClean="0">
                <a:latin typeface="Times New Roman" pitchFamily="18" charset="0"/>
              </a:rPr>
              <a:t>→</a:t>
            </a:r>
            <a:r>
              <a:rPr lang="en-US" altLang="ru-RU" sz="2400" i="1" dirty="0" smtClean="0">
                <a:latin typeface="Times New Roman" pitchFamily="18" charset="0"/>
              </a:rPr>
              <a:t> </a:t>
            </a:r>
            <a:r>
              <a:rPr lang="en-US" altLang="ru-RU" sz="2400" i="1" dirty="0" err="1" smtClean="0">
                <a:latin typeface="Times New Roman" pitchFamily="18" charset="0"/>
              </a:rPr>
              <a:t>aH</a:t>
            </a:r>
            <a:r>
              <a:rPr lang="en-US" altLang="ru-RU" sz="2400" i="1" dirty="0" smtClean="0">
                <a:latin typeface="Times New Roman" pitchFamily="18" charset="0"/>
              </a:rPr>
              <a:t> </a:t>
            </a:r>
            <a:r>
              <a:rPr lang="en-US" altLang="ru-RU" sz="2400" dirty="0" smtClean="0">
                <a:latin typeface="Times New Roman" pitchFamily="18" charset="0"/>
              </a:rPr>
              <a:t>:</a:t>
            </a:r>
            <a:r>
              <a:rPr lang="ru-RU" altLang="ru-RU" sz="2400" dirty="0" smtClean="0">
                <a:latin typeface="Times New Roman" pitchFamily="18" charset="0"/>
              </a:rPr>
              <a:t>=</a:t>
            </a:r>
            <a:r>
              <a:rPr lang="en-US" altLang="ru-RU" sz="2400" i="1" dirty="0" smtClean="0">
                <a:latin typeface="Times New Roman" pitchFamily="18" charset="0"/>
              </a:rPr>
              <a:t> SZ</a:t>
            </a:r>
            <a:r>
              <a:rPr lang="ru-RU" altLang="ru-RU" sz="2400" dirty="0" smtClean="0">
                <a:latin typeface="Times New Roman" pitchFamily="18" charset="0"/>
              </a:rPr>
              <a:t> |</a:t>
            </a:r>
            <a:r>
              <a:rPr lang="en-US" altLang="ru-RU" sz="2400" dirty="0" smtClean="0"/>
              <a:t> </a:t>
            </a:r>
            <a:r>
              <a:rPr lang="en-US" altLang="ru-RU" sz="2400" i="1" dirty="0" smtClean="0">
                <a:latin typeface="Times New Roman" pitchFamily="18" charset="0"/>
              </a:rPr>
              <a:t>a </a:t>
            </a:r>
            <a:r>
              <a:rPr lang="en-US" altLang="ru-RU" sz="2400" dirty="0" smtClean="0">
                <a:latin typeface="Times New Roman" pitchFamily="18" charset="0"/>
              </a:rPr>
              <a:t>(</a:t>
            </a:r>
            <a:r>
              <a:rPr lang="en-US" altLang="ru-RU" sz="2400" i="1" dirty="0" smtClean="0">
                <a:latin typeface="Times New Roman" pitchFamily="18" charset="0"/>
              </a:rPr>
              <a:t>L</a:t>
            </a:r>
            <a:r>
              <a:rPr lang="en-US" altLang="ru-RU" sz="2400" dirty="0" smtClean="0">
                <a:latin typeface="Times New Roman" pitchFamily="18" charset="0"/>
              </a:rPr>
              <a:t>)</a:t>
            </a:r>
            <a:endParaRPr lang="ru-RU" altLang="ru-RU" sz="2400" dirty="0" smtClean="0">
              <a:latin typeface="Times New Roman" pitchFamily="18" charset="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  <a:defRPr/>
            </a:pPr>
            <a:r>
              <a:rPr lang="ru-RU" altLang="ru-RU" sz="2400" dirty="0" smtClean="0">
                <a:latin typeface="Times New Roman" pitchFamily="18" charset="0"/>
              </a:rPr>
              <a:t>получим правила</a:t>
            </a:r>
            <a:r>
              <a:rPr lang="en-US" altLang="ru-RU" sz="2400" dirty="0" smtClean="0">
                <a:latin typeface="Times New Roman" pitchFamily="18" charset="0"/>
              </a:rPr>
              <a:t> </a:t>
            </a:r>
            <a:r>
              <a:rPr lang="ru-RU" altLang="ru-RU" sz="2400" dirty="0" smtClean="0">
                <a:latin typeface="Times New Roman" pitchFamily="18" charset="0"/>
              </a:rPr>
              <a:t>грамматики </a:t>
            </a:r>
            <a:r>
              <a:rPr lang="en-US" altLang="ru-RU" sz="2400" dirty="0" smtClean="0">
                <a:latin typeface="Times New Roman" pitchFamily="18" charset="0"/>
              </a:rPr>
              <a:t>LL(1)</a:t>
            </a:r>
            <a:r>
              <a:rPr lang="ru-RU" altLang="ru-RU" sz="2400" dirty="0" smtClean="0">
                <a:latin typeface="Times New Roman" pitchFamily="18" charset="0"/>
              </a:rPr>
              <a:t>:</a:t>
            </a:r>
            <a:endParaRPr lang="en-US" altLang="ru-RU" sz="2400" dirty="0" smtClean="0">
              <a:latin typeface="Times New Roman" pitchFamily="18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  <a:defRPr/>
            </a:pPr>
            <a:r>
              <a:rPr lang="en-US" altLang="ru-RU" sz="2400" i="1" dirty="0" smtClean="0">
                <a:latin typeface="Times New Roman" pitchFamily="18" charset="0"/>
              </a:rPr>
              <a:t>			 A </a:t>
            </a:r>
            <a:r>
              <a:rPr lang="en-US" altLang="ru-RU" sz="2400" dirty="0" smtClean="0">
                <a:latin typeface="Times New Roman" pitchFamily="18" charset="0"/>
              </a:rPr>
              <a:t>→</a:t>
            </a:r>
            <a:r>
              <a:rPr lang="en-US" altLang="ru-RU" sz="2400" i="1" dirty="0" smtClean="0">
                <a:latin typeface="Times New Roman" pitchFamily="18" charset="0"/>
              </a:rPr>
              <a:t> a</a:t>
            </a:r>
            <a:r>
              <a:rPr lang="ru-RU" altLang="ru-RU" sz="2400" i="1" dirty="0" smtClean="0">
                <a:latin typeface="Times New Roman" pitchFamily="18" charset="0"/>
              </a:rPr>
              <a:t>В</a:t>
            </a:r>
          </a:p>
          <a:p>
            <a:pPr eaLnBrk="1" hangingPunct="1">
              <a:lnSpc>
                <a:spcPct val="90000"/>
              </a:lnSpc>
              <a:buFontTx/>
              <a:buNone/>
              <a:defRPr/>
            </a:pPr>
            <a:r>
              <a:rPr lang="ru-RU" altLang="ru-RU" sz="2400" i="1" dirty="0" smtClean="0">
                <a:latin typeface="Times New Roman" pitchFamily="18" charset="0"/>
              </a:rPr>
              <a:t>			</a:t>
            </a:r>
            <a:r>
              <a:rPr lang="en-US" altLang="ru-RU" sz="2400" i="1" dirty="0" smtClean="0">
                <a:latin typeface="Times New Roman" pitchFamily="18" charset="0"/>
              </a:rPr>
              <a:t> B </a:t>
            </a:r>
            <a:r>
              <a:rPr lang="en-US" altLang="ru-RU" sz="2400" dirty="0" smtClean="0">
                <a:latin typeface="Times New Roman" pitchFamily="18" charset="0"/>
              </a:rPr>
              <a:t>→</a:t>
            </a:r>
            <a:r>
              <a:rPr lang="en-US" altLang="ru-RU" sz="2400" i="1" dirty="0" smtClean="0">
                <a:latin typeface="Times New Roman" pitchFamily="18" charset="0"/>
              </a:rPr>
              <a:t> </a:t>
            </a:r>
            <a:r>
              <a:rPr lang="en-US" altLang="ru-RU" sz="2400" dirty="0" smtClean="0">
                <a:latin typeface="Times New Roman" pitchFamily="18" charset="0"/>
              </a:rPr>
              <a:t>[</a:t>
            </a:r>
            <a:r>
              <a:rPr lang="en-US" altLang="ru-RU" sz="2400" i="1" dirty="0" smtClean="0">
                <a:latin typeface="Times New Roman" pitchFamily="18" charset="0"/>
              </a:rPr>
              <a:t>SK</a:t>
            </a:r>
            <a:r>
              <a:rPr lang="en-US" altLang="ru-RU" sz="2400" dirty="0" smtClean="0">
                <a:latin typeface="Times New Roman" pitchFamily="18" charset="0"/>
              </a:rPr>
              <a:t> :</a:t>
            </a:r>
            <a:r>
              <a:rPr lang="ru-RU" altLang="ru-RU" sz="2400" dirty="0" smtClean="0">
                <a:latin typeface="Times New Roman" pitchFamily="18" charset="0"/>
              </a:rPr>
              <a:t>=</a:t>
            </a:r>
            <a:r>
              <a:rPr lang="en-US" altLang="ru-RU" sz="2400" i="1" dirty="0" smtClean="0">
                <a:latin typeface="Times New Roman" pitchFamily="18" charset="0"/>
              </a:rPr>
              <a:t> SZ</a:t>
            </a:r>
            <a:r>
              <a:rPr lang="ru-RU" altLang="ru-RU" sz="2400" dirty="0" smtClean="0">
                <a:latin typeface="Times New Roman" pitchFamily="18" charset="0"/>
              </a:rPr>
              <a:t> |</a:t>
            </a:r>
            <a:r>
              <a:rPr lang="en-US" altLang="ru-RU" sz="2400" dirty="0" smtClean="0"/>
              <a:t> </a:t>
            </a:r>
            <a:r>
              <a:rPr lang="en-US" altLang="ru-RU" sz="2400" dirty="0" smtClean="0">
                <a:latin typeface="Times New Roman" pitchFamily="18" charset="0"/>
              </a:rPr>
              <a:t>:</a:t>
            </a:r>
            <a:r>
              <a:rPr lang="ru-RU" altLang="ru-RU" sz="2400" dirty="0" smtClean="0">
                <a:latin typeface="Times New Roman" pitchFamily="18" charset="0"/>
              </a:rPr>
              <a:t>=</a:t>
            </a:r>
            <a:r>
              <a:rPr lang="en-US" altLang="ru-RU" sz="2400" i="1" dirty="0" smtClean="0">
                <a:latin typeface="Times New Roman" pitchFamily="18" charset="0"/>
              </a:rPr>
              <a:t> SZ</a:t>
            </a:r>
            <a:r>
              <a:rPr lang="ru-RU" altLang="ru-RU" sz="2400" dirty="0" smtClean="0">
                <a:latin typeface="Times New Roman" pitchFamily="18" charset="0"/>
              </a:rPr>
              <a:t> |</a:t>
            </a:r>
            <a:r>
              <a:rPr lang="en-US" altLang="ru-RU" sz="2400" dirty="0" smtClean="0"/>
              <a:t> </a:t>
            </a:r>
            <a:r>
              <a:rPr lang="en-US" altLang="ru-RU" sz="2400" dirty="0" smtClean="0">
                <a:latin typeface="Times New Roman" pitchFamily="18" charset="0"/>
              </a:rPr>
              <a:t>(</a:t>
            </a:r>
            <a:r>
              <a:rPr lang="en-US" altLang="ru-RU" sz="2400" i="1" dirty="0" smtClean="0">
                <a:latin typeface="Times New Roman" pitchFamily="18" charset="0"/>
              </a:rPr>
              <a:t>L</a:t>
            </a:r>
            <a:r>
              <a:rPr lang="en-US" altLang="ru-RU" sz="2400" dirty="0" smtClean="0">
                <a:latin typeface="Times New Roman" pitchFamily="18" charset="0"/>
              </a:rPr>
              <a:t>)</a:t>
            </a:r>
            <a:endParaRPr lang="ru-RU" altLang="ru-RU" sz="2400" dirty="0" smtClean="0">
              <a:latin typeface="Times New Roman" pitchFamily="18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  <a:defRPr/>
            </a:pPr>
            <a:r>
              <a:rPr lang="en-US" altLang="ru-RU" sz="1200" dirty="0" smtClean="0">
                <a:latin typeface="Times New Roman" pitchFamily="18" charset="0"/>
              </a:rPr>
              <a:t> </a:t>
            </a:r>
            <a:endParaRPr lang="ru-RU" altLang="ru-RU" sz="1200" dirty="0" smtClean="0">
              <a:latin typeface="Times New Roman" pitchFamily="18" charset="0"/>
            </a:endParaRPr>
          </a:p>
          <a:p>
            <a:pPr marL="0" indent="342900" eaLnBrk="1" hangingPunct="1">
              <a:lnSpc>
                <a:spcPct val="90000"/>
              </a:lnSpc>
              <a:spcBef>
                <a:spcPts val="0"/>
              </a:spcBef>
              <a:buFontTx/>
              <a:buNone/>
              <a:defRPr/>
            </a:pPr>
            <a:r>
              <a:rPr lang="ru-RU" altLang="ru-RU" sz="2400" dirty="0">
                <a:latin typeface="Times New Roman" pitchFamily="18" charset="0"/>
              </a:rPr>
              <a:t>Для остальных порождающих правил не требуются дополнительные преобразования.</a:t>
            </a:r>
          </a:p>
          <a:p>
            <a:pPr marL="0" indent="342900" eaLnBrk="1" hangingPunct="1">
              <a:lnSpc>
                <a:spcPct val="90000"/>
              </a:lnSpc>
              <a:spcBef>
                <a:spcPts val="0"/>
              </a:spcBef>
              <a:buFontTx/>
              <a:buNone/>
              <a:defRPr/>
            </a:pPr>
            <a:r>
              <a:rPr lang="ru-RU" altLang="ru-RU" sz="2400" dirty="0">
                <a:latin typeface="Times New Roman" pitchFamily="18" charset="0"/>
              </a:rPr>
              <a:t>Эти порождающие правила определяют процедуры с разным количеством параметров, в том числе и без параметров, но в </a:t>
            </a:r>
            <a:r>
              <a:rPr lang="ru-RU" altLang="ru-RU" sz="2400" dirty="0" smtClean="0">
                <a:latin typeface="Times New Roman" pitchFamily="18" charset="0"/>
              </a:rPr>
              <a:t>описании и вызове </a:t>
            </a:r>
            <a:r>
              <a:rPr lang="ru-RU" altLang="ru-RU" sz="2400" dirty="0">
                <a:latin typeface="Times New Roman" pitchFamily="18" charset="0"/>
              </a:rPr>
              <a:t>после имени процедуры всегда должны быть круглые скобки</a:t>
            </a:r>
            <a:r>
              <a:rPr lang="ru-RU" altLang="ru-RU" sz="2400" dirty="0" smtClean="0">
                <a:latin typeface="Times New Roman" pitchFamily="18" charset="0"/>
              </a:rPr>
              <a:t>.</a:t>
            </a:r>
          </a:p>
          <a:p>
            <a:pPr marL="0" indent="342900" eaLnBrk="1" hangingPunct="1">
              <a:lnSpc>
                <a:spcPct val="90000"/>
              </a:lnSpc>
              <a:spcBef>
                <a:spcPts val="0"/>
              </a:spcBef>
              <a:buFontTx/>
              <a:buNone/>
              <a:defRPr/>
            </a:pPr>
            <a:r>
              <a:rPr lang="ru-RU" altLang="ru-RU" sz="2400" dirty="0" smtClean="0">
                <a:latin typeface="Times New Roman" pitchFamily="18" charset="0"/>
              </a:rPr>
              <a:t>В  описании процедуры могут быть также описаны локальные переменные (в том числе массивы).</a:t>
            </a:r>
            <a:endParaRPr lang="ru-RU" altLang="ru-RU" sz="2400" dirty="0">
              <a:latin typeface="Times New Roman" pitchFamily="18" charset="0"/>
            </a:endParaRPr>
          </a:p>
          <a:p>
            <a:pPr marL="0" indent="342900" eaLnBrk="1" hangingPunct="1">
              <a:lnSpc>
                <a:spcPct val="90000"/>
              </a:lnSpc>
              <a:spcBef>
                <a:spcPts val="0"/>
              </a:spcBef>
              <a:buFontTx/>
              <a:buNone/>
              <a:defRPr/>
            </a:pPr>
            <a:r>
              <a:rPr lang="ru-RU" altLang="ru-RU" sz="2400" dirty="0">
                <a:latin typeface="Times New Roman" pitchFamily="18" charset="0"/>
              </a:rPr>
              <a:t>Подстановка параметров при вызове может быть как по значению (если подставляется выражение), так и по ссылке (если подставляется имя </a:t>
            </a:r>
            <a:r>
              <a:rPr lang="ru-RU" altLang="ru-RU" sz="2400" dirty="0" smtClean="0">
                <a:latin typeface="Times New Roman" pitchFamily="18" charset="0"/>
              </a:rPr>
              <a:t>переменной или имя массива). </a:t>
            </a:r>
          </a:p>
        </p:txBody>
      </p:sp>
      <p:sp>
        <p:nvSpPr>
          <p:cNvPr id="23556" name="Номер слайда 1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8CC303FB-CBD5-4A9C-9D8A-1BD8258B65B5}" type="slidenum">
              <a:rPr lang="ru-RU" altLang="ru-RU" sz="1400" smtClean="0"/>
              <a:pPr eaLnBrk="1" hangingPunct="1">
                <a:spcBef>
                  <a:spcPct val="0"/>
                </a:spcBef>
                <a:buFontTx/>
                <a:buNone/>
              </a:pPr>
              <a:t>22</a:t>
            </a:fld>
            <a:endParaRPr lang="ru-RU" altLang="ru-RU" sz="140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09075" cy="1052513"/>
          </a:xfrm>
        </p:spPr>
        <p:txBody>
          <a:bodyPr/>
          <a:lstStyle/>
          <a:p>
            <a:pPr eaLnBrk="1" hangingPunct="1"/>
            <a:r>
              <a:rPr lang="ru-RU" altLang="ru-RU" sz="3000" b="1" smtClean="0">
                <a:solidFill>
                  <a:schemeClr val="accent2"/>
                </a:solidFill>
              </a:rPr>
              <a:t>Распределение памяти в программе с процедурами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250825" y="1125538"/>
            <a:ext cx="8785225" cy="5516562"/>
          </a:xfrm>
        </p:spPr>
        <p:txBody>
          <a:bodyPr/>
          <a:lstStyle/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Интерпретатор, выполняя вычисления по ОПС, использует магазин для промежуточных величин, явно в программе не описанных. Память для переменных, описанных в главной программе и в процедурах выделяется в том же магазине. 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Для каждого вызова процедуры (в том числе </a:t>
            </a:r>
            <a:r>
              <a:rPr lang="ru-RU" altLang="ru-RU" sz="2400" b="1" i="1" smtClean="0">
                <a:latin typeface="Times New Roman" pitchFamily="18" charset="0"/>
              </a:rPr>
              <a:t>рекурсивной</a:t>
            </a:r>
            <a:r>
              <a:rPr lang="ru-RU" altLang="ru-RU" sz="2400" smtClean="0">
                <a:latin typeface="Times New Roman" pitchFamily="18" charset="0"/>
              </a:rPr>
              <a:t>) выделяется новый </a:t>
            </a:r>
            <a:r>
              <a:rPr lang="ru-RU" altLang="ru-RU" sz="2400" b="1" smtClean="0">
                <a:latin typeface="Times New Roman" pitchFamily="18" charset="0"/>
              </a:rPr>
              <a:t>блок памяти</a:t>
            </a:r>
            <a:r>
              <a:rPr lang="ru-RU" altLang="ru-RU" sz="2400" smtClean="0">
                <a:latin typeface="Times New Roman" pitchFamily="18" charset="0"/>
              </a:rPr>
              <a:t>, который освобождается при выходе из процедуры.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ru-RU" altLang="ru-RU" sz="2400" b="1" i="1" smtClean="0">
                <a:latin typeface="Times New Roman" pitchFamily="18" charset="0"/>
              </a:rPr>
              <a:t>Порядок выделения памяти в магазине: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- блок глобальных скалярных переменных, паспортов и элементов для глобальных массивов;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- блок параметров и локальных переменных для вызова 1-й процедуры (процедура вызывается из главной программы);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- блок параметров и локальных переменных для вызова 2-й процедуры (если 2-я процедура вызывается из 1-й процедуры);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- . . .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- вершина магазина, где выполняются вычисления.</a:t>
            </a:r>
          </a:p>
        </p:txBody>
      </p:sp>
      <p:sp>
        <p:nvSpPr>
          <p:cNvPr id="24580" name="Номер слайда 1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B6D6FEE9-8120-4369-B1BA-3A2133A8FC0A}" type="slidenum">
              <a:rPr lang="ru-RU" altLang="ru-RU" sz="1400" smtClean="0"/>
              <a:pPr eaLnBrk="1" hangingPunct="1">
                <a:spcBef>
                  <a:spcPct val="0"/>
                </a:spcBef>
                <a:buFontTx/>
                <a:buNone/>
              </a:pPr>
              <a:t>23</a:t>
            </a:fld>
            <a:endParaRPr lang="ru-RU" altLang="ru-RU" sz="140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09075" cy="836613"/>
          </a:xfrm>
        </p:spPr>
        <p:txBody>
          <a:bodyPr/>
          <a:lstStyle/>
          <a:p>
            <a:pPr eaLnBrk="1" hangingPunct="1"/>
            <a:r>
              <a:rPr lang="ru-RU" altLang="ru-RU" sz="3200" b="1" smtClean="0">
                <a:solidFill>
                  <a:schemeClr val="accent2"/>
                </a:solidFill>
              </a:rPr>
              <a:t>Управление блоком памяти</a:t>
            </a:r>
            <a:endParaRPr lang="ru-RU" altLang="ru-RU" sz="3000" b="1" smtClean="0">
              <a:solidFill>
                <a:schemeClr val="accent2"/>
              </a:solidFill>
            </a:endParaRPr>
          </a:p>
        </p:txBody>
      </p:sp>
      <p:sp>
        <p:nvSpPr>
          <p:cNvPr id="6041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358775" y="908050"/>
            <a:ext cx="8785225" cy="5734050"/>
          </a:xfrm>
        </p:spPr>
        <p:txBody>
          <a:bodyPr/>
          <a:lstStyle/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  <a:defRPr/>
            </a:pPr>
            <a:r>
              <a:rPr lang="ru-RU" altLang="ru-RU" sz="2400" dirty="0" smtClean="0">
                <a:latin typeface="Times New Roman" pitchFamily="18" charset="0"/>
              </a:rPr>
              <a:t>Интерпретатор, используя магазин для вычислений как в главной программе, так и после вызова процедуры, управляет текущими значениями следующих величин: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  <a:defRPr/>
            </a:pPr>
            <a:r>
              <a:rPr lang="en-US" altLang="ru-RU" sz="2400" i="1" dirty="0" err="1" smtClean="0">
                <a:latin typeface="Times New Roman" pitchFamily="18" charset="0"/>
              </a:rPr>
              <a:t>i</a:t>
            </a:r>
            <a:r>
              <a:rPr lang="en-US" altLang="ru-RU" sz="2400" i="1" dirty="0" smtClean="0">
                <a:latin typeface="Times New Roman" pitchFamily="18" charset="0"/>
              </a:rPr>
              <a:t> </a:t>
            </a:r>
            <a:r>
              <a:rPr lang="ru-RU" altLang="ru-RU" sz="2400" dirty="0" smtClean="0">
                <a:latin typeface="Times New Roman" pitchFamily="18" charset="0"/>
              </a:rPr>
              <a:t>- номер обрабатываемого элемента ОПС;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  <a:defRPr/>
            </a:pPr>
            <a:r>
              <a:rPr lang="en-US" altLang="ru-RU" sz="2400" i="1" dirty="0" smtClean="0">
                <a:latin typeface="Times New Roman" pitchFamily="18" charset="0"/>
              </a:rPr>
              <a:t>r </a:t>
            </a:r>
            <a:r>
              <a:rPr lang="ru-RU" altLang="ru-RU" sz="2400" dirty="0" smtClean="0">
                <a:latin typeface="Times New Roman" pitchFamily="18" charset="0"/>
              </a:rPr>
              <a:t>- номер элемента ОПС, куда необходимо вернуться при завершении процедуры;</a:t>
            </a:r>
          </a:p>
          <a:p>
            <a:pPr marL="0" indent="0" eaLnBrk="1" hangingPunct="1">
              <a:lnSpc>
                <a:spcPct val="90000"/>
              </a:lnSpc>
              <a:spcBef>
                <a:spcPct val="0"/>
              </a:spcBef>
              <a:buFontTx/>
              <a:buNone/>
              <a:defRPr/>
            </a:pPr>
            <a:r>
              <a:rPr lang="en-US" altLang="ru-RU" sz="2400" i="1" dirty="0" smtClean="0">
                <a:latin typeface="Times New Roman" pitchFamily="18" charset="0"/>
              </a:rPr>
              <a:t>b </a:t>
            </a:r>
            <a:r>
              <a:rPr lang="ru-RU" altLang="ru-RU" sz="2400" dirty="0" smtClean="0">
                <a:latin typeface="Times New Roman" pitchFamily="18" charset="0"/>
              </a:rPr>
              <a:t>- ссылка на начало блока памяти текущего вызова процедуры;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  <a:defRPr/>
            </a:pPr>
            <a:r>
              <a:rPr lang="en-US" altLang="ru-RU" sz="2400" i="1" dirty="0" smtClean="0">
                <a:latin typeface="Times New Roman" pitchFamily="18" charset="0"/>
              </a:rPr>
              <a:t>t </a:t>
            </a:r>
            <a:r>
              <a:rPr lang="ru-RU" altLang="ru-RU" sz="2400" dirty="0" smtClean="0">
                <a:latin typeface="Times New Roman" pitchFamily="18" charset="0"/>
              </a:rPr>
              <a:t>- ссылка на вершину магазина (конец блока памяти).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  <a:defRPr/>
            </a:pPr>
            <a:endParaRPr lang="ru-RU" altLang="ru-RU" sz="2400" dirty="0" smtClean="0">
              <a:latin typeface="Times New Roman" pitchFamily="18" charset="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  <a:defRPr/>
            </a:pPr>
            <a:r>
              <a:rPr lang="ru-RU" altLang="ru-RU" sz="2400" dirty="0" smtClean="0">
                <a:latin typeface="Times New Roman" pitchFamily="18" charset="0"/>
              </a:rPr>
              <a:t>Каждый элемент данных в магазине хранит содержимое и признак вида: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  <a:defRPr/>
            </a:pPr>
            <a:r>
              <a:rPr lang="ru-RU" altLang="ru-RU" sz="2400" dirty="0" smtClean="0">
                <a:latin typeface="Times New Roman" pitchFamily="18" charset="0"/>
              </a:rPr>
              <a:t>- числовое значение;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  <a:defRPr/>
            </a:pPr>
            <a:r>
              <a:rPr lang="ru-RU" altLang="ru-RU" sz="2400" dirty="0" smtClean="0">
                <a:latin typeface="Times New Roman" pitchFamily="18" charset="0"/>
              </a:rPr>
              <a:t>- ссылка на другой элемент данных в магазине (который может быть значением или ссылкой);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  <a:defRPr/>
            </a:pPr>
            <a:r>
              <a:rPr lang="ru-RU" altLang="ru-RU" sz="2400" dirty="0" smtClean="0">
                <a:latin typeface="Times New Roman" pitchFamily="18" charset="0"/>
              </a:rPr>
              <a:t>- ссылка на номер элемента ОПС, куда возможен переход.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  <a:defRPr/>
            </a:pPr>
            <a:endParaRPr lang="ru-RU" altLang="ru-RU" sz="2400" dirty="0" smtClean="0">
              <a:latin typeface="Times New Roman" pitchFamily="18" charset="0"/>
            </a:endParaRPr>
          </a:p>
        </p:txBody>
      </p:sp>
      <p:sp>
        <p:nvSpPr>
          <p:cNvPr id="25604" name="Номер слайда 1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6B195BCD-C30C-40D5-A73E-5B6BA8A81120}" type="slidenum">
              <a:rPr lang="ru-RU" altLang="ru-RU" sz="1400" smtClean="0"/>
              <a:pPr eaLnBrk="1" hangingPunct="1">
                <a:spcBef>
                  <a:spcPct val="0"/>
                </a:spcBef>
                <a:buFontTx/>
                <a:buNone/>
              </a:pPr>
              <a:t>24</a:t>
            </a:fld>
            <a:endParaRPr lang="ru-RU" altLang="ru-RU" sz="140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09075" cy="1268413"/>
          </a:xfrm>
        </p:spPr>
        <p:txBody>
          <a:bodyPr/>
          <a:lstStyle/>
          <a:p>
            <a:pPr eaLnBrk="1" hangingPunct="1"/>
            <a:r>
              <a:rPr lang="ru-RU" altLang="ru-RU" sz="3200" b="1" smtClean="0">
                <a:solidFill>
                  <a:schemeClr val="accent2"/>
                </a:solidFill>
              </a:rPr>
              <a:t>Структура блока памяти для вызова процедуры</a:t>
            </a:r>
            <a:endParaRPr lang="ru-RU" altLang="ru-RU" sz="3000" b="1" smtClean="0">
              <a:solidFill>
                <a:schemeClr val="accent2"/>
              </a:solidFill>
            </a:endParaRPr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250825" y="1412875"/>
            <a:ext cx="8785225" cy="5229225"/>
          </a:xfrm>
        </p:spPr>
        <p:txBody>
          <a:bodyPr/>
          <a:lstStyle/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Блок начинает создаваться при выполнении оператора вызова. </a:t>
            </a:r>
            <a:endParaRPr lang="en-US" altLang="ru-RU" sz="2400" smtClean="0">
              <a:latin typeface="Times New Roman" pitchFamily="18" charset="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endParaRPr lang="en-US" altLang="ru-RU" sz="2400" smtClean="0">
              <a:latin typeface="Times New Roman" pitchFamily="18" charset="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Содержимое блока:</a:t>
            </a:r>
            <a:endParaRPr lang="en-US" altLang="ru-RU" sz="2400" smtClean="0">
              <a:latin typeface="Times New Roman" pitchFamily="18" charset="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endParaRPr lang="ru-RU" altLang="ru-RU" sz="2400" smtClean="0">
              <a:latin typeface="Times New Roman" pitchFamily="18" charset="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● номер элемента ОПС – начала вызываемой процедуры;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● ссылка на начало предыдущего блока памяти;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● номер элемента ОПС, куда необходимо вернуться при завершении процедуры, из которой выполняется текущий вызов;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● 1-й фактический параметр вызова процедуры;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    .  .  .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● последний фактический параметр вызова процедуры;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● локальные переменные, описанные внутри вызываемой процедуры, формируются после входа в процедуру.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endParaRPr lang="ru-RU" altLang="ru-RU" sz="2400" smtClean="0">
              <a:latin typeface="Times New Roman" pitchFamily="18" charset="0"/>
            </a:endParaRPr>
          </a:p>
        </p:txBody>
      </p:sp>
      <p:sp>
        <p:nvSpPr>
          <p:cNvPr id="26628" name="Номер слайда 1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5326BDEC-6DD5-40EC-82A6-B380E35DA3A1}" type="slidenum">
              <a:rPr lang="ru-RU" altLang="ru-RU" sz="1400" smtClean="0"/>
              <a:pPr eaLnBrk="1" hangingPunct="1">
                <a:spcBef>
                  <a:spcPct val="0"/>
                </a:spcBef>
                <a:buFontTx/>
                <a:buNone/>
              </a:pPr>
              <a:t>25</a:t>
            </a:fld>
            <a:endParaRPr lang="ru-RU" altLang="ru-RU" sz="140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09075" cy="836613"/>
          </a:xfrm>
        </p:spPr>
        <p:txBody>
          <a:bodyPr/>
          <a:lstStyle/>
          <a:p>
            <a:pPr eaLnBrk="1" hangingPunct="1"/>
            <a:r>
              <a:rPr lang="ru-RU" altLang="ru-RU" sz="3200" b="1" smtClean="0">
                <a:solidFill>
                  <a:schemeClr val="accent2"/>
                </a:solidFill>
              </a:rPr>
              <a:t>Операции ОПС для вызова процедуры</a:t>
            </a:r>
            <a:endParaRPr lang="ru-RU" altLang="ru-RU" sz="3000" b="1" smtClean="0">
              <a:solidFill>
                <a:schemeClr val="accent2"/>
              </a:solidFill>
            </a:endParaRPr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250825" y="765175"/>
            <a:ext cx="8785225" cy="5876925"/>
          </a:xfrm>
        </p:spPr>
        <p:txBody>
          <a:bodyPr/>
          <a:lstStyle/>
          <a:p>
            <a:pPr eaLnBrk="1" hangingPunct="1"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Пусть оператор вызова процедуры </a:t>
            </a:r>
            <a:r>
              <a:rPr lang="en-US" altLang="ru-RU" sz="2400" b="1" smtClean="0">
                <a:latin typeface="Times New Roman" pitchFamily="18" charset="0"/>
              </a:rPr>
              <a:t>proc1</a:t>
            </a:r>
            <a:r>
              <a:rPr lang="ru-RU" altLang="ru-RU" sz="2400" b="1" smtClean="0">
                <a:latin typeface="Times New Roman" pitchFamily="18" charset="0"/>
              </a:rPr>
              <a:t> </a:t>
            </a:r>
            <a:r>
              <a:rPr lang="ru-RU" altLang="ru-RU" sz="2400" smtClean="0">
                <a:latin typeface="Times New Roman" pitchFamily="18" charset="0"/>
              </a:rPr>
              <a:t>с </a:t>
            </a:r>
            <a:r>
              <a:rPr lang="en-US" altLang="ru-RU" sz="2400" i="1" smtClean="0">
                <a:latin typeface="Times New Roman" pitchFamily="18" charset="0"/>
              </a:rPr>
              <a:t>n</a:t>
            </a:r>
            <a:r>
              <a:rPr lang="ru-RU" altLang="ru-RU" sz="2400" smtClean="0">
                <a:latin typeface="Times New Roman" pitchFamily="18" charset="0"/>
              </a:rPr>
              <a:t> параметрами:</a:t>
            </a:r>
            <a:endParaRPr lang="en-US" altLang="ru-RU" sz="2400" smtClean="0">
              <a:latin typeface="Times New Roman" pitchFamily="18" charset="0"/>
            </a:endParaRP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altLang="ru-RU" sz="2400" smtClean="0">
                <a:latin typeface="Times New Roman" pitchFamily="18" charset="0"/>
              </a:rPr>
              <a:t>             proc1(S1, S</a:t>
            </a:r>
            <a:r>
              <a:rPr lang="ru-RU" altLang="ru-RU" sz="2400" smtClean="0">
                <a:latin typeface="Times New Roman" pitchFamily="18" charset="0"/>
              </a:rPr>
              <a:t>2</a:t>
            </a:r>
            <a:r>
              <a:rPr lang="en-US" altLang="ru-RU" sz="2400" smtClean="0">
                <a:latin typeface="Times New Roman" pitchFamily="18" charset="0"/>
              </a:rPr>
              <a:t>, . . ., S</a:t>
            </a:r>
            <a:r>
              <a:rPr lang="en-US" altLang="ru-RU" sz="2400" i="1" smtClean="0">
                <a:latin typeface="Times New Roman" pitchFamily="18" charset="0"/>
              </a:rPr>
              <a:t>n</a:t>
            </a:r>
            <a:r>
              <a:rPr lang="en-US" altLang="ru-RU" sz="2400" smtClean="0">
                <a:latin typeface="Times New Roman" pitchFamily="18" charset="0"/>
              </a:rPr>
              <a:t>)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 после трансляции в виде ОПС: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            </a:t>
            </a:r>
            <a:r>
              <a:rPr lang="en-US" altLang="ru-RU" sz="2400" b="1" smtClean="0">
                <a:latin typeface="Times New Roman" pitchFamily="18" charset="0"/>
              </a:rPr>
              <a:t>m1</a:t>
            </a:r>
            <a:r>
              <a:rPr lang="en-US" altLang="ru-RU" sz="2400" smtClean="0">
                <a:latin typeface="Times New Roman" pitchFamily="18" charset="0"/>
              </a:rPr>
              <a:t> </a:t>
            </a:r>
            <a:r>
              <a:rPr lang="en-US" altLang="ru-RU" sz="2400" b="1" smtClean="0">
                <a:latin typeface="Times New Roman" pitchFamily="18" charset="0"/>
              </a:rPr>
              <a:t>pr</a:t>
            </a:r>
            <a:r>
              <a:rPr lang="en-US" altLang="ru-RU" sz="2400" smtClean="0">
                <a:latin typeface="Times New Roman" pitchFamily="18" charset="0"/>
              </a:rPr>
              <a:t>  S1 S2 . . . S</a:t>
            </a:r>
            <a:r>
              <a:rPr lang="en-US" altLang="ru-RU" sz="2400" i="1" smtClean="0">
                <a:latin typeface="Times New Roman" pitchFamily="18" charset="0"/>
              </a:rPr>
              <a:t>n</a:t>
            </a:r>
            <a:r>
              <a:rPr lang="en-US" altLang="ru-RU" sz="2400" smtClean="0">
                <a:latin typeface="Times New Roman" pitchFamily="18" charset="0"/>
              </a:rPr>
              <a:t> </a:t>
            </a:r>
            <a:r>
              <a:rPr lang="en-US" altLang="ru-RU" sz="2400" b="1" smtClean="0">
                <a:latin typeface="Times New Roman" pitchFamily="18" charset="0"/>
              </a:rPr>
              <a:t>call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 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ru-RU" altLang="ru-RU" sz="2400" b="1" smtClean="0">
                <a:latin typeface="Times New Roman" pitchFamily="18" charset="0"/>
              </a:rPr>
              <a:t> </a:t>
            </a:r>
            <a:r>
              <a:rPr lang="en-US" altLang="ru-RU" sz="2400" b="1" smtClean="0">
                <a:latin typeface="Times New Roman" pitchFamily="18" charset="0"/>
              </a:rPr>
              <a:t>m1 </a:t>
            </a:r>
            <a:r>
              <a:rPr lang="ru-RU" altLang="ru-RU" sz="2400" smtClean="0">
                <a:latin typeface="Times New Roman" pitchFamily="18" charset="0"/>
              </a:rPr>
              <a:t>– метка, номер элемента ОПС – начало процедуры;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 </a:t>
            </a:r>
            <a:r>
              <a:rPr lang="en-US" altLang="ru-RU" sz="2400" b="1" smtClean="0">
                <a:latin typeface="Times New Roman" pitchFamily="18" charset="0"/>
              </a:rPr>
              <a:t>pr </a:t>
            </a:r>
            <a:r>
              <a:rPr lang="ru-RU" altLang="ru-RU" sz="2400" b="1" smtClean="0">
                <a:latin typeface="Times New Roman" pitchFamily="18" charset="0"/>
              </a:rPr>
              <a:t> </a:t>
            </a:r>
            <a:r>
              <a:rPr lang="ru-RU" altLang="ru-RU" sz="2400" smtClean="0">
                <a:latin typeface="Times New Roman" pitchFamily="18" charset="0"/>
              </a:rPr>
              <a:t>– операция начало вызова процедуры;</a:t>
            </a:r>
            <a:endParaRPr lang="en-US" altLang="ru-RU" sz="2400" smtClean="0">
              <a:latin typeface="Times New Roman" pitchFamily="18" charset="0"/>
            </a:endParaRP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 </a:t>
            </a:r>
            <a:r>
              <a:rPr lang="en-US" altLang="ru-RU" sz="2400" smtClean="0">
                <a:latin typeface="Times New Roman" pitchFamily="18" charset="0"/>
              </a:rPr>
              <a:t>S</a:t>
            </a:r>
            <a:r>
              <a:rPr lang="ru-RU" altLang="ru-RU" sz="2400" smtClean="0">
                <a:latin typeface="Times New Roman" pitchFamily="18" charset="0"/>
              </a:rPr>
              <a:t>1  – ОПС для 1-го параметра;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 </a:t>
            </a:r>
            <a:r>
              <a:rPr lang="en-US" altLang="ru-RU" sz="2400" smtClean="0">
                <a:latin typeface="Times New Roman" pitchFamily="18" charset="0"/>
              </a:rPr>
              <a:t>S</a:t>
            </a:r>
            <a:r>
              <a:rPr lang="ru-RU" altLang="ru-RU" sz="2400" smtClean="0">
                <a:latin typeface="Times New Roman" pitchFamily="18" charset="0"/>
              </a:rPr>
              <a:t>2  – ОПС для 2-го параметра;</a:t>
            </a:r>
            <a:endParaRPr lang="en-US" altLang="ru-RU" sz="2400" smtClean="0">
              <a:latin typeface="Times New Roman" pitchFamily="18" charset="0"/>
            </a:endParaRP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altLang="ru-RU" sz="2400" smtClean="0">
                <a:latin typeface="Times New Roman" pitchFamily="18" charset="0"/>
              </a:rPr>
              <a:t>           .  .  .</a:t>
            </a:r>
            <a:endParaRPr lang="ru-RU" altLang="ru-RU" sz="2400" smtClean="0">
              <a:latin typeface="Times New Roman" pitchFamily="18" charset="0"/>
            </a:endParaRP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 </a:t>
            </a:r>
            <a:r>
              <a:rPr lang="en-US" altLang="ru-RU" sz="2400" smtClean="0">
                <a:latin typeface="Times New Roman" pitchFamily="18" charset="0"/>
              </a:rPr>
              <a:t>S</a:t>
            </a:r>
            <a:r>
              <a:rPr lang="en-US" altLang="ru-RU" sz="2400" i="1" smtClean="0">
                <a:latin typeface="Times New Roman" pitchFamily="18" charset="0"/>
              </a:rPr>
              <a:t>n</a:t>
            </a:r>
            <a:r>
              <a:rPr lang="ru-RU" altLang="ru-RU" sz="2400" smtClean="0">
                <a:latin typeface="Times New Roman" pitchFamily="18" charset="0"/>
              </a:rPr>
              <a:t>  – ОПС для 3-го параметра;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 </a:t>
            </a:r>
            <a:r>
              <a:rPr lang="en-US" altLang="ru-RU" sz="2400" b="1" smtClean="0">
                <a:latin typeface="Times New Roman" pitchFamily="18" charset="0"/>
              </a:rPr>
              <a:t>call </a:t>
            </a:r>
            <a:r>
              <a:rPr lang="ru-RU" altLang="ru-RU" sz="2400" smtClean="0">
                <a:latin typeface="Times New Roman" pitchFamily="18" charset="0"/>
              </a:rPr>
              <a:t>– операция завершения вызова процедуры.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FontTx/>
              <a:buNone/>
            </a:pPr>
            <a:endParaRPr lang="en-US" altLang="ru-RU" sz="2400" smtClean="0">
              <a:latin typeface="Times New Roman" pitchFamily="18" charset="0"/>
            </a:endParaRP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Эти операции создают в магазине начало блока памяти для вызова процедуры. 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Последняя операция </a:t>
            </a:r>
            <a:r>
              <a:rPr lang="en-US" altLang="ru-RU" sz="2400" b="1" smtClean="0">
                <a:latin typeface="Times New Roman" pitchFamily="18" charset="0"/>
              </a:rPr>
              <a:t>call </a:t>
            </a:r>
            <a:r>
              <a:rPr lang="ru-RU" altLang="ru-RU" sz="2400" smtClean="0">
                <a:latin typeface="Times New Roman" pitchFamily="18" charset="0"/>
              </a:rPr>
              <a:t>совершает переход на метку </a:t>
            </a:r>
            <a:r>
              <a:rPr lang="en-US" altLang="ru-RU" sz="2400" b="1" smtClean="0">
                <a:latin typeface="Times New Roman" pitchFamily="18" charset="0"/>
              </a:rPr>
              <a:t>m1</a:t>
            </a:r>
            <a:r>
              <a:rPr lang="ru-RU" altLang="ru-RU" sz="2400" smtClean="0">
                <a:latin typeface="Times New Roman" pitchFamily="18" charset="0"/>
              </a:rPr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Параметр – имя переменной подставляется по ссылке,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параметр – выражение подставляется по значению. </a:t>
            </a:r>
          </a:p>
        </p:txBody>
      </p:sp>
      <p:sp>
        <p:nvSpPr>
          <p:cNvPr id="27652" name="Номер слайда 1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C7A34308-B7D4-413E-AF4E-D40BC2CCC4D5}" type="slidenum">
              <a:rPr lang="ru-RU" altLang="ru-RU" sz="1400" smtClean="0"/>
              <a:pPr eaLnBrk="1" hangingPunct="1">
                <a:spcBef>
                  <a:spcPct val="0"/>
                </a:spcBef>
                <a:buFontTx/>
                <a:buNone/>
              </a:pPr>
              <a:t>26</a:t>
            </a:fld>
            <a:endParaRPr lang="ru-RU" altLang="ru-RU" sz="140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09075" cy="836613"/>
          </a:xfrm>
        </p:spPr>
        <p:txBody>
          <a:bodyPr/>
          <a:lstStyle/>
          <a:p>
            <a:pPr eaLnBrk="1" hangingPunct="1"/>
            <a:r>
              <a:rPr lang="ru-RU" altLang="ru-RU" sz="3000" b="1" smtClean="0">
                <a:solidFill>
                  <a:schemeClr val="accent2"/>
                </a:solidFill>
              </a:rPr>
              <a:t>Операции ОПС при выполнении процедуры</a:t>
            </a:r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250825" y="765175"/>
            <a:ext cx="8785225" cy="5876925"/>
          </a:xfrm>
        </p:spPr>
        <p:txBody>
          <a:bodyPr/>
          <a:lstStyle/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После трансляции описания процедуры в ОПС первая операция должна быть: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ru-RU" sz="2400" b="1" smtClean="0">
                <a:latin typeface="Times New Roman" pitchFamily="18" charset="0"/>
              </a:rPr>
              <a:t>                </a:t>
            </a:r>
            <a:r>
              <a:rPr lang="ru-RU" altLang="ru-RU" sz="2400" b="1" smtClean="0">
                <a:latin typeface="Times New Roman" pitchFamily="18" charset="0"/>
              </a:rPr>
              <a:t>	</a:t>
            </a:r>
            <a:r>
              <a:rPr lang="en-US" altLang="ru-RU" sz="2400" smtClean="0">
                <a:latin typeface="Times New Roman" pitchFamily="18" charset="0"/>
              </a:rPr>
              <a:t>d </a:t>
            </a:r>
            <a:r>
              <a:rPr lang="en-US" altLang="ru-RU" sz="2400" b="1" smtClean="0">
                <a:latin typeface="Times New Roman" pitchFamily="18" charset="0"/>
              </a:rPr>
              <a:t>bp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 </a:t>
            </a:r>
            <a:r>
              <a:rPr lang="en-US" altLang="ru-RU" sz="2400" smtClean="0">
                <a:latin typeface="Times New Roman" pitchFamily="18" charset="0"/>
              </a:rPr>
              <a:t>d – </a:t>
            </a:r>
            <a:r>
              <a:rPr lang="ru-RU" altLang="ru-RU" sz="2400" smtClean="0">
                <a:latin typeface="Times New Roman" pitchFamily="18" charset="0"/>
              </a:rPr>
              <a:t>размер памяти в магазине для размещения локальных переменных в процедуре;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ru-RU" altLang="ru-RU" sz="2400" b="1" smtClean="0">
                <a:latin typeface="Times New Roman" pitchFamily="18" charset="0"/>
              </a:rPr>
              <a:t> </a:t>
            </a:r>
            <a:r>
              <a:rPr lang="en-US" altLang="ru-RU" sz="2400" b="1" smtClean="0">
                <a:latin typeface="Times New Roman" pitchFamily="18" charset="0"/>
              </a:rPr>
              <a:t>bp</a:t>
            </a:r>
            <a:r>
              <a:rPr lang="ru-RU" altLang="ru-RU" sz="2400" b="1" smtClean="0">
                <a:latin typeface="Times New Roman" pitchFamily="18" charset="0"/>
              </a:rPr>
              <a:t> </a:t>
            </a:r>
            <a:r>
              <a:rPr lang="ru-RU" altLang="ru-RU" sz="2400" smtClean="0">
                <a:latin typeface="Times New Roman" pitchFamily="18" charset="0"/>
              </a:rPr>
              <a:t>– операция выделения памяти в текущем блоке.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endParaRPr lang="ru-RU" altLang="ru-RU" sz="2400" smtClean="0">
              <a:latin typeface="Times New Roman" pitchFamily="18" charset="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Последняя операция в процедуре: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ru-RU" altLang="ru-RU" sz="2400" b="1" smtClean="0">
                <a:latin typeface="Times New Roman" pitchFamily="18" charset="0"/>
              </a:rPr>
              <a:t>			</a:t>
            </a:r>
            <a:r>
              <a:rPr lang="en-US" altLang="ru-RU" sz="2400" b="1" smtClean="0">
                <a:latin typeface="Times New Roman" pitchFamily="18" charset="0"/>
              </a:rPr>
              <a:t>ret</a:t>
            </a:r>
            <a:r>
              <a:rPr lang="ru-RU" altLang="ru-RU" sz="2400" b="1" smtClean="0">
                <a:latin typeface="Times New Roman" pitchFamily="18" charset="0"/>
              </a:rPr>
              <a:t>  </a:t>
            </a:r>
            <a:r>
              <a:rPr lang="ru-RU" altLang="ru-RU" sz="2400" smtClean="0">
                <a:latin typeface="Times New Roman" pitchFamily="18" charset="0"/>
              </a:rPr>
              <a:t>(</a:t>
            </a:r>
            <a:r>
              <a:rPr lang="ru-RU" altLang="ru-RU" sz="2400" i="1" smtClean="0">
                <a:latin typeface="Times New Roman" pitchFamily="18" charset="0"/>
              </a:rPr>
              <a:t>без параметров</a:t>
            </a:r>
            <a:r>
              <a:rPr lang="ru-RU" altLang="ru-RU" sz="2400" smtClean="0">
                <a:latin typeface="Times New Roman" pitchFamily="18" charset="0"/>
              </a:rPr>
              <a:t>)</a:t>
            </a:r>
            <a:endParaRPr lang="en-US" altLang="ru-RU" sz="2400" smtClean="0">
              <a:latin typeface="Times New Roman" pitchFamily="18" charset="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ru-RU" altLang="ru-RU" sz="2400" b="1" smtClean="0">
                <a:latin typeface="Times New Roman" pitchFamily="18" charset="0"/>
              </a:rPr>
              <a:t> </a:t>
            </a:r>
            <a:r>
              <a:rPr lang="en-US" altLang="ru-RU" sz="2400" b="1" smtClean="0">
                <a:latin typeface="Times New Roman" pitchFamily="18" charset="0"/>
              </a:rPr>
              <a:t>ret </a:t>
            </a:r>
            <a:r>
              <a:rPr lang="ru-RU" altLang="ru-RU" sz="2400" smtClean="0">
                <a:latin typeface="Times New Roman" pitchFamily="18" charset="0"/>
              </a:rPr>
              <a:t>– операция возврата из процедуры, аннулирование памяти для текущего блока. Восстанавливает управляющие величины </a:t>
            </a:r>
            <a:r>
              <a:rPr lang="en-US" altLang="ru-RU" sz="2400" i="1" smtClean="0">
                <a:latin typeface="Times New Roman" pitchFamily="18" charset="0"/>
              </a:rPr>
              <a:t>i</a:t>
            </a:r>
            <a:r>
              <a:rPr lang="en-US" altLang="ru-RU" sz="2400" smtClean="0">
                <a:latin typeface="Times New Roman" pitchFamily="18" charset="0"/>
              </a:rPr>
              <a:t>, </a:t>
            </a:r>
            <a:r>
              <a:rPr lang="en-US" altLang="ru-RU" sz="2400" i="1" smtClean="0">
                <a:latin typeface="Times New Roman" pitchFamily="18" charset="0"/>
              </a:rPr>
              <a:t>r</a:t>
            </a:r>
            <a:r>
              <a:rPr lang="en-US" altLang="ru-RU" sz="2400" smtClean="0">
                <a:latin typeface="Times New Roman" pitchFamily="18" charset="0"/>
              </a:rPr>
              <a:t>, </a:t>
            </a:r>
            <a:r>
              <a:rPr lang="en-US" altLang="ru-RU" sz="2400" i="1" smtClean="0">
                <a:latin typeface="Times New Roman" pitchFamily="18" charset="0"/>
              </a:rPr>
              <a:t>b</a:t>
            </a:r>
            <a:r>
              <a:rPr lang="en-US" altLang="ru-RU" sz="2400" smtClean="0">
                <a:latin typeface="Times New Roman" pitchFamily="18" charset="0"/>
              </a:rPr>
              <a:t>, </a:t>
            </a:r>
            <a:r>
              <a:rPr lang="en-US" altLang="ru-RU" sz="2400" i="1" smtClean="0">
                <a:latin typeface="Times New Roman" pitchFamily="18" charset="0"/>
              </a:rPr>
              <a:t>t</a:t>
            </a:r>
            <a:r>
              <a:rPr lang="en-US" altLang="ru-RU" sz="2400" smtClean="0">
                <a:latin typeface="Times New Roman" pitchFamily="18" charset="0"/>
              </a:rPr>
              <a:t> </a:t>
            </a:r>
            <a:r>
              <a:rPr lang="ru-RU" altLang="ru-RU" sz="2400" smtClean="0">
                <a:latin typeface="Times New Roman" pitchFamily="18" charset="0"/>
              </a:rPr>
              <a:t>для блока, из которого был вызов процедуры.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endParaRPr lang="ru-RU" altLang="ru-RU" sz="2400" smtClean="0">
              <a:latin typeface="Times New Roman" pitchFamily="18" charset="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Адрес операнда – фактического параметра или локальной переменной в ОПС вычисляется как сумма </a:t>
            </a:r>
            <a:r>
              <a:rPr lang="en-US" altLang="ru-RU" sz="2400" i="1" smtClean="0">
                <a:latin typeface="Times New Roman" pitchFamily="18" charset="0"/>
              </a:rPr>
              <a:t>b </a:t>
            </a:r>
            <a:r>
              <a:rPr lang="ru-RU" altLang="ru-RU" sz="2400" smtClean="0">
                <a:latin typeface="Times New Roman" pitchFamily="18" charset="0"/>
              </a:rPr>
              <a:t>- ссылки на начало блока и смещения относительно начала блока. </a:t>
            </a:r>
            <a:endParaRPr lang="en-US" altLang="ru-RU" sz="2400" smtClean="0">
              <a:latin typeface="Times New Roman" pitchFamily="18" charset="0"/>
            </a:endParaRPr>
          </a:p>
        </p:txBody>
      </p:sp>
      <p:sp>
        <p:nvSpPr>
          <p:cNvPr id="28676" name="Номер слайда 1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9DF262F2-BE91-44DB-ABA8-E354B11885C5}" type="slidenum">
              <a:rPr lang="ru-RU" altLang="ru-RU" sz="1400" smtClean="0"/>
              <a:pPr eaLnBrk="1" hangingPunct="1">
                <a:spcBef>
                  <a:spcPct val="0"/>
                </a:spcBef>
                <a:buFontTx/>
                <a:buNone/>
              </a:pPr>
              <a:t>27</a:t>
            </a:fld>
            <a:endParaRPr lang="ru-RU" altLang="ru-RU" sz="140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6"/>
          <p:cNvSpPr txBox="1">
            <a:spLocks noGrp="1" noChangeArrowheads="1"/>
          </p:cNvSpPr>
          <p:nvPr/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087F284B-3930-48EA-838F-9EA047F194F5}" type="slidenum">
              <a:rPr lang="ru-RU" altLang="ru-RU" sz="1400"/>
              <a:pPr algn="r" eaLnBrk="1" hangingPunct="1">
                <a:spcBef>
                  <a:spcPct val="0"/>
                </a:spcBef>
                <a:buFontTx/>
                <a:buNone/>
              </a:pPr>
              <a:t>28</a:t>
            </a:fld>
            <a:endParaRPr lang="ru-RU" altLang="ru-RU" sz="1400"/>
          </a:p>
        </p:txBody>
      </p:sp>
      <p:sp>
        <p:nvSpPr>
          <p:cNvPr id="29699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79388" y="0"/>
            <a:ext cx="8713787" cy="1196975"/>
          </a:xfrm>
        </p:spPr>
        <p:txBody>
          <a:bodyPr/>
          <a:lstStyle/>
          <a:p>
            <a:r>
              <a:rPr lang="ru-RU" altLang="ru-RU" sz="3600" b="1" i="1" smtClean="0">
                <a:solidFill>
                  <a:schemeClr val="accent2"/>
                </a:solidFill>
              </a:rPr>
              <a:t>Обработка ошибок при трансляции и выполнении программы</a:t>
            </a:r>
            <a:r>
              <a:rPr lang="ru-RU" altLang="ru-RU" sz="4000" smtClean="0"/>
              <a:t> </a:t>
            </a:r>
          </a:p>
        </p:txBody>
      </p:sp>
      <p:sp>
        <p:nvSpPr>
          <p:cNvPr id="29700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268413"/>
            <a:ext cx="8686800" cy="5400675"/>
          </a:xfrm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ru-RU" altLang="ru-RU" sz="2400" smtClean="0"/>
              <a:t>Уровни возможных ошибок: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ru-RU" altLang="ru-RU" sz="2400" smtClean="0"/>
              <a:t>- синтаксическая ошибка при распознавании лексемы;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ru-RU" altLang="ru-RU" sz="2400" smtClean="0"/>
              <a:t>- синтаксическая ошибка при работе </a:t>
            </a:r>
            <a:r>
              <a:rPr lang="en-US" altLang="ru-RU" sz="2400" smtClean="0"/>
              <a:t>LL</a:t>
            </a:r>
            <a:r>
              <a:rPr lang="ru-RU" altLang="ru-RU" sz="2400" smtClean="0"/>
              <a:t>(1)-распознавателя; 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ru-RU" altLang="ru-RU" sz="2400" smtClean="0"/>
              <a:t>- ошибка при работе семантических программ генератора ОПС;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ru-RU" altLang="ru-RU" sz="2400" smtClean="0"/>
              <a:t>- ошибка при работе интерпретатора во время выполнения ОПС.</a:t>
            </a:r>
          </a:p>
          <a:p>
            <a:pPr>
              <a:lnSpc>
                <a:spcPct val="80000"/>
              </a:lnSpc>
              <a:buFontTx/>
              <a:buNone/>
            </a:pPr>
            <a:endParaRPr lang="ru-RU" altLang="ru-RU" sz="2400" smtClean="0"/>
          </a:p>
          <a:p>
            <a:pPr>
              <a:lnSpc>
                <a:spcPct val="80000"/>
              </a:lnSpc>
              <a:buFontTx/>
              <a:buNone/>
            </a:pPr>
            <a:r>
              <a:rPr lang="ru-RU" altLang="ru-RU" sz="2400" b="1" smtClean="0">
                <a:solidFill>
                  <a:schemeClr val="accent2"/>
                </a:solidFill>
              </a:rPr>
              <a:t>Ошибки при работе лексического анализатора:</a:t>
            </a:r>
            <a:r>
              <a:rPr lang="ru-RU" altLang="ru-RU" sz="2400" smtClean="0"/>
              <a:t> </a:t>
            </a:r>
            <a:endParaRPr lang="ru-RU" altLang="ru-RU" sz="2400" b="1" smtClean="0"/>
          </a:p>
          <a:p>
            <a:pPr>
              <a:lnSpc>
                <a:spcPct val="80000"/>
              </a:lnSpc>
              <a:buFontTx/>
              <a:buNone/>
            </a:pPr>
            <a:r>
              <a:rPr lang="ru-RU" altLang="ru-RU" sz="2400" b="1" smtClean="0">
                <a:latin typeface="Times New Roman" pitchFamily="18" charset="0"/>
              </a:rPr>
              <a:t>Лексический анализатор</a:t>
            </a:r>
            <a:r>
              <a:rPr lang="ru-RU" altLang="ru-RU" sz="2400" smtClean="0">
                <a:latin typeface="Times New Roman" pitchFamily="18" charset="0"/>
              </a:rPr>
              <a:t> - процедура, вызываемая из </a:t>
            </a:r>
            <a:r>
              <a:rPr lang="ru-RU" altLang="ru-RU" sz="2400" b="1" i="1" smtClean="0">
                <a:latin typeface="Times New Roman" pitchFamily="18" charset="0"/>
              </a:rPr>
              <a:t>синтаксического распознавателя</a:t>
            </a:r>
            <a:r>
              <a:rPr lang="ru-RU" altLang="ru-RU" sz="2400" smtClean="0">
                <a:latin typeface="Times New Roman" pitchFamily="18" charset="0"/>
              </a:rPr>
              <a:t> </a:t>
            </a:r>
            <a:r>
              <a:rPr lang="ru-RU" altLang="ru-RU" sz="2400" b="1" i="1" smtClean="0">
                <a:latin typeface="Times New Roman" pitchFamily="18" charset="0"/>
              </a:rPr>
              <a:t>– генератора ОПС</a:t>
            </a:r>
            <a:r>
              <a:rPr lang="ru-RU" altLang="ru-RU" sz="2400" smtClean="0">
                <a:latin typeface="Times New Roman" pitchFamily="18" charset="0"/>
              </a:rPr>
              <a:t>. Выделяет из входного текста очередную лексему – номер лексемы и значение. 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Если в лексеме ошибка, то возвращается номер ошибки. Кроме того, отслеживается номер </a:t>
            </a:r>
            <a:r>
              <a:rPr lang="ru-RU" altLang="ru-RU" sz="2400" b="1" i="1" smtClean="0">
                <a:latin typeface="Times New Roman" pitchFamily="18" charset="0"/>
              </a:rPr>
              <a:t>текущей строки</a:t>
            </a:r>
            <a:r>
              <a:rPr lang="ru-RU" altLang="ru-RU" sz="2400" i="1" smtClean="0">
                <a:latin typeface="Times New Roman" pitchFamily="18" charset="0"/>
              </a:rPr>
              <a:t> </a:t>
            </a:r>
            <a:r>
              <a:rPr lang="ru-RU" altLang="ru-RU" sz="2400" smtClean="0">
                <a:latin typeface="Times New Roman" pitchFamily="18" charset="0"/>
              </a:rPr>
              <a:t>текста, и номер </a:t>
            </a:r>
            <a:r>
              <a:rPr lang="ru-RU" altLang="ru-RU" sz="2400" b="1" i="1" smtClean="0">
                <a:latin typeface="Times New Roman" pitchFamily="18" charset="0"/>
              </a:rPr>
              <a:t>текущего символа</a:t>
            </a:r>
            <a:r>
              <a:rPr lang="ru-RU" altLang="ru-RU" sz="2400" smtClean="0">
                <a:latin typeface="Times New Roman" pitchFamily="18" charset="0"/>
              </a:rPr>
              <a:t> в строке.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6"/>
          <p:cNvSpPr txBox="1">
            <a:spLocks noGrp="1" noChangeArrowheads="1"/>
          </p:cNvSpPr>
          <p:nvPr/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76763329-CCAB-475E-BFEB-226B958685A4}" type="slidenum">
              <a:rPr lang="ru-RU" altLang="ru-RU" sz="1400"/>
              <a:pPr algn="r" eaLnBrk="1" hangingPunct="1">
                <a:spcBef>
                  <a:spcPct val="0"/>
                </a:spcBef>
                <a:buFontTx/>
                <a:buNone/>
              </a:pPr>
              <a:t>29</a:t>
            </a:fld>
            <a:endParaRPr lang="ru-RU" altLang="ru-RU" sz="1400"/>
          </a:p>
        </p:txBody>
      </p:sp>
      <p:sp>
        <p:nvSpPr>
          <p:cNvPr id="30723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0"/>
            <a:ext cx="8229600" cy="260350"/>
          </a:xfrm>
        </p:spPr>
        <p:txBody>
          <a:bodyPr/>
          <a:lstStyle/>
          <a:p>
            <a:endParaRPr lang="ru-RU" altLang="ru-RU" sz="4000" smtClean="0"/>
          </a:p>
        </p:txBody>
      </p:sp>
      <p:sp>
        <p:nvSpPr>
          <p:cNvPr id="30724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404813"/>
            <a:ext cx="8435975" cy="6119812"/>
          </a:xfrm>
        </p:spPr>
        <p:txBody>
          <a:bodyPr/>
          <a:lstStyle/>
          <a:p>
            <a:pPr>
              <a:lnSpc>
                <a:spcPct val="90000"/>
              </a:lnSpc>
              <a:buFontTx/>
              <a:buNone/>
            </a:pPr>
            <a:r>
              <a:rPr lang="ru-RU" altLang="ru-RU" sz="2400" b="1" smtClean="0">
                <a:solidFill>
                  <a:schemeClr val="accent2"/>
                </a:solidFill>
              </a:rPr>
              <a:t>Ошибки при работе </a:t>
            </a:r>
            <a:r>
              <a:rPr lang="en-US" altLang="ru-RU" sz="2400" b="1" smtClean="0">
                <a:solidFill>
                  <a:schemeClr val="accent2"/>
                </a:solidFill>
              </a:rPr>
              <a:t>LL</a:t>
            </a:r>
            <a:r>
              <a:rPr lang="ru-RU" altLang="ru-RU" sz="2400" b="1" smtClean="0">
                <a:solidFill>
                  <a:schemeClr val="accent2"/>
                </a:solidFill>
              </a:rPr>
              <a:t>(1)-распознавателя: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ru-RU" altLang="ru-RU" sz="2400" smtClean="0"/>
              <a:t>- если верхний символ в магазине – терминал, и при проверке на его совпадение с входной лексемой обнаружено несоответствие;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ru-RU" altLang="ru-RU" sz="2400" smtClean="0"/>
              <a:t>- если верхний символ в магазине – нетерминал, и входная лексема такова, что  в таблице </a:t>
            </a:r>
            <a:r>
              <a:rPr lang="en-US" altLang="ru-RU" sz="2400" smtClean="0"/>
              <a:t>LL</a:t>
            </a:r>
            <a:r>
              <a:rPr lang="ru-RU" altLang="ru-RU" sz="2400" smtClean="0"/>
              <a:t>(1)-распознавателя на пересечении строки и столбца – ошибка.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ru-RU" altLang="ru-RU" sz="2400" b="1" smtClean="0">
                <a:solidFill>
                  <a:schemeClr val="accent2"/>
                </a:solidFill>
              </a:rPr>
              <a:t>Ошибки при работе семантических программ генератора ОПС: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ru-RU" altLang="ru-RU" sz="2400" smtClean="0"/>
              <a:t>- если при анализе описаний переменных обнаружено имя, совпадающее с уже имеющемся в таблице именем;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ru-RU" altLang="ru-RU" sz="2400" smtClean="0"/>
              <a:t>- если при анализе выражений обнаружено имя, не совпадающее ни с одним из имеющихся в таблице именем.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6"/>
          <p:cNvSpPr txBox="1">
            <a:spLocks noGrp="1" noChangeArrowheads="1"/>
          </p:cNvSpPr>
          <p:nvPr/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D422EA5F-EF98-4A33-8C3A-37BE9639699D}" type="slidenum">
              <a:rPr lang="ru-RU" altLang="ru-RU" sz="1400"/>
              <a:pPr algn="r" eaLnBrk="1" hangingPunct="1">
                <a:spcBef>
                  <a:spcPct val="0"/>
                </a:spcBef>
                <a:buFontTx/>
                <a:buNone/>
              </a:pPr>
              <a:t>30</a:t>
            </a:fld>
            <a:endParaRPr lang="ru-RU" altLang="ru-RU" sz="1400"/>
          </a:p>
        </p:txBody>
      </p:sp>
      <p:sp>
        <p:nvSpPr>
          <p:cNvPr id="31747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0"/>
            <a:ext cx="8229600" cy="260350"/>
          </a:xfrm>
        </p:spPr>
        <p:txBody>
          <a:bodyPr/>
          <a:lstStyle/>
          <a:p>
            <a:endParaRPr lang="ru-RU" altLang="ru-RU" sz="4000" smtClean="0"/>
          </a:p>
        </p:txBody>
      </p:sp>
      <p:sp>
        <p:nvSpPr>
          <p:cNvPr id="31748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404813"/>
            <a:ext cx="8435975" cy="6119812"/>
          </a:xfrm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При обнаружении ошибки выдается сообщение о виде ошибки и месте ошибочного символа во входном тексте (номер </a:t>
            </a:r>
            <a:r>
              <a:rPr lang="ru-RU" altLang="ru-RU" sz="2400" b="1" i="1" smtClean="0">
                <a:latin typeface="Times New Roman" pitchFamily="18" charset="0"/>
              </a:rPr>
              <a:t>текущей строки</a:t>
            </a:r>
            <a:r>
              <a:rPr lang="ru-RU" altLang="ru-RU" sz="2400" i="1" smtClean="0">
                <a:latin typeface="Times New Roman" pitchFamily="18" charset="0"/>
              </a:rPr>
              <a:t> </a:t>
            </a:r>
            <a:r>
              <a:rPr lang="ru-RU" altLang="ru-RU" sz="2400" smtClean="0">
                <a:latin typeface="Times New Roman" pitchFamily="18" charset="0"/>
              </a:rPr>
              <a:t>текста, и номер </a:t>
            </a:r>
            <a:r>
              <a:rPr lang="ru-RU" altLang="ru-RU" sz="2400" b="1" i="1" smtClean="0">
                <a:latin typeface="Times New Roman" pitchFamily="18" charset="0"/>
              </a:rPr>
              <a:t>текущего символа</a:t>
            </a:r>
            <a:r>
              <a:rPr lang="ru-RU" altLang="ru-RU" sz="2400" smtClean="0">
                <a:latin typeface="Times New Roman" pitchFamily="18" charset="0"/>
              </a:rPr>
              <a:t> в строке). 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Если ошибок не обнаружено, то ОПС будет полностью сгенерирована, и её можно выполнять интерпретатором.</a:t>
            </a:r>
            <a:r>
              <a:rPr lang="ru-RU" altLang="ru-RU" sz="2400" smtClean="0"/>
              <a:t> 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ru-RU" altLang="ru-RU" sz="2400" b="1" smtClean="0">
                <a:solidFill>
                  <a:schemeClr val="accent2"/>
                </a:solidFill>
              </a:rPr>
              <a:t>Ошибки при работе интерпретатора,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ru-RU" altLang="ru-RU" sz="2400" smtClean="0"/>
              <a:t>если невозможно выполнить очередную операцию: 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ru-RU" altLang="ru-RU" sz="2400" smtClean="0"/>
              <a:t>- недопустимый тип операнда для данной операции;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ru-RU" altLang="ru-RU" sz="2400" smtClean="0"/>
              <a:t>- недопустимое значение арифметической операции (переполнение, деление на 0); 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ru-RU" altLang="ru-RU" sz="2400" smtClean="0"/>
              <a:t>- индекс выходит за пределы границ массива.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ru-RU" altLang="ru-RU" sz="2400" smtClean="0"/>
              <a:t>Для диагностики в начале выполнения операции необходимо предусмотреть проверку операндов! 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ru-RU" altLang="ru-RU" sz="2400" smtClean="0"/>
              <a:t>Для локализации ошибки можно при генерации ОПС для каждой операции в ОПС создать ссылку на входной текст </a:t>
            </a:r>
            <a:r>
              <a:rPr lang="ru-RU" altLang="ru-RU" sz="2400" smtClean="0">
                <a:latin typeface="Times New Roman" pitchFamily="18" charset="0"/>
              </a:rPr>
              <a:t>(номер </a:t>
            </a:r>
            <a:r>
              <a:rPr lang="ru-RU" altLang="ru-RU" sz="2400" b="1" i="1" smtClean="0">
                <a:latin typeface="Times New Roman" pitchFamily="18" charset="0"/>
              </a:rPr>
              <a:t>текущей строки</a:t>
            </a:r>
            <a:r>
              <a:rPr lang="ru-RU" altLang="ru-RU" sz="2400" i="1" smtClean="0">
                <a:latin typeface="Times New Roman" pitchFamily="18" charset="0"/>
              </a:rPr>
              <a:t> </a:t>
            </a:r>
            <a:r>
              <a:rPr lang="ru-RU" altLang="ru-RU" sz="2400" smtClean="0">
                <a:latin typeface="Times New Roman" pitchFamily="18" charset="0"/>
              </a:rPr>
              <a:t>текста, и номер </a:t>
            </a:r>
            <a:r>
              <a:rPr lang="ru-RU" altLang="ru-RU" sz="2400" b="1" i="1" smtClean="0">
                <a:latin typeface="Times New Roman" pitchFamily="18" charset="0"/>
              </a:rPr>
              <a:t>текущего символа</a:t>
            </a:r>
            <a:r>
              <a:rPr lang="ru-RU" altLang="ru-RU" sz="2400" smtClean="0">
                <a:latin typeface="Times New Roman" pitchFamily="18" charset="0"/>
              </a:rPr>
              <a:t> в строке). </a:t>
            </a:r>
            <a:endParaRPr lang="ru-RU" altLang="ru-RU" sz="240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Оформление по умолчанию">
  <a:themeElements>
    <a:clrScheme name="Оформление по умолчанию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Оформление по умолчанию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Оформление по умолчанию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формление по умолчанию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формление по умолчанию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формление по умолчанию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формление по умолчанию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формление по умолчанию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формление по умолчанию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3943</TotalTime>
  <Words>1725</Words>
  <Application>Microsoft Office PowerPoint</Application>
  <PresentationFormat>Экран (4:3)</PresentationFormat>
  <Paragraphs>437</Paragraphs>
  <Slides>30</Slides>
  <Notes>1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30</vt:i4>
      </vt:variant>
    </vt:vector>
  </HeadingPairs>
  <TitlesOfParts>
    <vt:vector size="31" baseType="lpstr">
      <vt:lpstr>Оформление по умолчанию</vt:lpstr>
      <vt:lpstr>ТОМСКИЙ ГОСУДАРСТВЕННЫЙ УНИВЕРСИТЕТ </vt:lpstr>
      <vt:lpstr>Грамматика со сравнениями</vt:lpstr>
      <vt:lpstr>Грамматика с условными операторами</vt:lpstr>
      <vt:lpstr>Грамматика с циклами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Грамматика с составными операторами </vt:lpstr>
      <vt:lpstr>Грамматика с операторами  ввода и вывода </vt:lpstr>
      <vt:lpstr>Презентация PowerPoint</vt:lpstr>
      <vt:lpstr>Распределение памяти и описание переменных </vt:lpstr>
      <vt:lpstr>Грамматика с описаниями переменных </vt:lpstr>
      <vt:lpstr>Презентация PowerPoint</vt:lpstr>
      <vt:lpstr>Презентация PowerPoint</vt:lpstr>
      <vt:lpstr>Презентация PowerPoint</vt:lpstr>
      <vt:lpstr>Динамическое выделение памяти</vt:lpstr>
      <vt:lpstr>Выполнение операций m1 и m2 при работе интерпретатора </vt:lpstr>
      <vt:lpstr>Грамматика с процедурами</vt:lpstr>
      <vt:lpstr>Правила грамматики после факторизации</vt:lpstr>
      <vt:lpstr>Распределение памяти в программе с процедурами</vt:lpstr>
      <vt:lpstr>Управление блоком памяти</vt:lpstr>
      <vt:lpstr>Структура блока памяти для вызова процедуры</vt:lpstr>
      <vt:lpstr>Операции ОПС для вызова процедуры</vt:lpstr>
      <vt:lpstr>Операции ОПС при выполнении процедуры</vt:lpstr>
      <vt:lpstr>Обработка ошибок при трансляции и выполнении программы </vt:lpstr>
      <vt:lpstr>Презентация PowerPoint</vt:lpstr>
      <vt:lpstr>Презентация PowerPoint</vt:lpstr>
    </vt:vector>
  </TitlesOfParts>
  <Company>ТГУ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ТЕОРИЯ АВТОМАТОВ И ФОРМАЛЬНЫХ ЯЗЫКОВ</dc:title>
  <dc:creator>Вход</dc:creator>
  <cp:lastModifiedBy>User</cp:lastModifiedBy>
  <cp:revision>113</cp:revision>
  <dcterms:created xsi:type="dcterms:W3CDTF">2009-09-02T15:38:32Z</dcterms:created>
  <dcterms:modified xsi:type="dcterms:W3CDTF">2024-02-03T16:48:09Z</dcterms:modified>
</cp:coreProperties>
</file>