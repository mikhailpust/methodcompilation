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65" r:id="rId2"/>
    <p:sldId id="322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5" r:id="rId15"/>
    <p:sldId id="363" r:id="rId16"/>
    <p:sldId id="336" r:id="rId17"/>
    <p:sldId id="364" r:id="rId18"/>
    <p:sldId id="334" r:id="rId1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120" y="-15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D9D9AE2-C35C-4677-B90F-DF82419F67FE}" type="datetimeFigureOut">
              <a:rPr lang="ru-RU"/>
              <a:pPr>
                <a:defRPr/>
              </a:pPr>
              <a:t>03.02.2024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31E07DA-D2CF-417D-AFBB-2B4FB858273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318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21508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5BCEFB-365F-40A8-A630-34D056600E71}" type="slidenum">
              <a:rPr lang="ru-RU" altLang="ru-RU">
                <a:latin typeface="Arial" charset="0"/>
              </a:rPr>
              <a:pPr algn="r" eaLnBrk="1" hangingPunct="1">
                <a:spcBef>
                  <a:spcPct val="0"/>
                </a:spcBef>
              </a:pPr>
              <a:t>1</a:t>
            </a:fld>
            <a:endParaRPr lang="ru-RU" altLang="ru-RU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95650-C1AE-44BC-BF70-8BE3906DD75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733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88DD0-A6A5-404F-80AA-BEDA0FDAAE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417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657CF-4D2C-4116-8377-0945BF72588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293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0AEE69-3C30-4F60-87AC-C27CC0DD152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245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6CEE6-CB15-4127-B7A7-ECAC2FBB16C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45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E5F6-DD9F-470C-AA0B-998DB1E22E0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55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EA4DF-AB63-456B-A0A3-8772C8EB468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07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5299BA-98D8-418C-9F90-5707739967A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93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03C7-C6A3-4456-A9E3-D2F7D80C7C3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92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8B3C0-9771-4A9B-8DA6-350F7CA2152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62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819CE-BA62-4F52-80EE-6CDCBD9B8C0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75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8A0A2D-539D-4471-A715-852231CE583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2704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9E8F1-24D0-4754-93AE-CB1253B8D94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54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275607F-2614-49E4-8BB7-52EB00E3384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9144000" cy="1512887"/>
          </a:xfrm>
        </p:spPr>
        <p:txBody>
          <a:bodyPr/>
          <a:lstStyle/>
          <a:p>
            <a:r>
              <a:rPr lang="ru-RU" altLang="ru-RU" sz="2800" b="1" smtClean="0"/>
              <a:t>ТОМСКИЙ ГОСУДАРСТВЕННЫЙ УНИВЕРСИТЕТ</a:t>
            </a:r>
            <a:br>
              <a:rPr lang="ru-RU" altLang="ru-RU" sz="2800" b="1" smtClean="0"/>
            </a:br>
            <a:endParaRPr lang="ru-RU" altLang="ru-RU" sz="2800" smtClean="0"/>
          </a:p>
        </p:txBody>
      </p:sp>
      <p:sp>
        <p:nvSpPr>
          <p:cNvPr id="2051" name="Объект 2"/>
          <p:cNvSpPr>
            <a:spLocks noGrp="1"/>
          </p:cNvSpPr>
          <p:nvPr>
            <p:ph idx="4294967295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ru-RU" altLang="ru-RU" dirty="0" smtClean="0"/>
              <a:t>Костюк Ю. Л.</a:t>
            </a:r>
          </a:p>
          <a:p>
            <a:pPr marL="0" indent="0" algn="ctr">
              <a:buFontTx/>
              <a:buNone/>
            </a:pPr>
            <a:endParaRPr lang="ru-RU" altLang="ru-RU" sz="3600" b="1" dirty="0" smtClean="0"/>
          </a:p>
          <a:p>
            <a:pPr marL="0" indent="0" algn="ctr">
              <a:buFontTx/>
              <a:buNone/>
            </a:pPr>
            <a:r>
              <a:rPr lang="ru-RU" altLang="ru-RU" sz="3600" b="1"/>
              <a:t>МЕТОДЫ КОМПИЛЯЦИИ</a:t>
            </a:r>
          </a:p>
          <a:p>
            <a:pPr marL="0" indent="0" algn="ctr" eaLnBrk="1" hangingPunct="1">
              <a:buFontTx/>
              <a:buNone/>
            </a:pPr>
            <a:endParaRPr lang="ru-RU" altLang="ru-RU" sz="3600" b="1" dirty="0" smtClean="0"/>
          </a:p>
          <a:p>
            <a:pPr marL="0" indent="0" algn="ctr" eaLnBrk="1" hangingPunct="1">
              <a:buFontTx/>
              <a:buNone/>
            </a:pPr>
            <a:r>
              <a:rPr lang="ru-RU" altLang="ru-RU" sz="3600" b="1" dirty="0" smtClean="0"/>
              <a:t>Лекция 4</a:t>
            </a:r>
            <a:r>
              <a:rPr lang="ru-RU" altLang="ru-RU" sz="3600" dirty="0" smtClean="0"/>
              <a:t> </a:t>
            </a:r>
          </a:p>
          <a:p>
            <a:pPr marL="0" indent="0" algn="ctr">
              <a:buFontTx/>
              <a:buNone/>
            </a:pPr>
            <a:endParaRPr lang="ru-RU" altLang="ru-RU" sz="3600" dirty="0" smtClean="0"/>
          </a:p>
        </p:txBody>
      </p:sp>
      <p:sp>
        <p:nvSpPr>
          <p:cNvPr id="205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E1EEFF2-1794-46E0-84FB-155D3186CC58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785225" cy="1196975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ОБРАТНАЯ ПОЛЬСКАЯ СТРОКА, КАК ПРОМЕЖУТОЧНАЯ ФОРМА ПРОГРАММЫ</a:t>
            </a:r>
            <a:r>
              <a:rPr lang="ru-RU" altLang="ru-RU" sz="4000" smtClean="0"/>
              <a:t> 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85225" cy="54006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Обратная польская строка (ОПС) является бесскобочной записью арифметических выражений. В ОПС вначале пишутся операнды, а затем – знак операции. При этом операнды могут быть простыми или сложными, т.е. результатами других операций.</a:t>
            </a:r>
            <a:r>
              <a:rPr lang="ru-RU" altLang="ru-RU" sz="2200" smtClean="0"/>
              <a:t> </a:t>
            </a:r>
          </a:p>
          <a:p>
            <a:pPr eaLnBrk="1" hangingPunct="1">
              <a:buFontTx/>
              <a:buNone/>
            </a:pPr>
            <a:r>
              <a:rPr lang="ru-RU" altLang="ru-RU" sz="2200" smtClean="0"/>
              <a:t>		Формула		ОПС</a:t>
            </a:r>
          </a:p>
          <a:p>
            <a:pPr eaLnBrk="1" hangingPunct="1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		</a:t>
            </a:r>
            <a:r>
              <a:rPr lang="en-US" altLang="ru-RU" sz="2200" smtClean="0">
                <a:latin typeface="Times New Roman" pitchFamily="18" charset="0"/>
              </a:rPr>
              <a:t>a + b			a b +</a:t>
            </a:r>
          </a:p>
          <a:p>
            <a:pPr eaLnBrk="1" hangingPunct="1">
              <a:buFontTx/>
              <a:buNone/>
            </a:pPr>
            <a:r>
              <a:rPr lang="en-US" altLang="ru-RU" sz="2200" smtClean="0">
                <a:latin typeface="Times New Roman" pitchFamily="18" charset="0"/>
              </a:rPr>
              <a:t>		a*(c + d)		a c d + *</a:t>
            </a:r>
          </a:p>
          <a:p>
            <a:pPr eaLnBrk="1" hangingPunct="1">
              <a:buFontTx/>
              <a:buNone/>
            </a:pPr>
            <a:r>
              <a:rPr lang="en-US" altLang="ru-RU" sz="2200" smtClean="0">
                <a:latin typeface="Times New Roman" pitchFamily="18" charset="0"/>
              </a:rPr>
              <a:t>		(x + y)*(a*x – b*y)	x y + a x * b y * – *</a:t>
            </a:r>
          </a:p>
          <a:p>
            <a:pPr eaLnBrk="1" hangingPunct="1">
              <a:buFontTx/>
              <a:buNone/>
            </a:pPr>
            <a:r>
              <a:rPr lang="en-US" altLang="ru-RU" sz="2200" smtClean="0">
                <a:latin typeface="Times New Roman" pitchFamily="18" charset="0"/>
              </a:rPr>
              <a:t>		(a + b)*(c – d)		a b + c d – * </a:t>
            </a:r>
          </a:p>
          <a:p>
            <a:pPr eaLnBrk="1" hangingPunct="1">
              <a:buFontTx/>
              <a:buNone/>
            </a:pPr>
            <a:r>
              <a:rPr lang="ru-RU" altLang="ru-RU" sz="2200" b="1" i="1" smtClean="0"/>
              <a:t>Порядок исполнения действий в ОПС полностью определяется местом операций, количество операндов в операции определяется знаком операции. </a:t>
            </a:r>
          </a:p>
          <a:p>
            <a:pPr eaLnBrk="1" hangingPunct="1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При переходе от формулы к ОПС порядок простых операндов </a:t>
            </a:r>
            <a:r>
              <a:rPr lang="ru-RU" altLang="ru-RU" sz="2200" b="1" i="1" smtClean="0">
                <a:latin typeface="Times New Roman" pitchFamily="18" charset="0"/>
              </a:rPr>
              <a:t>не изменяется</a:t>
            </a:r>
            <a:r>
              <a:rPr lang="ru-RU" altLang="ru-RU" sz="2800" b="1" smtClean="0"/>
              <a:t>! </a:t>
            </a:r>
            <a:r>
              <a:rPr lang="ru-RU" altLang="ru-RU" sz="2200" smtClean="0"/>
              <a:t> </a:t>
            </a:r>
          </a:p>
        </p:txBody>
      </p:sp>
      <p:sp>
        <p:nvSpPr>
          <p:cNvPr id="30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7C9294D-4646-4EC2-B7A2-2A6CC4F5DF29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71450"/>
            <a:ext cx="9144000" cy="908050"/>
          </a:xfrm>
        </p:spPr>
        <p:txBody>
          <a:bodyPr/>
          <a:lstStyle/>
          <a:p>
            <a:pPr algn="l" eaLnBrk="1" hangingPunct="1"/>
            <a:r>
              <a:rPr lang="ru-RU" altLang="ru-RU" sz="2800" b="1" smtClean="0">
                <a:solidFill>
                  <a:schemeClr val="accent2"/>
                </a:solidFill>
              </a:rPr>
              <a:t>Вычисление ОПС выполняется интерпретатором</a:t>
            </a:r>
            <a:r>
              <a:rPr lang="ru-RU" altLang="ru-RU" sz="4000" smtClean="0"/>
              <a:t>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229600" cy="575945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100" smtClean="0">
                <a:latin typeface="Times New Roman" pitchFamily="18" charset="0"/>
              </a:rPr>
              <a:t>В интерпретаторе используется магазин, в который записываются значения операндов и результаты вычислений.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100" smtClean="0">
                <a:latin typeface="Times New Roman" pitchFamily="18" charset="0"/>
              </a:rPr>
              <a:t>ОПС просматривается слева направо.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100" smtClean="0">
                <a:latin typeface="Times New Roman" pitchFamily="18" charset="0"/>
              </a:rPr>
              <a:t>Если очередной элемент в ОПС – операнд, то его значение записывается в магазин.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100" smtClean="0">
                <a:latin typeface="Times New Roman" pitchFamily="18" charset="0"/>
              </a:rPr>
              <a:t>Если очередной элемент в ОПС – операция, то из магазина считываются операнды для этой операции, после чего операция выполняется, а ее результат записывается в магазин.</a:t>
            </a:r>
            <a:r>
              <a:rPr lang="ru-RU" altLang="ru-RU" sz="2100" smtClean="0"/>
              <a:t>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100" b="1" smtClean="0"/>
              <a:t>Пример вычисления ОПС          </a:t>
            </a:r>
            <a:r>
              <a:rPr lang="en-US" altLang="ru-RU" sz="2100" b="1" smtClean="0">
                <a:latin typeface="Times New Roman" pitchFamily="18" charset="0"/>
              </a:rPr>
              <a:t>a b + c d – *</a:t>
            </a:r>
            <a:r>
              <a:rPr lang="en-US" altLang="ru-RU" sz="2100" smtClean="0">
                <a:latin typeface="Times New Roman" pitchFamily="18" charset="0"/>
              </a:rPr>
              <a:t> </a:t>
            </a:r>
            <a:endParaRPr lang="ru-RU" altLang="ru-RU" sz="2100" smtClean="0">
              <a:latin typeface="Times New Roman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100" smtClean="0">
                <a:latin typeface="Times New Roman" pitchFamily="18" charset="0"/>
              </a:rPr>
              <a:t>1) в магазин заносится а;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100" smtClean="0">
                <a:latin typeface="Times New Roman" pitchFamily="18" charset="0"/>
              </a:rPr>
              <a:t>2) в магазин заносится </a:t>
            </a:r>
            <a:r>
              <a:rPr lang="en-US" altLang="ru-RU" sz="2100" smtClean="0">
                <a:latin typeface="Times New Roman" pitchFamily="18" charset="0"/>
              </a:rPr>
              <a:t>b</a:t>
            </a:r>
            <a:r>
              <a:rPr lang="ru-RU" altLang="ru-RU" sz="2100" smtClean="0">
                <a:latin typeface="Times New Roman" pitchFamily="18" charset="0"/>
              </a:rPr>
              <a:t>;</a:t>
            </a:r>
            <a:endParaRPr lang="en-US" altLang="ru-RU" sz="2100" smtClean="0">
              <a:latin typeface="Times New Roman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ru-RU" sz="2100" smtClean="0">
                <a:latin typeface="Times New Roman" pitchFamily="18" charset="0"/>
              </a:rPr>
              <a:t>3) </a:t>
            </a:r>
            <a:r>
              <a:rPr lang="ru-RU" altLang="ru-RU" sz="2100" smtClean="0">
                <a:latin typeface="Times New Roman" pitchFamily="18" charset="0"/>
              </a:rPr>
              <a:t>из магазина извлекается </a:t>
            </a:r>
            <a:r>
              <a:rPr lang="en-US" altLang="ru-RU" sz="2100" smtClean="0">
                <a:latin typeface="Times New Roman" pitchFamily="18" charset="0"/>
              </a:rPr>
              <a:t>b, </a:t>
            </a:r>
            <a:r>
              <a:rPr lang="ru-RU" altLang="ru-RU" sz="2100" smtClean="0">
                <a:latin typeface="Times New Roman" pitchFamily="18" charset="0"/>
              </a:rPr>
              <a:t>затем а, выполняется сложение, сумма заносится в магазин;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100" smtClean="0">
                <a:latin typeface="Times New Roman" pitchFamily="18" charset="0"/>
              </a:rPr>
              <a:t>4) в магазин заносится с;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ru-RU" sz="2100" smtClean="0">
                <a:latin typeface="Times New Roman" pitchFamily="18" charset="0"/>
              </a:rPr>
              <a:t>5</a:t>
            </a:r>
            <a:r>
              <a:rPr lang="ru-RU" altLang="ru-RU" sz="2100" smtClean="0">
                <a:latin typeface="Times New Roman" pitchFamily="18" charset="0"/>
              </a:rPr>
              <a:t>) в магазин заносится </a:t>
            </a:r>
            <a:r>
              <a:rPr lang="en-US" altLang="ru-RU" sz="2100" smtClean="0">
                <a:latin typeface="Times New Roman" pitchFamily="18" charset="0"/>
              </a:rPr>
              <a:t>d</a:t>
            </a:r>
            <a:r>
              <a:rPr lang="ru-RU" altLang="ru-RU" sz="2100" smtClean="0">
                <a:latin typeface="Times New Roman" pitchFamily="18" charset="0"/>
              </a:rPr>
              <a:t>;</a:t>
            </a:r>
            <a:endParaRPr lang="en-US" altLang="ru-RU" sz="2100" smtClean="0">
              <a:latin typeface="Times New Roman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ru-RU" sz="2100" smtClean="0">
                <a:latin typeface="Times New Roman" pitchFamily="18" charset="0"/>
              </a:rPr>
              <a:t>6) </a:t>
            </a:r>
            <a:r>
              <a:rPr lang="ru-RU" altLang="ru-RU" sz="2100" smtClean="0">
                <a:latin typeface="Times New Roman" pitchFamily="18" charset="0"/>
              </a:rPr>
              <a:t>из магазина извлекается </a:t>
            </a:r>
            <a:r>
              <a:rPr lang="en-US" altLang="ru-RU" sz="2100" smtClean="0">
                <a:latin typeface="Times New Roman" pitchFamily="18" charset="0"/>
              </a:rPr>
              <a:t>d, </a:t>
            </a:r>
            <a:r>
              <a:rPr lang="ru-RU" altLang="ru-RU" sz="2100" smtClean="0">
                <a:latin typeface="Times New Roman" pitchFamily="18" charset="0"/>
              </a:rPr>
              <a:t>затем </a:t>
            </a:r>
            <a:r>
              <a:rPr lang="en-US" altLang="ru-RU" sz="2100" smtClean="0">
                <a:latin typeface="Times New Roman" pitchFamily="18" charset="0"/>
              </a:rPr>
              <a:t>c</a:t>
            </a:r>
            <a:r>
              <a:rPr lang="ru-RU" altLang="ru-RU" sz="2100" smtClean="0">
                <a:latin typeface="Times New Roman" pitchFamily="18" charset="0"/>
              </a:rPr>
              <a:t>, выполняется вычитание с – </a:t>
            </a:r>
            <a:r>
              <a:rPr lang="en-US" altLang="ru-RU" sz="2100" smtClean="0">
                <a:latin typeface="Times New Roman" pitchFamily="18" charset="0"/>
              </a:rPr>
              <a:t>d</a:t>
            </a:r>
            <a:r>
              <a:rPr lang="ru-RU" altLang="ru-RU" sz="2100" smtClean="0">
                <a:latin typeface="Times New Roman" pitchFamily="18" charset="0"/>
              </a:rPr>
              <a:t>,</a:t>
            </a:r>
            <a:r>
              <a:rPr lang="en-US" altLang="ru-RU" sz="2100" smtClean="0">
                <a:latin typeface="Times New Roman" pitchFamily="18" charset="0"/>
              </a:rPr>
              <a:t> </a:t>
            </a:r>
            <a:r>
              <a:rPr lang="ru-RU" altLang="ru-RU" sz="2100" smtClean="0">
                <a:latin typeface="Times New Roman" pitchFamily="18" charset="0"/>
              </a:rPr>
              <a:t> разность заносится в магазин;</a:t>
            </a:r>
            <a:endParaRPr lang="en-US" altLang="ru-RU" sz="2100" smtClean="0">
              <a:latin typeface="Times New Roman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ru-RU" sz="2100" smtClean="0">
                <a:latin typeface="Times New Roman" pitchFamily="18" charset="0"/>
              </a:rPr>
              <a:t>7) </a:t>
            </a:r>
            <a:r>
              <a:rPr lang="ru-RU" altLang="ru-RU" sz="2100" smtClean="0">
                <a:latin typeface="Times New Roman" pitchFamily="18" charset="0"/>
              </a:rPr>
              <a:t>из магазина извлекаются два числа (сумма и разность), выполняется умножение,</a:t>
            </a:r>
            <a:r>
              <a:rPr lang="en-US" altLang="ru-RU" sz="2100" smtClean="0">
                <a:latin typeface="Times New Roman" pitchFamily="18" charset="0"/>
              </a:rPr>
              <a:t> </a:t>
            </a:r>
            <a:r>
              <a:rPr lang="ru-RU" altLang="ru-RU" sz="2100" smtClean="0">
                <a:latin typeface="Times New Roman" pitchFamily="18" charset="0"/>
              </a:rPr>
              <a:t> результат заносится в магазин.</a:t>
            </a:r>
          </a:p>
        </p:txBody>
      </p:sp>
      <p:sp>
        <p:nvSpPr>
          <p:cNvPr id="410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A9B62FF-E918-4769-9880-DA8472A03A1F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92150"/>
          </a:xfrm>
        </p:spPr>
        <p:txBody>
          <a:bodyPr/>
          <a:lstStyle/>
          <a:p>
            <a:pPr eaLnBrk="1" hangingPunct="1"/>
            <a:r>
              <a:rPr lang="ru-RU" altLang="ru-RU" sz="3000" smtClean="0">
                <a:solidFill>
                  <a:schemeClr val="accent2"/>
                </a:solidFill>
              </a:rPr>
              <a:t>Генерация ОПС для арифметических выражений</a:t>
            </a:r>
            <a:r>
              <a:rPr lang="ru-RU" altLang="ru-RU" sz="4000" smtClean="0"/>
              <a:t>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765175"/>
            <a:ext cx="8569325" cy="58324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b="1" smtClean="0">
                <a:latin typeface="Times New Roman" pitchFamily="18" charset="0"/>
              </a:rPr>
              <a:t>Генерация</a:t>
            </a:r>
            <a:r>
              <a:rPr lang="ru-RU" altLang="ru-RU" sz="2200" smtClean="0">
                <a:latin typeface="Times New Roman" pitchFamily="18" charset="0"/>
              </a:rPr>
              <a:t> ОПС</a:t>
            </a:r>
            <a:r>
              <a:rPr lang="en-US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выполняется одновременно с действиями </a:t>
            </a:r>
            <a:r>
              <a:rPr lang="en-US" altLang="ru-RU" sz="2200" smtClean="0">
                <a:latin typeface="Times New Roman" pitchFamily="18" charset="0"/>
              </a:rPr>
              <a:t>LL</a:t>
            </a:r>
            <a:r>
              <a:rPr lang="ru-RU" altLang="ru-RU" sz="2200" smtClean="0">
                <a:latin typeface="Times New Roman" pitchFamily="18" charset="0"/>
              </a:rPr>
              <a:t>(1)-анализатора, для этого наряду с таблицей анализатора необходима таблица генератора, в которой записываются семантические действия по генерации элементов ОПС. При этом каждой правой части правил порождения соответствует последовательность семантических действий, количество которых </a:t>
            </a:r>
            <a:r>
              <a:rPr lang="ru-RU" altLang="ru-RU" sz="2200" b="1" i="1" smtClean="0">
                <a:latin typeface="Times New Roman" pitchFamily="18" charset="0"/>
              </a:rPr>
              <a:t>в точности совпадает</a:t>
            </a:r>
            <a:r>
              <a:rPr lang="ru-RU" altLang="ru-RU" sz="2200" smtClean="0">
                <a:latin typeface="Times New Roman" pitchFamily="18" charset="0"/>
              </a:rPr>
              <a:t> с длиной правой части.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В процессе генерации ОПС используется </a:t>
            </a:r>
            <a:r>
              <a:rPr lang="ru-RU" altLang="ru-RU" sz="2200" b="1" i="1" smtClean="0">
                <a:latin typeface="Times New Roman" pitchFamily="18" charset="0"/>
              </a:rPr>
              <a:t>дополнительный магазин</a:t>
            </a:r>
            <a:r>
              <a:rPr lang="ru-RU" altLang="ru-RU" sz="2200" smtClean="0">
                <a:latin typeface="Times New Roman" pitchFamily="18" charset="0"/>
              </a:rPr>
              <a:t>, занесение в него и извлечение семантических действий выполняется синхронно с магазином </a:t>
            </a:r>
            <a:r>
              <a:rPr lang="en-US" altLang="ru-RU" sz="2200" smtClean="0">
                <a:latin typeface="Times New Roman" pitchFamily="18" charset="0"/>
              </a:rPr>
              <a:t>LL</a:t>
            </a:r>
            <a:r>
              <a:rPr lang="ru-RU" altLang="ru-RU" sz="2200" smtClean="0">
                <a:latin typeface="Times New Roman" pitchFamily="18" charset="0"/>
              </a:rPr>
              <a:t>(1)-анализатора.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b="1" smtClean="0">
                <a:latin typeface="Times New Roman" pitchFamily="18" charset="0"/>
              </a:rPr>
              <a:t>Семантические действия</a:t>
            </a:r>
            <a:r>
              <a:rPr lang="ru-RU" altLang="ru-RU" sz="2200" smtClean="0">
                <a:latin typeface="Times New Roman" pitchFamily="18" charset="0"/>
              </a:rPr>
              <a:t> выполняются при их извлечении из дополнительного магазина. Они обозначены символами: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     □ </a:t>
            </a:r>
            <a:r>
              <a:rPr lang="en-US" altLang="ru-RU" sz="2200" smtClean="0">
                <a:latin typeface="Times New Roman" pitchFamily="18" charset="0"/>
              </a:rPr>
              <a:t>–</a:t>
            </a:r>
            <a:r>
              <a:rPr lang="ru-RU" altLang="ru-RU" sz="2200" smtClean="0">
                <a:latin typeface="Times New Roman" pitchFamily="18" charset="0"/>
              </a:rPr>
              <a:t> пустое   действие;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     </a:t>
            </a:r>
            <a:r>
              <a:rPr lang="ru-RU" altLang="ru-RU" sz="2200" i="1" smtClean="0">
                <a:latin typeface="Times New Roman" pitchFamily="18" charset="0"/>
              </a:rPr>
              <a:t>а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en-US" altLang="ru-RU" sz="2200" smtClean="0">
                <a:latin typeface="Times New Roman" pitchFamily="18" charset="0"/>
              </a:rPr>
              <a:t>–</a:t>
            </a:r>
            <a:r>
              <a:rPr lang="ru-RU" altLang="ru-RU" sz="2200" smtClean="0">
                <a:latin typeface="Times New Roman" pitchFamily="18" charset="0"/>
              </a:rPr>
              <a:t> запись в ОПС операнда из входной цепочки, распознанного  	лексическим анализатором (переменной или константы);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     + </a:t>
            </a:r>
            <a:r>
              <a:rPr lang="en-US" altLang="ru-RU" sz="2200" smtClean="0">
                <a:latin typeface="Times New Roman" pitchFamily="18" charset="0"/>
              </a:rPr>
              <a:t>–</a:t>
            </a:r>
            <a:r>
              <a:rPr lang="ru-RU" altLang="ru-RU" sz="2200" smtClean="0">
                <a:latin typeface="Times New Roman" pitchFamily="18" charset="0"/>
              </a:rPr>
              <a:t> запись в ОПС операции сложения;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     * </a:t>
            </a:r>
            <a:r>
              <a:rPr lang="en-US" altLang="ru-RU" sz="2200" smtClean="0">
                <a:latin typeface="Times New Roman" pitchFamily="18" charset="0"/>
              </a:rPr>
              <a:t>–</a:t>
            </a:r>
            <a:r>
              <a:rPr lang="ru-RU" altLang="ru-RU" sz="2200" smtClean="0">
                <a:latin typeface="Times New Roman" pitchFamily="18" charset="0"/>
              </a:rPr>
              <a:t> запись в ОПС операции умножения;</a:t>
            </a:r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D860B68-AC29-4207-B6D6-D43E160C8082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30175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260350"/>
            <a:ext cx="8497888" cy="86518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/>
              <a:t>Пример. </a:t>
            </a:r>
            <a:r>
              <a:rPr lang="en-US" altLang="ru-RU" sz="2400" smtClean="0">
                <a:latin typeface="Times New Roman" pitchFamily="18" charset="0"/>
              </a:rPr>
              <a:t>LL</a:t>
            </a:r>
            <a:r>
              <a:rPr lang="ru-RU" altLang="ru-RU" sz="2400" smtClean="0">
                <a:latin typeface="Times New Roman" pitchFamily="18" charset="0"/>
              </a:rPr>
              <a:t>(1)-анализатор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грамматики простых арифметических выражений, совмещенный с генератором ОПС</a:t>
            </a:r>
            <a:r>
              <a:rPr lang="ru-RU" altLang="ru-RU" sz="2400" i="1" smtClean="0">
                <a:latin typeface="Times New Roman" pitchFamily="18" charset="0"/>
              </a:rPr>
              <a:t>	</a:t>
            </a:r>
          </a:p>
        </p:txBody>
      </p:sp>
      <p:graphicFrame>
        <p:nvGraphicFramePr>
          <p:cNvPr id="6213" name="Group 69"/>
          <p:cNvGraphicFramePr>
            <a:graphicFrameLocks noGrp="1"/>
          </p:cNvGraphicFramePr>
          <p:nvPr>
            <p:ph sz="half" idx="2"/>
          </p:nvPr>
        </p:nvGraphicFramePr>
        <p:xfrm>
          <a:off x="611188" y="1341438"/>
          <a:ext cx="7848600" cy="4937244"/>
        </p:xfrm>
        <a:graphic>
          <a:graphicData uri="http://schemas.openxmlformats.org/drawingml/2006/table">
            <a:tbl>
              <a:tblPr/>
              <a:tblGrid>
                <a:gridCol w="1120775"/>
                <a:gridCol w="1122362"/>
                <a:gridCol w="1120775"/>
                <a:gridCol w="1120775"/>
                <a:gridCol w="1120775"/>
                <a:gridCol w="1122363"/>
                <a:gridCol w="1120775"/>
              </a:tblGrid>
              <a:tr h="457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6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□□□□□</a:t>
                      </a: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6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 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6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□□□□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6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6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06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6804025" y="6308725"/>
            <a:ext cx="2133600" cy="476250"/>
          </a:xfr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1CCAC68-0A76-4AD3-8847-CFB2C479B45B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520700"/>
          </a:xfrm>
        </p:spPr>
        <p:txBody>
          <a:bodyPr/>
          <a:lstStyle/>
          <a:p>
            <a:pPr algn="l" eaLnBrk="1" hangingPunct="1"/>
            <a:r>
              <a:rPr lang="ru-RU" altLang="ru-RU" sz="2200" smtClean="0"/>
              <a:t>Пример. Анализ цепочки </a:t>
            </a:r>
            <a:r>
              <a:rPr lang="en-US" altLang="ru-RU" sz="22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2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altLang="ru-RU" sz="22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ru-RU" sz="22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altLang="ru-RU" sz="22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2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* </a:t>
            </a:r>
            <a:r>
              <a:rPr lang="en-US" altLang="ru-RU" sz="22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ru-RU" sz="22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200" baseline="-25000" smtClean="0"/>
              <a:t>┴</a:t>
            </a:r>
            <a:r>
              <a:rPr lang="ru-RU" altLang="ru-RU" sz="2200" i="1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altLang="ru-RU" sz="2200" smtClean="0">
                <a:solidFill>
                  <a:srgbClr val="000000"/>
                </a:solidFill>
              </a:rPr>
              <a:t>и генерация ОПС</a:t>
            </a:r>
            <a:endParaRPr lang="ru-RU" altLang="ru-RU" sz="2200" i="1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7403" name="Group 235"/>
          <p:cNvGraphicFramePr>
            <a:graphicFrameLocks noGrp="1"/>
          </p:cNvGraphicFramePr>
          <p:nvPr>
            <p:ph idx="1"/>
          </p:nvPr>
        </p:nvGraphicFramePr>
        <p:xfrm>
          <a:off x="468313" y="476250"/>
          <a:ext cx="8351837" cy="6205532"/>
        </p:xfrm>
        <a:graphic>
          <a:graphicData uri="http://schemas.openxmlformats.org/drawingml/2006/table">
            <a:tbl>
              <a:tblPr/>
              <a:tblGrid>
                <a:gridCol w="1152525"/>
                <a:gridCol w="1439862"/>
                <a:gridCol w="1368425"/>
                <a:gridCol w="1584325"/>
                <a:gridCol w="1438275"/>
                <a:gridCol w="1368425"/>
              </a:tblGrid>
              <a:tr h="41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№ шага 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Вход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Магазин 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Правило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Генератор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ОПС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4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* 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 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aVU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 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b * c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aVU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b * c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VU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 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b * c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 + 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b * c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 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 * c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 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 * c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aVU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 b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VU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 * 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 b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FVU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*+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 b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FVU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*+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 b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aVU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*+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 b c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VU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 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*+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 b c *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 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 b c * +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 b c * +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85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7010400" y="6165850"/>
            <a:ext cx="2133600" cy="476250"/>
          </a:xfr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D27962A-0FE6-4F20-89D4-7976EF83CE06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6613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latin typeface="Times New Roman" pitchFamily="18" charset="0"/>
              </a:rPr>
              <a:t>Грамматика с дополнительными операциями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229600" cy="56165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smtClean="0"/>
              <a:t>Операция вычитания в грамматике аналогична операции сложения, а операция деления </a:t>
            </a:r>
            <a:r>
              <a:rPr lang="ru-RU" altLang="ru-RU" sz="2200" smtClean="0">
                <a:cs typeface="Arial" charset="0"/>
              </a:rPr>
              <a:t>– операции умножения: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200" i="1" smtClean="0">
                <a:latin typeface="Times New Roman" pitchFamily="18" charset="0"/>
              </a:rPr>
              <a:t>S</a:t>
            </a:r>
            <a:r>
              <a:rPr lang="ru-RU" altLang="ru-RU" sz="2200" smtClean="0">
                <a:latin typeface="Times New Roman" pitchFamily="18" charset="0"/>
              </a:rPr>
              <a:t> → </a:t>
            </a:r>
            <a:r>
              <a:rPr lang="en-US" altLang="ru-RU" sz="2200" i="1" smtClean="0">
                <a:latin typeface="Times New Roman" pitchFamily="18" charset="0"/>
              </a:rPr>
              <a:t>S </a:t>
            </a:r>
            <a:r>
              <a:rPr lang="ru-RU" altLang="ru-RU" sz="2200" smtClean="0">
                <a:latin typeface="Times New Roman" pitchFamily="18" charset="0"/>
              </a:rPr>
              <a:t>– </a:t>
            </a:r>
            <a:r>
              <a:rPr lang="en-US" altLang="ru-RU" sz="2200" i="1" smtClean="0">
                <a:latin typeface="Times New Roman" pitchFamily="18" charset="0"/>
              </a:rPr>
              <a:t>T</a:t>
            </a:r>
            <a:r>
              <a:rPr lang="en-US" altLang="ru-RU" sz="2200" smtClean="0">
                <a:latin typeface="Times New Roman" pitchFamily="18" charset="0"/>
              </a:rPr>
              <a:t> </a:t>
            </a:r>
            <a:endParaRPr lang="en-US" altLang="ru-RU" sz="2200" i="1" smtClean="0">
              <a:latin typeface="Times New Roman" pitchFamily="18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ru-RU" sz="2200" i="1" smtClean="0">
                <a:latin typeface="Times New Roman" pitchFamily="18" charset="0"/>
              </a:rPr>
              <a:t>T</a:t>
            </a:r>
            <a:r>
              <a:rPr lang="en-US" altLang="ru-RU" sz="2200" smtClean="0">
                <a:latin typeface="Times New Roman" pitchFamily="18" charset="0"/>
              </a:rPr>
              <a:t> → </a:t>
            </a:r>
            <a:r>
              <a:rPr lang="en-US" altLang="ru-RU" sz="2200" i="1" smtClean="0">
                <a:latin typeface="Times New Roman" pitchFamily="18" charset="0"/>
              </a:rPr>
              <a:t>T </a:t>
            </a:r>
            <a:r>
              <a:rPr lang="ru-RU" altLang="ru-RU" sz="2200" i="1" smtClean="0">
                <a:latin typeface="Times New Roman" pitchFamily="18" charset="0"/>
              </a:rPr>
              <a:t>/</a:t>
            </a:r>
            <a:r>
              <a:rPr lang="en-US" altLang="ru-RU" sz="2200" smtClean="0">
                <a:latin typeface="Times New Roman" pitchFamily="18" charset="0"/>
              </a:rPr>
              <a:t> </a:t>
            </a:r>
            <a:r>
              <a:rPr lang="en-US" altLang="ru-RU" sz="2200" i="1" smtClean="0">
                <a:latin typeface="Times New Roman" pitchFamily="18" charset="0"/>
              </a:rPr>
              <a:t>F</a:t>
            </a:r>
            <a:r>
              <a:rPr lang="en-US" altLang="ru-RU" sz="2200" smtClean="0">
                <a:latin typeface="Times New Roman" pitchFamily="18" charset="0"/>
              </a:rPr>
              <a:t> </a:t>
            </a:r>
            <a:endParaRPr lang="ru-RU" altLang="ru-RU" sz="2200" smtClean="0">
              <a:cs typeface="Arial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smtClean="0"/>
              <a:t>Унарные операции (+ и –) требуют дополнительных нетерминалов и порождающих правил: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i="1" smtClean="0">
                <a:latin typeface="Times New Roman" pitchFamily="18" charset="0"/>
              </a:rPr>
              <a:t>				        </a:t>
            </a:r>
            <a:r>
              <a:rPr lang="en-US" altLang="ru-RU" sz="2200" i="1" smtClean="0">
                <a:latin typeface="Times New Roman" pitchFamily="18" charset="0"/>
              </a:rPr>
              <a:t>F</a:t>
            </a:r>
            <a:r>
              <a:rPr lang="pt-BR" altLang="ru-RU" sz="2200" smtClean="0">
                <a:latin typeface="Times New Roman" pitchFamily="18" charset="0"/>
              </a:rPr>
              <a:t> </a:t>
            </a:r>
            <a:r>
              <a:rPr lang="ru-RU" altLang="ru-RU" sz="2200" smtClean="0">
                <a:latin typeface="Times New Roman" pitchFamily="18" charset="0"/>
              </a:rPr>
              <a:t>→</a:t>
            </a:r>
            <a:r>
              <a:rPr lang="pt-BR" altLang="ru-RU" sz="2200" smtClean="0">
                <a:latin typeface="Times New Roman" pitchFamily="18" charset="0"/>
              </a:rPr>
              <a:t> </a:t>
            </a:r>
            <a:r>
              <a:rPr lang="ru-RU" altLang="ru-RU" sz="2200" smtClean="0">
                <a:latin typeface="Times New Roman" pitchFamily="18" charset="0"/>
              </a:rPr>
              <a:t>+</a:t>
            </a:r>
            <a:r>
              <a:rPr lang="en-US" altLang="ru-RU" sz="2200" i="1" smtClean="0">
                <a:latin typeface="Times New Roman" pitchFamily="18" charset="0"/>
              </a:rPr>
              <a:t>G </a:t>
            </a:r>
            <a:r>
              <a:rPr lang="pt-BR" altLang="ru-RU" sz="2200" smtClean="0">
                <a:latin typeface="Times New Roman" pitchFamily="18" charset="0"/>
              </a:rPr>
              <a:t>| </a:t>
            </a:r>
            <a:r>
              <a:rPr lang="ru-RU" altLang="ru-RU" sz="2200" smtClean="0">
                <a:latin typeface="Times New Roman" pitchFamily="18" charset="0"/>
              </a:rPr>
              <a:t>–</a:t>
            </a:r>
            <a:r>
              <a:rPr lang="pt-BR" altLang="ru-RU" sz="2200" i="1" smtClean="0">
                <a:latin typeface="Times New Roman" pitchFamily="18" charset="0"/>
              </a:rPr>
              <a:t>GZ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i="1" smtClean="0">
                <a:latin typeface="Times New Roman" pitchFamily="18" charset="0"/>
              </a:rPr>
              <a:t>				        </a:t>
            </a:r>
            <a:r>
              <a:rPr lang="pt-BR" altLang="ru-RU" sz="2200" i="1" smtClean="0">
                <a:latin typeface="Times New Roman" pitchFamily="18" charset="0"/>
              </a:rPr>
              <a:t>G</a:t>
            </a:r>
            <a:r>
              <a:rPr lang="pt-BR" altLang="ru-RU" sz="2200" smtClean="0">
                <a:latin typeface="Times New Roman" pitchFamily="18" charset="0"/>
              </a:rPr>
              <a:t> → (</a:t>
            </a:r>
            <a:r>
              <a:rPr lang="pt-BR" altLang="ru-RU" sz="2200" i="1" smtClean="0">
                <a:latin typeface="Times New Roman" pitchFamily="18" charset="0"/>
              </a:rPr>
              <a:t>S</a:t>
            </a:r>
            <a:r>
              <a:rPr lang="pt-BR" altLang="ru-RU" sz="2200" smtClean="0">
                <a:latin typeface="Times New Roman" pitchFamily="18" charset="0"/>
              </a:rPr>
              <a:t>) | </a:t>
            </a:r>
            <a:r>
              <a:rPr lang="pt-BR" altLang="ru-RU" sz="2200" i="1" smtClean="0">
                <a:latin typeface="Times New Roman" pitchFamily="18" charset="0"/>
              </a:rPr>
              <a:t>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i="1" smtClean="0">
                <a:latin typeface="Times New Roman" pitchFamily="18" charset="0"/>
              </a:rPr>
              <a:t>				        </a:t>
            </a:r>
            <a:r>
              <a:rPr lang="pt-BR" altLang="ru-RU" sz="2200" i="1" smtClean="0">
                <a:latin typeface="Times New Roman" pitchFamily="18" charset="0"/>
              </a:rPr>
              <a:t>Z</a:t>
            </a:r>
            <a:r>
              <a:rPr lang="pt-BR" altLang="ru-RU" sz="2200" smtClean="0">
                <a:latin typeface="Times New Roman" pitchFamily="18" charset="0"/>
              </a:rPr>
              <a:t> → λ</a:t>
            </a:r>
            <a:endParaRPr lang="ru-RU" altLang="ru-RU" sz="22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Операция унарный плюс в ОПС не отображается, так как её не требуется вычислять.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Операция унарный минус должна генерироваться в ОПС </a:t>
            </a:r>
            <a:r>
              <a:rPr lang="ru-RU" altLang="ru-RU" sz="2200" b="1" i="1" smtClean="0">
                <a:latin typeface="Times New Roman" pitchFamily="18" charset="0"/>
              </a:rPr>
              <a:t>после того</a:t>
            </a:r>
            <a:r>
              <a:rPr lang="ru-RU" altLang="ru-RU" sz="2200" smtClean="0">
                <a:latin typeface="Times New Roman" pitchFamily="18" charset="0"/>
              </a:rPr>
              <a:t>, как будет сгенерирована ОПС для операнда, поэтому в грамматике потребовалось использовать особый нетерминал </a:t>
            </a:r>
            <a:r>
              <a:rPr lang="pt-BR" altLang="ru-RU" sz="2200" i="1" smtClean="0">
                <a:latin typeface="Times New Roman" pitchFamily="18" charset="0"/>
              </a:rPr>
              <a:t>Z</a:t>
            </a:r>
            <a:r>
              <a:rPr lang="ru-RU" altLang="ru-RU" sz="2200" smtClean="0">
                <a:latin typeface="Times New Roman" pitchFamily="18" charset="0"/>
              </a:rPr>
              <a:t>, который </a:t>
            </a:r>
            <a:r>
              <a:rPr lang="ru-RU" altLang="ru-RU" sz="2200" b="1" i="1" smtClean="0">
                <a:latin typeface="Times New Roman" pitchFamily="18" charset="0"/>
              </a:rPr>
              <a:t>всегда </a:t>
            </a:r>
            <a:r>
              <a:rPr lang="ru-RU" altLang="ru-RU" sz="2200" smtClean="0">
                <a:latin typeface="Times New Roman" pitchFamily="18" charset="0"/>
              </a:rPr>
              <a:t>порождает только </a:t>
            </a:r>
            <a:r>
              <a:rPr lang="pt-BR" altLang="ru-RU" sz="2200" smtClean="0">
                <a:latin typeface="Times New Roman" pitchFamily="18" charset="0"/>
              </a:rPr>
              <a:t>λ</a:t>
            </a:r>
            <a:r>
              <a:rPr lang="ru-RU" altLang="ru-RU" sz="2200" smtClean="0">
                <a:latin typeface="Times New Roman" pitchFamily="18" charset="0"/>
              </a:rPr>
              <a:t>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Обозначение в ОПС операции унарный минус должно отличаться от обозначения операции вычитания! </a:t>
            </a:r>
          </a:p>
        </p:txBody>
      </p:sp>
      <p:sp>
        <p:nvSpPr>
          <p:cNvPr id="819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30D2EFF-236E-4156-AE39-0535C1A5CCFF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836613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latin typeface="Times New Roman" pitchFamily="18" charset="0"/>
              </a:rPr>
              <a:t>Грамматика с дополнительными операциями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81075"/>
            <a:ext cx="8229600" cy="554355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/>
              <a:t>   После ее преобразования к нестрогой нормальной форме Грейбах получим:</a:t>
            </a:r>
            <a:endParaRPr lang="ru-RU" altLang="ru-RU" sz="28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</a:t>
            </a:r>
            <a:r>
              <a:rPr lang="pt-BR" altLang="ru-RU" sz="2800" i="1" smtClean="0">
                <a:latin typeface="Times New Roman" pitchFamily="18" charset="0"/>
              </a:rPr>
              <a:t>S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→</a:t>
            </a:r>
            <a:r>
              <a:rPr lang="pt-BR" altLang="ru-RU" sz="2800" smtClean="0"/>
              <a:t> </a:t>
            </a:r>
            <a:r>
              <a:rPr lang="ru-RU" altLang="ru-RU" sz="2800" smtClean="0">
                <a:latin typeface="Times New Roman" pitchFamily="18" charset="0"/>
              </a:rPr>
              <a:t>(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ru-RU" altLang="ru-RU" sz="2800" smtClean="0">
                <a:latin typeface="Times New Roman" pitchFamily="18" charset="0"/>
              </a:rPr>
              <a:t>)</a:t>
            </a:r>
            <a:r>
              <a:rPr lang="en-US" altLang="ru-RU" sz="2800" i="1" smtClean="0">
                <a:latin typeface="Times New Roman" pitchFamily="18" charset="0"/>
              </a:rPr>
              <a:t>V</a:t>
            </a:r>
            <a:r>
              <a:rPr lang="pt-BR" altLang="ru-RU" sz="2800" i="1" smtClean="0">
                <a:latin typeface="Times New Roman" pitchFamily="18" charset="0"/>
              </a:rPr>
              <a:t>U</a:t>
            </a:r>
            <a:r>
              <a:rPr lang="en-US" altLang="ru-RU" sz="2800" smtClean="0"/>
              <a:t> </a:t>
            </a:r>
            <a:r>
              <a:rPr lang="ru-RU" altLang="ru-RU" sz="2800" smtClean="0">
                <a:latin typeface="Times New Roman" pitchFamily="18" charset="0"/>
              </a:rPr>
              <a:t>|</a:t>
            </a:r>
            <a:r>
              <a:rPr lang="en-US" altLang="ru-RU" sz="2800" smtClean="0"/>
              <a:t> </a:t>
            </a:r>
            <a:r>
              <a:rPr lang="en-US" altLang="ru-RU" sz="2800" i="1" smtClean="0">
                <a:latin typeface="Times New Roman" pitchFamily="18" charset="0"/>
              </a:rPr>
              <a:t>aV</a:t>
            </a:r>
            <a:r>
              <a:rPr lang="pt-BR" altLang="ru-RU" sz="2800" i="1" smtClean="0">
                <a:latin typeface="Times New Roman" pitchFamily="18" charset="0"/>
              </a:rPr>
              <a:t>U</a:t>
            </a:r>
            <a:r>
              <a:rPr lang="ru-RU" altLang="ru-RU" sz="2800" i="1" smtClean="0">
                <a:latin typeface="Times New Roman" pitchFamily="18" charset="0"/>
              </a:rPr>
              <a:t> </a:t>
            </a:r>
            <a:r>
              <a:rPr lang="pt-BR" altLang="ru-RU" sz="2800" smtClean="0">
                <a:latin typeface="Times New Roman" pitchFamily="18" charset="0"/>
              </a:rPr>
              <a:t>|</a:t>
            </a:r>
            <a:r>
              <a:rPr lang="ru-RU" altLang="ru-RU" sz="2800" smtClean="0">
                <a:latin typeface="Times New Roman" pitchFamily="18" charset="0"/>
              </a:rPr>
              <a:t> +</a:t>
            </a:r>
            <a:r>
              <a:rPr lang="en-US" altLang="ru-RU" sz="2800" i="1" smtClean="0">
                <a:latin typeface="Times New Roman" pitchFamily="18" charset="0"/>
              </a:rPr>
              <a:t>GV</a:t>
            </a:r>
            <a:r>
              <a:rPr lang="pt-BR" altLang="ru-RU" sz="2800" i="1" smtClean="0">
                <a:latin typeface="Times New Roman" pitchFamily="18" charset="0"/>
              </a:rPr>
              <a:t>U</a:t>
            </a:r>
            <a:r>
              <a:rPr lang="en-US" altLang="ru-RU" sz="2800" i="1" smtClean="0">
                <a:latin typeface="Times New Roman" pitchFamily="18" charset="0"/>
              </a:rPr>
              <a:t> </a:t>
            </a:r>
            <a:r>
              <a:rPr lang="pt-BR" altLang="ru-RU" sz="2800" smtClean="0">
                <a:latin typeface="Times New Roman" pitchFamily="18" charset="0"/>
              </a:rPr>
              <a:t>| </a:t>
            </a:r>
            <a:r>
              <a:rPr lang="ru-RU" altLang="ru-RU" sz="2800" smtClean="0">
                <a:latin typeface="Times New Roman" pitchFamily="18" charset="0"/>
              </a:rPr>
              <a:t>–</a:t>
            </a:r>
            <a:r>
              <a:rPr lang="pt-BR" altLang="ru-RU" sz="2800" i="1" smtClean="0">
                <a:latin typeface="Times New Roman" pitchFamily="18" charset="0"/>
              </a:rPr>
              <a:t>G</a:t>
            </a:r>
            <a:r>
              <a:rPr lang="en-US" altLang="ru-RU" sz="2800" i="1" smtClean="0">
                <a:latin typeface="Times New Roman" pitchFamily="18" charset="0"/>
              </a:rPr>
              <a:t>V</a:t>
            </a:r>
            <a:r>
              <a:rPr lang="pt-BR" altLang="ru-RU" sz="2800" i="1" smtClean="0">
                <a:latin typeface="Times New Roman" pitchFamily="18" charset="0"/>
              </a:rPr>
              <a:t>U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</a:t>
            </a:r>
            <a:r>
              <a:rPr lang="pt-BR" altLang="ru-RU" sz="2800" i="1" smtClean="0">
                <a:latin typeface="Times New Roman" pitchFamily="18" charset="0"/>
              </a:rPr>
              <a:t>U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→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+</a:t>
            </a:r>
            <a:r>
              <a:rPr lang="pt-BR" altLang="ru-RU" sz="2800" smtClean="0"/>
              <a:t> </a:t>
            </a:r>
            <a:r>
              <a:rPr lang="pt-BR" altLang="ru-RU" sz="2800" i="1" smtClean="0">
                <a:latin typeface="Times New Roman" pitchFamily="18" charset="0"/>
              </a:rPr>
              <a:t>TU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| </a:t>
            </a:r>
            <a:r>
              <a:rPr lang="pt-BR" altLang="ru-RU" sz="280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pt-BR" altLang="ru-RU" sz="2800" smtClean="0"/>
              <a:t> </a:t>
            </a:r>
            <a:r>
              <a:rPr lang="pt-BR" altLang="ru-RU" sz="2800" i="1" smtClean="0">
                <a:latin typeface="Times New Roman" pitchFamily="18" charset="0"/>
              </a:rPr>
              <a:t>TU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| </a:t>
            </a:r>
            <a:r>
              <a:rPr lang="en-US" altLang="ru-RU" sz="2800" smtClean="0">
                <a:latin typeface="Times New Roman" pitchFamily="18" charset="0"/>
              </a:rPr>
              <a:t>λ</a:t>
            </a:r>
            <a:endParaRPr lang="pt-BR" altLang="ru-RU" sz="28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</a:t>
            </a:r>
            <a:r>
              <a:rPr lang="pt-BR" altLang="ru-RU" sz="2800" i="1" smtClean="0">
                <a:latin typeface="Times New Roman" pitchFamily="18" charset="0"/>
              </a:rPr>
              <a:t>T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→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(</a:t>
            </a:r>
            <a:r>
              <a:rPr lang="pt-BR" altLang="ru-RU" sz="2800" i="1" smtClean="0">
                <a:latin typeface="Times New Roman" pitchFamily="18" charset="0"/>
              </a:rPr>
              <a:t>S</a:t>
            </a:r>
            <a:r>
              <a:rPr lang="pt-BR" altLang="ru-RU" sz="2800" smtClean="0">
                <a:latin typeface="Times New Roman" pitchFamily="18" charset="0"/>
              </a:rPr>
              <a:t>)</a:t>
            </a:r>
            <a:r>
              <a:rPr lang="pt-BR" altLang="ru-RU" sz="2800" i="1" smtClean="0">
                <a:latin typeface="Times New Roman" pitchFamily="18" charset="0"/>
              </a:rPr>
              <a:t>V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|</a:t>
            </a:r>
            <a:r>
              <a:rPr lang="pt-BR" altLang="ru-RU" sz="2800" smtClean="0"/>
              <a:t> </a:t>
            </a:r>
            <a:r>
              <a:rPr lang="pt-BR" altLang="ru-RU" sz="2800" i="1" smtClean="0">
                <a:latin typeface="Times New Roman" pitchFamily="18" charset="0"/>
              </a:rPr>
              <a:t>aV </a:t>
            </a:r>
            <a:r>
              <a:rPr lang="pt-BR" altLang="ru-RU" sz="2800" smtClean="0">
                <a:latin typeface="Times New Roman" pitchFamily="18" charset="0"/>
              </a:rPr>
              <a:t>|</a:t>
            </a:r>
            <a:r>
              <a:rPr lang="ru-RU" altLang="ru-RU" sz="2800" smtClean="0">
                <a:latin typeface="Times New Roman" pitchFamily="18" charset="0"/>
              </a:rPr>
              <a:t> +</a:t>
            </a:r>
            <a:r>
              <a:rPr lang="en-US" altLang="ru-RU" sz="2800" i="1" smtClean="0">
                <a:latin typeface="Times New Roman" pitchFamily="18" charset="0"/>
              </a:rPr>
              <a:t>GV </a:t>
            </a:r>
            <a:r>
              <a:rPr lang="pt-BR" altLang="ru-RU" sz="2800" smtClean="0">
                <a:latin typeface="Times New Roman" pitchFamily="18" charset="0"/>
              </a:rPr>
              <a:t>| </a:t>
            </a:r>
            <a:r>
              <a:rPr lang="ru-RU" altLang="ru-RU" sz="2800" smtClean="0">
                <a:latin typeface="Times New Roman" pitchFamily="18" charset="0"/>
              </a:rPr>
              <a:t>–</a:t>
            </a:r>
            <a:r>
              <a:rPr lang="pt-BR" altLang="ru-RU" sz="2800" i="1" smtClean="0">
                <a:latin typeface="Times New Roman" pitchFamily="18" charset="0"/>
              </a:rPr>
              <a:t>G</a:t>
            </a:r>
            <a:r>
              <a:rPr lang="en-US" altLang="ru-RU" sz="2800" i="1" smtClean="0">
                <a:latin typeface="Times New Roman" pitchFamily="18" charset="0"/>
              </a:rPr>
              <a:t>V</a:t>
            </a:r>
            <a:endParaRPr lang="pt-BR" altLang="ru-RU" sz="28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</a:t>
            </a:r>
            <a:r>
              <a:rPr lang="pt-BR" altLang="ru-RU" sz="2800" i="1" smtClean="0">
                <a:latin typeface="Times New Roman" pitchFamily="18" charset="0"/>
              </a:rPr>
              <a:t>V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→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*</a:t>
            </a:r>
            <a:r>
              <a:rPr lang="pt-BR" altLang="ru-RU" sz="2800" smtClean="0"/>
              <a:t> </a:t>
            </a:r>
            <a:r>
              <a:rPr lang="pt-BR" altLang="ru-RU" sz="2800" i="1" smtClean="0">
                <a:latin typeface="Times New Roman" pitchFamily="18" charset="0"/>
              </a:rPr>
              <a:t>FV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| </a:t>
            </a:r>
            <a:r>
              <a:rPr lang="ru-RU" altLang="ru-RU" sz="2800" smtClean="0">
                <a:latin typeface="Times New Roman" pitchFamily="18" charset="0"/>
              </a:rPr>
              <a:t>/</a:t>
            </a:r>
            <a:r>
              <a:rPr lang="pt-BR" altLang="ru-RU" sz="2800" smtClean="0"/>
              <a:t> </a:t>
            </a:r>
            <a:r>
              <a:rPr lang="pt-BR" altLang="ru-RU" sz="2800" i="1" smtClean="0">
                <a:latin typeface="Times New Roman" pitchFamily="18" charset="0"/>
              </a:rPr>
              <a:t>FV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| 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λ</a:t>
            </a:r>
            <a:endParaRPr lang="pt-BR" altLang="ru-RU" sz="28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</a:t>
            </a:r>
            <a:r>
              <a:rPr lang="pt-BR" altLang="ru-RU" sz="2800" i="1" smtClean="0">
                <a:latin typeface="Times New Roman" pitchFamily="18" charset="0"/>
              </a:rPr>
              <a:t>F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→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(</a:t>
            </a:r>
            <a:r>
              <a:rPr lang="pt-BR" altLang="ru-RU" sz="2800" i="1" smtClean="0">
                <a:latin typeface="Times New Roman" pitchFamily="18" charset="0"/>
              </a:rPr>
              <a:t>S</a:t>
            </a:r>
            <a:r>
              <a:rPr lang="pt-BR" altLang="ru-RU" sz="2800" smtClean="0">
                <a:latin typeface="Times New Roman" pitchFamily="18" charset="0"/>
              </a:rPr>
              <a:t>)</a:t>
            </a:r>
            <a:r>
              <a:rPr lang="pt-BR" altLang="ru-RU" sz="2800" smtClean="0"/>
              <a:t> </a:t>
            </a:r>
            <a:r>
              <a:rPr lang="pt-BR" altLang="ru-RU" sz="2800" smtClean="0">
                <a:latin typeface="Times New Roman" pitchFamily="18" charset="0"/>
              </a:rPr>
              <a:t>|</a:t>
            </a:r>
            <a:r>
              <a:rPr lang="pt-BR" altLang="ru-RU" sz="2800" smtClean="0"/>
              <a:t> </a:t>
            </a:r>
            <a:r>
              <a:rPr lang="pt-BR" altLang="ru-RU" sz="2800" i="1" smtClean="0">
                <a:latin typeface="Times New Roman" pitchFamily="18" charset="0"/>
              </a:rPr>
              <a:t>a</a:t>
            </a:r>
            <a:r>
              <a:rPr lang="ru-RU" altLang="ru-RU" sz="2800" i="1" smtClean="0">
                <a:latin typeface="Times New Roman" pitchFamily="18" charset="0"/>
              </a:rPr>
              <a:t> </a:t>
            </a:r>
            <a:r>
              <a:rPr lang="pt-BR" altLang="ru-RU" sz="2800" smtClean="0">
                <a:latin typeface="Times New Roman" pitchFamily="18" charset="0"/>
              </a:rPr>
              <a:t>|</a:t>
            </a:r>
            <a:r>
              <a:rPr lang="ru-RU" altLang="ru-RU" sz="2800" smtClean="0">
                <a:latin typeface="Times New Roman" pitchFamily="18" charset="0"/>
              </a:rPr>
              <a:t> +</a:t>
            </a:r>
            <a:r>
              <a:rPr lang="en-US" altLang="ru-RU" sz="2800" i="1" smtClean="0">
                <a:latin typeface="Times New Roman" pitchFamily="18" charset="0"/>
              </a:rPr>
              <a:t>G </a:t>
            </a:r>
            <a:r>
              <a:rPr lang="pt-BR" altLang="ru-RU" sz="2800" smtClean="0">
                <a:latin typeface="Times New Roman" pitchFamily="18" charset="0"/>
              </a:rPr>
              <a:t>| </a:t>
            </a:r>
            <a:r>
              <a:rPr lang="ru-RU" altLang="ru-RU" sz="2800" smtClean="0">
                <a:latin typeface="Times New Roman" pitchFamily="18" charset="0"/>
              </a:rPr>
              <a:t>–</a:t>
            </a:r>
            <a:r>
              <a:rPr lang="pt-BR" altLang="ru-RU" sz="2800" i="1" smtClean="0">
                <a:latin typeface="Times New Roman" pitchFamily="18" charset="0"/>
              </a:rPr>
              <a:t>GZ</a:t>
            </a:r>
            <a:endParaRPr lang="ru-RU" altLang="ru-RU" sz="28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</a:t>
            </a:r>
            <a:r>
              <a:rPr lang="pt-BR" altLang="ru-RU" sz="2800" i="1" smtClean="0">
                <a:latin typeface="Times New Roman" pitchFamily="18" charset="0"/>
              </a:rPr>
              <a:t>G</a:t>
            </a:r>
            <a:r>
              <a:rPr lang="pt-BR" altLang="ru-RU" sz="2800" smtClean="0">
                <a:latin typeface="Times New Roman" pitchFamily="18" charset="0"/>
              </a:rPr>
              <a:t> → (</a:t>
            </a:r>
            <a:r>
              <a:rPr lang="pt-BR" altLang="ru-RU" sz="2800" i="1" smtClean="0">
                <a:latin typeface="Times New Roman" pitchFamily="18" charset="0"/>
              </a:rPr>
              <a:t>S</a:t>
            </a:r>
            <a:r>
              <a:rPr lang="pt-BR" altLang="ru-RU" sz="2800" smtClean="0">
                <a:latin typeface="Times New Roman" pitchFamily="18" charset="0"/>
              </a:rPr>
              <a:t>) | </a:t>
            </a:r>
            <a:r>
              <a:rPr lang="pt-BR" altLang="ru-RU" sz="2800" i="1" smtClean="0">
                <a:latin typeface="Times New Roman" pitchFamily="18" charset="0"/>
              </a:rPr>
              <a:t>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</a:t>
            </a:r>
            <a:r>
              <a:rPr lang="pt-BR" altLang="ru-RU" sz="2800" i="1" smtClean="0">
                <a:latin typeface="Times New Roman" pitchFamily="18" charset="0"/>
              </a:rPr>
              <a:t>Z</a:t>
            </a:r>
            <a:r>
              <a:rPr lang="pt-BR" altLang="ru-RU" sz="2800" smtClean="0">
                <a:latin typeface="Times New Roman" pitchFamily="18" charset="0"/>
              </a:rPr>
              <a:t> → λ</a:t>
            </a:r>
            <a:endParaRPr lang="ru-RU" altLang="ru-RU" sz="2800" smtClean="0">
              <a:latin typeface="Times New Roman" pitchFamily="18" charset="0"/>
            </a:endParaRPr>
          </a:p>
        </p:txBody>
      </p:sp>
      <p:sp>
        <p:nvSpPr>
          <p:cNvPr id="922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F9F3EC9-7B48-48C3-9D2C-1D1679E65583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30175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5888"/>
            <a:ext cx="8497888" cy="9366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b="1" smtClean="0"/>
              <a:t>Пример. </a:t>
            </a:r>
            <a:r>
              <a:rPr lang="en-US" altLang="ru-RU" sz="2200" smtClean="0">
                <a:latin typeface="Times New Roman" pitchFamily="18" charset="0"/>
              </a:rPr>
              <a:t>LL</a:t>
            </a:r>
            <a:r>
              <a:rPr lang="ru-RU" altLang="ru-RU" sz="2200" smtClean="0">
                <a:latin typeface="Times New Roman" pitchFamily="18" charset="0"/>
              </a:rPr>
              <a:t>(1)-анализатор</a:t>
            </a:r>
            <a:r>
              <a:rPr lang="en-US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и</a:t>
            </a:r>
            <a:r>
              <a:rPr lang="en-US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генератор</a:t>
            </a:r>
            <a:r>
              <a:rPr lang="en-US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ОПС для грамматики простых арифметических выражений с дополнительными операциями: вычитание (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altLang="ru-RU" sz="2200" smtClean="0">
                <a:latin typeface="Times New Roman" pitchFamily="18" charset="0"/>
              </a:rPr>
              <a:t>) , деление (/), унарный минус (</a:t>
            </a:r>
            <a:r>
              <a:rPr lang="ru-RU" altLang="ru-RU" sz="170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ru-RU" sz="170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ru-RU" altLang="ru-RU" sz="2200" smtClean="0">
                <a:latin typeface="Times New Roman" pitchFamily="18" charset="0"/>
              </a:rPr>
              <a:t>).</a:t>
            </a:r>
            <a:r>
              <a:rPr lang="ru-RU" altLang="ru-RU" sz="2000" i="1" smtClean="0">
                <a:latin typeface="Times New Roman" pitchFamily="18" charset="0"/>
              </a:rPr>
              <a:t>	</a:t>
            </a:r>
          </a:p>
        </p:txBody>
      </p:sp>
      <p:graphicFrame>
        <p:nvGraphicFramePr>
          <p:cNvPr id="8293" name="Group 101"/>
          <p:cNvGraphicFramePr>
            <a:graphicFrameLocks noGrp="1"/>
          </p:cNvGraphicFramePr>
          <p:nvPr>
            <p:ph sz="half" idx="2"/>
          </p:nvPr>
        </p:nvGraphicFramePr>
        <p:xfrm>
          <a:off x="468313" y="1052513"/>
          <a:ext cx="7850187" cy="5662610"/>
        </p:xfrm>
        <a:graphic>
          <a:graphicData uri="http://schemas.openxmlformats.org/drawingml/2006/table">
            <a:tbl>
              <a:tblPr/>
              <a:tblGrid>
                <a:gridCol w="574675"/>
                <a:gridCol w="936625"/>
                <a:gridCol w="1081087"/>
                <a:gridCol w="865188"/>
                <a:gridCol w="865187"/>
                <a:gridCol w="1150938"/>
                <a:gridCol w="792162"/>
                <a:gridCol w="865188"/>
                <a:gridCol w="719137"/>
              </a:tblGrid>
              <a:tr h="4445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5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□□□□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GVU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’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□□□□□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5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 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5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pt-BR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pt-BR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’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□□□□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5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 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5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GZ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’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5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pt-BR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336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6804025" y="6237288"/>
            <a:ext cx="2133600" cy="476250"/>
          </a:xfr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66CDA30-65DA-41DC-AABA-08043414FE8D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268413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  <a:latin typeface="Times New Roman" pitchFamily="18" charset="0"/>
              </a:rPr>
              <a:t>Грамматика присваиваний и арифметических выражений с индексами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4006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Здесь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– начальный нетерминал, знаки + ,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altLang="ru-RU" sz="2400" smtClean="0">
                <a:latin typeface="Times New Roman" pitchFamily="18" charset="0"/>
              </a:rPr>
              <a:t>,   * , /, </a:t>
            </a:r>
            <a:r>
              <a:rPr lang="en-US" altLang="ru-RU" sz="2400" smtClean="0">
                <a:latin typeface="Times New Roman" pitchFamily="18" charset="0"/>
              </a:rPr>
              <a:t>:=, </a:t>
            </a:r>
            <a:r>
              <a:rPr lang="ru-RU" altLang="ru-RU" sz="2400" smtClean="0">
                <a:latin typeface="Times New Roman" pitchFamily="18" charset="0"/>
              </a:rPr>
              <a:t>запятая, скобки круглые, скобки квадратные, 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     </a:t>
            </a:r>
            <a:r>
              <a:rPr lang="ru-RU" altLang="ru-RU" sz="2400" smtClean="0">
                <a:latin typeface="Times New Roman" pitchFamily="18" charset="0"/>
              </a:rPr>
              <a:t>переменная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, константа 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– терминалы:</a:t>
            </a:r>
          </a:p>
          <a:p>
            <a:pPr eaLnBrk="1" hangingPunct="1">
              <a:buFontTx/>
              <a:buNone/>
            </a:pPr>
            <a:endParaRPr lang="en-US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A </a:t>
            </a:r>
            <a:r>
              <a:rPr lang="en-US" altLang="ru-RU" sz="2400" smtClean="0">
                <a:latin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</a:rPr>
              <a:t> aH </a:t>
            </a:r>
            <a:r>
              <a:rPr lang="en-US" altLang="ru-RU" sz="2400" smtClean="0">
                <a:latin typeface="Times New Roman" pitchFamily="18" charset="0"/>
              </a:rPr>
              <a:t>:</a:t>
            </a:r>
            <a:r>
              <a:rPr lang="ru-RU" altLang="ru-RU" sz="2400" smtClean="0">
                <a:latin typeface="Times New Roman" pitchFamily="18" charset="0"/>
              </a:rPr>
              <a:t>=</a:t>
            </a:r>
            <a:r>
              <a:rPr lang="en-US" altLang="ru-RU" sz="2400" i="1" smtClean="0">
                <a:latin typeface="Times New Roman" pitchFamily="18" charset="0"/>
              </a:rPr>
              <a:t> SZ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endParaRPr lang="en-US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			S</a:t>
            </a:r>
            <a:r>
              <a:rPr lang="ru-RU" altLang="ru-RU" sz="2400" smtClean="0">
                <a:latin typeface="Times New Roman" pitchFamily="18" charset="0"/>
              </a:rPr>
              <a:t> →  </a:t>
            </a:r>
            <a:r>
              <a:rPr lang="en-US" altLang="ru-RU" sz="2400" i="1" smtClean="0">
                <a:latin typeface="Times New Roman" pitchFamily="18" charset="0"/>
              </a:rPr>
              <a:t>S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| </a:t>
            </a:r>
            <a:r>
              <a:rPr lang="en-US" altLang="ru-RU" sz="2400" i="1" smtClean="0">
                <a:latin typeface="Times New Roman" pitchFamily="18" charset="0"/>
              </a:rPr>
              <a:t>S 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 → </a:t>
            </a:r>
            <a:r>
              <a:rPr lang="en-US" altLang="ru-RU" sz="2400" i="1" smtClean="0">
                <a:latin typeface="Times New Roman" pitchFamily="18" charset="0"/>
              </a:rPr>
              <a:t>T </a:t>
            </a:r>
            <a:r>
              <a:rPr lang="en-US" altLang="ru-RU" sz="2400" smtClean="0">
                <a:latin typeface="Times New Roman" pitchFamily="18" charset="0"/>
              </a:rPr>
              <a:t>* 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en-US" altLang="ru-RU" sz="2400" smtClean="0">
                <a:latin typeface="Times New Roman" pitchFamily="18" charset="0"/>
              </a:rPr>
              <a:t> | </a:t>
            </a:r>
            <a:r>
              <a:rPr lang="en-US" altLang="ru-RU" sz="2400" i="1" smtClean="0">
                <a:latin typeface="Times New Roman" pitchFamily="18" charset="0"/>
              </a:rPr>
              <a:t>T </a:t>
            </a:r>
            <a:r>
              <a:rPr lang="ru-RU" altLang="ru-RU" sz="2400" smtClean="0">
                <a:latin typeface="Times New Roman" pitchFamily="18" charset="0"/>
              </a:rPr>
              <a:t>/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en-US" altLang="ru-RU" sz="2400" smtClean="0">
                <a:latin typeface="Times New Roman" pitchFamily="18" charset="0"/>
              </a:rPr>
              <a:t> |  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en-US" altLang="ru-RU" sz="2400" smtClean="0">
                <a:latin typeface="Times New Roman" pitchFamily="18" charset="0"/>
              </a:rPr>
              <a:t> → 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)  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pt-BR" altLang="ru-RU" sz="2400" smtClean="0">
                <a:latin typeface="Times New Roman" pitchFamily="18" charset="0"/>
              </a:rPr>
              <a:t> </a:t>
            </a:r>
            <a:r>
              <a:rPr lang="pt-BR" altLang="ru-RU" sz="2400" i="1" smtClean="0">
                <a:latin typeface="Times New Roman" pitchFamily="18" charset="0"/>
              </a:rPr>
              <a:t>G 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pt-BR" altLang="ru-RU" sz="2400" smtClean="0">
                <a:latin typeface="Times New Roman" pitchFamily="18" charset="0"/>
              </a:rPr>
              <a:t> </a:t>
            </a:r>
            <a:r>
              <a:rPr lang="pt-BR" altLang="ru-RU" sz="2400" i="1" smtClean="0">
                <a:latin typeface="Times New Roman" pitchFamily="18" charset="0"/>
              </a:rPr>
              <a:t>GZ</a:t>
            </a:r>
            <a:r>
              <a:rPr lang="en-US" altLang="ru-RU" sz="2400" smtClean="0">
                <a:latin typeface="Times New Roman" pitchFamily="18" charset="0"/>
              </a:rPr>
              <a:t> | </a:t>
            </a:r>
            <a:r>
              <a:rPr lang="en-US" altLang="ru-RU" sz="2400" i="1" smtClean="0">
                <a:latin typeface="Times New Roman" pitchFamily="18" charset="0"/>
              </a:rPr>
              <a:t>aH 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</a:p>
          <a:p>
            <a:pPr eaLnBrk="1" hangingPunct="1"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			G</a:t>
            </a:r>
            <a:r>
              <a:rPr lang="en-US" altLang="ru-RU" sz="2400" smtClean="0">
                <a:latin typeface="Times New Roman" pitchFamily="18" charset="0"/>
              </a:rPr>
              <a:t> → 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)  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aH 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H </a:t>
            </a:r>
            <a:r>
              <a:rPr lang="en-US" altLang="ru-RU" sz="2400" smtClean="0">
                <a:latin typeface="Times New Roman" pitchFamily="18" charset="0"/>
              </a:rPr>
              <a:t>→ [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] | [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  <a:r>
              <a:rPr lang="en-US" altLang="ru-RU" sz="2400" i="1" smtClean="0">
                <a:latin typeface="Times New Roman" pitchFamily="18" charset="0"/>
              </a:rPr>
              <a:t> S</a:t>
            </a:r>
            <a:r>
              <a:rPr lang="en-US" altLang="ru-RU" sz="2400" smtClean="0">
                <a:latin typeface="Times New Roman" pitchFamily="18" charset="0"/>
              </a:rPr>
              <a:t>] </a:t>
            </a:r>
            <a:r>
              <a:rPr lang="pt-BR" altLang="ru-RU" sz="2400" smtClean="0">
                <a:latin typeface="Times New Roman" pitchFamily="18" charset="0"/>
              </a:rPr>
              <a:t>| 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</a:p>
          <a:p>
            <a:pPr eaLnBrk="1" hangingPunct="1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Z</a:t>
            </a:r>
            <a:r>
              <a:rPr lang="en-US" altLang="ru-RU" sz="2400" smtClean="0">
                <a:latin typeface="Times New Roman" pitchFamily="18" charset="0"/>
              </a:rPr>
              <a:t> → λ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</p:txBody>
      </p:sp>
      <p:sp>
        <p:nvSpPr>
          <p:cNvPr id="1126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BBD1C85-91B9-4FFD-9578-43DE665824B3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836613"/>
          </a:xfrm>
        </p:spPr>
        <p:txBody>
          <a:bodyPr/>
          <a:lstStyle/>
          <a:p>
            <a:pPr eaLnBrk="1" hangingPunct="1"/>
            <a:r>
              <a:rPr lang="ru-RU" altLang="ru-RU" sz="3000" b="1" smtClean="0">
                <a:solidFill>
                  <a:schemeClr val="accent2"/>
                </a:solidFill>
                <a:latin typeface="Times New Roman" pitchFamily="18" charset="0"/>
              </a:rPr>
              <a:t>Грамматика присваиваний и арифметических выражений с индексами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81075"/>
            <a:ext cx="8229600" cy="5876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После устранения левой рекурсии, преобразования к нестрогой нормальной форме Грейбах и факторизации: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A </a:t>
            </a:r>
            <a:r>
              <a:rPr lang="en-US" altLang="ru-RU" sz="2400" smtClean="0">
                <a:latin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</a:rPr>
              <a:t> aH </a:t>
            </a:r>
            <a:r>
              <a:rPr lang="en-US" altLang="ru-RU" sz="2400" smtClean="0">
                <a:latin typeface="Times New Roman" pitchFamily="18" charset="0"/>
              </a:rPr>
              <a:t>:</a:t>
            </a:r>
            <a:r>
              <a:rPr lang="ru-RU" altLang="ru-RU" sz="2400" smtClean="0">
                <a:latin typeface="Times New Roman" pitchFamily="18" charset="0"/>
              </a:rPr>
              <a:t>=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SZ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endParaRPr lang="en-US" altLang="ru-RU" sz="2400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			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→</a:t>
            </a:r>
            <a:r>
              <a:rPr lang="pt-BR" altLang="ru-RU" sz="2400" smtClean="0"/>
              <a:t> 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/>
              <a:t> 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/>
              <a:t> </a:t>
            </a:r>
            <a:r>
              <a:rPr lang="en-US" altLang="ru-RU" sz="2400" i="1" smtClean="0">
                <a:latin typeface="Times New Roman" pitchFamily="18" charset="0"/>
              </a:rPr>
              <a:t>aHV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kVU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pt-BR" altLang="ru-RU" sz="2400" smtClean="0">
                <a:latin typeface="Times New Roman" pitchFamily="18" charset="0"/>
              </a:rPr>
              <a:t>|</a:t>
            </a:r>
            <a:r>
              <a:rPr lang="ru-RU" altLang="ru-RU" sz="2400" smtClean="0">
                <a:latin typeface="Times New Roman" pitchFamily="18" charset="0"/>
              </a:rPr>
              <a:t> +</a:t>
            </a:r>
            <a:r>
              <a:rPr lang="en-US" altLang="ru-RU" sz="2400" i="1" smtClean="0">
                <a:latin typeface="Times New Roman" pitchFamily="18" charset="0"/>
              </a:rPr>
              <a:t>GV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  <a:r>
              <a:rPr lang="en-US" altLang="ru-RU" sz="2400" i="1" smtClean="0">
                <a:latin typeface="Times New Roman" pitchFamily="18" charset="0"/>
              </a:rPr>
              <a:t> </a:t>
            </a:r>
            <a:r>
              <a:rPr lang="pt-BR" altLang="ru-RU" sz="2400" smtClean="0">
                <a:latin typeface="Times New Roman" pitchFamily="18" charset="0"/>
              </a:rPr>
              <a:t>| </a:t>
            </a:r>
            <a:r>
              <a:rPr lang="ru-RU" altLang="ru-RU" sz="2400" smtClean="0">
                <a:latin typeface="Times New Roman" pitchFamily="18" charset="0"/>
              </a:rPr>
              <a:t>–</a:t>
            </a:r>
            <a:r>
              <a:rPr lang="pt-BR" altLang="ru-RU" sz="2400" i="1" smtClean="0">
                <a:latin typeface="Times New Roman" pitchFamily="18" charset="0"/>
              </a:rPr>
              <a:t>G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→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+</a:t>
            </a:r>
            <a:r>
              <a:rPr lang="pt-BR" altLang="ru-RU" sz="2400" smtClean="0"/>
              <a:t> </a:t>
            </a:r>
            <a:r>
              <a:rPr lang="pt-BR" altLang="ru-RU" sz="2400" i="1" smtClean="0">
                <a:latin typeface="Times New Roman" pitchFamily="18" charset="0"/>
              </a:rPr>
              <a:t>TU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| </a:t>
            </a:r>
            <a:r>
              <a:rPr lang="pt-BR" altLang="ru-RU" sz="240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pt-BR" altLang="ru-RU" sz="2400" smtClean="0"/>
              <a:t> </a:t>
            </a:r>
            <a:r>
              <a:rPr lang="pt-BR" altLang="ru-RU" sz="2400" i="1" smtClean="0">
                <a:latin typeface="Times New Roman" pitchFamily="18" charset="0"/>
              </a:rPr>
              <a:t>TU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| </a:t>
            </a:r>
            <a:r>
              <a:rPr lang="pt-BR" altLang="ru-RU" sz="2400" smtClean="0"/>
              <a:t> 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endParaRPr lang="pt-BR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</a:t>
            </a:r>
            <a:r>
              <a:rPr lang="pt-BR" altLang="ru-RU" sz="2400" i="1" smtClean="0">
                <a:latin typeface="Times New Roman" pitchFamily="18" charset="0"/>
              </a:rPr>
              <a:t>T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→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(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pt-BR" altLang="ru-RU" sz="2400" smtClean="0">
                <a:latin typeface="Times New Roman" pitchFamily="18" charset="0"/>
              </a:rPr>
              <a:t>)</a:t>
            </a:r>
            <a:r>
              <a:rPr lang="pt-BR" altLang="ru-RU" sz="2400" i="1" smtClean="0">
                <a:latin typeface="Times New Roman" pitchFamily="18" charset="0"/>
              </a:rPr>
              <a:t>V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|</a:t>
            </a:r>
            <a:r>
              <a:rPr lang="pt-BR" altLang="ru-RU" sz="2400" smtClean="0"/>
              <a:t> </a:t>
            </a:r>
            <a:r>
              <a:rPr lang="pt-BR" altLang="ru-RU" sz="2400" i="1" smtClean="0">
                <a:latin typeface="Times New Roman" pitchFamily="18" charset="0"/>
              </a:rPr>
              <a:t>aHV 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kV</a:t>
            </a:r>
            <a:r>
              <a:rPr lang="pt-BR" altLang="ru-RU" sz="2400" i="1" smtClean="0">
                <a:latin typeface="Times New Roman" pitchFamily="18" charset="0"/>
              </a:rPr>
              <a:t> </a:t>
            </a:r>
            <a:r>
              <a:rPr lang="pt-BR" altLang="ru-RU" sz="2400" smtClean="0">
                <a:latin typeface="Times New Roman" pitchFamily="18" charset="0"/>
              </a:rPr>
              <a:t>|</a:t>
            </a:r>
            <a:r>
              <a:rPr lang="ru-RU" altLang="ru-RU" sz="2400" smtClean="0">
                <a:latin typeface="Times New Roman" pitchFamily="18" charset="0"/>
              </a:rPr>
              <a:t> +</a:t>
            </a:r>
            <a:r>
              <a:rPr lang="en-US" altLang="ru-RU" sz="2400" i="1" smtClean="0">
                <a:latin typeface="Times New Roman" pitchFamily="18" charset="0"/>
              </a:rPr>
              <a:t>GV </a:t>
            </a:r>
            <a:r>
              <a:rPr lang="pt-BR" altLang="ru-RU" sz="2400" smtClean="0">
                <a:latin typeface="Times New Roman" pitchFamily="18" charset="0"/>
              </a:rPr>
              <a:t>| </a:t>
            </a:r>
            <a:r>
              <a:rPr lang="ru-RU" altLang="ru-RU" sz="2400" smtClean="0">
                <a:latin typeface="Times New Roman" pitchFamily="18" charset="0"/>
              </a:rPr>
              <a:t>–</a:t>
            </a:r>
            <a:r>
              <a:rPr lang="pt-BR" altLang="ru-RU" sz="2400" i="1" smtClean="0">
                <a:latin typeface="Times New Roman" pitchFamily="18" charset="0"/>
              </a:rPr>
              <a:t>G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endParaRPr lang="pt-BR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</a:t>
            </a:r>
            <a:r>
              <a:rPr lang="pt-BR" altLang="ru-RU" sz="2400" i="1" smtClean="0">
                <a:latin typeface="Times New Roman" pitchFamily="18" charset="0"/>
              </a:rPr>
              <a:t>V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→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*</a:t>
            </a:r>
            <a:r>
              <a:rPr lang="pt-BR" altLang="ru-RU" sz="2400" smtClean="0"/>
              <a:t> </a:t>
            </a:r>
            <a:r>
              <a:rPr lang="pt-BR" altLang="ru-RU" sz="2400" i="1" smtClean="0">
                <a:latin typeface="Times New Roman" pitchFamily="18" charset="0"/>
              </a:rPr>
              <a:t>FV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| </a:t>
            </a:r>
            <a:r>
              <a:rPr lang="ru-RU" altLang="ru-RU" sz="2400" smtClean="0">
                <a:latin typeface="Times New Roman" pitchFamily="18" charset="0"/>
              </a:rPr>
              <a:t>/</a:t>
            </a:r>
            <a:r>
              <a:rPr lang="pt-BR" altLang="ru-RU" sz="2400" smtClean="0"/>
              <a:t> </a:t>
            </a:r>
            <a:r>
              <a:rPr lang="pt-BR" altLang="ru-RU" sz="2400" i="1" smtClean="0">
                <a:latin typeface="Times New Roman" pitchFamily="18" charset="0"/>
              </a:rPr>
              <a:t>FV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| 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λ</a:t>
            </a:r>
            <a:endParaRPr lang="pt-BR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</a:t>
            </a:r>
            <a:r>
              <a:rPr lang="pt-BR" altLang="ru-RU" sz="2400" i="1" smtClean="0">
                <a:latin typeface="Times New Roman" pitchFamily="18" charset="0"/>
              </a:rPr>
              <a:t>F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→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(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pt-BR" altLang="ru-RU" sz="2400" smtClean="0">
                <a:latin typeface="Times New Roman" pitchFamily="18" charset="0"/>
              </a:rPr>
              <a:t>)</a:t>
            </a:r>
            <a:r>
              <a:rPr lang="pt-BR" altLang="ru-RU" sz="2400" smtClean="0"/>
              <a:t> </a:t>
            </a:r>
            <a:r>
              <a:rPr lang="pt-BR" altLang="ru-RU" sz="2400" smtClean="0">
                <a:latin typeface="Times New Roman" pitchFamily="18" charset="0"/>
              </a:rPr>
              <a:t>|</a:t>
            </a:r>
            <a:r>
              <a:rPr lang="pt-BR" altLang="ru-RU" sz="2400" smtClean="0"/>
              <a:t> </a:t>
            </a:r>
            <a:r>
              <a:rPr lang="pt-BR" altLang="ru-RU" sz="2400" i="1" smtClean="0">
                <a:latin typeface="Times New Roman" pitchFamily="18" charset="0"/>
              </a:rPr>
              <a:t>aH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pt-BR" altLang="ru-RU" sz="2400" smtClean="0">
                <a:latin typeface="Times New Roman" pitchFamily="18" charset="0"/>
              </a:rPr>
              <a:t>|</a:t>
            </a:r>
            <a:r>
              <a:rPr lang="ru-RU" altLang="ru-RU" sz="2400" smtClean="0">
                <a:latin typeface="Times New Roman" pitchFamily="18" charset="0"/>
              </a:rPr>
              <a:t> +</a:t>
            </a:r>
            <a:r>
              <a:rPr lang="en-US" altLang="ru-RU" sz="2400" i="1" smtClean="0">
                <a:latin typeface="Times New Roman" pitchFamily="18" charset="0"/>
              </a:rPr>
              <a:t>G </a:t>
            </a:r>
            <a:r>
              <a:rPr lang="pt-BR" altLang="ru-RU" sz="2400" smtClean="0">
                <a:latin typeface="Times New Roman" pitchFamily="18" charset="0"/>
              </a:rPr>
              <a:t>| </a:t>
            </a:r>
            <a:r>
              <a:rPr lang="ru-RU" altLang="ru-RU" sz="2400" smtClean="0">
                <a:latin typeface="Times New Roman" pitchFamily="18" charset="0"/>
              </a:rPr>
              <a:t>–</a:t>
            </a:r>
            <a:r>
              <a:rPr lang="pt-BR" altLang="ru-RU" sz="2400" i="1" smtClean="0">
                <a:latin typeface="Times New Roman" pitchFamily="18" charset="0"/>
              </a:rPr>
              <a:t>GZ</a:t>
            </a:r>
            <a:endParaRPr lang="ru-RU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</a:t>
            </a:r>
            <a:r>
              <a:rPr lang="pt-BR" altLang="ru-RU" sz="2400" i="1" smtClean="0">
                <a:latin typeface="Times New Roman" pitchFamily="18" charset="0"/>
              </a:rPr>
              <a:t>G</a:t>
            </a:r>
            <a:r>
              <a:rPr lang="pt-BR" altLang="ru-RU" sz="2400" smtClean="0">
                <a:latin typeface="Times New Roman" pitchFamily="18" charset="0"/>
              </a:rPr>
              <a:t> → (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pt-BR" altLang="ru-RU" sz="2400" smtClean="0">
                <a:latin typeface="Times New Roman" pitchFamily="18" charset="0"/>
              </a:rPr>
              <a:t>) | </a:t>
            </a:r>
            <a:r>
              <a:rPr lang="pt-BR" altLang="ru-RU" sz="2400" i="1" smtClean="0">
                <a:latin typeface="Times New Roman" pitchFamily="18" charset="0"/>
              </a:rPr>
              <a:t>aH 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  <a:endParaRPr lang="pt-BR" altLang="ru-RU" sz="2400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H </a:t>
            </a:r>
            <a:r>
              <a:rPr lang="en-US" altLang="ru-RU" sz="2400" smtClean="0">
                <a:latin typeface="Times New Roman" pitchFamily="18" charset="0"/>
              </a:rPr>
              <a:t>→ [</a:t>
            </a:r>
            <a:r>
              <a:rPr lang="en-US" altLang="ru-RU" sz="2400" i="1" smtClean="0">
                <a:latin typeface="Times New Roman" pitchFamily="18" charset="0"/>
              </a:rPr>
              <a:t>SK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pt-BR" altLang="ru-RU" sz="2400" smtClean="0">
                <a:latin typeface="Times New Roman" pitchFamily="18" charset="0"/>
              </a:rPr>
              <a:t>| 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K </a:t>
            </a:r>
            <a:r>
              <a:rPr lang="en-US" altLang="ru-RU" sz="2400" smtClean="0">
                <a:latin typeface="Times New Roman" pitchFamily="18" charset="0"/>
              </a:rPr>
              <a:t>→ ] 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 ,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]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</a:t>
            </a:r>
            <a:r>
              <a:rPr lang="pt-BR" altLang="ru-RU" sz="2400" i="1" smtClean="0">
                <a:latin typeface="Times New Roman" pitchFamily="18" charset="0"/>
              </a:rPr>
              <a:t>Z</a:t>
            </a:r>
            <a:r>
              <a:rPr lang="pt-BR" altLang="ru-RU" sz="2400" smtClean="0">
                <a:latin typeface="Times New Roman" pitchFamily="18" charset="0"/>
              </a:rPr>
              <a:t> → λ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1200" smtClean="0">
                <a:latin typeface="Times New Roman" pitchFamily="18" charset="0"/>
              </a:rPr>
              <a:t> </a:t>
            </a:r>
            <a:endParaRPr lang="ru-RU" altLang="ru-RU" sz="12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b="1" i="1" smtClean="0">
                <a:latin typeface="Times New Roman" pitchFamily="18" charset="0"/>
              </a:rPr>
              <a:t>ДАЛЕЕ</a:t>
            </a:r>
            <a:r>
              <a:rPr lang="ru-RU" altLang="ru-RU" sz="2400" smtClean="0">
                <a:latin typeface="Times New Roman" pitchFamily="18" charset="0"/>
              </a:rPr>
              <a:t>:     </a:t>
            </a:r>
            <a:r>
              <a:rPr lang="en-US" altLang="ru-RU" sz="2400" smtClean="0">
                <a:latin typeface="Times New Roman" pitchFamily="18" charset="0"/>
              </a:rPr>
              <a:t>LL</a:t>
            </a:r>
            <a:r>
              <a:rPr lang="ru-RU" altLang="ru-RU" sz="2400" smtClean="0">
                <a:latin typeface="Times New Roman" pitchFamily="18" charset="0"/>
              </a:rPr>
              <a:t>(1)-анализатор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и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генератор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ОПС</a:t>
            </a:r>
          </a:p>
        </p:txBody>
      </p:sp>
      <p:sp>
        <p:nvSpPr>
          <p:cNvPr id="12292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D7A5C8F-967B-40CC-97C8-C34871C0FB57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30175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5888"/>
            <a:ext cx="8497888" cy="649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</a:t>
            </a:r>
          </a:p>
        </p:txBody>
      </p:sp>
      <p:graphicFrame>
        <p:nvGraphicFramePr>
          <p:cNvPr id="38076" name="Group 188"/>
          <p:cNvGraphicFramePr>
            <a:graphicFrameLocks noGrp="1"/>
          </p:cNvGraphicFramePr>
          <p:nvPr>
            <p:ph sz="half" idx="2"/>
          </p:nvPr>
        </p:nvGraphicFramePr>
        <p:xfrm>
          <a:off x="171450" y="139700"/>
          <a:ext cx="8662988" cy="6599238"/>
        </p:xfrm>
        <a:graphic>
          <a:graphicData uri="http://schemas.openxmlformats.org/drawingml/2006/table">
            <a:tbl>
              <a:tblPr/>
              <a:tblGrid>
                <a:gridCol w="381000"/>
                <a:gridCol w="782638"/>
                <a:gridCol w="723900"/>
                <a:gridCol w="617537"/>
                <a:gridCol w="585788"/>
                <a:gridCol w="804862"/>
                <a:gridCol w="376238"/>
                <a:gridCol w="881062"/>
                <a:gridCol w="701675"/>
                <a:gridCol w="657225"/>
                <a:gridCol w="495300"/>
                <a:gridCol w="669925"/>
                <a:gridCol w="481013"/>
                <a:gridCol w="504825"/>
              </a:tblGrid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]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:=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5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aH</a:t>
                      </a: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:</a:t>
                      </a: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SZ</a:t>
                      </a: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endParaRPr kumimoji="0" lang="en-US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:=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5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’</a:t>
                      </a: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□□□□□</a:t>
                      </a: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aHV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kV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pt-BR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’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pt-BR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aHV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 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GZ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ru-RU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’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pt-BR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pt-BR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</a:t>
                      </a: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SK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□□□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ru-RU" altLang="ru-RU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</a:t>
                      </a: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□□</a:t>
                      </a:r>
                      <a:r>
                        <a:rPr kumimoji="0" lang="en-US" alt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i2</a:t>
                      </a:r>
                      <a:endParaRPr kumimoji="0" lang="ru-RU" altLang="ru-RU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alt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49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7010400" y="6237288"/>
            <a:ext cx="2133600" cy="476250"/>
          </a:xfr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D349323-2003-4313-905D-D6AB12D857D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2016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88913"/>
            <a:ext cx="8820150" cy="6669087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b="1" i="1" smtClean="0">
                <a:solidFill>
                  <a:schemeClr val="accent2"/>
                </a:solidFill>
                <a:latin typeface="Times New Roman" pitchFamily="18" charset="0"/>
              </a:rPr>
              <a:t>Построенный </a:t>
            </a:r>
            <a:r>
              <a:rPr lang="en-US" altLang="ru-RU" sz="2400" b="1" i="1" smtClean="0">
                <a:solidFill>
                  <a:schemeClr val="accent2"/>
                </a:solidFill>
                <a:latin typeface="Times New Roman" pitchFamily="18" charset="0"/>
              </a:rPr>
              <a:t>LL</a:t>
            </a:r>
            <a:r>
              <a:rPr lang="ru-RU" altLang="ru-RU" sz="2400" b="1" i="1" smtClean="0">
                <a:solidFill>
                  <a:schemeClr val="accent2"/>
                </a:solidFill>
                <a:latin typeface="Times New Roman" pitchFamily="18" charset="0"/>
              </a:rPr>
              <a:t>(1)-анализатор</a:t>
            </a:r>
            <a:r>
              <a:rPr lang="en-US" altLang="ru-RU" sz="2400" b="1" i="1" smtClean="0">
                <a:solidFill>
                  <a:schemeClr val="accent2"/>
                </a:solidFill>
                <a:latin typeface="Times New Roman" pitchFamily="18" charset="0"/>
              </a:rPr>
              <a:t> – </a:t>
            </a:r>
            <a:r>
              <a:rPr lang="ru-RU" altLang="ru-RU" sz="2400" b="1" i="1" smtClean="0">
                <a:solidFill>
                  <a:schemeClr val="accent2"/>
                </a:solidFill>
                <a:latin typeface="Times New Roman" pitchFamily="18" charset="0"/>
              </a:rPr>
              <a:t>генератор</a:t>
            </a:r>
            <a:r>
              <a:rPr lang="en-US" altLang="ru-RU" sz="2400" b="1" i="1" smtClean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ru-RU" altLang="ru-RU" sz="2400" b="1" i="1" smtClean="0">
                <a:solidFill>
                  <a:schemeClr val="accent2"/>
                </a:solidFill>
                <a:latin typeface="Times New Roman" pitchFamily="18" charset="0"/>
              </a:rPr>
              <a:t>ОПС в процессе разбора входной цепочки символов записывает в ОПС: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Операнды.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- ссылки на переменные (помещенные в таблицы скалярных переменных и массивов). 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k</a:t>
            </a:r>
            <a:r>
              <a:rPr lang="en-US" altLang="ru-RU" sz="2400" smtClean="0">
                <a:latin typeface="Times New Roman" pitchFamily="18" charset="0"/>
              </a:rPr>
              <a:t> - </a:t>
            </a:r>
            <a:r>
              <a:rPr lang="ru-RU" altLang="ru-RU" sz="2400" smtClean="0">
                <a:latin typeface="Times New Roman" pitchFamily="18" charset="0"/>
              </a:rPr>
              <a:t>ссылки на константы (помещенные в таблицу констант).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Операции.</a:t>
            </a:r>
            <a:endParaRPr lang="en-US" altLang="ru-RU" sz="2400" b="1" smtClean="0">
              <a:latin typeface="Times New Roman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b="1" i="1" smtClean="0">
                <a:latin typeface="Times New Roman" pitchFamily="18" charset="0"/>
              </a:rPr>
              <a:t>Бинарные:</a:t>
            </a:r>
            <a:r>
              <a:rPr lang="ru-RU" altLang="ru-RU" sz="2400" b="1" smtClean="0">
                <a:latin typeface="Times New Roman" pitchFamily="18" charset="0"/>
              </a:rPr>
              <a:t>   </a:t>
            </a:r>
            <a:r>
              <a:rPr lang="en-US" altLang="ru-RU" sz="2400" b="1" smtClean="0">
                <a:latin typeface="Times New Roman" pitchFamily="18" charset="0"/>
              </a:rPr>
              <a:t>+ </a:t>
            </a:r>
            <a:r>
              <a:rPr lang="ru-RU" altLang="ru-RU" sz="2400" b="1" smtClean="0">
                <a:latin typeface="Times New Roman" pitchFamily="18" charset="0"/>
              </a:rPr>
              <a:t>(</a:t>
            </a:r>
            <a:r>
              <a:rPr lang="ru-RU" altLang="ru-RU" sz="2400" smtClean="0">
                <a:latin typeface="Times New Roman" pitchFamily="18" charset="0"/>
              </a:rPr>
              <a:t>сложение),   </a:t>
            </a:r>
            <a:r>
              <a:rPr lang="ru-RU" altLang="ru-RU" sz="2400" b="1" smtClean="0">
                <a:latin typeface="Times New Roman" pitchFamily="18" charset="0"/>
              </a:rPr>
              <a:t>–</a:t>
            </a:r>
            <a:r>
              <a:rPr lang="ru-RU" altLang="ru-RU" sz="2400" smtClean="0">
                <a:latin typeface="Times New Roman" pitchFamily="18" charset="0"/>
              </a:rPr>
              <a:t> (вычитание), </a:t>
            </a:r>
            <a:r>
              <a:rPr lang="ru-RU" altLang="ru-RU" sz="2400" b="1" smtClean="0">
                <a:latin typeface="Times New Roman" pitchFamily="18" charset="0"/>
              </a:rPr>
              <a:t>*</a:t>
            </a:r>
            <a:r>
              <a:rPr lang="ru-RU" altLang="ru-RU" sz="2400" smtClean="0">
                <a:latin typeface="Times New Roman" pitchFamily="18" charset="0"/>
              </a:rPr>
              <a:t> (умножение),            </a:t>
            </a:r>
            <a:r>
              <a:rPr lang="ru-RU" altLang="ru-RU" sz="2400" b="1" smtClean="0">
                <a:latin typeface="Times New Roman" pitchFamily="18" charset="0"/>
              </a:rPr>
              <a:t>/</a:t>
            </a:r>
            <a:r>
              <a:rPr lang="ru-RU" altLang="ru-RU" sz="2400" smtClean="0">
                <a:latin typeface="Times New Roman" pitchFamily="18" charset="0"/>
              </a:rPr>
              <a:t> (деление), </a:t>
            </a:r>
            <a:r>
              <a:rPr lang="ru-RU" altLang="ru-RU" sz="2400" b="1" smtClean="0">
                <a:latin typeface="Times New Roman" pitchFamily="18" charset="0"/>
              </a:rPr>
              <a:t>:=</a:t>
            </a:r>
            <a:r>
              <a:rPr lang="ru-RU" altLang="ru-RU" sz="2400" smtClean="0">
                <a:latin typeface="Times New Roman" pitchFamily="18" charset="0"/>
              </a:rPr>
              <a:t> (присваивание), 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      </a:t>
            </a:r>
            <a:r>
              <a:rPr lang="en-US" altLang="ru-RU" sz="2400" b="1" smtClean="0">
                <a:latin typeface="Times New Roman" pitchFamily="18" charset="0"/>
              </a:rPr>
              <a:t>i</a:t>
            </a:r>
            <a:r>
              <a:rPr lang="ru-RU" altLang="ru-RU" sz="2400" smtClean="0">
                <a:latin typeface="Times New Roman" pitchFamily="18" charset="0"/>
              </a:rPr>
              <a:t> (индексирование в одномерном массиве).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b="1" i="1" smtClean="0">
                <a:latin typeface="Times New Roman" pitchFamily="18" charset="0"/>
              </a:rPr>
              <a:t>Унарная операция:</a:t>
            </a:r>
            <a:r>
              <a:rPr lang="ru-RU" altLang="ru-RU" sz="2400" b="1" smtClean="0">
                <a:latin typeface="Times New Roman" pitchFamily="18" charset="0"/>
              </a:rPr>
              <a:t>   –</a:t>
            </a:r>
            <a:r>
              <a:rPr lang="en-US" altLang="ru-RU" sz="2400" b="1" smtClean="0">
                <a:latin typeface="Times New Roman" pitchFamily="18" charset="0"/>
              </a:rPr>
              <a:t>’</a:t>
            </a:r>
            <a:r>
              <a:rPr lang="ru-RU" altLang="ru-RU" sz="2400" smtClean="0">
                <a:latin typeface="Times New Roman" pitchFamily="18" charset="0"/>
              </a:rPr>
              <a:t> (унарный минус).</a:t>
            </a:r>
            <a:endParaRPr lang="en-US" altLang="ru-RU" sz="2400" smtClean="0">
              <a:latin typeface="Times New Roman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b="1" i="1" smtClean="0">
                <a:latin typeface="Times New Roman" pitchFamily="18" charset="0"/>
              </a:rPr>
              <a:t>Тернарная операция:  </a:t>
            </a:r>
            <a:r>
              <a:rPr lang="en-US" altLang="ru-RU" sz="2400" b="1" smtClean="0">
                <a:latin typeface="Times New Roman" pitchFamily="18" charset="0"/>
              </a:rPr>
              <a:t>i</a:t>
            </a:r>
            <a:r>
              <a:rPr lang="ru-RU" altLang="ru-RU" sz="2400" b="1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 (индексирование в двумерном массиве).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b="1" i="1" smtClean="0">
                <a:solidFill>
                  <a:schemeClr val="accent2"/>
                </a:solidFill>
                <a:latin typeface="Times New Roman" pitchFamily="18" charset="0"/>
              </a:rPr>
              <a:t>Каждый элемент ОПС состоит из двух частей:</a:t>
            </a:r>
            <a:r>
              <a:rPr lang="ru-RU" altLang="ru-RU" sz="2400" smtClean="0">
                <a:solidFill>
                  <a:schemeClr val="accent2"/>
                </a:solidFill>
                <a:latin typeface="Times New Roman" pitchFamily="18" charset="0"/>
              </a:rPr>
              <a:t> 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1) тип элемента;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2) если элемент – операнд, то  ссылка на соответствующую таблицу.</a:t>
            </a:r>
          </a:p>
        </p:txBody>
      </p:sp>
      <p:sp>
        <p:nvSpPr>
          <p:cNvPr id="1434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9AEA820-78BD-4A10-84C8-27FCD2CA8D69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2016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88913"/>
            <a:ext cx="8424863" cy="6669087"/>
          </a:xfrm>
        </p:spPr>
        <p:txBody>
          <a:bodyPr/>
          <a:lstStyle/>
          <a:p>
            <a:pPr marL="533400" indent="-533400" algn="ctr" eaLnBrk="1" hangingPunct="1">
              <a:lnSpc>
                <a:spcPct val="80000"/>
              </a:lnSpc>
              <a:buFontTx/>
              <a:buNone/>
            </a:pPr>
            <a:r>
              <a:rPr lang="ru-RU" altLang="ru-RU" b="1" smtClean="0">
                <a:solidFill>
                  <a:schemeClr val="accent2"/>
                </a:solidFill>
                <a:latin typeface="Times New Roman" pitchFamily="18" charset="0"/>
              </a:rPr>
              <a:t>Исполнение (интерпретация) сформированной ОПС: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endParaRPr lang="ru-RU" altLang="ru-RU" sz="1800" smtClean="0">
              <a:latin typeface="Times New Roman" pitchFamily="18" charset="0"/>
            </a:endParaRP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ru-RU" altLang="ru-RU" sz="2800" b="1" i="1" smtClean="0"/>
              <a:t>В интерпретаторе используется магазин, каждый элемент в магазине состоит из двух частей: вида содержимого и собственно содержимого.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 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Варианты видов содержимого в магазине: 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1) ссылка на переменную, 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2) ссылка на константу, 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3) значение, как результат некоторой операции, 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4) ссылка на массив (его описание, называемое паспортом массива), 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5) ссылка на элемент массива. 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 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endParaRPr lang="ru-RU" altLang="ru-RU" sz="1600" smtClean="0">
              <a:latin typeface="Times New Roman" pitchFamily="18" charset="0"/>
            </a:endParaRPr>
          </a:p>
        </p:txBody>
      </p:sp>
      <p:sp>
        <p:nvSpPr>
          <p:cNvPr id="1536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E3CD9F8-EB8D-4865-AF96-77852F6A0D0E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0"/>
            <a:ext cx="8229600" cy="2016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476250"/>
            <a:ext cx="8820150" cy="6381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Интерпретатор поочередно  просматривает элементы в ОПС, и если встретился операнд, то его вид и ссылка на него записывается в магазин. Если встретилось обозначение операции, то из магазина считываются операнды для этой операции (их количество определяется этой операцией), после чего операция выполняется, а ее результат для таких операций, как арифметические, записывается в магазин.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1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Арифметические операции должны выполняться над числовыми значениями операндов, если же встречается операнд – ссылка, то по этой ссылке вначале прочитывается значение, и лишь затем выполняется сама операция.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1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Для операции присваивания первый операнд должен быть ссылкой, второй операнд используется, как числовое значение, которое записывается в соответствующую таблицу переменных по ссылке. </a:t>
            </a:r>
            <a:r>
              <a:rPr lang="ru-RU" altLang="ru-RU" sz="2400" b="1" i="1" smtClean="0">
                <a:latin typeface="Times New Roman" pitchFamily="18" charset="0"/>
              </a:rPr>
              <a:t>При этом в магазин ничего  не записывается. </a:t>
            </a:r>
          </a:p>
        </p:txBody>
      </p:sp>
      <p:sp>
        <p:nvSpPr>
          <p:cNvPr id="16388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BC7F642-AD66-4613-8B7E-0AA273AA7151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74637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404813"/>
            <a:ext cx="8135937" cy="6264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/>
              <a:t>Вычисление операции индексирования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i </a:t>
            </a:r>
            <a:r>
              <a:rPr lang="ru-RU" altLang="ru-RU" sz="2400" b="1" smtClean="0"/>
              <a:t>для одномерного массива.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/>
              <a:t>Первый операнд – ссылка на таблицу переменных, где находится описание (паспорт) массива. В паспорте есть ссылка на расположение начального элемента массива с индексом 0, количество элементов, длина одного элемента.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/>
              <a:t>Второй операнд – значение индекса.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/>
              <a:t>Результат операции – ссылка на индексируемый элемент массива</a:t>
            </a:r>
            <a:r>
              <a:rPr lang="en-US" altLang="ru-RU" sz="2400" smtClean="0"/>
              <a:t> </a:t>
            </a:r>
            <a:r>
              <a:rPr lang="ru-RU" altLang="ru-RU" sz="2400" smtClean="0"/>
              <a:t>согласно формуле:</a:t>
            </a:r>
            <a:endParaRPr lang="en-US" altLang="ru-RU" sz="2400" i="1" smtClean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M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ru-RU" altLang="ru-RU" sz="2400" smtClean="0">
                <a:latin typeface="Times New Roman" pitchFamily="18" charset="0"/>
              </a:rPr>
              <a:t>*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/>
              <a:t>где </a:t>
            </a:r>
            <a:r>
              <a:rPr lang="en-US" altLang="ru-RU" sz="2400" i="1" smtClean="0">
                <a:latin typeface="Times New Roman" pitchFamily="18" charset="0"/>
              </a:rPr>
              <a:t>M</a:t>
            </a:r>
            <a:r>
              <a:rPr lang="ru-RU" altLang="ru-RU" sz="2400" smtClean="0"/>
              <a:t> – ссылка на элемент массива с индексом </a:t>
            </a:r>
            <a:r>
              <a:rPr lang="en-US" altLang="ru-RU" sz="2400" smtClean="0"/>
              <a:t>[</a:t>
            </a:r>
            <a:r>
              <a:rPr lang="ru-RU" altLang="ru-RU" sz="2400" smtClean="0"/>
              <a:t>0</a:t>
            </a:r>
            <a:r>
              <a:rPr lang="en-US" altLang="ru-RU" sz="2400" smtClean="0"/>
              <a:t>]</a:t>
            </a:r>
            <a:r>
              <a:rPr lang="ru-RU" altLang="ru-RU" sz="2400" smtClean="0"/>
              <a:t>,        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ru-RU" altLang="ru-RU" sz="2400" smtClean="0"/>
              <a:t> – длина элемента массива, 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  <a:r>
              <a:rPr lang="ru-RU" altLang="ru-RU" sz="2400" smtClean="0"/>
              <a:t> – значение индекса.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14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i="1" smtClean="0"/>
              <a:t>Вычисленная ссылка на индексируемый элемент записывается в магазин.</a:t>
            </a:r>
          </a:p>
        </p:txBody>
      </p:sp>
      <p:sp>
        <p:nvSpPr>
          <p:cNvPr id="17412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85D33CB-310D-4FE1-A3F2-BF5312FF122A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74637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1650" y="404813"/>
            <a:ext cx="8318500" cy="62642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/>
              <a:t>Вычисление операции индексирования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i</a:t>
            </a:r>
            <a:r>
              <a:rPr lang="ru-RU" altLang="ru-RU" sz="2400" b="1" smtClean="0">
                <a:latin typeface="Times New Roman" pitchFamily="18" charset="0"/>
              </a:rPr>
              <a:t>2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b="1" smtClean="0"/>
              <a:t>для двумерного массива.</a:t>
            </a:r>
            <a:r>
              <a:rPr lang="ru-RU" altLang="ru-RU" sz="2400" smtClean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/>
              <a:t>Первый операнд – ссылка на паспорт массива.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/>
              <a:t>Второй операнд – значение индекса по первому измерению.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/>
              <a:t>Третий операнд – значение индекса по второму измерению.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/>
              <a:t>Результат операции – ссылка на индексируемый элемент массива</a:t>
            </a:r>
            <a:r>
              <a:rPr lang="en-US" altLang="ru-RU" sz="2400" smtClean="0"/>
              <a:t> </a:t>
            </a:r>
            <a:r>
              <a:rPr lang="ru-RU" altLang="ru-RU" sz="2400" smtClean="0"/>
              <a:t>согласно формуле:</a:t>
            </a:r>
            <a:endParaRPr lang="en-US" altLang="ru-RU" sz="2400" i="1" smtClean="0"/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M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ru-RU" altLang="ru-RU" sz="2400" smtClean="0">
                <a:latin typeface="Times New Roman" pitchFamily="18" charset="0"/>
              </a:rPr>
              <a:t>*(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  <a:r>
              <a:rPr lang="ru-RU" altLang="ru-RU" sz="2400" i="1" smtClean="0">
                <a:latin typeface="Times New Roman" pitchFamily="18" charset="0"/>
              </a:rPr>
              <a:t>*</a:t>
            </a:r>
            <a:r>
              <a:rPr lang="en-US" altLang="ru-RU" sz="2400" i="1" smtClean="0">
                <a:latin typeface="Times New Roman" pitchFamily="18" charset="0"/>
              </a:rPr>
              <a:t>m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j</a:t>
            </a:r>
            <a:r>
              <a:rPr lang="ru-RU" altLang="ru-RU" sz="2400" smtClean="0">
                <a:latin typeface="Times New Roman" pitchFamily="18" charset="0"/>
              </a:rPr>
              <a:t>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/>
              <a:t>где </a:t>
            </a:r>
            <a:r>
              <a:rPr lang="en-US" altLang="ru-RU" sz="2400" i="1" smtClean="0">
                <a:latin typeface="Times New Roman" pitchFamily="18" charset="0"/>
              </a:rPr>
              <a:t>M</a:t>
            </a:r>
            <a:r>
              <a:rPr lang="ru-RU" altLang="ru-RU" sz="2400" smtClean="0"/>
              <a:t> – ссылка на элемент массива с индексами </a:t>
            </a:r>
            <a:r>
              <a:rPr lang="en-US" altLang="ru-RU" sz="2400" smtClean="0"/>
              <a:t>[</a:t>
            </a:r>
            <a:r>
              <a:rPr lang="ru-RU" altLang="ru-RU" sz="2400" smtClean="0"/>
              <a:t>0,0</a:t>
            </a:r>
            <a:r>
              <a:rPr lang="en-US" altLang="ru-RU" sz="2400" smtClean="0"/>
              <a:t>]</a:t>
            </a:r>
            <a:r>
              <a:rPr lang="ru-RU" altLang="ru-RU" sz="2400" smtClean="0"/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/>
              <a:t>   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ru-RU" altLang="ru-RU" sz="2400" smtClean="0"/>
              <a:t> – длина элемента массива,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    </a:t>
            </a:r>
            <a:r>
              <a:rPr lang="en-US" altLang="ru-RU" sz="2400" i="1" smtClean="0">
                <a:latin typeface="Times New Roman" pitchFamily="18" charset="0"/>
              </a:rPr>
              <a:t>m</a:t>
            </a:r>
            <a:r>
              <a:rPr lang="ru-RU" altLang="ru-RU" sz="2400" smtClean="0"/>
              <a:t> – количество элементов в массиве по второму измерению,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/>
              <a:t>  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  <a:r>
              <a:rPr lang="en-US" altLang="ru-RU" sz="2400" smtClean="0"/>
              <a:t> </a:t>
            </a:r>
            <a:r>
              <a:rPr lang="ru-RU" altLang="ru-RU" sz="2400" smtClean="0"/>
              <a:t>, </a:t>
            </a:r>
            <a:r>
              <a:rPr lang="en-US" altLang="ru-RU" sz="2400" i="1" smtClean="0">
                <a:latin typeface="Times New Roman" pitchFamily="18" charset="0"/>
              </a:rPr>
              <a:t>j</a:t>
            </a:r>
            <a:r>
              <a:rPr lang="en-US" altLang="ru-RU" sz="2400" smtClean="0"/>
              <a:t> </a:t>
            </a:r>
            <a:r>
              <a:rPr lang="ru-RU" altLang="ru-RU" sz="2400" smtClean="0"/>
              <a:t>– значения индексов.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ru-RU" sz="16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i="1" smtClean="0"/>
              <a:t>Вычисленная ссылка на индексируемый элемент записывается в магазин.</a:t>
            </a:r>
          </a:p>
        </p:txBody>
      </p:sp>
      <p:sp>
        <p:nvSpPr>
          <p:cNvPr id="18436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F660DB7-E21F-4D94-A788-6D0DAC921CF3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0"/>
            <a:ext cx="8229600" cy="2016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88913"/>
            <a:ext cx="8569325" cy="64087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ПРИМЕР. </a:t>
            </a:r>
            <a:r>
              <a:rPr lang="ru-RU" altLang="ru-RU" sz="2400" smtClean="0">
                <a:latin typeface="Times New Roman" pitchFamily="18" charset="0"/>
              </a:rPr>
              <a:t>На вход поступает цепочка:</a:t>
            </a:r>
            <a:endParaRPr lang="en-US" altLang="ru-RU" sz="2400" smtClean="0">
              <a:latin typeface="Times New Roman" pitchFamily="18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[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] := 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*</a:t>
            </a:r>
            <a:r>
              <a:rPr lang="en-US" altLang="ru-RU" sz="2400" smtClean="0">
                <a:latin typeface="Times New Roman" pitchFamily="18" charset="0"/>
              </a:rPr>
              <a:t>L</a:t>
            </a:r>
            <a:r>
              <a:rPr lang="ru-RU" altLang="ru-RU" sz="2400" smtClean="0">
                <a:latin typeface="Times New Roman" pitchFamily="18" charset="0"/>
              </a:rPr>
              <a:t>[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,</a:t>
            </a:r>
            <a:r>
              <a:rPr lang="en-US" altLang="ru-RU" sz="2400" smtClean="0">
                <a:latin typeface="Times New Roman" pitchFamily="18" charset="0"/>
              </a:rPr>
              <a:t> j</a:t>
            </a:r>
            <a:r>
              <a:rPr lang="ru-RU" altLang="ru-RU" sz="2400" smtClean="0">
                <a:latin typeface="Times New Roman" pitchFamily="18" charset="0"/>
              </a:rPr>
              <a:t> + </a:t>
            </a:r>
            <a:r>
              <a:rPr lang="en-US" altLang="ru-RU" sz="2400" smtClean="0">
                <a:latin typeface="Times New Roman" pitchFamily="18" charset="0"/>
              </a:rPr>
              <a:t>d</a:t>
            </a:r>
            <a:r>
              <a:rPr lang="ru-RU" altLang="ru-RU" sz="2400" smtClean="0">
                <a:latin typeface="Times New Roman" pitchFamily="18" charset="0"/>
              </a:rPr>
              <a:t>] </a:t>
            </a:r>
            <a:r>
              <a:rPr lang="ru-RU" altLang="ru-RU" sz="2400" baseline="-25000" smtClean="0"/>
              <a:t>┴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LL</a:t>
            </a:r>
            <a:r>
              <a:rPr lang="ru-RU" altLang="ru-RU" sz="2400" smtClean="0">
                <a:latin typeface="Times New Roman" pitchFamily="18" charset="0"/>
              </a:rPr>
              <a:t>(1)-анализатор</a:t>
            </a:r>
            <a:r>
              <a:rPr lang="en-US" altLang="ru-RU" sz="2400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генератор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сформирует следующую ОПС: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M k </a:t>
            </a:r>
            <a:r>
              <a:rPr lang="en-US" altLang="ru-RU" sz="2400" b="1" smtClean="0">
                <a:latin typeface="Times New Roman" pitchFamily="18" charset="0"/>
              </a:rPr>
              <a:t>i </a:t>
            </a:r>
            <a:r>
              <a:rPr lang="en-US" altLang="ru-RU" sz="2400" smtClean="0">
                <a:latin typeface="Times New Roman" pitchFamily="18" charset="0"/>
              </a:rPr>
              <a:t>a L k j d + </a:t>
            </a:r>
            <a:r>
              <a:rPr lang="en-US" altLang="ru-RU" sz="2400" b="1" smtClean="0">
                <a:latin typeface="Times New Roman" pitchFamily="18" charset="0"/>
              </a:rPr>
              <a:t>i2 </a:t>
            </a:r>
            <a:r>
              <a:rPr lang="en-US" altLang="ru-RU" sz="2400" smtClean="0">
                <a:latin typeface="Times New Roman" pitchFamily="18" charset="0"/>
              </a:rPr>
              <a:t>* :=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Здесь </a:t>
            </a:r>
            <a:r>
              <a:rPr lang="en-US" altLang="ru-RU" sz="2400" smtClean="0">
                <a:latin typeface="Times New Roman" pitchFamily="18" charset="0"/>
              </a:rPr>
              <a:t>k, a, j, d – </a:t>
            </a:r>
            <a:r>
              <a:rPr lang="ru-RU" altLang="ru-RU" sz="2400" smtClean="0">
                <a:latin typeface="Times New Roman" pitchFamily="18" charset="0"/>
              </a:rPr>
              <a:t>простые переменные</a:t>
            </a:r>
            <a:r>
              <a:rPr lang="en-US" altLang="ru-RU" sz="2400" smtClean="0">
                <a:latin typeface="Times New Roman" pitchFamily="18" charset="0"/>
              </a:rPr>
              <a:t>;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M, L –</a:t>
            </a:r>
            <a:r>
              <a:rPr lang="ru-RU" altLang="ru-RU" sz="2400" smtClean="0">
                <a:latin typeface="Times New Roman" pitchFamily="18" charset="0"/>
              </a:rPr>
              <a:t> ссылки на массивы (точнее, на паспорта массивов). Операции обозначены символами: </a:t>
            </a:r>
            <a:r>
              <a:rPr lang="en-US" altLang="ru-RU" sz="2400" b="1" smtClean="0">
                <a:latin typeface="Times New Roman" pitchFamily="18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b="1" smtClean="0">
                <a:latin typeface="Times New Roman" pitchFamily="18" charset="0"/>
              </a:rPr>
              <a:t>i2</a:t>
            </a:r>
            <a:r>
              <a:rPr lang="en-US" altLang="ru-RU" sz="2400" smtClean="0">
                <a:latin typeface="Times New Roman" pitchFamily="18" charset="0"/>
              </a:rPr>
              <a:t>, +, *, :=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Вычисление ОПС: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ru-RU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 smtClean="0">
                <a:latin typeface="Times New Roman" pitchFamily="18" charset="0"/>
              </a:rPr>
              <a:t> </a:t>
            </a:r>
            <a:endParaRPr lang="ru-RU" altLang="ru-RU" sz="2000" smtClean="0">
              <a:latin typeface="Times New Roman" pitchFamily="18" charset="0"/>
            </a:endParaRPr>
          </a:p>
        </p:txBody>
      </p:sp>
      <p:sp>
        <p:nvSpPr>
          <p:cNvPr id="1946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8771B81-2108-4245-8732-39033353B083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ru-RU" altLang="ru-RU" sz="1400" smtClean="0"/>
          </a:p>
        </p:txBody>
      </p:sp>
      <p:graphicFrame>
        <p:nvGraphicFramePr>
          <p:cNvPr id="39994" name="Group 58"/>
          <p:cNvGraphicFramePr>
            <a:graphicFrameLocks noGrp="1"/>
          </p:cNvGraphicFramePr>
          <p:nvPr/>
        </p:nvGraphicFramePr>
        <p:xfrm>
          <a:off x="1187450" y="3068638"/>
          <a:ext cx="6096000" cy="3627435"/>
        </p:xfrm>
        <a:graphic>
          <a:graphicData uri="http://schemas.openxmlformats.org/drawingml/2006/table">
            <a:tbl>
              <a:tblPr/>
              <a:tblGrid>
                <a:gridCol w="1079500"/>
                <a:gridCol w="3097213"/>
                <a:gridCol w="1919287"/>
              </a:tblGrid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Шаг 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Магазин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Операция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k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ru-RU" alt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M[k],a,L,k, j,d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M[k],a,L,k, j+d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i2</a:t>
                      </a:r>
                      <a:endParaRPr kumimoji="0" lang="ru-RU" alt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M[k],a,L[k, j+d]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M[k],a*L[k, j+d]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:=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3517</TotalTime>
  <Words>1208</Words>
  <Application>Microsoft Office PowerPoint</Application>
  <PresentationFormat>Экран (4:3)</PresentationFormat>
  <Paragraphs>502</Paragraphs>
  <Slides>18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Оформление по умолчанию</vt:lpstr>
      <vt:lpstr>ТОМСКИЙ ГОСУДАРСТВЕННЫЙ УНИВЕРСИТЕТ </vt:lpstr>
      <vt:lpstr>ОБРАТНАЯ ПОЛЬСКАЯ СТРОКА, КАК ПРОМЕЖУТОЧНАЯ ФОРМА ПРОГРАММЫ </vt:lpstr>
      <vt:lpstr>Вычисление ОПС выполняется интерпретатором </vt:lpstr>
      <vt:lpstr>Генерация ОПС для арифметических выражений </vt:lpstr>
      <vt:lpstr>Презентация PowerPoint</vt:lpstr>
      <vt:lpstr>Пример. Анализ цепочки a + b * c ┴ и генерация ОПС</vt:lpstr>
      <vt:lpstr>Грамматика с дополнительными операциями</vt:lpstr>
      <vt:lpstr>Грамматика с дополнительными операциями</vt:lpstr>
      <vt:lpstr>Презентация PowerPoint</vt:lpstr>
      <vt:lpstr>Грамматика присваиваний и арифметических выражений с индексами</vt:lpstr>
      <vt:lpstr>Грамматика присваиваний и арифметических выражений с индексами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ТГУ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АВТОМАТОВ И ФОРМАЛЬНЫХ ЯЗЫКОВ</dc:title>
  <dc:creator>Вход</dc:creator>
  <cp:lastModifiedBy>User</cp:lastModifiedBy>
  <cp:revision>105</cp:revision>
  <dcterms:created xsi:type="dcterms:W3CDTF">2009-09-02T15:38:32Z</dcterms:created>
  <dcterms:modified xsi:type="dcterms:W3CDTF">2024-02-03T16:47:49Z</dcterms:modified>
</cp:coreProperties>
</file>