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7" r:id="rId2"/>
    <p:sldId id="304" r:id="rId3"/>
    <p:sldId id="305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302" r:id="rId14"/>
    <p:sldId id="265" r:id="rId15"/>
    <p:sldId id="298" r:id="rId16"/>
    <p:sldId id="299" r:id="rId17"/>
    <p:sldId id="303" r:id="rId1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0000"/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102" y="-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D29EED0-B8D4-416A-8D46-7D0EB398BD62}" type="datetimeFigureOut">
              <a:rPr lang="ru-RU"/>
              <a:pPr>
                <a:defRPr/>
              </a:pPr>
              <a:t>13.02.2024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F1346E-6E29-4460-8DEC-00DE07EF5C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0754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1843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C01F6E4-2F22-4584-8B84-375C3548C75A}" type="slidenum">
              <a:rPr lang="ru-RU" altLang="ru-RU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ru-RU" altLang="ru-RU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F6758-673D-44DE-8D38-6E6E3736B53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963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AB279-0FE9-4831-9833-D41EE38B0B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65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11D9E-3171-4862-9C28-68E185CFA94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72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E6480A-AA94-4604-B3CE-AE5B94EC28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139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78B55-F6E3-4332-AAD4-0AF0488DBC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66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6D9DF-67C0-4037-8389-8AAD44CA9B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32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8B619-311D-45A3-8BAD-86E7DFCA2A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15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E497DF-909C-4536-8EC6-F0962AFC62D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14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B17BF-AFD6-432E-816E-644DE4CAED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72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E724BE-633D-42CF-A506-17BB6E56BC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4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7DE31-6ABB-452D-AC8C-9A7F978F079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619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09AF6-B07E-45B6-943D-A2912E4C3D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348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C4BDF-5E0C-433B-897D-B83C6DA637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72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E420E45-2CC4-4390-86EC-2659768078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2051" name="Объект 2"/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 dirty="0" smtClean="0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1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205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32C0E1-325B-4B3D-8E2C-E2A57F6DE5F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pPr algn="l"/>
            <a:r>
              <a:rPr lang="ru-RU" sz="2800" dirty="0" smtClean="0"/>
              <a:t>Термины: компиляция и трансляция – почти синонимы в информатике.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marL="0" indent="0">
              <a:buNone/>
            </a:pPr>
            <a:r>
              <a:rPr lang="ru-RU" sz="2800" b="1" i="1" dirty="0" smtClean="0"/>
              <a:t>Трансляция</a:t>
            </a:r>
            <a:r>
              <a:rPr lang="ru-RU" sz="2800" dirty="0" smtClean="0"/>
              <a:t> – перевод с одного языка на другой, в частности, с </a:t>
            </a:r>
            <a:r>
              <a:rPr lang="ru-RU" sz="2800" dirty="0"/>
              <a:t>одного языка </a:t>
            </a:r>
            <a:r>
              <a:rPr lang="ru-RU" sz="2800" dirty="0" smtClean="0"/>
              <a:t>программирования на другой язык.</a:t>
            </a:r>
          </a:p>
          <a:p>
            <a:pPr marL="0" indent="0">
              <a:buNone/>
            </a:pPr>
            <a:endParaRPr lang="ru-RU" sz="2800" dirty="0" smtClean="0"/>
          </a:p>
          <a:p>
            <a:pPr marL="0" indent="0">
              <a:buNone/>
            </a:pPr>
            <a:r>
              <a:rPr lang="ru-RU" sz="2800" b="1" i="1" dirty="0" smtClean="0"/>
              <a:t>Компиляция</a:t>
            </a:r>
            <a:r>
              <a:rPr lang="ru-RU" sz="2800" dirty="0" smtClean="0"/>
              <a:t> </a:t>
            </a:r>
            <a:r>
              <a:rPr lang="ru-RU" sz="2800" dirty="0"/>
              <a:t>– перевод </a:t>
            </a:r>
            <a:r>
              <a:rPr lang="ru-RU" sz="2800" dirty="0" smtClean="0"/>
              <a:t>с языка программирования, </a:t>
            </a:r>
            <a:r>
              <a:rPr lang="ru-RU" sz="2800" dirty="0"/>
              <a:t>на </a:t>
            </a:r>
            <a:r>
              <a:rPr lang="ru-RU" sz="2800" dirty="0" smtClean="0"/>
              <a:t>котором написана программа, на язык команд компьютера.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BAB279-0FE9-4831-9833-D41EE38B0B28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59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/>
          <a:lstStyle/>
          <a:p>
            <a:pPr algn="l"/>
            <a:r>
              <a:rPr lang="ru-RU" sz="2400" b="1" dirty="0">
                <a:solidFill>
                  <a:srgbClr val="0070C0"/>
                </a:solidFill>
              </a:rPr>
              <a:t>Литература</a:t>
            </a:r>
            <a:r>
              <a:rPr lang="ru-RU" sz="2400" b="1" dirty="0" smtClean="0">
                <a:solidFill>
                  <a:srgbClr val="0070C0"/>
                </a:solidFill>
              </a:rPr>
              <a:t>: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Ахо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А., Ульман Дж. Теория синтаксического анализа, перевода и компиляции. В двух томах / Пер. с англ. М: Мир, 1978.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Ахо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А., Сети В., Лам М., Ульман Дж. Компиляторы: принципы, технологии и инструментарий / / Пер. с англ. М: Вильямс,2008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Свердлов С. З. Языки программирования и методы трансляции: Учебное пособие. — 2е изд.,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СПб.: Издательство «Лань», 2019. — 564 с.: ил.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BAB279-0FE9-4831-9833-D41EE38B0B28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60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93662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ФОРМАЛЬНЫЕ ЯЗЫКИ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472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 – конечное множество из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символов (алфавит).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Последовательность символов – цепочка.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Пример: из символов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можно получить цепочки: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aa, ab, ba, bb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aaa, aab, aba, abb, baa, bab, bba, bbb,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. . .}. </a:t>
            </a: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Обозначения цепочек – строчными греческими буквами: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, . . . </a:t>
            </a:r>
            <a:endParaRPr lang="en-US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Длина цепочки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– количество символов в ней.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Количество всех различных цепочек длины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из алфавита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символов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i="1" baseline="30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Операция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конкатенации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соединяняет две цепочки: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αβ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. Их длины суммируются: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αβ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| =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| + |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Цепочка длины 0 (пустая) обозначается буквой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l-GR" altLang="ru-RU" sz="28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BF226F-1C82-4DB4-94B8-2C05636BE79A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435975" cy="6121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Количество всех различных цепочек длины не более чем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(включая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) из алфавита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символов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1 +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altLang="ru-RU" sz="2800" i="1" baseline="30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baseline="30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+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. . . +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i="1" baseline="30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i="1" baseline="30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baseline="30000" smtClean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)/(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Множество цепочек длины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обозначается как ∑</a:t>
            </a:r>
            <a:r>
              <a:rPr lang="en-US" altLang="ru-RU" sz="2800" i="1" baseline="3000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baseline="3000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множество всех цепочек длины от 1 до ∞: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baseline="3000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= ∑</a:t>
            </a:r>
            <a:r>
              <a:rPr lang="ru-RU" altLang="ru-RU" sz="2800" i="1" baseline="30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smtClean="0">
                <a:cs typeface="Times New Roman" pitchFamily="18" charset="0"/>
              </a:rPr>
              <a:t>U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baseline="30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800" i="1" baseline="30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smtClean="0">
                <a:cs typeface="Times New Roman" pitchFamily="18" charset="0"/>
              </a:rPr>
              <a:t>U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baseline="30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altLang="ru-RU" sz="2800" i="1" baseline="30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smtClean="0">
                <a:cs typeface="Times New Roman" pitchFamily="18" charset="0"/>
              </a:rPr>
              <a:t>U</a:t>
            </a:r>
            <a:r>
              <a:rPr lang="ru-RU" altLang="ru-RU" sz="2800" smtClean="0"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. . . </a:t>
            </a:r>
            <a:r>
              <a:rPr lang="en-US" altLang="ru-RU" sz="2800" smtClean="0">
                <a:cs typeface="Times New Roman" pitchFamily="18" charset="0"/>
              </a:rPr>
              <a:t>U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 </a:t>
            </a:r>
            <a:r>
              <a:rPr lang="en-US" altLang="ru-RU" sz="2800" i="1" baseline="30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800" i="1" baseline="30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smtClean="0">
                <a:cs typeface="Times New Roman" pitchFamily="18" charset="0"/>
              </a:rPr>
              <a:t>U</a:t>
            </a:r>
            <a:r>
              <a:rPr lang="ru-RU" altLang="ru-RU" sz="2800" smtClean="0">
                <a:cs typeface="Times New Roman" pitchFamily="18" charset="0"/>
              </a:rPr>
              <a:t> . . .</a:t>
            </a:r>
            <a:endParaRPr lang="ru-RU" altLang="ru-RU" sz="2800" i="1" baseline="30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называется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положительным транзитивным замыканием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множества ∑.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baseline="3000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множество всех цепочек длины от 0 до ∞ называется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транзитивным замыканием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множества ∑: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i="1" baseline="3000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= ∑</a:t>
            </a:r>
            <a:r>
              <a:rPr lang="en-US" altLang="ru-RU" sz="2800" i="1" baseline="3000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smtClean="0">
                <a:cs typeface="Times New Roman" pitchFamily="18" charset="0"/>
              </a:rPr>
              <a:t>U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{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Язык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некоторое множество цепочек в алфавите ∑, которое есть подмножество ∑</a:t>
            </a:r>
            <a:r>
              <a:rPr lang="ru-RU" altLang="ru-RU" sz="2800" i="1" baseline="3000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10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C7F02D-D42D-4628-AE65-5E891BFBA69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0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Порождающая грамматика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6021387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G</a:t>
            </a:r>
            <a:r>
              <a:rPr lang="en-US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L</a:t>
            </a:r>
            <a:r>
              <a:rPr lang="en-US" altLang="ru-RU" sz="2800" smtClean="0">
                <a:latin typeface="Times New Roman" pitchFamily="18" charset="0"/>
              </a:rPr>
              <a:t>)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80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алфавит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символов языка (терминальные символы, терминалы);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алфавит вспомогательных символов грамматики (грамматические понятия, нетерминальные символы, нетерминалы);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множество начальных нетерминалов (обычно 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множество порождающих правил вида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– цепочки терминалов и нетерминалов, причем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содержит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хотя бы 1 нетерминал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Знак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(порождает) означает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замену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подстановку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) подцепочки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на подцепочку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– левая часть,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– правая часть правила.</a:t>
            </a:r>
            <a:endParaRPr lang="el-GR" altLang="ru-RU" sz="28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A9AF7E6-D51B-47CF-B9F0-71E815E4E469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Процесс порождения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351838" cy="6021387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Одно из правил множества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в котором левая часть 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начальный нетерминал, (пусть это правило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) начинает порождение: из цепочки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получается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altLang="ru-RU" sz="120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2. Какая либо подцепочка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входящая в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заменяется в соответствии с правилом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в результате вся цепочка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превращается в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   Шаги 1 и 2 запишем так: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=&gt;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altLang="ru-RU" sz="12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3. Шаг 2 повторяется до тех пор, пока возможна какая либо из замен в цепочке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в соответствии с правилами из множества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 В результате получится некоторая цепочка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endParaRPr lang="ru-RU" altLang="ru-RU" sz="12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   Если цепочка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состоит только из терминалов (символов языка) или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то процесс порождения успешно завершен. Иначе – тупик, безуспешное порождение. Если шаг 2 никак завершиться не может (процесс зациклил), то это также безуспешное порождение. </a:t>
            </a:r>
          </a:p>
        </p:txBody>
      </p:sp>
      <p:sp>
        <p:nvSpPr>
          <p:cNvPr id="614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06D4E14-9976-43AF-8249-FBD6F698A83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Процесс порождения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424863" cy="6021387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3000" smtClean="0">
                <a:latin typeface="Times New Roman" pitchFamily="18" charset="0"/>
                <a:cs typeface="Times New Roman" pitchFamily="18" charset="0"/>
              </a:rPr>
              <a:t>Всех вариантов порождения может быть очень много, часто бесконечно много, количество разных получающихся при этом терминальных цепочек также может быть бесконечно много.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3000" smtClean="0">
                <a:latin typeface="Times New Roman" pitchFamily="18" charset="0"/>
                <a:cs typeface="Times New Roman" pitchFamily="18" charset="0"/>
              </a:rPr>
              <a:t>В последнем случае язык, являющийся множеством всех различных получающихся при этом терминальных цепочек, </a:t>
            </a:r>
            <a:r>
              <a:rPr lang="ru-RU" altLang="ru-RU" sz="3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бесконечен</a:t>
            </a:r>
            <a:r>
              <a:rPr lang="ru-RU" altLang="ru-RU" sz="30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ru-RU" altLang="ru-RU" sz="3000" smtClean="0">
                <a:latin typeface="Times New Roman" pitchFamily="18" charset="0"/>
                <a:cs typeface="Times New Roman" pitchFamily="18" charset="0"/>
              </a:rPr>
              <a:t>Можно представить алгоритм, генерирующий </a:t>
            </a:r>
            <a:r>
              <a:rPr lang="ru-RU" altLang="ru-RU" sz="3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все возможные варианты</a:t>
            </a:r>
            <a:r>
              <a:rPr lang="ru-RU" altLang="ru-RU" sz="3000" smtClean="0">
                <a:latin typeface="Times New Roman" pitchFamily="18" charset="0"/>
                <a:cs typeface="Times New Roman" pitchFamily="18" charset="0"/>
              </a:rPr>
              <a:t> порождения для заданной грамматики. Но для бесконечного языка такой алгоритм будет работать бесконечно долго. </a:t>
            </a:r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EE368F-0AAA-4975-BAB0-A51E2261872B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Пример порождения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325" y="836613"/>
            <a:ext cx="8820150" cy="6021387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ru-RU" altLang="ru-RU" sz="26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Далее везде в примерах: заглавные буквы обозначают нетерминалы, строчные буквы – терминалы.</a:t>
            </a:r>
            <a:r>
              <a:rPr lang="ru-RU" altLang="ru-RU" sz="260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457200" indent="-457200" eaLnBrk="1" hangingPunct="1"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Грамматика:      </a:t>
            </a:r>
            <a:r>
              <a:rPr lang="en-US" altLang="ru-RU" sz="2800" i="1" smtClean="0">
                <a:latin typeface="Times New Roman" pitchFamily="18" charset="0"/>
              </a:rPr>
              <a:t>G</a:t>
            </a:r>
            <a:r>
              <a:rPr lang="ru-RU" altLang="ru-RU" sz="2800" baseline="-25000" smtClean="0">
                <a:latin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L</a:t>
            </a:r>
            <a:r>
              <a:rPr lang="en-US" altLang="ru-RU" sz="2800" smtClean="0">
                <a:latin typeface="Times New Roman" pitchFamily="18" charset="0"/>
              </a:rPr>
              <a:t>)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800" smtClean="0">
                <a:latin typeface="Times New Roman" pitchFamily="18" charset="0"/>
              </a:rPr>
              <a:t>}</a:t>
            </a:r>
            <a:endParaRPr lang="ru-RU" altLang="ru-RU" sz="26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S, 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 marL="457200" indent="-457200"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aTa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aT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}.</a:t>
            </a:r>
          </a:p>
          <a:p>
            <a:pPr marL="457200" indent="-457200" eaLnBrk="1" hangingPunct="1">
              <a:buFontTx/>
              <a:buNone/>
            </a:pPr>
            <a:r>
              <a:rPr lang="ru-RU" altLang="ru-RU" sz="28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Варианты порождений:</a:t>
            </a:r>
          </a:p>
          <a:p>
            <a:pPr marL="457200" indent="-457200" eaLnBrk="1" hangingPunct="1"/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aTa =&gt;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aba</a:t>
            </a:r>
            <a:endParaRPr lang="ru-RU" altLang="ru-RU" sz="2800" i="1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/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aTa =&gt;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Ta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=&gt; ba</a:t>
            </a:r>
          </a:p>
          <a:p>
            <a:pPr marL="457200" indent="-457200" eaLnBrk="1" hangingPunct="1"/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aS =&gt; aaTa =&gt;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aaba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ru-RU" sz="2800" i="1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/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aS =&gt; aaTa =&gt; aTba =&gt; abba</a:t>
            </a:r>
          </a:p>
          <a:p>
            <a:pPr marL="457200" indent="-457200" eaLnBrk="1" hangingPunct="1"/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aS =&gt; aaTa =&gt; aTba =&gt; Tbba =&gt; bbba</a:t>
            </a:r>
          </a:p>
          <a:p>
            <a:pPr marL="457200" indent="-457200" eaLnBrk="1" hangingPunct="1"/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. . .</a:t>
            </a:r>
            <a:endParaRPr lang="ru-RU" altLang="ru-RU" sz="2800" i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850667-E816-49AE-89BE-DBD30E4CF21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969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Классификация порождающих грамматик по Хомскому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5516563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  <a:cs typeface="Times New Roman" pitchFamily="18" charset="0"/>
              </a:rPr>
              <a:t>Класс 0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: нет дополнительных ограничений.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Класс 1</a:t>
            </a:r>
            <a:r>
              <a:rPr lang="ru-RU" altLang="ru-RU" sz="2400" smtClean="0">
                <a:latin typeface="Times New Roman" pitchFamily="18" charset="0"/>
              </a:rPr>
              <a:t>: контекстно-зависимые грамматики 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 (</a:t>
            </a:r>
            <a:r>
              <a:rPr lang="ru-RU" altLang="ru-RU" sz="2400" b="1" i="1" smtClean="0">
                <a:solidFill>
                  <a:srgbClr val="C00000"/>
                </a:solidFill>
                <a:latin typeface="Times New Roman" pitchFamily="18" charset="0"/>
              </a:rPr>
              <a:t>КЗ-грамматики</a:t>
            </a:r>
            <a:r>
              <a:rPr lang="ru-RU" altLang="ru-RU" sz="2400" smtClean="0">
                <a:latin typeface="Times New Roman" pitchFamily="18" charset="0"/>
              </a:rPr>
              <a:t>). Вид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порождающих правил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marL="457200" indent="-457200" algn="ctr" eaLnBrk="1" hangingPunct="1">
              <a:lnSpc>
                <a:spcPct val="80000"/>
              </a:lnSpc>
              <a:buFontTx/>
              <a:buNone/>
            </a:pP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βω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l-GR" altLang="ru-RU" sz="2400" baseline="-250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 где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нетерминал,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т.е. </a:t>
            </a:r>
            <a:r>
              <a:rPr lang="ru-RU" altLang="ru-RU" sz="2400" smtClean="0">
                <a:latin typeface="Times New Roman" pitchFamily="18" charset="0"/>
              </a:rPr>
              <a:t>все правила КЗ-грамматики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должны быть неукорачивающими. </a:t>
            </a:r>
            <a:endParaRPr lang="ru-RU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Класс 2</a:t>
            </a:r>
            <a:r>
              <a:rPr lang="ru-RU" altLang="ru-RU" sz="2400" smtClean="0">
                <a:latin typeface="Times New Roman" pitchFamily="18" charset="0"/>
              </a:rPr>
              <a:t>: контекстно-свободные грамматики 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 (</a:t>
            </a:r>
            <a:r>
              <a:rPr lang="ru-RU" altLang="ru-RU" sz="2400" b="1" i="1" smtClean="0">
                <a:solidFill>
                  <a:srgbClr val="C00000"/>
                </a:solidFill>
                <a:latin typeface="Times New Roman" pitchFamily="18" charset="0"/>
              </a:rPr>
              <a:t>КС-грамматики</a:t>
            </a:r>
            <a:r>
              <a:rPr lang="ru-RU" altLang="ru-RU" sz="2400" smtClean="0">
                <a:latin typeface="Times New Roman" pitchFamily="18" charset="0"/>
              </a:rPr>
              <a:t>). Вид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порождающих правил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marL="457200" indent="-457200"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endParaRPr lang="el-GR" altLang="ru-RU" sz="2400" baseline="-2500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 где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нетерминал,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– любая цепочка (в т.ч.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  <a:cs typeface="Times New Roman" pitchFamily="18" charset="0"/>
              </a:rPr>
              <a:t>Класс 3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: автоматные </a:t>
            </a:r>
            <a:r>
              <a:rPr lang="ru-RU" altLang="ru-RU" sz="2400" smtClean="0">
                <a:latin typeface="Times New Roman" pitchFamily="18" charset="0"/>
              </a:rPr>
              <a:t>грамматики (</a:t>
            </a:r>
            <a:r>
              <a:rPr lang="ru-RU" altLang="ru-RU" sz="2400" b="1" i="1" smtClean="0">
                <a:solidFill>
                  <a:srgbClr val="C00000"/>
                </a:solidFill>
                <a:latin typeface="Times New Roman" pitchFamily="18" charset="0"/>
              </a:rPr>
              <a:t>А-грамматики</a:t>
            </a:r>
            <a:r>
              <a:rPr lang="ru-RU" altLang="ru-RU" sz="2400" smtClean="0">
                <a:latin typeface="Times New Roman" pitchFamily="18" charset="0"/>
              </a:rPr>
              <a:t>). </a:t>
            </a: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Вид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порождающих правил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marL="457200" indent="-457200" algn="ctr"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 или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ru-RU" altLang="ru-RU" sz="2400" i="1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где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</a:rPr>
              <a:t>, В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нетерминалы,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– терминал. </a:t>
            </a:r>
            <a:endParaRPr lang="el-GR" altLang="ru-RU" sz="2400" smtClean="0">
              <a:latin typeface="Times New Roman" pitchFamily="18" charset="0"/>
            </a:endParaRPr>
          </a:p>
        </p:txBody>
      </p:sp>
      <p:sp>
        <p:nvSpPr>
          <p:cNvPr id="922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E51FA78-7FBD-426B-BE22-9A5BF65D12D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888"/>
            <a:ext cx="8229600" cy="6553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sz="1200" dirty="0" smtClean="0">
              <a:solidFill>
                <a:srgbClr val="CC0066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ru-RU" sz="1200" dirty="0" smtClean="0">
              <a:solidFill>
                <a:srgbClr val="CC0066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ru-RU" sz="2800" dirty="0" smtClean="0"/>
              <a:t>Пример</a:t>
            </a:r>
            <a:r>
              <a:rPr lang="en-US" sz="2800" dirty="0" smtClean="0"/>
              <a:t> </a:t>
            </a:r>
            <a:r>
              <a:rPr lang="ru-RU" sz="2800" dirty="0" smtClean="0"/>
              <a:t>грамматики, эквивалентной </a:t>
            </a:r>
            <a:r>
              <a:rPr lang="en-US" sz="2800" i="1" dirty="0" smtClean="0">
                <a:latin typeface="Times New Roman" pitchFamily="18" charset="0"/>
              </a:rPr>
              <a:t>G</a:t>
            </a:r>
            <a:r>
              <a:rPr lang="en-US" sz="2800" baseline="-25000" dirty="0" smtClean="0">
                <a:latin typeface="Times New Roman" pitchFamily="18" charset="0"/>
              </a:rPr>
              <a:t>1</a:t>
            </a:r>
            <a:r>
              <a:rPr lang="en-US" sz="2800" dirty="0" smtClean="0">
                <a:latin typeface="Times New Roman" pitchFamily="18" charset="0"/>
              </a:rPr>
              <a:t>(</a:t>
            </a:r>
            <a:r>
              <a:rPr lang="en-US" sz="2800" i="1" dirty="0" smtClean="0">
                <a:latin typeface="Times New Roman" pitchFamily="18" charset="0"/>
              </a:rPr>
              <a:t>L</a:t>
            </a:r>
            <a:r>
              <a:rPr lang="en-US" sz="2800" dirty="0">
                <a:latin typeface="Times New Roman" pitchFamily="18" charset="0"/>
              </a:rPr>
              <a:t>) </a:t>
            </a:r>
            <a:endParaRPr lang="en-US" sz="2800" dirty="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ru-RU" sz="2800" dirty="0" smtClean="0"/>
              <a:t>(т.е. порождающей тот же самый язык):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ru-RU" sz="2800" dirty="0" smtClean="0">
                <a:latin typeface="Times New Roman" pitchFamily="18" charset="0"/>
              </a:rPr>
              <a:t>Грамматика:      </a:t>
            </a:r>
            <a:r>
              <a:rPr lang="en-US" sz="2800" i="1" dirty="0" smtClean="0">
                <a:latin typeface="Times New Roman" pitchFamily="18" charset="0"/>
              </a:rPr>
              <a:t>G</a:t>
            </a:r>
            <a:r>
              <a:rPr lang="ru-RU" sz="2800" baseline="-25000" dirty="0" smtClean="0">
                <a:latin typeface="Times New Roman" pitchFamily="18" charset="0"/>
              </a:rPr>
              <a:t>2</a:t>
            </a:r>
            <a:r>
              <a:rPr lang="en-US" sz="2800" dirty="0" smtClean="0">
                <a:latin typeface="Times New Roman" pitchFamily="18" charset="0"/>
              </a:rPr>
              <a:t>(</a:t>
            </a:r>
            <a:r>
              <a:rPr lang="en-US" sz="2800" i="1" dirty="0" smtClean="0">
                <a:latin typeface="Times New Roman" pitchFamily="18" charset="0"/>
              </a:rPr>
              <a:t>L</a:t>
            </a:r>
            <a:r>
              <a:rPr lang="en-US" sz="2800" dirty="0" smtClean="0">
                <a:latin typeface="Times New Roman" pitchFamily="18" charset="0"/>
              </a:rPr>
              <a:t>) = {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sz="2800" dirty="0" smtClean="0">
                <a:latin typeface="Times New Roman" pitchFamily="18" charset="0"/>
              </a:rPr>
              <a:t>}</a:t>
            </a:r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buFontTx/>
              <a:buNone/>
              <a:defRPr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S, 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}.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ru-RU" sz="2800" dirty="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Варианты порождений:</a:t>
            </a:r>
          </a:p>
          <a:p>
            <a:pPr marL="457200" indent="-457200" eaLnBrk="1" hangingPunct="1">
              <a:defRPr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=&gt;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endParaRPr lang="ru-RU" sz="2800" i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defRPr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=&gt;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bbT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=&gt;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bba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defRPr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=&gt;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abT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=&gt;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aba</a:t>
            </a:r>
          </a:p>
          <a:p>
            <a:pPr marL="457200" indent="-457200" eaLnBrk="1" hangingPunct="1">
              <a:defRPr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=&gt;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aaS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=&gt;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aabT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 =&gt; </a:t>
            </a:r>
            <a:r>
              <a:rPr lang="en-US" sz="2800" i="1" dirty="0" err="1" smtClean="0">
                <a:latin typeface="Times New Roman" pitchFamily="18" charset="0"/>
                <a:cs typeface="Times New Roman" pitchFamily="18" charset="0"/>
              </a:rPr>
              <a:t>aaba</a:t>
            </a:r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defRPr/>
            </a:pP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. . .</a:t>
            </a:r>
            <a:endParaRPr lang="ru-RU" sz="28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2465E72-370B-4970-888F-E34AF8617DA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mtClean="0"/>
          </a:p>
        </p:txBody>
      </p:sp>
      <p:sp>
        <p:nvSpPr>
          <p:cNvPr id="11267" name="Объект 2"/>
          <p:cNvSpPr>
            <a:spLocks noGrp="1"/>
          </p:cNvSpPr>
          <p:nvPr>
            <p:ph idx="1"/>
          </p:nvPr>
        </p:nvSpPr>
        <p:spPr>
          <a:xfrm>
            <a:off x="468313" y="404813"/>
            <a:ext cx="8135937" cy="61198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G</a:t>
            </a:r>
            <a:r>
              <a:rPr lang="en-US" altLang="ru-RU" sz="2800" baseline="-25000" smtClean="0">
                <a:latin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L</a:t>
            </a:r>
            <a:r>
              <a:rPr lang="en-US" altLang="ru-RU" sz="2800" smtClean="0">
                <a:latin typeface="Times New Roman" pitchFamily="18" charset="0"/>
              </a:rPr>
              <a:t>)</a:t>
            </a:r>
            <a:r>
              <a:rPr lang="ru-RU" altLang="ru-RU" sz="2800" smtClean="0">
                <a:latin typeface="Times New Roman" pitchFamily="18" charset="0"/>
              </a:rPr>
              <a:t> – грамматика класса 0,</a:t>
            </a:r>
            <a:endParaRPr lang="ru-RU" altLang="ru-RU" sz="2800" smtClean="0">
              <a:solidFill>
                <a:srgbClr val="CC0066"/>
              </a:solidFill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G</a:t>
            </a:r>
            <a:r>
              <a:rPr lang="ru-RU" altLang="ru-RU" sz="2800" baseline="-25000" smtClean="0">
                <a:latin typeface="Times New Roman" pitchFamily="18" charset="0"/>
              </a:rPr>
              <a:t>2</a:t>
            </a:r>
            <a:r>
              <a:rPr lang="en-US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L</a:t>
            </a:r>
            <a:r>
              <a:rPr lang="en-US" altLang="ru-RU" sz="2800" smtClean="0">
                <a:latin typeface="Times New Roman" pitchFamily="18" charset="0"/>
              </a:rPr>
              <a:t>)</a:t>
            </a:r>
            <a:r>
              <a:rPr lang="ru-RU" altLang="ru-RU" sz="2800" smtClean="0">
                <a:latin typeface="Times New Roman" pitchFamily="18" charset="0"/>
              </a:rPr>
              <a:t> – грамматика класса 3.</a:t>
            </a:r>
          </a:p>
          <a:p>
            <a:pPr marL="0" indent="0">
              <a:buFontTx/>
              <a:buNone/>
            </a:pPr>
            <a:endParaRPr lang="ru-RU" altLang="ru-RU" sz="1200" smtClean="0">
              <a:solidFill>
                <a:srgbClr val="CC0066"/>
              </a:solidFill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800" smtClean="0">
                <a:solidFill>
                  <a:srgbClr val="C00000"/>
                </a:solidFill>
                <a:latin typeface="Times New Roman" pitchFamily="18" charset="0"/>
              </a:rPr>
              <a:t>Один и тот же язык может порождаться многими различными грамматиками, в том числе грамматиками, принадлежащими различным классам по Хомскому.</a:t>
            </a:r>
          </a:p>
          <a:p>
            <a:pPr marL="0" indent="0">
              <a:buFontTx/>
              <a:buNone/>
            </a:pPr>
            <a:r>
              <a:rPr lang="ru-RU" altLang="ru-RU" sz="2800" smtClean="0">
                <a:solidFill>
                  <a:schemeClr val="accent2"/>
                </a:solidFill>
                <a:latin typeface="Times New Roman" pitchFamily="18" charset="0"/>
              </a:rPr>
              <a:t>Различные грамматики, порождающие один и тот же язык, называют эквивалентными.</a:t>
            </a:r>
            <a:endParaRPr lang="en-US" altLang="ru-RU" sz="2800" smtClean="0">
              <a:solidFill>
                <a:schemeClr val="accent2"/>
              </a:solidFill>
            </a:endParaRPr>
          </a:p>
          <a:p>
            <a:pPr marL="0" indent="0">
              <a:buFontTx/>
              <a:buNone/>
            </a:pPr>
            <a:endParaRPr lang="en-US" altLang="ru-RU" sz="1200" smtClean="0">
              <a:solidFill>
                <a:schemeClr val="accent2"/>
              </a:solidFill>
              <a:latin typeface="Times New Roman" pitchFamily="18" charset="0"/>
            </a:endParaRPr>
          </a:p>
          <a:p>
            <a:pPr marL="0" indent="0">
              <a:buFontTx/>
              <a:buNone/>
            </a:pPr>
            <a:r>
              <a:rPr lang="ru-RU" altLang="ru-RU" sz="2800" smtClean="0">
                <a:solidFill>
                  <a:srgbClr val="0D0D0D"/>
                </a:solidFill>
              </a:rPr>
              <a:t>Следствие: класс языка по Хомскому определяется классом наиболее простой из эквивалентных грамматик, порождающих язык</a:t>
            </a:r>
            <a:r>
              <a:rPr lang="ru-RU" altLang="ru-RU" smtClean="0">
                <a:solidFill>
                  <a:srgbClr val="0D0D0D"/>
                </a:solidFill>
              </a:rPr>
              <a:t>.</a:t>
            </a: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B9A140-09B3-4244-BBB6-484A4ED365FE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01612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59769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i="1" smtClean="0"/>
              <a:t>Левое каноническое порождение</a:t>
            </a:r>
            <a:r>
              <a:rPr lang="ru-RU" altLang="ru-RU" sz="2400" smtClean="0"/>
              <a:t>: на каждом шаге в полученной к этому моменту цепочке символов заменяется самая левая подцепочка α (по правилу α→β) на подцепочку β.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i="1" smtClean="0"/>
              <a:t>Грамматика однозначная</a:t>
            </a:r>
            <a:r>
              <a:rPr lang="ru-RU" altLang="ru-RU" sz="2400" smtClean="0"/>
              <a:t>: если для любой полученной ею цепочки языка существует единственная последовательность применения правил при левом каноническом порождении.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i="1" smtClean="0"/>
              <a:t>Грамматика неоднозначная</a:t>
            </a:r>
            <a:r>
              <a:rPr lang="ru-RU" altLang="ru-RU" sz="2400" b="1" smtClean="0"/>
              <a:t>:</a:t>
            </a:r>
            <a:r>
              <a:rPr lang="ru-RU" altLang="ru-RU" sz="2400" smtClean="0"/>
              <a:t> если существует хотя бы одна цепочка языка, которую можно получить более чем одним вариантом левого канонического порождения.</a:t>
            </a:r>
            <a:endParaRPr lang="ru-RU" altLang="ru-RU" sz="2400" b="1" i="1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b="1" i="1" smtClean="0"/>
              <a:t>Следствие</a:t>
            </a:r>
            <a:r>
              <a:rPr lang="ru-RU" altLang="ru-RU" sz="2400" smtClean="0"/>
              <a:t>: язык является однозначным, если среди всех эквивалентных грамматик, порождающих этот язык, существует хотя бы одна однозначная грамматика.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91512" cy="1412776"/>
          </a:xfrm>
        </p:spPr>
        <p:txBody>
          <a:bodyPr/>
          <a:lstStyle/>
          <a:p>
            <a:pPr eaLnBrk="1" hangingPunct="1"/>
            <a:r>
              <a:rPr lang="ru-RU" altLang="ru-RU" sz="3600" b="1" dirty="0" smtClean="0">
                <a:solidFill>
                  <a:schemeClr val="accent2"/>
                </a:solidFill>
              </a:rPr>
              <a:t>Задача грамматического разбора</a:t>
            </a:r>
            <a:br>
              <a:rPr lang="ru-RU" altLang="ru-RU" sz="3600" b="1" dirty="0" smtClean="0">
                <a:solidFill>
                  <a:schemeClr val="accent2"/>
                </a:solidFill>
              </a:rPr>
            </a:br>
            <a:r>
              <a:rPr lang="ru-RU" altLang="ru-RU" sz="3600" b="1" dirty="0" smtClean="0">
                <a:solidFill>
                  <a:schemeClr val="accent2"/>
                </a:solidFill>
              </a:rPr>
              <a:t>(анализа)</a:t>
            </a:r>
            <a:endParaRPr lang="ru-RU" altLang="ru-RU" dirty="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507413" cy="5112296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dirty="0" smtClean="0"/>
              <a:t>Задан язык (с помощью грамматики) и задана некоторая цепочка символов.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b="1" i="1" u="sng" dirty="0" smtClean="0"/>
              <a:t>Задача распознавания</a:t>
            </a:r>
            <a:r>
              <a:rPr lang="ru-RU" altLang="ru-RU" sz="2800" dirty="0" smtClean="0"/>
              <a:t> принадлежности этой цепочки символов языку (ответ: </a:t>
            </a:r>
            <a:r>
              <a:rPr lang="ru-RU" altLang="ru-RU" sz="2800" dirty="0" smtClean="0">
                <a:solidFill>
                  <a:srgbClr val="C00000"/>
                </a:solidFill>
              </a:rPr>
              <a:t>«да»</a:t>
            </a:r>
            <a:r>
              <a:rPr lang="ru-RU" altLang="ru-RU" sz="2800" dirty="0" smtClean="0"/>
              <a:t> или </a:t>
            </a:r>
            <a:r>
              <a:rPr lang="ru-RU" altLang="ru-RU" sz="2800" dirty="0" smtClean="0">
                <a:solidFill>
                  <a:srgbClr val="C00000"/>
                </a:solidFill>
              </a:rPr>
              <a:t>«нет»</a:t>
            </a:r>
            <a:r>
              <a:rPr lang="ru-RU" altLang="ru-RU" sz="2800" dirty="0" smtClean="0"/>
              <a:t>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b="1" i="1" u="sng" dirty="0" smtClean="0"/>
              <a:t>Задача грамматического анализа</a:t>
            </a:r>
            <a:r>
              <a:rPr lang="ru-RU" altLang="ru-RU" sz="2800" dirty="0" smtClean="0"/>
              <a:t>: если ответ </a:t>
            </a:r>
            <a:r>
              <a:rPr lang="ru-RU" altLang="ru-RU" sz="2800" dirty="0" smtClean="0">
                <a:solidFill>
                  <a:srgbClr val="C00000"/>
                </a:solidFill>
              </a:rPr>
              <a:t>«да»</a:t>
            </a:r>
            <a:r>
              <a:rPr lang="ru-RU" altLang="ru-RU" sz="2800" dirty="0" smtClean="0"/>
              <a:t>, то требуется восстановить всю последовательность порождающих правил, результатом применения которых явилась анализируемая цепочка.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1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dirty="0" smtClean="0"/>
              <a:t>По заданной грамматике нужно уметь строить </a:t>
            </a:r>
            <a:r>
              <a:rPr lang="ru-RU" altLang="ru-RU" sz="2800" b="1" i="1" dirty="0" smtClean="0">
                <a:solidFill>
                  <a:srgbClr val="C00000"/>
                </a:solidFill>
              </a:rPr>
              <a:t>автомат</a:t>
            </a:r>
            <a:r>
              <a:rPr lang="ru-RU" altLang="ru-RU" sz="2800" dirty="0" smtClean="0"/>
              <a:t> – </a:t>
            </a:r>
            <a:r>
              <a:rPr lang="ru-RU" altLang="ru-RU" sz="2800" b="1" i="1" u="sng" dirty="0" smtClean="0"/>
              <a:t>алгоритм распознавания (алгоритм грамматического анализа)</a:t>
            </a:r>
            <a:r>
              <a:rPr lang="ru-RU" altLang="ru-RU" sz="2800" dirty="0" smtClean="0"/>
              <a:t> </a:t>
            </a:r>
          </a:p>
        </p:txBody>
      </p:sp>
      <p:sp>
        <p:nvSpPr>
          <p:cNvPr id="1331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AD9C0A-E4FD-4C64-82B0-056336EB4AC6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ru-RU" altLang="ru-RU" sz="3600" smtClean="0"/>
              <a:t>ЯЗЫКИ ПРОГРАММИРОВАНИЯ</a:t>
            </a:r>
          </a:p>
        </p:txBody>
      </p:sp>
      <p:sp>
        <p:nvSpPr>
          <p:cNvPr id="14339" name="Объект 2"/>
          <p:cNvSpPr>
            <a:spLocks noGrp="1"/>
          </p:cNvSpPr>
          <p:nvPr>
            <p:ph idx="1"/>
          </p:nvPr>
        </p:nvSpPr>
        <p:spPr>
          <a:xfrm>
            <a:off x="457200" y="1052513"/>
            <a:ext cx="8218488" cy="54721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ru-RU" altLang="ru-RU" sz="2400" smtClean="0"/>
              <a:t>Языки программирования </a:t>
            </a:r>
            <a:r>
              <a:rPr lang="ru-RU" altLang="ru-RU" sz="2400" b="1" i="1" smtClean="0">
                <a:solidFill>
                  <a:srgbClr val="C00000"/>
                </a:solidFill>
              </a:rPr>
              <a:t>низкого уровня</a:t>
            </a:r>
            <a:r>
              <a:rPr lang="ru-RU" altLang="ru-RU" sz="2400" smtClean="0"/>
              <a:t>:                     машинные языки, автокоды, ассемблеры, директивные языки – задаются А-грамматиками (3-го типа).</a:t>
            </a:r>
          </a:p>
          <a:p>
            <a:pPr marL="0" indent="0">
              <a:buFontTx/>
              <a:buNone/>
            </a:pPr>
            <a:endParaRPr lang="ru-RU" altLang="ru-RU" sz="1000" smtClean="0"/>
          </a:p>
          <a:p>
            <a:pPr marL="0" indent="0">
              <a:buFontTx/>
              <a:buNone/>
            </a:pPr>
            <a:r>
              <a:rPr lang="ru-RU" altLang="ru-RU" sz="2400" smtClean="0"/>
              <a:t>Языки программирования </a:t>
            </a:r>
            <a:r>
              <a:rPr lang="ru-RU" altLang="ru-RU" sz="2400" b="1" i="1" smtClean="0">
                <a:solidFill>
                  <a:srgbClr val="C00000"/>
                </a:solidFill>
              </a:rPr>
              <a:t>высокого уровня</a:t>
            </a:r>
            <a:r>
              <a:rPr lang="ru-RU" altLang="ru-RU" sz="2400" smtClean="0"/>
              <a:t>:                 почти все современные языки, начиная от Фортрана, (Паскаль, Си и др.) задаются КС-грамматиками </a:t>
            </a:r>
          </a:p>
          <a:p>
            <a:pPr marL="0" indent="0">
              <a:buFontTx/>
              <a:buNone/>
            </a:pPr>
            <a:r>
              <a:rPr lang="ru-RU" altLang="ru-RU" sz="2400" smtClean="0"/>
              <a:t>(2-го типа), но отдельные слова (</a:t>
            </a:r>
            <a:r>
              <a:rPr lang="ru-RU" altLang="ru-RU" sz="2400" b="1" i="1" smtClean="0">
                <a:solidFill>
                  <a:srgbClr val="C00000"/>
                </a:solidFill>
              </a:rPr>
              <a:t>лексемы</a:t>
            </a:r>
            <a:r>
              <a:rPr lang="ru-RU" altLang="ru-RU" sz="2400" smtClean="0"/>
              <a:t>) в этих языках задаются   А-грамматиками.</a:t>
            </a:r>
          </a:p>
          <a:p>
            <a:pPr marL="0" indent="0">
              <a:buFontTx/>
              <a:buNone/>
            </a:pPr>
            <a:endParaRPr lang="ru-RU" altLang="ru-RU" sz="1000" smtClean="0"/>
          </a:p>
          <a:p>
            <a:pPr marL="0" indent="0">
              <a:buFontTx/>
              <a:buNone/>
            </a:pPr>
            <a:r>
              <a:rPr lang="ru-RU" altLang="ru-RU" sz="2400" b="1" i="1" smtClean="0">
                <a:solidFill>
                  <a:srgbClr val="C00000"/>
                </a:solidFill>
              </a:rPr>
              <a:t>Трансляция</a:t>
            </a:r>
            <a:r>
              <a:rPr lang="ru-RU" altLang="ru-RU" sz="2400" smtClean="0"/>
              <a:t> – процесс преобразования программы на языке программирования в программу, которая может непосредственно исполняться на компьютере (в </a:t>
            </a:r>
            <a:r>
              <a:rPr lang="ru-RU" altLang="ru-RU" sz="2400" b="1" i="1" smtClean="0">
                <a:solidFill>
                  <a:srgbClr val="C00000"/>
                </a:solidFill>
              </a:rPr>
              <a:t>машинную программу</a:t>
            </a:r>
            <a:r>
              <a:rPr lang="ru-RU" altLang="ru-RU" sz="2400" smtClean="0"/>
              <a:t> или программу на некотором промежуточном языке). </a:t>
            </a:r>
            <a:endParaRPr lang="ru-RU" altLang="ru-RU" smtClean="0"/>
          </a:p>
        </p:txBody>
      </p:sp>
      <p:sp>
        <p:nvSpPr>
          <p:cNvPr id="1434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7C6A925-0294-4453-8676-C93F091382B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Заголовок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576262"/>
          </a:xfrm>
        </p:spPr>
        <p:txBody>
          <a:bodyPr/>
          <a:lstStyle/>
          <a:p>
            <a:pPr algn="l"/>
            <a:r>
              <a:rPr lang="ru-RU" altLang="ru-RU" sz="3600" smtClean="0"/>
              <a:t>Виды трансляторов:</a:t>
            </a:r>
          </a:p>
        </p:txBody>
      </p:sp>
      <p:sp>
        <p:nvSpPr>
          <p:cNvPr id="15363" name="Объект 2"/>
          <p:cNvSpPr>
            <a:spLocks noGrp="1"/>
          </p:cNvSpPr>
          <p:nvPr>
            <p:ph idx="1"/>
          </p:nvPr>
        </p:nvSpPr>
        <p:spPr>
          <a:xfrm>
            <a:off x="323850" y="692150"/>
            <a:ext cx="8424863" cy="5976938"/>
          </a:xfrm>
        </p:spPr>
        <p:txBody>
          <a:bodyPr/>
          <a:lstStyle/>
          <a:p>
            <a:r>
              <a:rPr lang="ru-RU" altLang="ru-RU" sz="2400" b="1" i="1" dirty="0" smtClean="0">
                <a:solidFill>
                  <a:srgbClr val="C00000"/>
                </a:solidFill>
              </a:rPr>
              <a:t>интерпретатор</a:t>
            </a:r>
            <a:r>
              <a:rPr lang="ru-RU" altLang="ru-RU" sz="2400" dirty="0" smtClean="0"/>
              <a:t> последовательно анализирует   программу и сразу же  исполняет её операторы;</a:t>
            </a:r>
          </a:p>
          <a:p>
            <a:r>
              <a:rPr lang="ru-RU" altLang="ru-RU" sz="2400" b="1" i="1" dirty="0" smtClean="0">
                <a:solidFill>
                  <a:srgbClr val="C00000"/>
                </a:solidFill>
              </a:rPr>
              <a:t>компилятор</a:t>
            </a:r>
            <a:r>
              <a:rPr lang="ru-RU" altLang="ru-RU" sz="2400" dirty="0" smtClean="0"/>
              <a:t> транслирует исходную программу в программу из машинных команд;</a:t>
            </a:r>
          </a:p>
          <a:p>
            <a:r>
              <a:rPr lang="ru-RU" altLang="ru-RU" sz="2400" b="1" i="1" dirty="0" smtClean="0">
                <a:solidFill>
                  <a:srgbClr val="C00000"/>
                </a:solidFill>
              </a:rPr>
              <a:t>компилятор-интерпретатор</a:t>
            </a:r>
            <a:r>
              <a:rPr lang="ru-RU" altLang="ru-RU" sz="2400" dirty="0" smtClean="0"/>
              <a:t> транслирует исходную программу в программу на внутреннем языке, которую затем исполняет.</a:t>
            </a:r>
          </a:p>
          <a:p>
            <a:pPr>
              <a:buFontTx/>
              <a:buNone/>
            </a:pPr>
            <a:r>
              <a:rPr lang="ru-RU" altLang="ru-RU" sz="2400" b="1" dirty="0" smtClean="0">
                <a:cs typeface="Times New Roman" pitchFamily="18" charset="0"/>
              </a:rPr>
              <a:t>Мера эффективности транслятора – во сколько раз замедляется исполнение транслируемой программы по сравнению с программой, транслируемой вручную на </a:t>
            </a:r>
            <a:r>
              <a:rPr lang="ru-RU" altLang="ru-RU" sz="2400" b="1" smtClean="0">
                <a:cs typeface="Times New Roman" pitchFamily="18" charset="0"/>
              </a:rPr>
              <a:t>язык команд.</a:t>
            </a:r>
          </a:p>
          <a:p>
            <a:pPr>
              <a:buFontTx/>
              <a:buNone/>
            </a:pPr>
            <a:r>
              <a:rPr lang="ru-RU" altLang="ru-RU" sz="2400" b="1" i="1" dirty="0" smtClean="0">
                <a:solidFill>
                  <a:srgbClr val="C00000"/>
                </a:solidFill>
              </a:rPr>
              <a:t>Для интерпретатора </a:t>
            </a:r>
            <a:r>
              <a:rPr lang="ru-RU" altLang="ru-RU" sz="2400" b="1" dirty="0" smtClean="0">
                <a:solidFill>
                  <a:schemeClr val="accent2"/>
                </a:solidFill>
              </a:rPr>
              <a:t>– замедление в сотни раз.</a:t>
            </a:r>
          </a:p>
          <a:p>
            <a:pPr>
              <a:buFontTx/>
              <a:buNone/>
            </a:pPr>
            <a:r>
              <a:rPr lang="ru-RU" altLang="ru-RU" sz="2400" b="1" i="1" dirty="0" smtClean="0">
                <a:solidFill>
                  <a:srgbClr val="C00000"/>
                </a:solidFill>
              </a:rPr>
              <a:t>Для компилятора </a:t>
            </a:r>
            <a:r>
              <a:rPr lang="ru-RU" altLang="ru-RU" sz="2400" b="1" dirty="0" smtClean="0">
                <a:solidFill>
                  <a:schemeClr val="accent2"/>
                </a:solidFill>
              </a:rPr>
              <a:t>– в несколько раз.</a:t>
            </a:r>
          </a:p>
          <a:p>
            <a:pPr>
              <a:buFontTx/>
              <a:buNone/>
            </a:pPr>
            <a:r>
              <a:rPr lang="ru-RU" altLang="ru-RU" sz="2400" b="1" i="1" dirty="0" smtClean="0">
                <a:solidFill>
                  <a:srgbClr val="C00000"/>
                </a:solidFill>
              </a:rPr>
              <a:t>Для компилятора-интерпретатора </a:t>
            </a:r>
            <a:r>
              <a:rPr lang="ru-RU" altLang="ru-RU" sz="2400" b="1" dirty="0" smtClean="0">
                <a:solidFill>
                  <a:schemeClr val="accent2"/>
                </a:solidFill>
              </a:rPr>
              <a:t>– в десятки раз.</a:t>
            </a:r>
          </a:p>
        </p:txBody>
      </p:sp>
      <p:sp>
        <p:nvSpPr>
          <p:cNvPr id="1536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D37B66-FB58-41E3-8DF8-14F57C32917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504825"/>
          </a:xfrm>
        </p:spPr>
        <p:txBody>
          <a:bodyPr/>
          <a:lstStyle/>
          <a:p>
            <a:pPr algn="l"/>
            <a:r>
              <a:rPr lang="ru-RU" altLang="ru-RU" sz="3600" smtClean="0"/>
              <a:t>Сложность создания трансляторов:</a:t>
            </a:r>
          </a:p>
        </p:txBody>
      </p:sp>
      <p:sp>
        <p:nvSpPr>
          <p:cNvPr id="16387" name="Объект 2"/>
          <p:cNvSpPr>
            <a:spLocks noGrp="1"/>
          </p:cNvSpPr>
          <p:nvPr>
            <p:ph idx="4294967295"/>
          </p:nvPr>
        </p:nvSpPr>
        <p:spPr>
          <a:xfrm>
            <a:off x="323850" y="692150"/>
            <a:ext cx="8064500" cy="6165850"/>
          </a:xfrm>
        </p:spPr>
        <p:txBody>
          <a:bodyPr/>
          <a:lstStyle/>
          <a:p>
            <a:r>
              <a:rPr lang="ru-RU" altLang="ru-RU" sz="2200" b="1" i="1" smtClean="0">
                <a:solidFill>
                  <a:srgbClr val="C00000"/>
                </a:solidFill>
              </a:rPr>
              <a:t>интерпретатор</a:t>
            </a:r>
            <a:r>
              <a:rPr lang="ru-RU" altLang="ru-RU" sz="2200" smtClean="0"/>
              <a:t> – наименьшая сложность;</a:t>
            </a:r>
          </a:p>
          <a:p>
            <a:r>
              <a:rPr lang="ru-RU" altLang="ru-RU" sz="2200" b="1" i="1" smtClean="0">
                <a:solidFill>
                  <a:srgbClr val="C00000"/>
                </a:solidFill>
              </a:rPr>
              <a:t>компилятор</a:t>
            </a:r>
            <a:r>
              <a:rPr lang="ru-RU" altLang="ru-RU" sz="2200" smtClean="0"/>
              <a:t> – наибольшая сложность;</a:t>
            </a:r>
          </a:p>
          <a:p>
            <a:r>
              <a:rPr lang="ru-RU" altLang="ru-RU" sz="2200" b="1" i="1" smtClean="0">
                <a:solidFill>
                  <a:srgbClr val="C00000"/>
                </a:solidFill>
              </a:rPr>
              <a:t>компилятор-интерпретатор</a:t>
            </a:r>
            <a:r>
              <a:rPr lang="ru-RU" altLang="ru-RU" sz="2200" smtClean="0"/>
              <a:t> – средняя сложность.</a:t>
            </a:r>
          </a:p>
          <a:p>
            <a:pPr>
              <a:buFontTx/>
              <a:buNone/>
            </a:pPr>
            <a:r>
              <a:rPr lang="ru-RU" altLang="ru-RU" sz="2200" b="1" smtClean="0">
                <a:cs typeface="Times New Roman" pitchFamily="18" charset="0"/>
              </a:rPr>
              <a:t>Фазы работы компилятора:</a:t>
            </a:r>
          </a:p>
          <a:p>
            <a:pPr>
              <a:buFontTx/>
              <a:buNone/>
            </a:pPr>
            <a:r>
              <a:rPr lang="ru-RU" altLang="ru-RU" sz="2200" smtClean="0">
                <a:cs typeface="Times New Roman" pitchFamily="18" charset="0"/>
              </a:rPr>
              <a:t>1) </a:t>
            </a:r>
            <a:r>
              <a:rPr lang="ru-RU" altLang="ru-RU" sz="2200" b="1" i="1" smtClean="0">
                <a:solidFill>
                  <a:srgbClr val="C00000"/>
                </a:solidFill>
                <a:cs typeface="Times New Roman" pitchFamily="18" charset="0"/>
              </a:rPr>
              <a:t>лексический анализ</a:t>
            </a:r>
            <a:r>
              <a:rPr lang="ru-RU" altLang="ru-RU" sz="2200" smtClean="0">
                <a:cs typeface="Times New Roman" pitchFamily="18" charset="0"/>
              </a:rPr>
              <a:t> – распознавание в программе лексем – отдельных слов, описываемых А-грамматикой;</a:t>
            </a:r>
          </a:p>
          <a:p>
            <a:pPr>
              <a:buFontTx/>
              <a:buNone/>
            </a:pPr>
            <a:r>
              <a:rPr lang="ru-RU" altLang="ru-RU" sz="2200" smtClean="0">
                <a:cs typeface="Times New Roman" pitchFamily="18" charset="0"/>
              </a:rPr>
              <a:t>2) </a:t>
            </a:r>
            <a:r>
              <a:rPr lang="ru-RU" altLang="ru-RU" sz="2200" b="1" i="1" smtClean="0">
                <a:solidFill>
                  <a:srgbClr val="C00000"/>
                </a:solidFill>
                <a:cs typeface="Times New Roman" pitchFamily="18" charset="0"/>
              </a:rPr>
              <a:t>синтаксический анализ</a:t>
            </a:r>
            <a:r>
              <a:rPr lang="ru-RU" altLang="ru-RU" sz="2200" smtClean="0">
                <a:cs typeface="Times New Roman" pitchFamily="18" charset="0"/>
              </a:rPr>
              <a:t> всей программы, описываемой КС-грамматикой и </a:t>
            </a:r>
            <a:r>
              <a:rPr lang="ru-RU" altLang="ru-RU" sz="2200" b="1" i="1" smtClean="0">
                <a:solidFill>
                  <a:srgbClr val="C00000"/>
                </a:solidFill>
                <a:cs typeface="Times New Roman" pitchFamily="18" charset="0"/>
              </a:rPr>
              <a:t>генерация </a:t>
            </a:r>
            <a:r>
              <a:rPr lang="ru-RU" altLang="ru-RU" sz="2200" smtClean="0">
                <a:cs typeface="Times New Roman" pitchFamily="18" charset="0"/>
              </a:rPr>
              <a:t>программы на внутреннем языке;</a:t>
            </a:r>
          </a:p>
          <a:p>
            <a:pPr>
              <a:buFontTx/>
              <a:buNone/>
            </a:pPr>
            <a:r>
              <a:rPr lang="ru-RU" altLang="ru-RU" sz="2200" smtClean="0">
                <a:cs typeface="Times New Roman" pitchFamily="18" charset="0"/>
              </a:rPr>
              <a:t>3) </a:t>
            </a:r>
            <a:r>
              <a:rPr lang="ru-RU" altLang="ru-RU" sz="2200" b="1" i="1" smtClean="0">
                <a:solidFill>
                  <a:srgbClr val="C00000"/>
                </a:solidFill>
                <a:cs typeface="Times New Roman" pitchFamily="18" charset="0"/>
              </a:rPr>
              <a:t>оптимизация</a:t>
            </a:r>
            <a:r>
              <a:rPr lang="ru-RU" altLang="ru-RU" sz="2200" smtClean="0">
                <a:cs typeface="Times New Roman" pitchFamily="18" charset="0"/>
              </a:rPr>
              <a:t> программы на внутреннем языке;</a:t>
            </a:r>
          </a:p>
          <a:p>
            <a:pPr>
              <a:buFontTx/>
              <a:buNone/>
            </a:pPr>
            <a:r>
              <a:rPr lang="ru-RU" altLang="ru-RU" sz="2200" smtClean="0">
                <a:cs typeface="Times New Roman" pitchFamily="18" charset="0"/>
              </a:rPr>
              <a:t>4) </a:t>
            </a:r>
            <a:r>
              <a:rPr lang="ru-RU" altLang="ru-RU" sz="2200" b="1" i="1" smtClean="0">
                <a:solidFill>
                  <a:srgbClr val="C00000"/>
                </a:solidFill>
                <a:cs typeface="Times New Roman" pitchFamily="18" charset="0"/>
              </a:rPr>
              <a:t>генерация</a:t>
            </a:r>
            <a:r>
              <a:rPr lang="ru-RU" altLang="ru-RU" sz="2200" smtClean="0">
                <a:cs typeface="Times New Roman" pitchFamily="18" charset="0"/>
              </a:rPr>
              <a:t> машинных команд;</a:t>
            </a:r>
          </a:p>
          <a:p>
            <a:pPr>
              <a:buFontTx/>
              <a:buNone/>
            </a:pPr>
            <a:r>
              <a:rPr lang="ru-RU" altLang="ru-RU" sz="2200" smtClean="0">
                <a:cs typeface="Times New Roman" pitchFamily="18" charset="0"/>
              </a:rPr>
              <a:t>5) </a:t>
            </a:r>
            <a:r>
              <a:rPr lang="ru-RU" altLang="ru-RU" sz="2200" b="1" i="1" smtClean="0">
                <a:solidFill>
                  <a:srgbClr val="C00000"/>
                </a:solidFill>
                <a:cs typeface="Times New Roman" pitchFamily="18" charset="0"/>
              </a:rPr>
              <a:t>оптимизация</a:t>
            </a:r>
            <a:r>
              <a:rPr lang="ru-RU" altLang="ru-RU" sz="2200" smtClean="0">
                <a:cs typeface="Times New Roman" pitchFamily="18" charset="0"/>
              </a:rPr>
              <a:t> программы на машинном языке. </a:t>
            </a:r>
          </a:p>
          <a:p>
            <a:pPr>
              <a:buFontTx/>
              <a:buNone/>
            </a:pPr>
            <a:r>
              <a:rPr lang="ru-RU" altLang="ru-RU" sz="2200" b="1" smtClean="0">
                <a:cs typeface="Times New Roman" pitchFamily="18" charset="0"/>
              </a:rPr>
              <a:t>Фазы работы компилятора-интерпретатора: </a:t>
            </a:r>
          </a:p>
          <a:p>
            <a:pPr>
              <a:buFontTx/>
              <a:buNone/>
            </a:pPr>
            <a:r>
              <a:rPr lang="ru-RU" altLang="ru-RU" sz="2200" smtClean="0">
                <a:cs typeface="Times New Roman" pitchFamily="18" charset="0"/>
              </a:rPr>
              <a:t>– вначале фазы 1 и 2, после чего исполнение (интерпретация) программы на внутреннем языке.</a:t>
            </a:r>
          </a:p>
          <a:p>
            <a:pPr>
              <a:buFontTx/>
              <a:buNone/>
            </a:pPr>
            <a:endParaRPr lang="ru-RU" altLang="ru-RU" sz="2400" smtClean="0">
              <a:cs typeface="Times New Roman" pitchFamily="18" charset="0"/>
            </a:endParaRPr>
          </a:p>
          <a:p>
            <a:pPr>
              <a:buFontTx/>
              <a:buNone/>
            </a:pPr>
            <a:r>
              <a:rPr lang="ru-RU" altLang="ru-RU" sz="2400" smtClean="0">
                <a:cs typeface="Times New Roman" pitchFamily="18" charset="0"/>
              </a:rPr>
              <a:t> </a:t>
            </a:r>
          </a:p>
          <a:p>
            <a:pPr>
              <a:buFontTx/>
              <a:buNone/>
            </a:pPr>
            <a:endParaRPr lang="ru-RU" altLang="ru-RU" sz="2400" smtClean="0">
              <a:cs typeface="Times New Roman" pitchFamily="18" charset="0"/>
            </a:endParaRPr>
          </a:p>
        </p:txBody>
      </p:sp>
      <p:sp>
        <p:nvSpPr>
          <p:cNvPr id="16388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8B215EE-B967-4BDA-AB0E-5F7D9E7A54A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</TotalTime>
  <Words>1543</Words>
  <Application>Microsoft Office PowerPoint</Application>
  <PresentationFormat>Экран (4:3)</PresentationFormat>
  <Paragraphs>155</Paragraphs>
  <Slides>17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Оформление по умолчанию</vt:lpstr>
      <vt:lpstr>ТОМСКИЙ ГОСУДАРСТВЕННЫЙ УНИВЕРСИТЕТ </vt:lpstr>
      <vt:lpstr>Термины: компиляция и трансляция – почти синонимы в информатике.</vt:lpstr>
      <vt:lpstr>Литература:</vt:lpstr>
      <vt:lpstr>ФОРМАЛЬНЫЕ ЯЗЫКИ</vt:lpstr>
      <vt:lpstr>Презентация PowerPoint</vt:lpstr>
      <vt:lpstr>Порождающая грамматика</vt:lpstr>
      <vt:lpstr>Процесс порождения</vt:lpstr>
      <vt:lpstr>Процесс порождения</vt:lpstr>
      <vt:lpstr>Пример порождения</vt:lpstr>
      <vt:lpstr>Классификация порождающих грамматик по Хомскому</vt:lpstr>
      <vt:lpstr>Презентация PowerPoint</vt:lpstr>
      <vt:lpstr>Презентация PowerPoint</vt:lpstr>
      <vt:lpstr>Презентация PowerPoint</vt:lpstr>
      <vt:lpstr>Задача грамматического разбора (анализа)</vt:lpstr>
      <vt:lpstr>ЯЗЫКИ ПРОГРАММИРОВАНИЯ</vt:lpstr>
      <vt:lpstr>Виды трансляторов:</vt:lpstr>
      <vt:lpstr>Сложность создания трансляторов: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61</cp:revision>
  <dcterms:created xsi:type="dcterms:W3CDTF">2009-09-02T15:38:32Z</dcterms:created>
  <dcterms:modified xsi:type="dcterms:W3CDTF">2024-02-13T16:57:15Z</dcterms:modified>
</cp:coreProperties>
</file>