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396" r:id="rId2"/>
    <p:sldId id="322" r:id="rId3"/>
    <p:sldId id="359" r:id="rId4"/>
    <p:sldId id="323" r:id="rId5"/>
    <p:sldId id="393" r:id="rId6"/>
    <p:sldId id="324" r:id="rId7"/>
    <p:sldId id="360" r:id="rId8"/>
    <p:sldId id="361" r:id="rId9"/>
    <p:sldId id="362" r:id="rId10"/>
    <p:sldId id="394" r:id="rId11"/>
    <p:sldId id="363" r:id="rId12"/>
    <p:sldId id="364" r:id="rId13"/>
    <p:sldId id="365" r:id="rId14"/>
    <p:sldId id="366" r:id="rId15"/>
    <p:sldId id="371" r:id="rId16"/>
    <p:sldId id="372" r:id="rId17"/>
    <p:sldId id="373" r:id="rId18"/>
    <p:sldId id="374" r:id="rId19"/>
    <p:sldId id="375" r:id="rId20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66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49" autoAdjust="0"/>
    <p:restoredTop sz="94660"/>
  </p:normalViewPr>
  <p:slideViewPr>
    <p:cSldViewPr>
      <p:cViewPr varScale="1">
        <p:scale>
          <a:sx n="89" d="100"/>
          <a:sy n="89" d="100"/>
        </p:scale>
        <p:origin x="-108" y="-15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DC2E5074-80B6-4974-BF1A-86501D97C835}" type="datetimeFigureOut">
              <a:rPr lang="ru-RU"/>
              <a:pPr>
                <a:defRPr/>
              </a:pPr>
              <a:t>03.02.2024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 smtClean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3A66917-5254-423A-8449-4A67354E4E3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644589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altLang="ru-RU" smtClean="0"/>
          </a:p>
        </p:txBody>
      </p:sp>
      <p:sp>
        <p:nvSpPr>
          <p:cNvPr id="57348" name="Номер слайда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C6311004-BDF8-4610-A553-39E5CD46ADFF}" type="slidenum">
              <a:rPr lang="ru-RU" altLang="ru-RU" sz="1200"/>
              <a:pPr algn="r" eaLnBrk="1" hangingPunct="1"/>
              <a:t>1</a:t>
            </a:fld>
            <a:endParaRPr lang="ru-RU" altLang="ru-RU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1CBBA-32DC-41C4-A484-7D893CB948C1}" type="datetime1">
              <a:rPr lang="ru-RU" altLang="ru-RU"/>
              <a:pPr>
                <a:defRPr/>
              </a:pPr>
              <a:t>03.02.2024</a:t>
            </a:fld>
            <a:endParaRPr lang="ru-RU" alt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EB7FE9-F32B-49F6-9B20-CCCAE3D892C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008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68F771-EFD7-470D-AF79-5F48CE5F2F4D}" type="datetime1">
              <a:rPr lang="ru-RU" altLang="ru-RU"/>
              <a:pPr>
                <a:defRPr/>
              </a:pPr>
              <a:t>03.02.2024</a:t>
            </a:fld>
            <a:endParaRPr lang="ru-RU" alt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E48C0D-A5D5-4F1F-8540-8717660E15B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6622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A85C26-C1AA-4D30-87D3-3ADE8C84BFF1}" type="datetime1">
              <a:rPr lang="ru-RU" altLang="ru-RU"/>
              <a:pPr>
                <a:defRPr/>
              </a:pPr>
              <a:t>03.02.2024</a:t>
            </a:fld>
            <a:endParaRPr lang="ru-RU" alt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B11BB1-A0B4-43B6-8A6B-35F0C555D04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2016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6B6FD5-42CC-4E9E-A1FB-7F4F6968B545}" type="datetime1">
              <a:rPr lang="ru-RU" altLang="ru-RU"/>
              <a:pPr>
                <a:defRPr/>
              </a:pPr>
              <a:t>03.02.2024</a:t>
            </a:fld>
            <a:endParaRPr lang="ru-RU" alt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88EB91-3C1E-4FF1-B993-44C9D3DCA2F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9886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6A3A53-851F-4969-878F-E9A6B178E75F}" type="datetime1">
              <a:rPr lang="ru-RU" altLang="ru-RU"/>
              <a:pPr>
                <a:defRPr/>
              </a:pPr>
              <a:t>03.02.2024</a:t>
            </a:fld>
            <a:endParaRPr lang="ru-RU" altLang="ru-RU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15234D-E281-40D7-845A-AC89B555E39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6035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D881F6-289C-43B7-ABF9-CAF7D6AE8246}" type="datetime1">
              <a:rPr lang="ru-RU" altLang="ru-RU"/>
              <a:pPr>
                <a:defRPr/>
              </a:pPr>
              <a:t>03.02.2024</a:t>
            </a:fld>
            <a:endParaRPr lang="ru-RU" altLang="ru-RU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959A8C-1186-45D6-ABC2-7DA2E6240FB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0114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930369-9335-4F4D-A6A9-C74E1E74DCFB}" type="datetime1">
              <a:rPr lang="ru-RU" altLang="ru-RU"/>
              <a:pPr>
                <a:defRPr/>
              </a:pPr>
              <a:t>03.02.2024</a:t>
            </a:fld>
            <a:endParaRPr lang="ru-RU" altLang="ru-RU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9D5065-6406-481D-B27A-A22D15505B2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4737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21DA6D-34FF-4DB9-AA63-744DEB5AFCDA}" type="datetime1">
              <a:rPr lang="ru-RU" altLang="ru-RU"/>
              <a:pPr>
                <a:defRPr/>
              </a:pPr>
              <a:t>03.02.2024</a:t>
            </a:fld>
            <a:endParaRPr lang="ru-RU" alt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FFD2C1-599B-4010-BB82-1537AF5E6EC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1899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smtClean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F9B011-3D41-43D2-8535-9AFABF50F08F}" type="datetime1">
              <a:rPr lang="ru-RU" altLang="ru-RU"/>
              <a:pPr>
                <a:defRPr/>
              </a:pPr>
              <a:t>03.02.2024</a:t>
            </a:fld>
            <a:endParaRPr lang="ru-RU" alt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5B62CB-4384-4DC3-A73E-77BAA665D57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6368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E84CD2-02B7-49A7-BC7B-574C26260332}" type="datetime1">
              <a:rPr lang="ru-RU" altLang="ru-RU"/>
              <a:pPr>
                <a:defRPr/>
              </a:pPr>
              <a:t>03.02.2024</a:t>
            </a:fld>
            <a:endParaRPr lang="ru-RU" alt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99ABC5-DC88-4167-A672-709E7E24927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1797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A9040D-C7D8-42EA-B819-2290EAAF19F4}" type="datetime1">
              <a:rPr lang="ru-RU" altLang="ru-RU"/>
              <a:pPr>
                <a:defRPr/>
              </a:pPr>
              <a:t>03.02.2024</a:t>
            </a:fld>
            <a:endParaRPr lang="ru-RU" alt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21256-6922-4296-B706-69BFEBF3A45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2022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ru-RU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1892B4-7175-45CD-A711-27326C3C9184}" type="datetime1">
              <a:rPr lang="ru-RU" altLang="ru-RU"/>
              <a:pPr>
                <a:defRPr/>
              </a:pPr>
              <a:t>03.02.2024</a:t>
            </a:fld>
            <a:endParaRPr lang="ru-RU" alt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5844C0-5484-4977-82B7-50A2561463C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78869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4CBBD4-23A2-409B-9827-F0DC6928B42C}" type="datetime1">
              <a:rPr lang="ru-RU" altLang="ru-RU"/>
              <a:pPr>
                <a:defRPr/>
              </a:pPr>
              <a:t>03.02.2024</a:t>
            </a:fld>
            <a:endParaRPr lang="ru-RU" alt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BE4F08-FBF1-4C79-BE3F-C9EDC195366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7538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заголовка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текста</a:t>
            </a:r>
          </a:p>
          <a:p>
            <a:pPr lvl="1"/>
            <a:r>
              <a:rPr lang="ru-RU" altLang="ru-RU" smtClean="0"/>
              <a:t>Второй уровень</a:t>
            </a:r>
          </a:p>
          <a:p>
            <a:pPr lvl="2"/>
            <a:r>
              <a:rPr lang="ru-RU" altLang="ru-RU" smtClean="0"/>
              <a:t>Третий уровень</a:t>
            </a:r>
          </a:p>
          <a:p>
            <a:pPr lvl="3"/>
            <a:r>
              <a:rPr lang="ru-RU" altLang="ru-RU" smtClean="0"/>
              <a:t>Четвертый уровень</a:t>
            </a:r>
          </a:p>
          <a:p>
            <a:pPr lvl="4"/>
            <a:r>
              <a:rPr lang="ru-RU" altLang="ru-RU" smtClean="0"/>
              <a:t>Пятый уровень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fld id="{73FBA068-83FC-4A90-B501-4B72D241EA61}" type="datetime1">
              <a:rPr lang="ru-RU" altLang="ru-RU"/>
              <a:pPr>
                <a:defRPr/>
              </a:pPr>
              <a:t>03.02.2024</a:t>
            </a:fld>
            <a:endParaRPr lang="ru-RU" altLang="ru-RU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C9F488EB-3316-4E31-8A1B-5264BCB9614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Заголовок 1"/>
          <p:cNvSpPr>
            <a:spLocks noGrp="1"/>
          </p:cNvSpPr>
          <p:nvPr>
            <p:ph type="title" idx="4294967295"/>
          </p:nvPr>
        </p:nvSpPr>
        <p:spPr>
          <a:xfrm>
            <a:off x="0" y="115888"/>
            <a:ext cx="9144000" cy="1512887"/>
          </a:xfrm>
        </p:spPr>
        <p:txBody>
          <a:bodyPr/>
          <a:lstStyle/>
          <a:p>
            <a:r>
              <a:rPr lang="ru-RU" altLang="ru-RU" sz="2800" b="1" smtClean="0"/>
              <a:t>ТОМСКИЙ ГОСУДАРСТВЕННЫЙ УНИВЕРСИТЕТ</a:t>
            </a:r>
            <a:br>
              <a:rPr lang="ru-RU" altLang="ru-RU" sz="2800" b="1" smtClean="0"/>
            </a:br>
            <a:endParaRPr lang="ru-RU" altLang="ru-RU" sz="2800" smtClean="0"/>
          </a:p>
        </p:txBody>
      </p:sp>
      <p:sp>
        <p:nvSpPr>
          <p:cNvPr id="3" name="Объект 2"/>
          <p:cNvSpPr>
            <a:spLocks noGrp="1"/>
          </p:cNvSpPr>
          <p:nvPr>
            <p:ph idx="4294967295"/>
          </p:nvPr>
        </p:nvSpPr>
        <p:spPr>
          <a:xfrm>
            <a:off x="457200" y="1484313"/>
            <a:ext cx="8229600" cy="4968875"/>
          </a:xfrm>
        </p:spPr>
        <p:txBody>
          <a:bodyPr/>
          <a:lstStyle/>
          <a:p>
            <a:pPr marL="0" indent="0" algn="ctr">
              <a:buFontTx/>
              <a:buNone/>
            </a:pPr>
            <a:r>
              <a:rPr lang="ru-RU" altLang="ru-RU" dirty="0" smtClean="0"/>
              <a:t>Костюк Ю. Л.</a:t>
            </a:r>
          </a:p>
          <a:p>
            <a:pPr marL="0" indent="0" algn="ctr">
              <a:buFontTx/>
              <a:buNone/>
            </a:pPr>
            <a:endParaRPr lang="ru-RU" altLang="ru-RU" sz="3600" b="1" dirty="0" smtClean="0"/>
          </a:p>
          <a:p>
            <a:pPr marL="0" indent="0" algn="ctr">
              <a:buFontTx/>
              <a:buNone/>
            </a:pPr>
            <a:r>
              <a:rPr lang="ru-RU" altLang="ru-RU" sz="3600" b="1"/>
              <a:t>МЕТОДЫ КОМПИЛЯЦИИ</a:t>
            </a:r>
          </a:p>
          <a:p>
            <a:pPr marL="0" indent="0" algn="ctr" eaLnBrk="1" hangingPunct="1">
              <a:buFontTx/>
              <a:buNone/>
            </a:pPr>
            <a:endParaRPr lang="ru-RU" altLang="ru-RU" sz="3600" b="1" dirty="0" smtClean="0"/>
          </a:p>
          <a:p>
            <a:pPr marL="0" indent="0" algn="ctr" eaLnBrk="1" hangingPunct="1">
              <a:buFontTx/>
              <a:buNone/>
            </a:pPr>
            <a:r>
              <a:rPr lang="ru-RU" altLang="ru-RU" sz="3600" b="1" dirty="0" smtClean="0"/>
              <a:t>Лекция 6</a:t>
            </a:r>
            <a:r>
              <a:rPr lang="ru-RU" altLang="ru-RU" sz="3600" dirty="0" smtClean="0"/>
              <a:t> </a:t>
            </a:r>
          </a:p>
          <a:p>
            <a:pPr marL="0" indent="0" algn="ctr">
              <a:buFontTx/>
              <a:buNone/>
            </a:pPr>
            <a:endParaRPr lang="ru-RU" altLang="ru-RU" sz="3600" dirty="0" smtClean="0"/>
          </a:p>
        </p:txBody>
      </p:sp>
      <p:sp>
        <p:nvSpPr>
          <p:cNvPr id="56324" name="Номер слайда 1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85E97984-FF50-4E41-B154-DA820B024208}" type="slidenum">
              <a:rPr lang="ru-RU" altLang="ru-RU" sz="1400"/>
              <a:pPr algn="r" eaLnBrk="1" hangingPunct="1"/>
              <a:t>1</a:t>
            </a:fld>
            <a:endParaRPr lang="ru-RU" altLang="ru-RU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3B82D4E-E41D-47D6-B9CD-66868F944B96}" type="slidenum">
              <a:rPr lang="ru-RU" altLang="ru-RU" smtClean="0"/>
              <a:pPr eaLnBrk="1" hangingPunct="1"/>
              <a:t>2</a:t>
            </a:fld>
            <a:endParaRPr lang="ru-RU" altLang="ru-RU" smtClean="0"/>
          </a:p>
        </p:txBody>
      </p:sp>
      <p:sp>
        <p:nvSpPr>
          <p:cNvPr id="6147" name="Rectangle 4"/>
          <p:cNvSpPr>
            <a:spLocks noGrp="1" noChangeArrowheads="1"/>
          </p:cNvSpPr>
          <p:nvPr>
            <p:ph type="title"/>
          </p:nvPr>
        </p:nvSpPr>
        <p:spPr>
          <a:xfrm>
            <a:off x="179388" y="0"/>
            <a:ext cx="8785225" cy="1196975"/>
          </a:xfrm>
        </p:spPr>
        <p:txBody>
          <a:bodyPr/>
          <a:lstStyle/>
          <a:p>
            <a:pPr eaLnBrk="1" hangingPunct="1"/>
            <a:r>
              <a:rPr lang="ru-RU" altLang="ru-RU" sz="3200" b="1" smtClean="0">
                <a:solidFill>
                  <a:schemeClr val="accent2"/>
                </a:solidFill>
              </a:rPr>
              <a:t>ГЕНЕРАЦИЯ КОМАНД В КОМПИЛЯТОРЕ</a:t>
            </a:r>
            <a:endParaRPr lang="ru-RU" altLang="ru-RU" sz="4000" smtClean="0">
              <a:solidFill>
                <a:schemeClr val="accent2"/>
              </a:solidFill>
            </a:endParaRPr>
          </a:p>
        </p:txBody>
      </p:sp>
      <p:sp>
        <p:nvSpPr>
          <p:cNvPr id="307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50825" y="1125538"/>
            <a:ext cx="8785225" cy="5400675"/>
          </a:xfrm>
        </p:spPr>
        <p:txBody>
          <a:bodyPr/>
          <a:lstStyle/>
          <a:p>
            <a:pPr eaLnBrk="1" hangingPunct="1">
              <a:buFontTx/>
              <a:buNone/>
              <a:defRPr/>
            </a:pPr>
            <a:r>
              <a:rPr lang="ru-RU" sz="2400" b="1" i="1" dirty="0"/>
              <a:t>Распределение памяти при </a:t>
            </a:r>
            <a:r>
              <a:rPr lang="ru-RU" sz="2400" b="1" i="1" dirty="0" smtClean="0"/>
              <a:t>работе программы:</a:t>
            </a:r>
          </a:p>
          <a:p>
            <a:pPr marL="0" indent="0">
              <a:buFontTx/>
              <a:buNone/>
              <a:defRPr/>
            </a:pPr>
            <a:r>
              <a:rPr lang="ru-RU" sz="2400" dirty="0"/>
              <a:t>1) </a:t>
            </a:r>
            <a:r>
              <a:rPr lang="ru-RU" sz="2400" dirty="0" smtClean="0"/>
              <a:t>программа из машинных команд;</a:t>
            </a:r>
            <a:endParaRPr lang="ru-RU" sz="2400" dirty="0"/>
          </a:p>
          <a:p>
            <a:pPr marL="0" indent="0">
              <a:buFontTx/>
              <a:buNone/>
              <a:defRPr/>
            </a:pPr>
            <a:r>
              <a:rPr lang="ru-RU" sz="2400" dirty="0"/>
              <a:t>2) </a:t>
            </a:r>
            <a:r>
              <a:rPr lang="ru-RU" sz="2400" dirty="0" smtClean="0"/>
              <a:t>константы, используемые </a:t>
            </a:r>
            <a:r>
              <a:rPr lang="ru-RU" sz="2400" dirty="0"/>
              <a:t>в машинных командах;</a:t>
            </a:r>
          </a:p>
          <a:p>
            <a:pPr marL="0" indent="0">
              <a:buFontTx/>
              <a:buNone/>
              <a:defRPr/>
            </a:pPr>
            <a:r>
              <a:rPr lang="ru-RU" sz="2400" dirty="0"/>
              <a:t>3) </a:t>
            </a:r>
            <a:r>
              <a:rPr lang="ru-RU" sz="2400" dirty="0" smtClean="0"/>
              <a:t>глобальные статические переменные;</a:t>
            </a:r>
            <a:endParaRPr lang="ru-RU" sz="2400" dirty="0"/>
          </a:p>
          <a:p>
            <a:pPr marL="0" indent="0">
              <a:buFontTx/>
              <a:buNone/>
              <a:defRPr/>
            </a:pPr>
            <a:r>
              <a:rPr lang="ru-RU" sz="2400" dirty="0"/>
              <a:t>4) </a:t>
            </a:r>
            <a:r>
              <a:rPr lang="ru-RU" sz="2400" dirty="0" smtClean="0"/>
              <a:t>магазин для вызовов процедур и динамические переменные.</a:t>
            </a:r>
          </a:p>
          <a:p>
            <a:pPr marL="0" indent="0">
              <a:buFontTx/>
              <a:buNone/>
              <a:defRPr/>
            </a:pPr>
            <a:r>
              <a:rPr lang="ru-RU" sz="2400" dirty="0"/>
              <a:t>Операционная </a:t>
            </a:r>
            <a:r>
              <a:rPr lang="ru-RU" sz="2400" dirty="0" smtClean="0"/>
              <a:t>система (ОС) считывает </a:t>
            </a:r>
            <a:r>
              <a:rPr lang="ru-RU" sz="2400" dirty="0"/>
              <a:t>с </a:t>
            </a:r>
            <a:r>
              <a:rPr lang="ru-RU" sz="2400" dirty="0" smtClean="0"/>
              <a:t>диска файл (исполняемый модуль - программа и константы) и передает программе управление. </a:t>
            </a:r>
          </a:p>
          <a:p>
            <a:pPr marL="0" indent="0">
              <a:buFontTx/>
              <a:buNone/>
              <a:defRPr/>
            </a:pPr>
            <a:r>
              <a:rPr lang="ru-RU" sz="2400" dirty="0" smtClean="0"/>
              <a:t>Области памяти для переменных выделяются по запросу при выполнении программы.</a:t>
            </a:r>
          </a:p>
          <a:p>
            <a:pPr marL="0" indent="0">
              <a:buFontTx/>
              <a:buNone/>
              <a:defRPr/>
            </a:pPr>
            <a:r>
              <a:rPr lang="ru-RU" sz="2400" dirty="0" smtClean="0"/>
              <a:t>Последняя команда программы - возврат </a:t>
            </a:r>
            <a:r>
              <a:rPr lang="ru-RU" sz="2400" dirty="0"/>
              <a:t>управления в </a:t>
            </a:r>
            <a:r>
              <a:rPr lang="ru-RU" sz="2400" dirty="0" smtClean="0"/>
              <a:t>ОС. </a:t>
            </a:r>
            <a:endParaRPr lang="ru-RU" altLang="ru-RU" sz="2200" dirty="0" smtClean="0"/>
          </a:p>
        </p:txBody>
      </p:sp>
      <p:sp>
        <p:nvSpPr>
          <p:cNvPr id="6149" name="Номер слайда 1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35040D8F-0D6F-4098-9F32-E64617F3B26F}" type="slidenum">
              <a:rPr lang="ru-RU" altLang="ru-RU" sz="1400"/>
              <a:pPr algn="r" eaLnBrk="1" hangingPunct="1"/>
              <a:t>2</a:t>
            </a:fld>
            <a:endParaRPr lang="ru-RU" altLang="ru-RU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077CDB4-F3E3-406C-954B-07BEB6AD5525}" type="slidenum">
              <a:rPr lang="ru-RU" altLang="ru-RU" smtClean="0"/>
              <a:pPr eaLnBrk="1" hangingPunct="1"/>
              <a:t>3</a:t>
            </a:fld>
            <a:endParaRPr lang="ru-RU" altLang="ru-RU" smtClean="0"/>
          </a:p>
        </p:txBody>
      </p:sp>
      <p:sp>
        <p:nvSpPr>
          <p:cNvPr id="7171" name="Заголовок 1"/>
          <p:cNvSpPr>
            <a:spLocks noGrp="1"/>
          </p:cNvSpPr>
          <p:nvPr>
            <p:ph type="title"/>
          </p:nvPr>
        </p:nvSpPr>
        <p:spPr>
          <a:xfrm>
            <a:off x="457200" y="115888"/>
            <a:ext cx="8229600" cy="865187"/>
          </a:xfrm>
        </p:spPr>
        <p:txBody>
          <a:bodyPr/>
          <a:lstStyle/>
          <a:p>
            <a:r>
              <a:rPr lang="ru-RU" altLang="ru-RU" sz="4000" b="1" smtClean="0">
                <a:solidFill>
                  <a:schemeClr val="accent2"/>
                </a:solidFill>
              </a:rPr>
              <a:t>Одноадресная система команд</a:t>
            </a:r>
          </a:p>
        </p:txBody>
      </p:sp>
      <p:sp>
        <p:nvSpPr>
          <p:cNvPr id="7172" name="Объект 2"/>
          <p:cNvSpPr>
            <a:spLocks noGrp="1"/>
          </p:cNvSpPr>
          <p:nvPr>
            <p:ph idx="1"/>
          </p:nvPr>
        </p:nvSpPr>
        <p:spPr>
          <a:xfrm>
            <a:off x="457200" y="981075"/>
            <a:ext cx="8229600" cy="5400675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ru-RU" altLang="ru-RU" sz="2400" b="1" smtClean="0"/>
              <a:t>Формат команд:</a:t>
            </a:r>
          </a:p>
          <a:p>
            <a:pPr marL="0" indent="0">
              <a:buFontTx/>
              <a:buNone/>
            </a:pPr>
            <a:r>
              <a:rPr lang="en-US" altLang="ru-RU" sz="2400" smtClean="0"/>
              <a:t>&lt;</a:t>
            </a:r>
            <a:r>
              <a:rPr lang="ru-RU" altLang="ru-RU" sz="2400" smtClean="0"/>
              <a:t>код операции</a:t>
            </a:r>
            <a:r>
              <a:rPr lang="en-US" altLang="ru-RU" sz="2400" smtClean="0"/>
              <a:t>&gt; &lt;</a:t>
            </a:r>
            <a:r>
              <a:rPr lang="ru-RU" altLang="ru-RU" sz="2400" smtClean="0"/>
              <a:t>операнд</a:t>
            </a:r>
            <a:r>
              <a:rPr lang="en-US" altLang="ru-RU" sz="2400" smtClean="0"/>
              <a:t>&gt;</a:t>
            </a:r>
            <a:endParaRPr lang="ru-RU" altLang="ru-RU" sz="2400" smtClean="0"/>
          </a:p>
          <a:p>
            <a:pPr marL="0" indent="0">
              <a:buFontTx/>
              <a:buNone/>
            </a:pPr>
            <a:r>
              <a:rPr lang="en-US" altLang="ru-RU" sz="2400" smtClean="0"/>
              <a:t>&lt;</a:t>
            </a:r>
            <a:r>
              <a:rPr lang="ru-RU" altLang="ru-RU" sz="2400" smtClean="0"/>
              <a:t>операнд</a:t>
            </a:r>
            <a:r>
              <a:rPr lang="en-US" altLang="ru-RU" sz="2400" smtClean="0"/>
              <a:t>&gt;</a:t>
            </a:r>
            <a:r>
              <a:rPr lang="ru-RU" altLang="ru-RU" sz="2400" smtClean="0"/>
              <a:t> - адрес в памяти (относительно начала выделенной области).</a:t>
            </a:r>
          </a:p>
          <a:p>
            <a:pPr marL="0" indent="0">
              <a:buFontTx/>
              <a:buNone/>
            </a:pPr>
            <a:r>
              <a:rPr lang="ru-RU" altLang="ru-RU" sz="2400" b="1" smtClean="0"/>
              <a:t>Регистр сумматора </a:t>
            </a:r>
            <a:r>
              <a:rPr lang="ru-RU" altLang="ru-RU" sz="2400" smtClean="0"/>
              <a:t>(сумматор) содержит второй операнд, результат операции – в сумматоре.</a:t>
            </a:r>
          </a:p>
          <a:p>
            <a:pPr marL="0" indent="0">
              <a:buFontTx/>
              <a:buNone/>
            </a:pPr>
            <a:r>
              <a:rPr lang="ru-RU" altLang="ru-RU" sz="2400" b="1" i="1" smtClean="0"/>
              <a:t>Набор команд:</a:t>
            </a:r>
          </a:p>
          <a:p>
            <a:pPr marL="0" indent="0">
              <a:buFontTx/>
              <a:buNone/>
            </a:pPr>
            <a:r>
              <a:rPr lang="en-US" altLang="ru-RU" sz="2400" b="1" smtClean="0"/>
              <a:t>Add</a:t>
            </a:r>
            <a:r>
              <a:rPr lang="ru-RU" altLang="ru-RU" sz="2400" smtClean="0"/>
              <a:t> &lt;операнд&gt; – сложение,</a:t>
            </a:r>
          </a:p>
          <a:p>
            <a:pPr marL="0" indent="0">
              <a:buFontTx/>
              <a:buNone/>
            </a:pPr>
            <a:r>
              <a:rPr lang="en-US" altLang="ru-RU" sz="2400" b="1" smtClean="0"/>
              <a:t>Sub</a:t>
            </a:r>
            <a:r>
              <a:rPr lang="ru-RU" altLang="ru-RU" sz="2400" smtClean="0"/>
              <a:t>  &lt;операнд&gt;  – вычитание,</a:t>
            </a:r>
          </a:p>
          <a:p>
            <a:pPr marL="0" indent="0">
              <a:buFontTx/>
              <a:buNone/>
            </a:pPr>
            <a:r>
              <a:rPr lang="en-US" altLang="ru-RU" sz="2400" b="1" smtClean="0"/>
              <a:t>Mul</a:t>
            </a:r>
            <a:r>
              <a:rPr lang="ru-RU" altLang="ru-RU" sz="2400" smtClean="0"/>
              <a:t>  &lt;операнд&gt; – умножение, </a:t>
            </a:r>
          </a:p>
          <a:p>
            <a:pPr marL="0" indent="0">
              <a:buFontTx/>
              <a:buNone/>
            </a:pPr>
            <a:r>
              <a:rPr lang="en-US" altLang="ru-RU" sz="2400" b="1" smtClean="0"/>
              <a:t>Div</a:t>
            </a:r>
            <a:r>
              <a:rPr lang="ru-RU" altLang="ru-RU" sz="2400" smtClean="0"/>
              <a:t>  &lt;операнд&gt;  – деление,</a:t>
            </a:r>
          </a:p>
          <a:p>
            <a:pPr marL="0" indent="0">
              <a:buFontTx/>
              <a:buNone/>
            </a:pPr>
            <a:r>
              <a:rPr lang="en-US" altLang="ru-RU" sz="2400" b="1" smtClean="0"/>
              <a:t>Load</a:t>
            </a:r>
            <a:r>
              <a:rPr lang="en-US" altLang="ru-RU" sz="2400" smtClean="0"/>
              <a:t> </a:t>
            </a:r>
            <a:r>
              <a:rPr lang="ru-RU" altLang="ru-RU" sz="2400" smtClean="0"/>
              <a:t>&lt;операнд&gt;  – запись из операнда в сумматор,</a:t>
            </a:r>
          </a:p>
          <a:p>
            <a:pPr marL="0" indent="0">
              <a:buFontTx/>
              <a:buNone/>
            </a:pPr>
            <a:r>
              <a:rPr lang="en-US" altLang="ru-RU" sz="2400" b="1" smtClean="0"/>
              <a:t>St</a:t>
            </a:r>
            <a:r>
              <a:rPr lang="en-US" altLang="ru-RU" sz="2400" smtClean="0"/>
              <a:t> </a:t>
            </a:r>
            <a:r>
              <a:rPr lang="ru-RU" altLang="ru-RU" sz="2400" smtClean="0"/>
              <a:t>  &lt;операнд&gt;     – запись из сумматора в операнд.</a:t>
            </a:r>
          </a:p>
        </p:txBody>
      </p:sp>
      <p:sp>
        <p:nvSpPr>
          <p:cNvPr id="7173" name="Номер слайда 3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46ED4744-9862-44A9-BA2C-0D093D95894B}" type="slidenum">
              <a:rPr lang="ru-RU" altLang="ru-RU" sz="1400"/>
              <a:pPr algn="r" eaLnBrk="1" hangingPunct="1"/>
              <a:t>3</a:t>
            </a:fld>
            <a:endParaRPr lang="ru-RU" altLang="ru-RU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51609D9-E4D8-4745-93CE-58363CBA4028}" type="slidenum">
              <a:rPr lang="ru-RU" altLang="ru-RU" smtClean="0"/>
              <a:pPr eaLnBrk="1" hangingPunct="1"/>
              <a:t>4</a:t>
            </a:fld>
            <a:endParaRPr lang="ru-RU" altLang="ru-RU" smtClean="0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412875"/>
          </a:xfrm>
        </p:spPr>
        <p:txBody>
          <a:bodyPr/>
          <a:lstStyle/>
          <a:p>
            <a:pPr eaLnBrk="1" hangingPunct="1"/>
            <a:r>
              <a:rPr lang="ru-RU" altLang="ru-RU" sz="3200" b="1" smtClean="0">
                <a:solidFill>
                  <a:schemeClr val="accent2"/>
                </a:solidFill>
              </a:rPr>
              <a:t>Генерация команд по сгенерированной ОПС интерпретатором</a:t>
            </a:r>
            <a:r>
              <a:rPr lang="ru-RU" altLang="ru-RU" smtClean="0"/>
              <a:t> 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84313"/>
            <a:ext cx="8229600" cy="5184775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В интерпретаторе используется магазин, в него записываются операнды (номера ячеек памяти) и результаты вычислений. 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Если результат выполнения команды находится в сумматоре, то в магазин записывается нуль.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Переменная </a:t>
            </a:r>
            <a:r>
              <a:rPr lang="en-US" altLang="ru-RU" sz="2400" smtClean="0">
                <a:latin typeface="Times New Roman" pitchFamily="18" charset="0"/>
              </a:rPr>
              <a:t>k</a:t>
            </a:r>
            <a:r>
              <a:rPr lang="ru-RU" altLang="ru-RU" sz="2400" smtClean="0">
                <a:latin typeface="Times New Roman" pitchFamily="18" charset="0"/>
              </a:rPr>
              <a:t> напрямую ссылается на тот элемент магазина, который содержит нуль. 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ОПС просматривается слева направо. 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Если очередной элемент в ОПС – операнд, то он записывается в магазин. 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Если очередной элемент в ОПС – операция, то из магазина считываются операнды и генерируются команды, выполняющие операцию. 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Два верхних операнда в магазине - </a:t>
            </a:r>
            <a:r>
              <a:rPr lang="en-US" altLang="ru-RU" sz="2400" smtClean="0">
                <a:latin typeface="Times New Roman" pitchFamily="18" charset="0"/>
              </a:rPr>
              <a:t>a </a:t>
            </a:r>
            <a:r>
              <a:rPr lang="ru-RU" altLang="ru-RU" sz="2400" smtClean="0">
                <a:latin typeface="Times New Roman" pitchFamily="18" charset="0"/>
              </a:rPr>
              <a:t>и </a:t>
            </a:r>
            <a:r>
              <a:rPr lang="en-US" altLang="ru-RU" sz="2400" smtClean="0">
                <a:latin typeface="Times New Roman" pitchFamily="18" charset="0"/>
              </a:rPr>
              <a:t>b</a:t>
            </a:r>
            <a:r>
              <a:rPr lang="ru-RU" altLang="ru-RU" sz="2400" smtClean="0">
                <a:latin typeface="Times New Roman" pitchFamily="18" charset="0"/>
              </a:rPr>
              <a:t>. </a:t>
            </a:r>
          </a:p>
        </p:txBody>
      </p:sp>
      <p:sp>
        <p:nvSpPr>
          <p:cNvPr id="8197" name="Номер слайда 1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5AF63C35-042D-49F9-9EB4-D785C366D574}" type="slidenum">
              <a:rPr lang="ru-RU" altLang="ru-RU" sz="1400"/>
              <a:pPr algn="r" eaLnBrk="1" hangingPunct="1"/>
              <a:t>4</a:t>
            </a:fld>
            <a:endParaRPr lang="ru-RU" altLang="ru-RU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/>
          <p:cNvSpPr txBox="1">
            <a:spLocks noGrp="1"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9F3E118C-A6A4-4686-8C9F-B5763B4864F5}" type="slidenum">
              <a:rPr lang="ru-RU" altLang="ru-RU" sz="1400"/>
              <a:pPr algn="r" eaLnBrk="1" hangingPunct="1"/>
              <a:t>5</a:t>
            </a:fld>
            <a:endParaRPr lang="ru-RU" altLang="ru-RU" sz="1400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92150"/>
          </a:xfrm>
        </p:spPr>
        <p:txBody>
          <a:bodyPr/>
          <a:lstStyle/>
          <a:p>
            <a:pPr eaLnBrk="1" hangingPunct="1"/>
            <a:r>
              <a:rPr lang="ru-RU" altLang="ru-RU" sz="2800" smtClean="0">
                <a:solidFill>
                  <a:schemeClr val="accent2"/>
                </a:solidFill>
              </a:rPr>
              <a:t>Генерация команд для арифметических выражений</a:t>
            </a:r>
            <a:r>
              <a:rPr lang="ru-RU" altLang="ru-RU" sz="4000" smtClean="0"/>
              <a:t> 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23850" y="765175"/>
            <a:ext cx="8569325" cy="5832475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1. Если </a:t>
            </a:r>
            <a:r>
              <a:rPr lang="en-US" altLang="ru-RU" sz="2400" b="1" smtClean="0">
                <a:latin typeface="Times New Roman" pitchFamily="18" charset="0"/>
              </a:rPr>
              <a:t>k </a:t>
            </a:r>
            <a:r>
              <a:rPr lang="ru-RU" altLang="ru-RU" sz="2400" b="1" smtClean="0">
                <a:latin typeface="Times New Roman" pitchFamily="18" charset="0"/>
              </a:rPr>
              <a:t>=</a:t>
            </a:r>
            <a:r>
              <a:rPr lang="en-US" altLang="ru-RU" sz="2400" b="1" smtClean="0">
                <a:latin typeface="Times New Roman" pitchFamily="18" charset="0"/>
              </a:rPr>
              <a:t> </a:t>
            </a:r>
            <a:r>
              <a:rPr lang="ru-RU" altLang="ru-RU" sz="2400" b="1" smtClean="0">
                <a:latin typeface="Times New Roman" pitchFamily="18" charset="0"/>
              </a:rPr>
              <a:t>0, то генерируются команды: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	</a:t>
            </a:r>
            <a:r>
              <a:rPr lang="en-US" altLang="ru-RU" sz="2400" smtClean="0">
                <a:latin typeface="Times New Roman" pitchFamily="18" charset="0"/>
              </a:rPr>
              <a:t>Load   a</a:t>
            </a:r>
            <a:endParaRPr lang="ru-RU" altLang="ru-RU" sz="2400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	</a:t>
            </a:r>
            <a:r>
              <a:rPr lang="en-US" altLang="ru-RU" sz="2400" smtClean="0">
                <a:latin typeface="Times New Roman" pitchFamily="18" charset="0"/>
              </a:rPr>
              <a:t>Op</a:t>
            </a:r>
            <a:r>
              <a:rPr lang="ru-RU" altLang="ru-RU" sz="2400" smtClean="0">
                <a:latin typeface="Times New Roman" pitchFamily="18" charset="0"/>
              </a:rPr>
              <a:t>      </a:t>
            </a:r>
            <a:r>
              <a:rPr lang="en-US" altLang="ru-RU" sz="2400" smtClean="0">
                <a:latin typeface="Times New Roman" pitchFamily="18" charset="0"/>
              </a:rPr>
              <a:t>b</a:t>
            </a:r>
            <a:endParaRPr lang="ru-RU" altLang="ru-RU" sz="2400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где  </a:t>
            </a:r>
            <a:r>
              <a:rPr lang="en-US" altLang="ru-RU" sz="2400" smtClean="0">
                <a:latin typeface="Times New Roman" pitchFamily="18" charset="0"/>
              </a:rPr>
              <a:t>Op</a:t>
            </a:r>
            <a:r>
              <a:rPr lang="ru-RU" altLang="ru-RU" sz="2400" smtClean="0">
                <a:latin typeface="Times New Roman" pitchFamily="18" charset="0"/>
              </a:rPr>
              <a:t> – команда </a:t>
            </a:r>
            <a:r>
              <a:rPr lang="en-US" altLang="ru-RU" sz="2400" smtClean="0">
                <a:latin typeface="Times New Roman" pitchFamily="18" charset="0"/>
              </a:rPr>
              <a:t>Add</a:t>
            </a:r>
            <a:r>
              <a:rPr lang="ru-RU" altLang="ru-RU" sz="2400" smtClean="0">
                <a:latin typeface="Times New Roman" pitchFamily="18" charset="0"/>
              </a:rPr>
              <a:t>, </a:t>
            </a:r>
            <a:r>
              <a:rPr lang="en-US" altLang="ru-RU" sz="2400" smtClean="0">
                <a:latin typeface="Times New Roman" pitchFamily="18" charset="0"/>
              </a:rPr>
              <a:t>Sub</a:t>
            </a:r>
            <a:r>
              <a:rPr lang="ru-RU" altLang="ru-RU" sz="2400" smtClean="0">
                <a:latin typeface="Times New Roman" pitchFamily="18" charset="0"/>
              </a:rPr>
              <a:t>, </a:t>
            </a:r>
            <a:r>
              <a:rPr lang="en-US" altLang="ru-RU" sz="2400" smtClean="0">
                <a:latin typeface="Times New Roman" pitchFamily="18" charset="0"/>
              </a:rPr>
              <a:t>Mul</a:t>
            </a:r>
            <a:r>
              <a:rPr lang="ru-RU" altLang="ru-RU" sz="2400" smtClean="0">
                <a:latin typeface="Times New Roman" pitchFamily="18" charset="0"/>
              </a:rPr>
              <a:t> или </a:t>
            </a:r>
            <a:r>
              <a:rPr lang="en-US" altLang="ru-RU" sz="2400" smtClean="0">
                <a:latin typeface="Times New Roman" pitchFamily="18" charset="0"/>
              </a:rPr>
              <a:t>Div</a:t>
            </a:r>
            <a:r>
              <a:rPr lang="ru-RU" altLang="ru-RU" sz="2400" smtClean="0">
                <a:latin typeface="Times New Roman" pitchFamily="18" charset="0"/>
              </a:rPr>
              <a:t>.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   В магазин записывается нуль, а в переменную </a:t>
            </a:r>
            <a:r>
              <a:rPr lang="en-US" altLang="ru-RU" sz="2400" smtClean="0">
                <a:latin typeface="Times New Roman" pitchFamily="18" charset="0"/>
              </a:rPr>
              <a:t>k</a:t>
            </a:r>
            <a:r>
              <a:rPr lang="ru-RU" altLang="ru-RU" sz="2400" smtClean="0">
                <a:latin typeface="Times New Roman" pitchFamily="18" charset="0"/>
              </a:rPr>
              <a:t> – ссылка на верхний элемент магазина.</a:t>
            </a:r>
          </a:p>
          <a:p>
            <a:pPr>
              <a:lnSpc>
                <a:spcPct val="90000"/>
              </a:lnSpc>
              <a:buFontTx/>
              <a:buNone/>
            </a:pPr>
            <a:endParaRPr lang="ru-RU" altLang="ru-RU" sz="2400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2. Если </a:t>
            </a:r>
            <a:r>
              <a:rPr lang="en-US" altLang="ru-RU" sz="2400" b="1" smtClean="0">
                <a:latin typeface="Times New Roman" pitchFamily="18" charset="0"/>
              </a:rPr>
              <a:t>k </a:t>
            </a:r>
            <a:r>
              <a:rPr lang="ru-RU" altLang="ru-RU" sz="2400" b="1" smtClean="0">
                <a:latin typeface="Times New Roman" pitchFamily="18" charset="0"/>
              </a:rPr>
              <a:t>≠</a:t>
            </a:r>
            <a:r>
              <a:rPr lang="en-US" altLang="ru-RU" sz="2400" b="1" smtClean="0">
                <a:latin typeface="Times New Roman" pitchFamily="18" charset="0"/>
              </a:rPr>
              <a:t> </a:t>
            </a:r>
            <a:r>
              <a:rPr lang="ru-RU" altLang="ru-RU" sz="2400" b="1" smtClean="0">
                <a:latin typeface="Times New Roman" pitchFamily="18" charset="0"/>
              </a:rPr>
              <a:t>0, </a:t>
            </a:r>
            <a:r>
              <a:rPr lang="en-US" altLang="ru-RU" sz="2400" b="1" smtClean="0">
                <a:latin typeface="Times New Roman" pitchFamily="18" charset="0"/>
              </a:rPr>
              <a:t>a </a:t>
            </a:r>
            <a:r>
              <a:rPr lang="ru-RU" altLang="ru-RU" sz="2400" b="1" smtClean="0">
                <a:latin typeface="Times New Roman" pitchFamily="18" charset="0"/>
              </a:rPr>
              <a:t>= 0, то генерируется команда: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	</a:t>
            </a:r>
            <a:r>
              <a:rPr lang="en-US" altLang="ru-RU" sz="2400" smtClean="0">
                <a:latin typeface="Times New Roman" pitchFamily="18" charset="0"/>
              </a:rPr>
              <a:t>Op</a:t>
            </a:r>
            <a:r>
              <a:rPr lang="ru-RU" altLang="ru-RU" sz="2400" smtClean="0">
                <a:latin typeface="Times New Roman" pitchFamily="18" charset="0"/>
              </a:rPr>
              <a:t>      </a:t>
            </a:r>
            <a:r>
              <a:rPr lang="en-US" altLang="ru-RU" sz="2400" smtClean="0">
                <a:latin typeface="Times New Roman" pitchFamily="18" charset="0"/>
              </a:rPr>
              <a:t>b</a:t>
            </a:r>
            <a:endParaRPr lang="ru-RU" altLang="ru-RU" sz="2400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где  </a:t>
            </a:r>
            <a:r>
              <a:rPr lang="en-US" altLang="ru-RU" sz="2400" smtClean="0">
                <a:latin typeface="Times New Roman" pitchFamily="18" charset="0"/>
              </a:rPr>
              <a:t>Op</a:t>
            </a:r>
            <a:r>
              <a:rPr lang="ru-RU" altLang="ru-RU" sz="2400" smtClean="0">
                <a:latin typeface="Times New Roman" pitchFamily="18" charset="0"/>
              </a:rPr>
              <a:t> – команда </a:t>
            </a:r>
            <a:r>
              <a:rPr lang="en-US" altLang="ru-RU" sz="2400" smtClean="0">
                <a:latin typeface="Times New Roman" pitchFamily="18" charset="0"/>
              </a:rPr>
              <a:t>Add</a:t>
            </a:r>
            <a:r>
              <a:rPr lang="ru-RU" altLang="ru-RU" sz="2400" smtClean="0">
                <a:latin typeface="Times New Roman" pitchFamily="18" charset="0"/>
              </a:rPr>
              <a:t>, </a:t>
            </a:r>
            <a:r>
              <a:rPr lang="en-US" altLang="ru-RU" sz="2400" smtClean="0">
                <a:latin typeface="Times New Roman" pitchFamily="18" charset="0"/>
              </a:rPr>
              <a:t>Sub</a:t>
            </a:r>
            <a:r>
              <a:rPr lang="ru-RU" altLang="ru-RU" sz="2400" smtClean="0">
                <a:latin typeface="Times New Roman" pitchFamily="18" charset="0"/>
              </a:rPr>
              <a:t>, </a:t>
            </a:r>
            <a:r>
              <a:rPr lang="en-US" altLang="ru-RU" sz="2400" smtClean="0">
                <a:latin typeface="Times New Roman" pitchFamily="18" charset="0"/>
              </a:rPr>
              <a:t>Mul</a:t>
            </a:r>
            <a:r>
              <a:rPr lang="ru-RU" altLang="ru-RU" sz="2400" smtClean="0">
                <a:latin typeface="Times New Roman" pitchFamily="18" charset="0"/>
              </a:rPr>
              <a:t> или </a:t>
            </a:r>
            <a:r>
              <a:rPr lang="en-US" altLang="ru-RU" sz="2400" smtClean="0">
                <a:latin typeface="Times New Roman" pitchFamily="18" charset="0"/>
              </a:rPr>
              <a:t>Div</a:t>
            </a:r>
            <a:r>
              <a:rPr lang="ru-RU" altLang="ru-RU" sz="2400" smtClean="0">
                <a:latin typeface="Times New Roman" pitchFamily="18" charset="0"/>
              </a:rPr>
              <a:t>.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   В магазин записывается нуль, а в переменную </a:t>
            </a:r>
            <a:r>
              <a:rPr lang="en-US" altLang="ru-RU" sz="2400" smtClean="0">
                <a:latin typeface="Times New Roman" pitchFamily="18" charset="0"/>
              </a:rPr>
              <a:t>k</a:t>
            </a:r>
            <a:r>
              <a:rPr lang="ru-RU" altLang="ru-RU" sz="2400" smtClean="0">
                <a:latin typeface="Times New Roman" pitchFamily="18" charset="0"/>
              </a:rPr>
              <a:t> – ссылка на верхний элемент магазина.</a:t>
            </a:r>
          </a:p>
        </p:txBody>
      </p:sp>
      <p:sp>
        <p:nvSpPr>
          <p:cNvPr id="9221" name="Номер слайда 1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E5B705C4-389D-49E9-BF9E-D674F0471EBB}" type="slidenum">
              <a:rPr lang="ru-RU" altLang="ru-RU" sz="1400"/>
              <a:pPr algn="r" eaLnBrk="1" hangingPunct="1"/>
              <a:t>5</a:t>
            </a:fld>
            <a:endParaRPr lang="ru-RU" altLang="ru-RU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24B0C2D-A09B-4B2C-92FF-E5B13F44B4C8}" type="slidenum">
              <a:rPr lang="ru-RU" altLang="ru-RU" smtClean="0"/>
              <a:pPr eaLnBrk="1" hangingPunct="1"/>
              <a:t>6</a:t>
            </a:fld>
            <a:endParaRPr lang="ru-RU" altLang="ru-RU" smtClean="0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333375"/>
          </a:xfrm>
        </p:spPr>
        <p:txBody>
          <a:bodyPr/>
          <a:lstStyle/>
          <a:p>
            <a:pPr eaLnBrk="1" hangingPunct="1"/>
            <a:endParaRPr lang="ru-RU" altLang="ru-RU" sz="4000" smtClean="0"/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88913"/>
            <a:ext cx="8569325" cy="6408737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3. Если </a:t>
            </a:r>
            <a:r>
              <a:rPr lang="en-US" altLang="ru-RU" sz="2400" b="1" smtClean="0">
                <a:latin typeface="Times New Roman" pitchFamily="18" charset="0"/>
              </a:rPr>
              <a:t>k </a:t>
            </a:r>
            <a:r>
              <a:rPr lang="ru-RU" altLang="ru-RU" sz="2400" b="1" smtClean="0">
                <a:latin typeface="Times New Roman" pitchFamily="18" charset="0"/>
              </a:rPr>
              <a:t>≠</a:t>
            </a:r>
            <a:r>
              <a:rPr lang="en-US" altLang="ru-RU" sz="2400" b="1" smtClean="0">
                <a:latin typeface="Times New Roman" pitchFamily="18" charset="0"/>
              </a:rPr>
              <a:t> </a:t>
            </a:r>
            <a:r>
              <a:rPr lang="ru-RU" altLang="ru-RU" sz="2400" b="1" smtClean="0">
                <a:latin typeface="Times New Roman" pitchFamily="18" charset="0"/>
              </a:rPr>
              <a:t>0, </a:t>
            </a:r>
            <a:r>
              <a:rPr lang="en-US" altLang="ru-RU" sz="2400" b="1" smtClean="0">
                <a:latin typeface="Times New Roman" pitchFamily="18" charset="0"/>
              </a:rPr>
              <a:t>b </a:t>
            </a:r>
            <a:r>
              <a:rPr lang="ru-RU" altLang="ru-RU" sz="2400" b="1" smtClean="0">
                <a:latin typeface="Times New Roman" pitchFamily="18" charset="0"/>
              </a:rPr>
              <a:t>= 0, то генерируются команды: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	</a:t>
            </a:r>
            <a:r>
              <a:rPr lang="en-US" altLang="ru-RU" sz="2400" smtClean="0">
                <a:latin typeface="Times New Roman" pitchFamily="18" charset="0"/>
              </a:rPr>
              <a:t>Op</a:t>
            </a:r>
            <a:r>
              <a:rPr lang="ru-RU" altLang="ru-RU" sz="2400" smtClean="0">
                <a:latin typeface="Times New Roman" pitchFamily="18" charset="0"/>
              </a:rPr>
              <a:t>      </a:t>
            </a:r>
            <a:r>
              <a:rPr lang="en-US" altLang="ru-RU" sz="2400" smtClean="0">
                <a:latin typeface="Times New Roman" pitchFamily="18" charset="0"/>
              </a:rPr>
              <a:t>b</a:t>
            </a:r>
            <a:endParaRPr lang="ru-RU" altLang="ru-RU" sz="2400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где  </a:t>
            </a:r>
            <a:r>
              <a:rPr lang="en-US" altLang="ru-RU" sz="2400" smtClean="0">
                <a:latin typeface="Times New Roman" pitchFamily="18" charset="0"/>
              </a:rPr>
              <a:t>Op</a:t>
            </a:r>
            <a:r>
              <a:rPr lang="ru-RU" altLang="ru-RU" sz="2400" smtClean="0">
                <a:latin typeface="Times New Roman" pitchFamily="18" charset="0"/>
              </a:rPr>
              <a:t> – команда </a:t>
            </a:r>
            <a:r>
              <a:rPr lang="en-US" altLang="ru-RU" sz="2400" smtClean="0">
                <a:latin typeface="Times New Roman" pitchFamily="18" charset="0"/>
              </a:rPr>
              <a:t>Add</a:t>
            </a:r>
            <a:r>
              <a:rPr lang="ru-RU" altLang="ru-RU" sz="2400" smtClean="0">
                <a:latin typeface="Times New Roman" pitchFamily="18" charset="0"/>
              </a:rPr>
              <a:t> или </a:t>
            </a:r>
            <a:r>
              <a:rPr lang="en-US" altLang="ru-RU" sz="2400" smtClean="0">
                <a:latin typeface="Times New Roman" pitchFamily="18" charset="0"/>
              </a:rPr>
              <a:t>Mul</a:t>
            </a:r>
            <a:r>
              <a:rPr lang="ru-RU" altLang="ru-RU" sz="2400" smtClean="0">
                <a:latin typeface="Times New Roman" pitchFamily="18" charset="0"/>
              </a:rPr>
              <a:t>, или команды: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	</a:t>
            </a:r>
            <a:r>
              <a:rPr lang="en-US" altLang="ru-RU" sz="2400" smtClean="0">
                <a:latin typeface="Times New Roman" pitchFamily="18" charset="0"/>
              </a:rPr>
              <a:t>St        t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	</a:t>
            </a:r>
            <a:r>
              <a:rPr lang="en-US" altLang="ru-RU" sz="2400" smtClean="0">
                <a:latin typeface="Times New Roman" pitchFamily="18" charset="0"/>
              </a:rPr>
              <a:t>Load   a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		Op      t</a:t>
            </a:r>
            <a:endParaRPr lang="ru-RU" altLang="ru-RU" sz="2400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где  </a:t>
            </a:r>
            <a:r>
              <a:rPr lang="en-US" altLang="ru-RU" sz="2400" smtClean="0">
                <a:latin typeface="Times New Roman" pitchFamily="18" charset="0"/>
              </a:rPr>
              <a:t>Op</a:t>
            </a:r>
            <a:r>
              <a:rPr lang="ru-RU" altLang="ru-RU" sz="2400" smtClean="0">
                <a:latin typeface="Times New Roman" pitchFamily="18" charset="0"/>
              </a:rPr>
              <a:t> – команда </a:t>
            </a:r>
            <a:r>
              <a:rPr lang="en-US" altLang="ru-RU" sz="2400" smtClean="0">
                <a:latin typeface="Times New Roman" pitchFamily="18" charset="0"/>
              </a:rPr>
              <a:t>Sub</a:t>
            </a:r>
            <a:r>
              <a:rPr lang="ru-RU" altLang="ru-RU" sz="2400" smtClean="0">
                <a:latin typeface="Times New Roman" pitchFamily="18" charset="0"/>
              </a:rPr>
              <a:t> или </a:t>
            </a:r>
            <a:r>
              <a:rPr lang="en-US" altLang="ru-RU" sz="2400" smtClean="0">
                <a:latin typeface="Times New Roman" pitchFamily="18" charset="0"/>
              </a:rPr>
              <a:t>Div</a:t>
            </a:r>
            <a:r>
              <a:rPr lang="ru-RU" altLang="ru-RU" sz="2400" smtClean="0">
                <a:latin typeface="Times New Roman" pitchFamily="18" charset="0"/>
              </a:rPr>
              <a:t>,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   </a:t>
            </a:r>
            <a:r>
              <a:rPr lang="en-US" altLang="ru-RU" sz="2400" smtClean="0">
                <a:latin typeface="Times New Roman" pitchFamily="18" charset="0"/>
              </a:rPr>
              <a:t>t</a:t>
            </a:r>
            <a:r>
              <a:rPr lang="ru-RU" altLang="ru-RU" sz="2400" smtClean="0">
                <a:latin typeface="Times New Roman" pitchFamily="18" charset="0"/>
              </a:rPr>
              <a:t> – дополнительная временная переменная. В магазин записывается 0, </a:t>
            </a:r>
            <a:r>
              <a:rPr lang="en-US" altLang="ru-RU" sz="2400" smtClean="0">
                <a:latin typeface="Times New Roman" pitchFamily="18" charset="0"/>
              </a:rPr>
              <a:t>k</a:t>
            </a:r>
            <a:r>
              <a:rPr lang="ru-RU" altLang="ru-RU" sz="2400" smtClean="0">
                <a:latin typeface="Times New Roman" pitchFamily="18" charset="0"/>
              </a:rPr>
              <a:t> – ссылка на верхний элемент магазина.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4. Если </a:t>
            </a:r>
            <a:r>
              <a:rPr lang="en-US" altLang="ru-RU" sz="2400" b="1" smtClean="0">
                <a:latin typeface="Times New Roman" pitchFamily="18" charset="0"/>
              </a:rPr>
              <a:t>k </a:t>
            </a:r>
            <a:r>
              <a:rPr lang="ru-RU" altLang="ru-RU" sz="2400" b="1" smtClean="0">
                <a:latin typeface="Times New Roman" pitchFamily="18" charset="0"/>
              </a:rPr>
              <a:t>≠</a:t>
            </a:r>
            <a:r>
              <a:rPr lang="en-US" altLang="ru-RU" sz="2400" b="1" smtClean="0">
                <a:latin typeface="Times New Roman" pitchFamily="18" charset="0"/>
              </a:rPr>
              <a:t> </a:t>
            </a:r>
            <a:r>
              <a:rPr lang="ru-RU" altLang="ru-RU" sz="2400" b="1" smtClean="0">
                <a:latin typeface="Times New Roman" pitchFamily="18" charset="0"/>
              </a:rPr>
              <a:t>0, </a:t>
            </a:r>
            <a:r>
              <a:rPr lang="en-US" altLang="ru-RU" sz="2400" b="1" smtClean="0">
                <a:latin typeface="Times New Roman" pitchFamily="18" charset="0"/>
              </a:rPr>
              <a:t>a </a:t>
            </a:r>
            <a:r>
              <a:rPr lang="ru-RU" altLang="ru-RU" sz="2400" b="1" smtClean="0">
                <a:latin typeface="Times New Roman" pitchFamily="18" charset="0"/>
              </a:rPr>
              <a:t>≠</a:t>
            </a:r>
            <a:r>
              <a:rPr lang="en-US" altLang="ru-RU" sz="2400" b="1" smtClean="0">
                <a:latin typeface="Times New Roman" pitchFamily="18" charset="0"/>
              </a:rPr>
              <a:t> </a:t>
            </a:r>
            <a:r>
              <a:rPr lang="ru-RU" altLang="ru-RU" sz="2400" b="1" smtClean="0">
                <a:latin typeface="Times New Roman" pitchFamily="18" charset="0"/>
              </a:rPr>
              <a:t>0, </a:t>
            </a:r>
            <a:r>
              <a:rPr lang="en-US" altLang="ru-RU" sz="2400" b="1" smtClean="0">
                <a:latin typeface="Times New Roman" pitchFamily="18" charset="0"/>
              </a:rPr>
              <a:t>b </a:t>
            </a:r>
            <a:r>
              <a:rPr lang="ru-RU" altLang="ru-RU" sz="2400" b="1" smtClean="0">
                <a:latin typeface="Times New Roman" pitchFamily="18" charset="0"/>
              </a:rPr>
              <a:t>≠</a:t>
            </a:r>
            <a:r>
              <a:rPr lang="en-US" altLang="ru-RU" sz="2400" b="1" smtClean="0">
                <a:latin typeface="Times New Roman" pitchFamily="18" charset="0"/>
              </a:rPr>
              <a:t> </a:t>
            </a:r>
            <a:r>
              <a:rPr lang="ru-RU" altLang="ru-RU" sz="2400" b="1" smtClean="0">
                <a:latin typeface="Times New Roman" pitchFamily="18" charset="0"/>
              </a:rPr>
              <a:t>0, то генерируются команды: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	</a:t>
            </a:r>
            <a:r>
              <a:rPr lang="en-US" altLang="ru-RU" sz="2400" smtClean="0">
                <a:latin typeface="Times New Roman" pitchFamily="18" charset="0"/>
              </a:rPr>
              <a:t>St        t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	</a:t>
            </a:r>
            <a:r>
              <a:rPr lang="en-US" altLang="ru-RU" sz="2400" smtClean="0">
                <a:latin typeface="Times New Roman" pitchFamily="18" charset="0"/>
              </a:rPr>
              <a:t>Load </a:t>
            </a:r>
            <a:r>
              <a:rPr lang="ru-RU" altLang="ru-RU" sz="2400" smtClean="0">
                <a:latin typeface="Times New Roman" pitchFamily="18" charset="0"/>
              </a:rPr>
              <a:t>  </a:t>
            </a:r>
            <a:r>
              <a:rPr lang="en-US" altLang="ru-RU" sz="2400" smtClean="0">
                <a:latin typeface="Times New Roman" pitchFamily="18" charset="0"/>
              </a:rPr>
              <a:t>a</a:t>
            </a:r>
            <a:endParaRPr lang="ru-RU" altLang="ru-RU" sz="2400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	</a:t>
            </a:r>
            <a:r>
              <a:rPr lang="en-US" altLang="ru-RU" sz="2400" smtClean="0">
                <a:latin typeface="Times New Roman" pitchFamily="18" charset="0"/>
              </a:rPr>
              <a:t>Op</a:t>
            </a:r>
            <a:r>
              <a:rPr lang="ru-RU" altLang="ru-RU" sz="2400" smtClean="0">
                <a:latin typeface="Times New Roman" pitchFamily="18" charset="0"/>
              </a:rPr>
              <a:t>      </a:t>
            </a:r>
            <a:r>
              <a:rPr lang="en-US" altLang="ru-RU" sz="2400" smtClean="0">
                <a:latin typeface="Times New Roman" pitchFamily="18" charset="0"/>
              </a:rPr>
              <a:t>b</a:t>
            </a:r>
            <a:endParaRPr lang="ru-RU" altLang="ru-RU" sz="2400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где  </a:t>
            </a:r>
            <a:r>
              <a:rPr lang="en-US" altLang="ru-RU" sz="2400" smtClean="0">
                <a:latin typeface="Times New Roman" pitchFamily="18" charset="0"/>
              </a:rPr>
              <a:t>Op</a:t>
            </a:r>
            <a:r>
              <a:rPr lang="ru-RU" altLang="ru-RU" sz="2400" smtClean="0">
                <a:latin typeface="Times New Roman" pitchFamily="18" charset="0"/>
              </a:rPr>
              <a:t> – команда </a:t>
            </a:r>
            <a:r>
              <a:rPr lang="en-US" altLang="ru-RU" sz="2400" smtClean="0">
                <a:latin typeface="Times New Roman" pitchFamily="18" charset="0"/>
              </a:rPr>
              <a:t>Add</a:t>
            </a:r>
            <a:r>
              <a:rPr lang="ru-RU" altLang="ru-RU" sz="2400" smtClean="0">
                <a:latin typeface="Times New Roman" pitchFamily="18" charset="0"/>
              </a:rPr>
              <a:t>, </a:t>
            </a:r>
            <a:r>
              <a:rPr lang="en-US" altLang="ru-RU" sz="2400" smtClean="0">
                <a:latin typeface="Times New Roman" pitchFamily="18" charset="0"/>
              </a:rPr>
              <a:t>Sub</a:t>
            </a:r>
            <a:r>
              <a:rPr lang="ru-RU" altLang="ru-RU" sz="2400" smtClean="0">
                <a:latin typeface="Times New Roman" pitchFamily="18" charset="0"/>
              </a:rPr>
              <a:t>, </a:t>
            </a:r>
            <a:r>
              <a:rPr lang="en-US" altLang="ru-RU" sz="2400" smtClean="0">
                <a:latin typeface="Times New Roman" pitchFamily="18" charset="0"/>
              </a:rPr>
              <a:t>Mul</a:t>
            </a:r>
            <a:r>
              <a:rPr lang="ru-RU" altLang="ru-RU" sz="2400" smtClean="0">
                <a:latin typeface="Times New Roman" pitchFamily="18" charset="0"/>
              </a:rPr>
              <a:t> или </a:t>
            </a:r>
            <a:r>
              <a:rPr lang="en-US" altLang="ru-RU" sz="2400" smtClean="0">
                <a:latin typeface="Times New Roman" pitchFamily="18" charset="0"/>
              </a:rPr>
              <a:t>Div</a:t>
            </a:r>
            <a:r>
              <a:rPr lang="ru-RU" altLang="ru-RU" sz="2400" smtClean="0">
                <a:latin typeface="Times New Roman" pitchFamily="18" charset="0"/>
              </a:rPr>
              <a:t>, </a:t>
            </a:r>
            <a:r>
              <a:rPr lang="en-US" altLang="ru-RU" sz="2400" smtClean="0">
                <a:latin typeface="Times New Roman" pitchFamily="18" charset="0"/>
              </a:rPr>
              <a:t>t</a:t>
            </a:r>
            <a:r>
              <a:rPr lang="ru-RU" altLang="ru-RU" sz="2400" smtClean="0">
                <a:latin typeface="Times New Roman" pitchFamily="18" charset="0"/>
              </a:rPr>
              <a:t> – дополнительная временная переменная. В магазин записывается 0, в элемент магазина с номером </a:t>
            </a:r>
            <a:r>
              <a:rPr lang="en-US" altLang="ru-RU" sz="2400" smtClean="0">
                <a:latin typeface="Times New Roman" pitchFamily="18" charset="0"/>
              </a:rPr>
              <a:t>k</a:t>
            </a:r>
            <a:r>
              <a:rPr lang="ru-RU" altLang="ru-RU" sz="2400" smtClean="0">
                <a:latin typeface="Times New Roman" pitchFamily="18" charset="0"/>
              </a:rPr>
              <a:t> записывается </a:t>
            </a:r>
            <a:r>
              <a:rPr lang="en-US" altLang="ru-RU" sz="2400" smtClean="0">
                <a:latin typeface="Times New Roman" pitchFamily="18" charset="0"/>
              </a:rPr>
              <a:t>t</a:t>
            </a:r>
            <a:r>
              <a:rPr lang="ru-RU" altLang="ru-RU" sz="2400" smtClean="0">
                <a:latin typeface="Times New Roman" pitchFamily="18" charset="0"/>
              </a:rPr>
              <a:t>, </a:t>
            </a:r>
            <a:r>
              <a:rPr lang="en-US" altLang="ru-RU" sz="2400" smtClean="0">
                <a:latin typeface="Times New Roman" pitchFamily="18" charset="0"/>
              </a:rPr>
              <a:t>k</a:t>
            </a:r>
            <a:r>
              <a:rPr lang="ru-RU" altLang="ru-RU" sz="2400" smtClean="0">
                <a:latin typeface="Times New Roman" pitchFamily="18" charset="0"/>
              </a:rPr>
              <a:t> – ссылка на верхний элемент магазина.</a:t>
            </a:r>
          </a:p>
        </p:txBody>
      </p:sp>
      <p:sp>
        <p:nvSpPr>
          <p:cNvPr id="10245" name="Номер слайда 1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6557A9D3-ED81-494A-9912-265B50DE9F5D}" type="slidenum">
              <a:rPr lang="ru-RU" altLang="ru-RU" sz="1400"/>
              <a:pPr algn="r" eaLnBrk="1" hangingPunct="1"/>
              <a:t>6</a:t>
            </a:fld>
            <a:endParaRPr lang="ru-RU" altLang="ru-RU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CA6EF13-D2F6-4C74-A8CF-121C792D98CE}" type="slidenum">
              <a:rPr lang="ru-RU" altLang="ru-RU" smtClean="0"/>
              <a:pPr eaLnBrk="1" hangingPunct="1"/>
              <a:t>7</a:t>
            </a:fld>
            <a:endParaRPr lang="ru-RU" altLang="ru-RU" smtClean="0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8218487" cy="188913"/>
          </a:xfrm>
        </p:spPr>
        <p:txBody>
          <a:bodyPr/>
          <a:lstStyle/>
          <a:p>
            <a:endParaRPr lang="ru-RU" altLang="ru-RU" sz="4000" smtClean="0"/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404813"/>
            <a:ext cx="8353425" cy="6119812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5. Для операции :=,  </a:t>
            </a:r>
            <a:r>
              <a:rPr lang="ru-RU" altLang="ru-RU" sz="2400" smtClean="0">
                <a:latin typeface="Times New Roman" pitchFamily="18" charset="0"/>
              </a:rPr>
              <a:t>если </a:t>
            </a:r>
            <a:r>
              <a:rPr lang="en-US" altLang="ru-RU" sz="2400" smtClean="0">
                <a:latin typeface="Times New Roman" pitchFamily="18" charset="0"/>
              </a:rPr>
              <a:t>k </a:t>
            </a:r>
            <a:r>
              <a:rPr lang="ru-RU" altLang="ru-RU" sz="2400" smtClean="0">
                <a:latin typeface="Times New Roman" pitchFamily="18" charset="0"/>
              </a:rPr>
              <a:t>=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ru-RU" altLang="ru-RU" sz="2400" smtClean="0">
                <a:latin typeface="Times New Roman" pitchFamily="18" charset="0"/>
              </a:rPr>
              <a:t>0, то генерируются команды: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	</a:t>
            </a:r>
            <a:r>
              <a:rPr lang="en-US" altLang="ru-RU" sz="2400" smtClean="0">
                <a:latin typeface="Times New Roman" pitchFamily="18" charset="0"/>
              </a:rPr>
              <a:t>Load </a:t>
            </a:r>
            <a:r>
              <a:rPr lang="ru-RU" altLang="ru-RU" sz="2400" smtClean="0">
                <a:latin typeface="Times New Roman" pitchFamily="18" charset="0"/>
              </a:rPr>
              <a:t>  </a:t>
            </a:r>
            <a:r>
              <a:rPr lang="en-US" altLang="ru-RU" sz="2400" smtClean="0">
                <a:latin typeface="Times New Roman" pitchFamily="18" charset="0"/>
              </a:rPr>
              <a:t>b</a:t>
            </a:r>
            <a:endParaRPr lang="ru-RU" altLang="ru-RU" sz="2400" smtClean="0">
              <a:latin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	</a:t>
            </a:r>
            <a:r>
              <a:rPr lang="en-US" altLang="ru-RU" sz="2400" smtClean="0">
                <a:latin typeface="Times New Roman" pitchFamily="18" charset="0"/>
              </a:rPr>
              <a:t>St </a:t>
            </a:r>
            <a:r>
              <a:rPr lang="ru-RU" altLang="ru-RU" sz="2400" smtClean="0">
                <a:latin typeface="Times New Roman" pitchFamily="18" charset="0"/>
              </a:rPr>
              <a:t>       </a:t>
            </a:r>
            <a:r>
              <a:rPr lang="en-US" altLang="ru-RU" sz="2400" smtClean="0">
                <a:latin typeface="Times New Roman" pitchFamily="18" charset="0"/>
              </a:rPr>
              <a:t>a</a:t>
            </a:r>
            <a:endParaRPr lang="ru-RU" altLang="ru-RU" sz="2400" smtClean="0">
              <a:latin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6. Для операции :=,  </a:t>
            </a:r>
            <a:r>
              <a:rPr lang="ru-RU" altLang="ru-RU" sz="2400" smtClean="0">
                <a:latin typeface="Times New Roman" pitchFamily="18" charset="0"/>
              </a:rPr>
              <a:t>если </a:t>
            </a:r>
            <a:r>
              <a:rPr lang="en-US" altLang="ru-RU" sz="2400" smtClean="0">
                <a:latin typeface="Times New Roman" pitchFamily="18" charset="0"/>
              </a:rPr>
              <a:t>k </a:t>
            </a:r>
            <a:r>
              <a:rPr lang="ru-RU" altLang="ru-RU" sz="2400" smtClean="0">
                <a:latin typeface="Times New Roman" pitchFamily="18" charset="0"/>
              </a:rPr>
              <a:t>≠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ru-RU" altLang="ru-RU" sz="2400" smtClean="0">
                <a:latin typeface="Times New Roman" pitchFamily="18" charset="0"/>
              </a:rPr>
              <a:t>0, </a:t>
            </a:r>
            <a:r>
              <a:rPr lang="en-US" altLang="ru-RU" sz="2400" smtClean="0">
                <a:latin typeface="Times New Roman" pitchFamily="18" charset="0"/>
              </a:rPr>
              <a:t>b </a:t>
            </a:r>
            <a:r>
              <a:rPr lang="ru-RU" altLang="ru-RU" sz="2400" smtClean="0">
                <a:latin typeface="Times New Roman" pitchFamily="18" charset="0"/>
              </a:rPr>
              <a:t>≠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ru-RU" altLang="ru-RU" sz="2400" smtClean="0">
                <a:latin typeface="Times New Roman" pitchFamily="18" charset="0"/>
              </a:rPr>
              <a:t>0, то генерируются команды: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	</a:t>
            </a:r>
            <a:r>
              <a:rPr lang="en-US" altLang="ru-RU" sz="2400" smtClean="0">
                <a:latin typeface="Times New Roman" pitchFamily="18" charset="0"/>
              </a:rPr>
              <a:t>St       t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		Load  b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		St       a</a:t>
            </a:r>
            <a:endParaRPr lang="ru-RU" altLang="ru-RU" sz="2400" smtClean="0">
              <a:latin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где </a:t>
            </a:r>
            <a:r>
              <a:rPr lang="en-US" altLang="ru-RU" sz="2400" smtClean="0">
                <a:latin typeface="Times New Roman" pitchFamily="18" charset="0"/>
              </a:rPr>
              <a:t>t</a:t>
            </a:r>
            <a:r>
              <a:rPr lang="ru-RU" altLang="ru-RU" sz="2400" smtClean="0">
                <a:latin typeface="Times New Roman" pitchFamily="18" charset="0"/>
              </a:rPr>
              <a:t> – дополнительная временная переменная. При этом в элемент магазина с номером </a:t>
            </a:r>
            <a:r>
              <a:rPr lang="en-US" altLang="ru-RU" sz="2400" smtClean="0">
                <a:latin typeface="Times New Roman" pitchFamily="18" charset="0"/>
              </a:rPr>
              <a:t>k</a:t>
            </a:r>
            <a:r>
              <a:rPr lang="ru-RU" altLang="ru-RU" sz="2400" smtClean="0">
                <a:latin typeface="Times New Roman" pitchFamily="18" charset="0"/>
              </a:rPr>
              <a:t> записывается </a:t>
            </a:r>
            <a:r>
              <a:rPr lang="en-US" altLang="ru-RU" sz="2400" smtClean="0">
                <a:latin typeface="Times New Roman" pitchFamily="18" charset="0"/>
              </a:rPr>
              <a:t>t</a:t>
            </a:r>
            <a:r>
              <a:rPr lang="ru-RU" altLang="ru-RU" sz="2400" smtClean="0">
                <a:latin typeface="Times New Roman" pitchFamily="18" charset="0"/>
              </a:rPr>
              <a:t>.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altLang="ru-RU" sz="2400" smtClean="0">
              <a:latin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7. Для операции :=,  </a:t>
            </a:r>
            <a:r>
              <a:rPr lang="ru-RU" altLang="ru-RU" sz="2400" smtClean="0">
                <a:latin typeface="Times New Roman" pitchFamily="18" charset="0"/>
              </a:rPr>
              <a:t>если </a:t>
            </a:r>
            <a:r>
              <a:rPr lang="en-US" altLang="ru-RU" sz="2400" smtClean="0">
                <a:latin typeface="Times New Roman" pitchFamily="18" charset="0"/>
              </a:rPr>
              <a:t>k </a:t>
            </a:r>
            <a:r>
              <a:rPr lang="ru-RU" altLang="ru-RU" sz="2400" smtClean="0">
                <a:latin typeface="Times New Roman" pitchFamily="18" charset="0"/>
              </a:rPr>
              <a:t>≠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ru-RU" altLang="ru-RU" sz="2400" smtClean="0">
                <a:latin typeface="Times New Roman" pitchFamily="18" charset="0"/>
              </a:rPr>
              <a:t>0, </a:t>
            </a:r>
            <a:r>
              <a:rPr lang="en-US" altLang="ru-RU" sz="2400" smtClean="0">
                <a:latin typeface="Times New Roman" pitchFamily="18" charset="0"/>
              </a:rPr>
              <a:t>b </a:t>
            </a:r>
            <a:r>
              <a:rPr lang="ru-RU" altLang="ru-RU" sz="2400" smtClean="0">
                <a:latin typeface="Times New Roman" pitchFamily="18" charset="0"/>
              </a:rPr>
              <a:t>=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ru-RU" altLang="ru-RU" sz="2400" smtClean="0">
                <a:latin typeface="Times New Roman" pitchFamily="18" charset="0"/>
              </a:rPr>
              <a:t>0, то генерируется команда: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			</a:t>
            </a:r>
            <a:r>
              <a:rPr lang="en-US" altLang="ru-RU" sz="2400" smtClean="0">
                <a:latin typeface="Times New Roman" pitchFamily="18" charset="0"/>
              </a:rPr>
              <a:t>St</a:t>
            </a:r>
            <a:r>
              <a:rPr lang="ru-RU" altLang="ru-RU" sz="2400" smtClean="0">
                <a:latin typeface="Times New Roman" pitchFamily="18" charset="0"/>
              </a:rPr>
              <a:t>        </a:t>
            </a:r>
            <a:r>
              <a:rPr lang="en-US" altLang="ru-RU" sz="2400" smtClean="0">
                <a:latin typeface="Times New Roman" pitchFamily="18" charset="0"/>
              </a:rPr>
              <a:t>a</a:t>
            </a:r>
            <a:endParaRPr lang="ru-RU" altLang="ru-RU" sz="2400" smtClean="0">
              <a:latin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k</a:t>
            </a:r>
            <a:r>
              <a:rPr lang="ru-RU" altLang="ru-RU" sz="2400" smtClean="0">
                <a:latin typeface="Times New Roman" pitchFamily="18" charset="0"/>
              </a:rPr>
              <a:t> := 0, в магазин ничего не записывается.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B1BA73D-EC2D-42D4-9366-BF9A96B56E75}" type="slidenum">
              <a:rPr lang="ru-RU" altLang="ru-RU" smtClean="0"/>
              <a:pPr eaLnBrk="1" hangingPunct="1"/>
              <a:t>8</a:t>
            </a:fld>
            <a:endParaRPr lang="ru-RU" altLang="ru-RU" smtClean="0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8218487" cy="188913"/>
          </a:xfrm>
        </p:spPr>
        <p:txBody>
          <a:bodyPr/>
          <a:lstStyle/>
          <a:p>
            <a:endParaRPr lang="ru-RU" altLang="ru-RU" sz="4000" smtClean="0"/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113" y="188913"/>
            <a:ext cx="7848600" cy="6480175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b="1" smtClean="0">
                <a:solidFill>
                  <a:schemeClr val="accent2"/>
                </a:solidFill>
                <a:latin typeface="Times New Roman" pitchFamily="18" charset="0"/>
              </a:rPr>
              <a:t>Пример генерации команд</a:t>
            </a:r>
            <a:endParaRPr lang="ru-RU" altLang="ru-RU" sz="2400" b="1" smtClean="0">
              <a:latin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Пусть задана ОПС: 	</a:t>
            </a:r>
            <a:r>
              <a:rPr lang="en-US" altLang="ru-RU" sz="2400" smtClean="0">
                <a:latin typeface="Times New Roman" pitchFamily="18" charset="0"/>
              </a:rPr>
              <a:t>x a b – c d e / + * :=</a:t>
            </a:r>
            <a:endParaRPr lang="ru-RU" altLang="ru-RU" sz="2400" smtClean="0">
              <a:latin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Получена из оператора: 	</a:t>
            </a:r>
            <a:r>
              <a:rPr lang="en-US" altLang="ru-RU" sz="2400" smtClean="0">
                <a:latin typeface="Times New Roman" pitchFamily="18" charset="0"/>
              </a:rPr>
              <a:t>x</a:t>
            </a:r>
            <a:r>
              <a:rPr lang="ru-RU" altLang="ru-RU" sz="2400" smtClean="0">
                <a:latin typeface="Times New Roman" pitchFamily="18" charset="0"/>
              </a:rPr>
              <a:t> := (</a:t>
            </a:r>
            <a:r>
              <a:rPr lang="en-US" altLang="ru-RU" sz="2400" smtClean="0">
                <a:latin typeface="Times New Roman" pitchFamily="18" charset="0"/>
              </a:rPr>
              <a:t>a </a:t>
            </a:r>
            <a:r>
              <a:rPr lang="ru-RU" altLang="ru-RU" sz="2400" smtClean="0">
                <a:latin typeface="Times New Roman" pitchFamily="18" charset="0"/>
              </a:rPr>
              <a:t>– </a:t>
            </a:r>
            <a:r>
              <a:rPr lang="en-US" altLang="ru-RU" sz="2400" smtClean="0">
                <a:latin typeface="Times New Roman" pitchFamily="18" charset="0"/>
              </a:rPr>
              <a:t>b</a:t>
            </a:r>
            <a:r>
              <a:rPr lang="ru-RU" altLang="ru-RU" sz="2400" smtClean="0">
                <a:latin typeface="Times New Roman" pitchFamily="18" charset="0"/>
              </a:rPr>
              <a:t>)</a:t>
            </a:r>
            <a:r>
              <a:rPr lang="en-US" altLang="ru-RU" sz="2400" smtClean="0">
                <a:latin typeface="Times New Roman" pitchFamily="18" charset="0"/>
              </a:rPr>
              <a:t>*(c + d / e)</a:t>
            </a:r>
            <a:endParaRPr lang="ru-RU" altLang="ru-RU" sz="2400" smtClean="0">
              <a:latin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ru-RU" altLang="ru-RU" sz="2400" smtClean="0">
              <a:latin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solidFill>
                  <a:srgbClr val="CC0066"/>
                </a:solidFill>
                <a:latin typeface="Times New Roman" pitchFamily="18" charset="0"/>
              </a:rPr>
              <a:t>Шаги работы генератора команд: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1. Операция –</a:t>
            </a:r>
            <a:r>
              <a:rPr lang="ru-RU" altLang="ru-RU" sz="2400" smtClean="0">
                <a:latin typeface="Times New Roman" pitchFamily="18" charset="0"/>
              </a:rPr>
              <a:t> , </a:t>
            </a:r>
            <a:r>
              <a:rPr lang="en-US" altLang="ru-RU" sz="2400" smtClean="0">
                <a:latin typeface="Times New Roman" pitchFamily="18" charset="0"/>
              </a:rPr>
              <a:t>k = 0,    </a:t>
            </a:r>
            <a:r>
              <a:rPr lang="ru-RU" altLang="ru-RU" sz="2400" smtClean="0">
                <a:latin typeface="Times New Roman" pitchFamily="18" charset="0"/>
              </a:rPr>
              <a:t>в магазине:  </a:t>
            </a:r>
            <a:r>
              <a:rPr lang="en-US" altLang="ru-RU" sz="2400" smtClean="0">
                <a:latin typeface="Times New Roman" pitchFamily="18" charset="0"/>
              </a:rPr>
              <a:t>x</a:t>
            </a:r>
            <a:r>
              <a:rPr lang="ru-RU" altLang="ru-RU" sz="2400" smtClean="0">
                <a:latin typeface="Times New Roman" pitchFamily="18" charset="0"/>
              </a:rPr>
              <a:t>  </a:t>
            </a:r>
            <a:r>
              <a:rPr lang="en-US" altLang="ru-RU" sz="2400" smtClean="0">
                <a:latin typeface="Times New Roman" pitchFamily="18" charset="0"/>
              </a:rPr>
              <a:t>a</a:t>
            </a:r>
            <a:r>
              <a:rPr lang="ru-RU" altLang="ru-RU" sz="2400" smtClean="0">
                <a:latin typeface="Times New Roman" pitchFamily="18" charset="0"/>
              </a:rPr>
              <a:t>  </a:t>
            </a:r>
            <a:r>
              <a:rPr lang="en-US" altLang="ru-RU" sz="2400" smtClean="0">
                <a:latin typeface="Times New Roman" pitchFamily="18" charset="0"/>
              </a:rPr>
              <a:t>b</a:t>
            </a:r>
            <a:r>
              <a:rPr lang="ru-RU" altLang="ru-RU" sz="2400" smtClean="0">
                <a:latin typeface="Times New Roman" pitchFamily="18" charset="0"/>
              </a:rPr>
              <a:t>      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генерируемые команды: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		</a:t>
            </a:r>
            <a:r>
              <a:rPr lang="en-US" altLang="ru-RU" sz="2400" smtClean="0">
                <a:latin typeface="Times New Roman" pitchFamily="18" charset="0"/>
              </a:rPr>
              <a:t>Load</a:t>
            </a:r>
            <a:r>
              <a:rPr lang="ru-RU" altLang="ru-RU" sz="2400" smtClean="0">
                <a:latin typeface="Times New Roman" pitchFamily="18" charset="0"/>
              </a:rPr>
              <a:t>	</a:t>
            </a:r>
            <a:r>
              <a:rPr lang="en-US" altLang="ru-RU" sz="2400" smtClean="0">
                <a:latin typeface="Times New Roman" pitchFamily="18" charset="0"/>
              </a:rPr>
              <a:t>a</a:t>
            </a:r>
            <a:endParaRPr lang="ru-RU" altLang="ru-RU" sz="2400" smtClean="0">
              <a:latin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Sub</a:t>
            </a:r>
            <a:r>
              <a:rPr lang="ru-RU" altLang="ru-RU" sz="2400" smtClean="0">
                <a:latin typeface="Times New Roman" pitchFamily="18" charset="0"/>
              </a:rPr>
              <a:t>	</a:t>
            </a:r>
            <a:r>
              <a:rPr lang="en-US" altLang="ru-RU" sz="2400" smtClean="0">
                <a:latin typeface="Times New Roman" pitchFamily="18" charset="0"/>
              </a:rPr>
              <a:t>b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</a:t>
            </a:r>
            <a:r>
              <a:rPr lang="en-US" altLang="ru-RU" sz="2400" smtClean="0">
                <a:latin typeface="Times New Roman" pitchFamily="18" charset="0"/>
              </a:rPr>
              <a:t>k := 2 </a:t>
            </a:r>
            <a:endParaRPr lang="ru-RU" altLang="ru-RU" sz="2400" smtClean="0">
              <a:latin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altLang="ru-RU" sz="2400" smtClean="0">
              <a:latin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2. Операция </a:t>
            </a:r>
            <a:r>
              <a:rPr lang="en-US" altLang="ru-RU" sz="2400" b="1" smtClean="0">
                <a:latin typeface="Times New Roman" pitchFamily="18" charset="0"/>
              </a:rPr>
              <a:t>/</a:t>
            </a:r>
            <a:r>
              <a:rPr lang="ru-RU" altLang="ru-RU" sz="2400" smtClean="0">
                <a:latin typeface="Times New Roman" pitchFamily="18" charset="0"/>
              </a:rPr>
              <a:t> , </a:t>
            </a:r>
            <a:r>
              <a:rPr lang="en-US" altLang="ru-RU" sz="2400" smtClean="0">
                <a:latin typeface="Times New Roman" pitchFamily="18" charset="0"/>
              </a:rPr>
              <a:t>k = 2, </a:t>
            </a:r>
            <a:r>
              <a:rPr lang="ru-RU" altLang="ru-RU" sz="2400" smtClean="0">
                <a:latin typeface="Times New Roman" pitchFamily="18" charset="0"/>
              </a:rPr>
              <a:t>	в магазине:  </a:t>
            </a:r>
            <a:r>
              <a:rPr lang="en-US" altLang="ru-RU" sz="2400" smtClean="0">
                <a:latin typeface="Times New Roman" pitchFamily="18" charset="0"/>
              </a:rPr>
              <a:t>x</a:t>
            </a:r>
            <a:r>
              <a:rPr lang="ru-RU" altLang="ru-RU" sz="2400" smtClean="0">
                <a:latin typeface="Times New Roman" pitchFamily="18" charset="0"/>
              </a:rPr>
              <a:t>  </a:t>
            </a:r>
            <a:r>
              <a:rPr lang="en-US" altLang="ru-RU" sz="2400" smtClean="0">
                <a:latin typeface="Times New Roman" pitchFamily="18" charset="0"/>
              </a:rPr>
              <a:t>0</a:t>
            </a:r>
            <a:r>
              <a:rPr lang="ru-RU" altLang="ru-RU" sz="2400" smtClean="0">
                <a:latin typeface="Times New Roman" pitchFamily="18" charset="0"/>
              </a:rPr>
              <a:t>  </a:t>
            </a:r>
            <a:r>
              <a:rPr lang="en-US" altLang="ru-RU" sz="2400" smtClean="0">
                <a:latin typeface="Times New Roman" pitchFamily="18" charset="0"/>
              </a:rPr>
              <a:t>c</a:t>
            </a:r>
            <a:r>
              <a:rPr lang="ru-RU" altLang="ru-RU" sz="2400" smtClean="0">
                <a:latin typeface="Times New Roman" pitchFamily="18" charset="0"/>
              </a:rPr>
              <a:t>  </a:t>
            </a:r>
            <a:r>
              <a:rPr lang="en-US" altLang="ru-RU" sz="2400" smtClean="0">
                <a:latin typeface="Times New Roman" pitchFamily="18" charset="0"/>
              </a:rPr>
              <a:t>d</a:t>
            </a:r>
            <a:r>
              <a:rPr lang="ru-RU" altLang="ru-RU" sz="2400" smtClean="0">
                <a:latin typeface="Times New Roman" pitchFamily="18" charset="0"/>
              </a:rPr>
              <a:t>  </a:t>
            </a:r>
            <a:r>
              <a:rPr lang="en-US" altLang="ru-RU" sz="2400" smtClean="0">
                <a:latin typeface="Times New Roman" pitchFamily="18" charset="0"/>
              </a:rPr>
              <a:t>e</a:t>
            </a:r>
            <a:endParaRPr lang="ru-RU" altLang="ru-RU" sz="2400" smtClean="0">
              <a:latin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генерируемые команды: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St	t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Load</a:t>
            </a:r>
            <a:r>
              <a:rPr lang="ru-RU" altLang="ru-RU" sz="2400" smtClean="0">
                <a:latin typeface="Times New Roman" pitchFamily="18" charset="0"/>
              </a:rPr>
              <a:t>	</a:t>
            </a:r>
            <a:r>
              <a:rPr lang="en-US" altLang="ru-RU" sz="2400" smtClean="0">
                <a:latin typeface="Times New Roman" pitchFamily="18" charset="0"/>
              </a:rPr>
              <a:t>d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	Div	e</a:t>
            </a:r>
            <a:endParaRPr lang="ru-RU" altLang="ru-RU" sz="2400" smtClean="0">
              <a:latin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2-я ячейка магазина := </a:t>
            </a:r>
            <a:r>
              <a:rPr lang="en-US" altLang="ru-RU" sz="2400" smtClean="0">
                <a:latin typeface="Times New Roman" pitchFamily="18" charset="0"/>
              </a:rPr>
              <a:t>t</a:t>
            </a:r>
            <a:r>
              <a:rPr lang="ru-RU" altLang="ru-RU" sz="2400" smtClean="0">
                <a:latin typeface="Times New Roman" pitchFamily="18" charset="0"/>
              </a:rPr>
              <a:t>,   </a:t>
            </a:r>
            <a:r>
              <a:rPr lang="en-US" altLang="ru-RU" sz="2400" smtClean="0">
                <a:latin typeface="Times New Roman" pitchFamily="18" charset="0"/>
              </a:rPr>
              <a:t>k</a:t>
            </a:r>
            <a:r>
              <a:rPr lang="ru-RU" altLang="ru-RU" sz="2400" smtClean="0">
                <a:latin typeface="Times New Roman" pitchFamily="18" charset="0"/>
              </a:rPr>
              <a:t> := 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143E831-8289-4D89-9E3A-9AE9DBBC3157}" type="slidenum">
              <a:rPr lang="ru-RU" altLang="ru-RU" smtClean="0"/>
              <a:pPr eaLnBrk="1" hangingPunct="1"/>
              <a:t>9</a:t>
            </a:fld>
            <a:endParaRPr lang="ru-RU" altLang="ru-RU" smtClean="0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8218487" cy="188913"/>
          </a:xfrm>
        </p:spPr>
        <p:txBody>
          <a:bodyPr/>
          <a:lstStyle/>
          <a:p>
            <a:endParaRPr lang="ru-RU" altLang="ru-RU" sz="4000" smtClean="0"/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113" y="260350"/>
            <a:ext cx="7848600" cy="6408738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3. Операция </a:t>
            </a:r>
            <a:r>
              <a:rPr lang="en-US" altLang="ru-RU" sz="2400" b="1" smtClean="0">
                <a:latin typeface="Times New Roman" pitchFamily="18" charset="0"/>
              </a:rPr>
              <a:t>+</a:t>
            </a:r>
            <a:r>
              <a:rPr lang="ru-RU" altLang="ru-RU" sz="2400" smtClean="0">
                <a:latin typeface="Times New Roman" pitchFamily="18" charset="0"/>
              </a:rPr>
              <a:t> , </a:t>
            </a:r>
            <a:r>
              <a:rPr lang="en-US" altLang="ru-RU" sz="2400" smtClean="0">
                <a:latin typeface="Times New Roman" pitchFamily="18" charset="0"/>
              </a:rPr>
              <a:t>k = 4,    </a:t>
            </a:r>
            <a:r>
              <a:rPr lang="ru-RU" altLang="ru-RU" sz="2400" smtClean="0">
                <a:latin typeface="Times New Roman" pitchFamily="18" charset="0"/>
              </a:rPr>
              <a:t>в магазине:  </a:t>
            </a:r>
            <a:r>
              <a:rPr lang="en-US" altLang="ru-RU" sz="2400" smtClean="0">
                <a:latin typeface="Times New Roman" pitchFamily="18" charset="0"/>
              </a:rPr>
              <a:t>x</a:t>
            </a:r>
            <a:r>
              <a:rPr lang="ru-RU" altLang="ru-RU" sz="2400" smtClean="0">
                <a:latin typeface="Times New Roman" pitchFamily="18" charset="0"/>
              </a:rPr>
              <a:t>  </a:t>
            </a:r>
            <a:r>
              <a:rPr lang="en-US" altLang="ru-RU" sz="2400" smtClean="0">
                <a:latin typeface="Times New Roman" pitchFamily="18" charset="0"/>
              </a:rPr>
              <a:t>t</a:t>
            </a:r>
            <a:r>
              <a:rPr lang="ru-RU" altLang="ru-RU" sz="2400" smtClean="0">
                <a:latin typeface="Times New Roman" pitchFamily="18" charset="0"/>
              </a:rPr>
              <a:t>  </a:t>
            </a:r>
            <a:r>
              <a:rPr lang="en-US" altLang="ru-RU" sz="2400" smtClean="0">
                <a:latin typeface="Times New Roman" pitchFamily="18" charset="0"/>
              </a:rPr>
              <a:t>c</a:t>
            </a:r>
            <a:r>
              <a:rPr lang="ru-RU" altLang="ru-RU" sz="2400" smtClean="0">
                <a:latin typeface="Times New Roman" pitchFamily="18" charset="0"/>
              </a:rPr>
              <a:t>  </a:t>
            </a:r>
            <a:r>
              <a:rPr lang="en-US" altLang="ru-RU" sz="2400" smtClean="0">
                <a:latin typeface="Times New Roman" pitchFamily="18" charset="0"/>
              </a:rPr>
              <a:t>0</a:t>
            </a:r>
            <a:endParaRPr lang="ru-RU" altLang="ru-RU" sz="2400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генерируемая команда: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		</a:t>
            </a:r>
            <a:r>
              <a:rPr lang="en-US" altLang="ru-RU" sz="2400" smtClean="0">
                <a:latin typeface="Times New Roman" pitchFamily="18" charset="0"/>
              </a:rPr>
              <a:t>Add  	c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</a:t>
            </a:r>
            <a:r>
              <a:rPr lang="en-US" altLang="ru-RU" sz="2400" smtClean="0">
                <a:latin typeface="Times New Roman" pitchFamily="18" charset="0"/>
              </a:rPr>
              <a:t>k</a:t>
            </a:r>
            <a:r>
              <a:rPr lang="ru-RU" altLang="ru-RU" sz="2400" smtClean="0">
                <a:latin typeface="Times New Roman" pitchFamily="18" charset="0"/>
              </a:rPr>
              <a:t> := 3 </a:t>
            </a:r>
          </a:p>
          <a:p>
            <a:pPr>
              <a:lnSpc>
                <a:spcPct val="90000"/>
              </a:lnSpc>
              <a:buFontTx/>
              <a:buNone/>
            </a:pPr>
            <a:endParaRPr lang="ru-RU" altLang="ru-RU" sz="2400" b="1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4. Операция *</a:t>
            </a:r>
            <a:r>
              <a:rPr lang="ru-RU" altLang="ru-RU" sz="2400" smtClean="0">
                <a:latin typeface="Times New Roman" pitchFamily="18" charset="0"/>
              </a:rPr>
              <a:t> , </a:t>
            </a:r>
            <a:r>
              <a:rPr lang="en-US" altLang="ru-RU" sz="2400" smtClean="0">
                <a:latin typeface="Times New Roman" pitchFamily="18" charset="0"/>
              </a:rPr>
              <a:t>k = </a:t>
            </a:r>
            <a:r>
              <a:rPr lang="ru-RU" altLang="ru-RU" sz="2400" smtClean="0">
                <a:latin typeface="Times New Roman" pitchFamily="18" charset="0"/>
              </a:rPr>
              <a:t>3</a:t>
            </a:r>
            <a:r>
              <a:rPr lang="en-US" altLang="ru-RU" sz="2400" smtClean="0">
                <a:latin typeface="Times New Roman" pitchFamily="18" charset="0"/>
              </a:rPr>
              <a:t>,     </a:t>
            </a:r>
            <a:r>
              <a:rPr lang="ru-RU" altLang="ru-RU" sz="2400" smtClean="0">
                <a:latin typeface="Times New Roman" pitchFamily="18" charset="0"/>
              </a:rPr>
              <a:t>в магазине:  </a:t>
            </a:r>
            <a:r>
              <a:rPr lang="en-US" altLang="ru-RU" sz="2400" smtClean="0">
                <a:latin typeface="Times New Roman" pitchFamily="18" charset="0"/>
              </a:rPr>
              <a:t>x</a:t>
            </a:r>
            <a:r>
              <a:rPr lang="ru-RU" altLang="ru-RU" sz="2400" smtClean="0">
                <a:latin typeface="Times New Roman" pitchFamily="18" charset="0"/>
              </a:rPr>
              <a:t>  </a:t>
            </a:r>
            <a:r>
              <a:rPr lang="en-US" altLang="ru-RU" sz="2400" smtClean="0">
                <a:latin typeface="Times New Roman" pitchFamily="18" charset="0"/>
              </a:rPr>
              <a:t>t</a:t>
            </a:r>
            <a:r>
              <a:rPr lang="ru-RU" altLang="ru-RU" sz="2400" smtClean="0">
                <a:latin typeface="Times New Roman" pitchFamily="18" charset="0"/>
              </a:rPr>
              <a:t>  </a:t>
            </a:r>
            <a:r>
              <a:rPr lang="en-US" altLang="ru-RU" sz="2400" smtClean="0">
                <a:latin typeface="Times New Roman" pitchFamily="18" charset="0"/>
              </a:rPr>
              <a:t>0</a:t>
            </a:r>
            <a:endParaRPr lang="ru-RU" altLang="ru-RU" sz="2400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генерируемая команда: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		</a:t>
            </a:r>
            <a:r>
              <a:rPr lang="en-US" altLang="ru-RU" sz="2400" smtClean="0">
                <a:latin typeface="Times New Roman" pitchFamily="18" charset="0"/>
              </a:rPr>
              <a:t>Mul  	t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</a:t>
            </a:r>
            <a:r>
              <a:rPr lang="en-US" altLang="ru-RU" sz="2400" smtClean="0">
                <a:latin typeface="Times New Roman" pitchFamily="18" charset="0"/>
              </a:rPr>
              <a:t>k</a:t>
            </a:r>
            <a:r>
              <a:rPr lang="ru-RU" altLang="ru-RU" sz="2400" smtClean="0">
                <a:latin typeface="Times New Roman" pitchFamily="18" charset="0"/>
              </a:rPr>
              <a:t> := 2 </a:t>
            </a:r>
          </a:p>
          <a:p>
            <a:pPr>
              <a:lnSpc>
                <a:spcPct val="90000"/>
              </a:lnSpc>
              <a:buFontTx/>
              <a:buNone/>
            </a:pPr>
            <a:endParaRPr lang="ru-RU" altLang="ru-RU" sz="2400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5. Операция :=</a:t>
            </a:r>
            <a:r>
              <a:rPr lang="ru-RU" altLang="ru-RU" sz="2400" smtClean="0">
                <a:latin typeface="Times New Roman" pitchFamily="18" charset="0"/>
              </a:rPr>
              <a:t> , </a:t>
            </a:r>
            <a:r>
              <a:rPr lang="en-US" altLang="ru-RU" sz="2400" smtClean="0">
                <a:latin typeface="Times New Roman" pitchFamily="18" charset="0"/>
              </a:rPr>
              <a:t>k = </a:t>
            </a:r>
            <a:r>
              <a:rPr lang="ru-RU" altLang="ru-RU" sz="2400" smtClean="0">
                <a:latin typeface="Times New Roman" pitchFamily="18" charset="0"/>
              </a:rPr>
              <a:t>2</a:t>
            </a:r>
            <a:r>
              <a:rPr lang="en-US" altLang="ru-RU" sz="2400" smtClean="0">
                <a:latin typeface="Times New Roman" pitchFamily="18" charset="0"/>
              </a:rPr>
              <a:t>, </a:t>
            </a:r>
            <a:r>
              <a:rPr lang="ru-RU" altLang="ru-RU" sz="2400" smtClean="0">
                <a:latin typeface="Times New Roman" pitchFamily="18" charset="0"/>
              </a:rPr>
              <a:t>	в магазине:  </a:t>
            </a:r>
            <a:r>
              <a:rPr lang="en-US" altLang="ru-RU" sz="2400" smtClean="0">
                <a:latin typeface="Times New Roman" pitchFamily="18" charset="0"/>
              </a:rPr>
              <a:t>x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en-US" altLang="ru-RU" sz="2400" smtClean="0">
                <a:latin typeface="Times New Roman" pitchFamily="18" charset="0"/>
              </a:rPr>
              <a:t>0</a:t>
            </a:r>
            <a:endParaRPr lang="ru-RU" altLang="ru-RU" sz="2400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генерируемая команда: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		</a:t>
            </a:r>
            <a:r>
              <a:rPr lang="en-US" altLang="ru-RU" sz="2400" smtClean="0">
                <a:latin typeface="Times New Roman" pitchFamily="18" charset="0"/>
              </a:rPr>
              <a:t>St  	x</a:t>
            </a:r>
            <a:endParaRPr lang="ru-RU" altLang="ru-RU" sz="2400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</a:t>
            </a:r>
            <a:r>
              <a:rPr lang="en-US" altLang="ru-RU" sz="2400" smtClean="0">
                <a:latin typeface="Times New Roman" pitchFamily="18" charset="0"/>
              </a:rPr>
              <a:t>k</a:t>
            </a:r>
            <a:r>
              <a:rPr lang="ru-RU" altLang="ru-RU" sz="2400" smtClean="0">
                <a:latin typeface="Times New Roman" pitchFamily="18" charset="0"/>
              </a:rPr>
              <a:t> := </a:t>
            </a:r>
            <a:r>
              <a:rPr lang="en-US" altLang="ru-RU" sz="2400" smtClean="0">
                <a:latin typeface="Times New Roman" pitchFamily="18" charset="0"/>
              </a:rPr>
              <a:t>0,  </a:t>
            </a:r>
            <a:r>
              <a:rPr lang="ru-RU" altLang="ru-RU" sz="2400" smtClean="0">
                <a:latin typeface="Times New Roman" pitchFamily="18" charset="0"/>
              </a:rPr>
              <a:t>магазин пуст.</a:t>
            </a:r>
          </a:p>
          <a:p>
            <a:pPr>
              <a:lnSpc>
                <a:spcPct val="90000"/>
              </a:lnSpc>
              <a:buFontTx/>
              <a:buNone/>
            </a:pPr>
            <a:endParaRPr lang="ru-RU" altLang="ru-RU" sz="2400" smtClean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6"/>
          <p:cNvSpPr txBox="1">
            <a:spLocks noGrp="1"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5B5F8DD4-097B-4272-9D0B-66320B87990D}" type="slidenum">
              <a:rPr lang="ru-RU" altLang="ru-RU" sz="1400"/>
              <a:pPr algn="r" eaLnBrk="1" hangingPunct="1"/>
              <a:t>10</a:t>
            </a:fld>
            <a:endParaRPr lang="ru-RU" altLang="ru-RU" sz="1400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8313" y="0"/>
            <a:ext cx="8218487" cy="188913"/>
          </a:xfrm>
        </p:spPr>
        <p:txBody>
          <a:bodyPr/>
          <a:lstStyle/>
          <a:p>
            <a:endParaRPr lang="ru-RU" altLang="ru-RU" sz="4000" smtClean="0"/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00113" y="476250"/>
            <a:ext cx="7848600" cy="6192838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Результат: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ru-RU" sz="2400" b="1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Load  </a:t>
            </a:r>
            <a:r>
              <a:rPr lang="ru-RU" altLang="ru-RU" sz="2400" smtClean="0">
                <a:latin typeface="Times New Roman" pitchFamily="18" charset="0"/>
              </a:rPr>
              <a:t>	</a:t>
            </a:r>
            <a:r>
              <a:rPr lang="en-US" altLang="ru-RU" sz="2400" smtClean="0">
                <a:latin typeface="Times New Roman" pitchFamily="18" charset="0"/>
              </a:rPr>
              <a:t>a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Sub	b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St	t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Load  	d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Div	e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Add  	c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Mul  	t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St  	x</a:t>
            </a:r>
            <a:endParaRPr lang="ru-RU" altLang="ru-RU" sz="2400" smtClean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49A41D3-0177-46B1-AD60-E1ED0E6F6CE7}" type="slidenum">
              <a:rPr lang="ru-RU" altLang="ru-RU" smtClean="0"/>
              <a:pPr eaLnBrk="1" hangingPunct="1"/>
              <a:t>11</a:t>
            </a:fld>
            <a:endParaRPr lang="ru-RU" altLang="ru-RU" smtClean="0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88913"/>
            <a:ext cx="9144000" cy="719137"/>
          </a:xfrm>
        </p:spPr>
        <p:txBody>
          <a:bodyPr/>
          <a:lstStyle/>
          <a:p>
            <a:r>
              <a:rPr lang="ru-RU" altLang="ru-RU" sz="3600" smtClean="0"/>
              <a:t>Выделение памяти для массивов</a:t>
            </a:r>
            <a:r>
              <a:rPr lang="ru-RU" altLang="ru-RU" sz="4000" smtClean="0"/>
              <a:t> 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52513"/>
            <a:ext cx="8435975" cy="5616575"/>
          </a:xfrm>
        </p:spPr>
        <p:txBody>
          <a:bodyPr/>
          <a:lstStyle/>
          <a:p>
            <a:pPr>
              <a:buFontTx/>
              <a:buNone/>
            </a:pPr>
            <a:r>
              <a:rPr lang="ru-RU" altLang="ru-RU" sz="2200" smtClean="0">
                <a:latin typeface="Times New Roman" pitchFamily="18" charset="0"/>
              </a:rPr>
              <a:t>Команда </a:t>
            </a:r>
            <a:r>
              <a:rPr lang="ru-RU" altLang="ru-RU" sz="2200" b="1" i="1" smtClean="0">
                <a:latin typeface="Times New Roman" pitchFamily="18" charset="0"/>
              </a:rPr>
              <a:t>прерывания</a:t>
            </a:r>
            <a:r>
              <a:rPr lang="ru-RU" altLang="ru-RU" sz="2200" smtClean="0">
                <a:latin typeface="Times New Roman" pitchFamily="18" charset="0"/>
              </a:rPr>
              <a:t> передает управление в область памяти с операционной системой:</a:t>
            </a:r>
          </a:p>
          <a:p>
            <a:pPr>
              <a:buFontTx/>
              <a:buNone/>
            </a:pPr>
            <a:r>
              <a:rPr lang="ru-RU" altLang="ru-RU" sz="2200" smtClean="0">
                <a:latin typeface="Times New Roman" pitchFamily="18" charset="0"/>
              </a:rPr>
              <a:t>		</a:t>
            </a:r>
            <a:r>
              <a:rPr lang="en-US" altLang="ru-RU" sz="2200" b="1" smtClean="0">
                <a:latin typeface="Times New Roman" pitchFamily="18" charset="0"/>
              </a:rPr>
              <a:t>Itr </a:t>
            </a:r>
            <a:r>
              <a:rPr lang="ru-RU" altLang="ru-RU" sz="2200" b="1" smtClean="0">
                <a:latin typeface="Times New Roman" pitchFamily="18" charset="0"/>
              </a:rPr>
              <a:t>   &lt;номер прерывания&gt;</a:t>
            </a:r>
          </a:p>
          <a:p>
            <a:pPr>
              <a:buFontTx/>
              <a:buNone/>
            </a:pPr>
            <a:r>
              <a:rPr lang="ru-RU" altLang="ru-RU" sz="2200" smtClean="0">
                <a:latin typeface="Times New Roman" pitchFamily="18" charset="0"/>
              </a:rPr>
              <a:t> Номер прерывания задает конкретное действие операционной системе, например, выделение памяти.</a:t>
            </a:r>
          </a:p>
          <a:p>
            <a:pPr>
              <a:buFontTx/>
              <a:buNone/>
            </a:pPr>
            <a:r>
              <a:rPr lang="ru-RU" altLang="ru-RU" sz="2200" smtClean="0">
                <a:latin typeface="Times New Roman" pitchFamily="18" charset="0"/>
              </a:rPr>
              <a:t>При этом в </a:t>
            </a:r>
            <a:r>
              <a:rPr lang="ru-RU" altLang="ru-RU" sz="2200" b="1" i="1" smtClean="0">
                <a:latin typeface="Times New Roman" pitchFamily="18" charset="0"/>
              </a:rPr>
              <a:t>регистре сумматора</a:t>
            </a:r>
            <a:r>
              <a:rPr lang="ru-RU" altLang="ru-RU" sz="2200" smtClean="0">
                <a:latin typeface="Times New Roman" pitchFamily="18" charset="0"/>
              </a:rPr>
              <a:t> должен быть задан размер области памяти.</a:t>
            </a:r>
          </a:p>
          <a:p>
            <a:pPr>
              <a:buFontTx/>
              <a:buNone/>
            </a:pPr>
            <a:r>
              <a:rPr lang="ru-RU" altLang="ru-RU" sz="2200" smtClean="0">
                <a:latin typeface="Times New Roman" pitchFamily="18" charset="0"/>
              </a:rPr>
              <a:t>При выполнении команды </a:t>
            </a:r>
            <a:r>
              <a:rPr lang="en-US" altLang="ru-RU" sz="2200" b="1" smtClean="0">
                <a:latin typeface="Times New Roman" pitchFamily="18" charset="0"/>
              </a:rPr>
              <a:t>Itr</a:t>
            </a:r>
            <a:r>
              <a:rPr lang="ru-RU" altLang="ru-RU" sz="2200" smtClean="0">
                <a:latin typeface="Times New Roman" pitchFamily="18" charset="0"/>
              </a:rPr>
              <a:t> выполняется передача управления в операционную систему и запоминается адрес команды, расположенной следом за командой </a:t>
            </a:r>
            <a:r>
              <a:rPr lang="en-US" altLang="ru-RU" sz="2200" b="1" smtClean="0">
                <a:latin typeface="Times New Roman" pitchFamily="18" charset="0"/>
              </a:rPr>
              <a:t>Itr</a:t>
            </a:r>
            <a:r>
              <a:rPr lang="ru-RU" altLang="ru-RU" sz="2200" smtClean="0">
                <a:latin typeface="Times New Roman" pitchFamily="18" charset="0"/>
              </a:rPr>
              <a:t>, в специальном </a:t>
            </a:r>
            <a:r>
              <a:rPr lang="ru-RU" altLang="ru-RU" sz="2200" b="1" i="1" smtClean="0">
                <a:latin typeface="Times New Roman" pitchFamily="18" charset="0"/>
              </a:rPr>
              <a:t>регистре адреса</a:t>
            </a:r>
            <a:r>
              <a:rPr lang="ru-RU" altLang="ru-RU" sz="2200" smtClean="0">
                <a:latin typeface="Times New Roman" pitchFamily="18" charset="0"/>
              </a:rPr>
              <a:t>. </a:t>
            </a:r>
          </a:p>
          <a:p>
            <a:pPr>
              <a:buFontTx/>
              <a:buNone/>
            </a:pPr>
            <a:r>
              <a:rPr lang="ru-RU" altLang="ru-RU" sz="2200" smtClean="0">
                <a:latin typeface="Times New Roman" pitchFamily="18" charset="0"/>
              </a:rPr>
              <a:t>После этого выполняется программа операционной системы, она выделяет область памяти, адрес ее начала записывает в </a:t>
            </a:r>
            <a:r>
              <a:rPr lang="ru-RU" altLang="ru-RU" sz="2200" b="1" i="1" smtClean="0">
                <a:latin typeface="Times New Roman" pitchFamily="18" charset="0"/>
              </a:rPr>
              <a:t>регистр сумматора</a:t>
            </a:r>
            <a:r>
              <a:rPr lang="ru-RU" altLang="ru-RU" sz="2200" smtClean="0">
                <a:latin typeface="Times New Roman" pitchFamily="18" charset="0"/>
              </a:rPr>
              <a:t> и возвращает управление по адресу, записанному в </a:t>
            </a:r>
            <a:r>
              <a:rPr lang="ru-RU" altLang="ru-RU" sz="2200" b="1" i="1" smtClean="0">
                <a:latin typeface="Times New Roman" pitchFamily="18" charset="0"/>
              </a:rPr>
              <a:t>регистре адреса</a:t>
            </a:r>
            <a:r>
              <a:rPr lang="ru-RU" altLang="ru-RU" sz="2200" smtClean="0">
                <a:latin typeface="Times New Roman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54CB23F-471B-4DEB-A1D6-277A860FD080}" type="slidenum">
              <a:rPr lang="ru-RU" altLang="ru-RU" smtClean="0"/>
              <a:pPr eaLnBrk="1" hangingPunct="1"/>
              <a:t>12</a:t>
            </a:fld>
            <a:endParaRPr lang="ru-RU" altLang="ru-RU" smtClean="0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08050"/>
          </a:xfrm>
        </p:spPr>
        <p:txBody>
          <a:bodyPr/>
          <a:lstStyle/>
          <a:p>
            <a:r>
              <a:rPr lang="ru-RU" altLang="ru-RU" sz="3200" b="1" smtClean="0"/>
              <a:t>Генерация команд выделения памяти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81075"/>
            <a:ext cx="8435975" cy="5543550"/>
          </a:xfrm>
        </p:spPr>
        <p:txBody>
          <a:bodyPr/>
          <a:lstStyle/>
          <a:p>
            <a:pPr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Обратная польская строка с выделением памяти для одномерного массива: </a:t>
            </a:r>
          </a:p>
          <a:p>
            <a:pPr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		</a:t>
            </a:r>
            <a:r>
              <a:rPr lang="en-US" altLang="ru-RU" sz="2400" b="1" smtClean="0">
                <a:latin typeface="Times New Roman" pitchFamily="18" charset="0"/>
              </a:rPr>
              <a:t>M n</a:t>
            </a:r>
            <a:r>
              <a:rPr lang="ru-RU" altLang="ru-RU" sz="2400" b="1" smtClean="0">
                <a:latin typeface="Times New Roman" pitchFamily="18" charset="0"/>
              </a:rPr>
              <a:t> &lt;</a:t>
            </a:r>
            <a:r>
              <a:rPr lang="en-US" altLang="ru-RU" sz="2400" b="1" smtClean="0">
                <a:latin typeface="Times New Roman" pitchFamily="18" charset="0"/>
              </a:rPr>
              <a:t>m</a:t>
            </a:r>
            <a:r>
              <a:rPr lang="ru-RU" altLang="ru-RU" sz="2400" b="1" smtClean="0">
                <a:latin typeface="Times New Roman" pitchFamily="18" charset="0"/>
              </a:rPr>
              <a:t>1&gt;</a:t>
            </a:r>
          </a:p>
          <a:p>
            <a:pPr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</a:t>
            </a:r>
            <a:r>
              <a:rPr lang="en-US" altLang="ru-RU" sz="2400" b="1" smtClean="0">
                <a:latin typeface="Times New Roman" pitchFamily="18" charset="0"/>
              </a:rPr>
              <a:t>M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ru-RU" altLang="ru-RU" sz="2400" smtClean="0">
                <a:latin typeface="Times New Roman" pitchFamily="18" charset="0"/>
              </a:rPr>
              <a:t>– ссылка на паспорт массива, </a:t>
            </a:r>
          </a:p>
          <a:p>
            <a:pPr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</a:t>
            </a:r>
            <a:r>
              <a:rPr lang="en-US" altLang="ru-RU" sz="2400" b="1" smtClean="0">
                <a:latin typeface="Times New Roman" pitchFamily="18" charset="0"/>
              </a:rPr>
              <a:t>n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ru-RU" altLang="ru-RU" sz="2400" smtClean="0">
                <a:latin typeface="Times New Roman" pitchFamily="18" charset="0"/>
              </a:rPr>
              <a:t>– количество элементов массива, </a:t>
            </a:r>
          </a:p>
          <a:p>
            <a:pPr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</a:t>
            </a:r>
            <a:r>
              <a:rPr lang="ru-RU" altLang="ru-RU" sz="2400" b="1" smtClean="0">
                <a:latin typeface="Times New Roman" pitchFamily="18" charset="0"/>
              </a:rPr>
              <a:t>&lt;</a:t>
            </a:r>
            <a:r>
              <a:rPr lang="en-US" altLang="ru-RU" sz="2400" b="1" smtClean="0">
                <a:latin typeface="Times New Roman" pitchFamily="18" charset="0"/>
              </a:rPr>
              <a:t>m</a:t>
            </a:r>
            <a:r>
              <a:rPr lang="ru-RU" altLang="ru-RU" sz="2400" b="1" smtClean="0">
                <a:latin typeface="Times New Roman" pitchFamily="18" charset="0"/>
              </a:rPr>
              <a:t>1&gt;</a:t>
            </a:r>
            <a:r>
              <a:rPr lang="ru-RU" altLang="ru-RU" sz="2400" smtClean="0">
                <a:latin typeface="Times New Roman" pitchFamily="18" charset="0"/>
              </a:rPr>
              <a:t> - операция выделения памяти. </a:t>
            </a:r>
          </a:p>
          <a:p>
            <a:pPr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В паспорте массива:</a:t>
            </a:r>
            <a:endParaRPr lang="en-US" altLang="ru-RU" sz="2400" smtClean="0">
              <a:latin typeface="Times New Roman" pitchFamily="18" charset="0"/>
            </a:endParaRPr>
          </a:p>
          <a:p>
            <a:pPr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– адрес нулевого элемента массива;</a:t>
            </a:r>
            <a:endParaRPr lang="en-US" altLang="ru-RU" sz="2400" smtClean="0">
              <a:latin typeface="Times New Roman" pitchFamily="18" charset="0"/>
            </a:endParaRPr>
          </a:p>
          <a:p>
            <a:pPr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– длина одного элемента массива;</a:t>
            </a:r>
            <a:endParaRPr lang="en-US" altLang="ru-RU" sz="2400" smtClean="0">
              <a:latin typeface="Times New Roman" pitchFamily="18" charset="0"/>
            </a:endParaRPr>
          </a:p>
          <a:p>
            <a:pPr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– количество элементов массива</a:t>
            </a:r>
          </a:p>
          <a:p>
            <a:pPr>
              <a:buFontTx/>
              <a:buNone/>
            </a:pPr>
            <a:r>
              <a:rPr lang="ru-RU" altLang="ru-RU" sz="2400" b="1" i="1" smtClean="0">
                <a:latin typeface="Times New Roman" pitchFamily="18" charset="0"/>
              </a:rPr>
              <a:t>записываются при выполнении операции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ru-RU" altLang="ru-RU" sz="2400" b="1" smtClean="0">
                <a:latin typeface="Times New Roman" pitchFamily="18" charset="0"/>
              </a:rPr>
              <a:t>&lt;</a:t>
            </a:r>
            <a:r>
              <a:rPr lang="en-US" altLang="ru-RU" sz="2400" b="1" smtClean="0">
                <a:latin typeface="Times New Roman" pitchFamily="18" charset="0"/>
              </a:rPr>
              <a:t>m</a:t>
            </a:r>
            <a:r>
              <a:rPr lang="ru-RU" altLang="ru-RU" sz="2400" b="1" smtClean="0">
                <a:latin typeface="Times New Roman" pitchFamily="18" charset="0"/>
              </a:rPr>
              <a:t>1&gt;.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D7F2770-9062-4F05-B096-729CEE0BC805}" type="slidenum">
              <a:rPr lang="ru-RU" altLang="ru-RU" smtClean="0"/>
              <a:pPr eaLnBrk="1" hangingPunct="1"/>
              <a:t>13</a:t>
            </a:fld>
            <a:endParaRPr lang="ru-RU" altLang="ru-RU" smtClean="0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260350"/>
          </a:xfrm>
        </p:spPr>
        <p:txBody>
          <a:bodyPr/>
          <a:lstStyle/>
          <a:p>
            <a:endParaRPr lang="ru-RU" altLang="ru-RU" sz="4000" smtClean="0"/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333375"/>
            <a:ext cx="8435975" cy="6191250"/>
          </a:xfrm>
        </p:spPr>
        <p:txBody>
          <a:bodyPr/>
          <a:lstStyle/>
          <a:p>
            <a:pPr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При интерпретации операции </a:t>
            </a:r>
            <a:r>
              <a:rPr lang="ru-RU" altLang="ru-RU" sz="2400" b="1" smtClean="0">
                <a:latin typeface="Times New Roman" pitchFamily="18" charset="0"/>
              </a:rPr>
              <a:t>&lt;</a:t>
            </a:r>
            <a:r>
              <a:rPr lang="en-US" altLang="ru-RU" sz="2400" b="1" smtClean="0">
                <a:latin typeface="Times New Roman" pitchFamily="18" charset="0"/>
              </a:rPr>
              <a:t>m</a:t>
            </a:r>
            <a:r>
              <a:rPr lang="ru-RU" altLang="ru-RU" sz="2400" b="1" smtClean="0">
                <a:latin typeface="Times New Roman" pitchFamily="18" charset="0"/>
              </a:rPr>
              <a:t>1</a:t>
            </a:r>
            <a:r>
              <a:rPr lang="en-US" altLang="ru-RU" sz="2400" b="1" smtClean="0">
                <a:latin typeface="Times New Roman" pitchFamily="18" charset="0"/>
              </a:rPr>
              <a:t>&gt;</a:t>
            </a:r>
            <a:r>
              <a:rPr lang="ru-RU" altLang="ru-RU" sz="2400" smtClean="0">
                <a:latin typeface="Times New Roman" pitchFamily="18" charset="0"/>
              </a:rPr>
              <a:t> генерируются команды</a:t>
            </a:r>
          </a:p>
          <a:p>
            <a:pPr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выделения памяти и формирования паспорта массива:</a:t>
            </a:r>
            <a:endParaRPr lang="en-US" altLang="ru-RU" sz="2400" smtClean="0">
              <a:latin typeface="Times New Roman" pitchFamily="18" charset="0"/>
            </a:endParaRPr>
          </a:p>
          <a:p>
            <a:pPr>
              <a:buFontTx/>
              <a:buNone/>
            </a:pPr>
            <a:endParaRPr lang="ru-RU" altLang="ru-RU" sz="2400" smtClean="0">
              <a:latin typeface="Times New Roman" pitchFamily="18" charset="0"/>
            </a:endParaRPr>
          </a:p>
          <a:p>
            <a:pPr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b="1" smtClean="0">
                <a:latin typeface="Times New Roman" pitchFamily="18" charset="0"/>
              </a:rPr>
              <a:t>Load  </a:t>
            </a:r>
            <a:r>
              <a:rPr lang="ru-RU" altLang="ru-RU" sz="2400" b="1" smtClean="0">
                <a:latin typeface="Times New Roman" pitchFamily="18" charset="0"/>
              </a:rPr>
              <a:t>	</a:t>
            </a:r>
            <a:r>
              <a:rPr lang="en-US" altLang="ru-RU" sz="2400" b="1" smtClean="0">
                <a:latin typeface="Times New Roman" pitchFamily="18" charset="0"/>
              </a:rPr>
              <a:t>n</a:t>
            </a:r>
          </a:p>
          <a:p>
            <a:pPr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b="1" smtClean="0">
                <a:latin typeface="Times New Roman" pitchFamily="18" charset="0"/>
              </a:rPr>
              <a:t>St</a:t>
            </a:r>
            <a:r>
              <a:rPr lang="ru-RU" altLang="ru-RU" sz="2400" b="1" smtClean="0">
                <a:latin typeface="Times New Roman" pitchFamily="18" charset="0"/>
              </a:rPr>
              <a:t>	</a:t>
            </a:r>
            <a:r>
              <a:rPr lang="en-US" altLang="ru-RU" sz="2400" b="1" smtClean="0">
                <a:latin typeface="Times New Roman" pitchFamily="18" charset="0"/>
              </a:rPr>
              <a:t>M</a:t>
            </a:r>
            <a:r>
              <a:rPr lang="ru-RU" altLang="ru-RU" sz="2400" b="1" smtClean="0">
                <a:latin typeface="Times New Roman" pitchFamily="18" charset="0"/>
              </a:rPr>
              <a:t> + 2</a:t>
            </a:r>
            <a:r>
              <a:rPr lang="en-US" altLang="ru-RU" sz="2400" b="1" smtClean="0">
                <a:latin typeface="Times New Roman" pitchFamily="18" charset="0"/>
              </a:rPr>
              <a:t>v</a:t>
            </a:r>
            <a:r>
              <a:rPr lang="ru-RU" altLang="ru-RU" sz="2400" b="1" smtClean="0">
                <a:latin typeface="Times New Roman" pitchFamily="18" charset="0"/>
              </a:rPr>
              <a:t>	</a:t>
            </a:r>
            <a:r>
              <a:rPr lang="en-US" altLang="ru-RU" sz="2400" smtClean="0">
                <a:latin typeface="Times New Roman" pitchFamily="18" charset="0"/>
              </a:rPr>
              <a:t>	{</a:t>
            </a:r>
            <a:r>
              <a:rPr lang="ru-RU" altLang="ru-RU" sz="2400" smtClean="0">
                <a:latin typeface="Times New Roman" pitchFamily="18" charset="0"/>
              </a:rPr>
              <a:t>количество элементов </a:t>
            </a:r>
            <a:r>
              <a:rPr lang="en-US" altLang="ru-RU" sz="2400" smtClean="0">
                <a:latin typeface="Times New Roman" pitchFamily="18" charset="0"/>
              </a:rPr>
              <a:t>n}</a:t>
            </a:r>
          </a:p>
          <a:p>
            <a:pPr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b="1" smtClean="0">
                <a:latin typeface="Times New Roman" pitchFamily="18" charset="0"/>
              </a:rPr>
              <a:t>Mul</a:t>
            </a:r>
            <a:r>
              <a:rPr lang="ru-RU" altLang="ru-RU" sz="2400" smtClean="0">
                <a:latin typeface="Times New Roman" pitchFamily="18" charset="0"/>
              </a:rPr>
              <a:t>	&lt;длина элемента&gt;</a:t>
            </a:r>
            <a:r>
              <a:rPr lang="en-US" altLang="ru-RU" sz="2400" smtClean="0">
                <a:latin typeface="Times New Roman" pitchFamily="18" charset="0"/>
              </a:rPr>
              <a:t>	{</a:t>
            </a:r>
            <a:r>
              <a:rPr lang="ru-RU" altLang="ru-RU" sz="2400" smtClean="0">
                <a:latin typeface="Times New Roman" pitchFamily="18" charset="0"/>
              </a:rPr>
              <a:t>размер памяти в байтах</a:t>
            </a:r>
            <a:r>
              <a:rPr lang="en-US" altLang="ru-RU" sz="2400" smtClean="0">
                <a:latin typeface="Times New Roman" pitchFamily="18" charset="0"/>
              </a:rPr>
              <a:t>}</a:t>
            </a:r>
          </a:p>
          <a:p>
            <a:pPr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b="1" smtClean="0">
                <a:latin typeface="Times New Roman" pitchFamily="18" charset="0"/>
              </a:rPr>
              <a:t>Itr</a:t>
            </a:r>
            <a:r>
              <a:rPr lang="ru-RU" altLang="ru-RU" sz="2400" smtClean="0">
                <a:latin typeface="Times New Roman" pitchFamily="18" charset="0"/>
              </a:rPr>
              <a:t>	&lt;выделение памяти&gt;</a:t>
            </a:r>
            <a:r>
              <a:rPr lang="en-US" altLang="ru-RU" sz="2400" smtClean="0">
                <a:latin typeface="Times New Roman" pitchFamily="18" charset="0"/>
              </a:rPr>
              <a:t>{</a:t>
            </a:r>
            <a:r>
              <a:rPr lang="ru-RU" altLang="ru-RU" sz="2400" smtClean="0">
                <a:latin typeface="Times New Roman" pitchFamily="18" charset="0"/>
              </a:rPr>
              <a:t>прерывание</a:t>
            </a:r>
            <a:r>
              <a:rPr lang="en-US" altLang="ru-RU" sz="2400" smtClean="0">
                <a:latin typeface="Times New Roman" pitchFamily="18" charset="0"/>
              </a:rPr>
              <a:t>}</a:t>
            </a:r>
          </a:p>
          <a:p>
            <a:pPr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b="1" smtClean="0">
                <a:latin typeface="Times New Roman" pitchFamily="18" charset="0"/>
              </a:rPr>
              <a:t>St</a:t>
            </a:r>
            <a:r>
              <a:rPr lang="ru-RU" altLang="ru-RU" sz="2400" b="1" smtClean="0">
                <a:latin typeface="Times New Roman" pitchFamily="18" charset="0"/>
              </a:rPr>
              <a:t>	</a:t>
            </a:r>
            <a:r>
              <a:rPr lang="en-US" altLang="ru-RU" sz="2400" b="1" smtClean="0">
                <a:latin typeface="Times New Roman" pitchFamily="18" charset="0"/>
              </a:rPr>
              <a:t>M</a:t>
            </a:r>
            <a:r>
              <a:rPr lang="ru-RU" altLang="ru-RU" sz="2400" smtClean="0">
                <a:latin typeface="Times New Roman" pitchFamily="18" charset="0"/>
              </a:rPr>
              <a:t>			</a:t>
            </a:r>
            <a:r>
              <a:rPr lang="en-US" altLang="ru-RU" sz="2400" smtClean="0">
                <a:latin typeface="Times New Roman" pitchFamily="18" charset="0"/>
              </a:rPr>
              <a:t>{</a:t>
            </a:r>
            <a:r>
              <a:rPr lang="ru-RU" altLang="ru-RU" sz="2400" smtClean="0">
                <a:latin typeface="Times New Roman" pitchFamily="18" charset="0"/>
              </a:rPr>
              <a:t>ссылка на начало массива</a:t>
            </a:r>
            <a:r>
              <a:rPr lang="en-US" altLang="ru-RU" sz="2400" smtClean="0">
                <a:latin typeface="Times New Roman" pitchFamily="18" charset="0"/>
              </a:rPr>
              <a:t>}</a:t>
            </a:r>
          </a:p>
          <a:p>
            <a:pPr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b="1" smtClean="0">
                <a:latin typeface="Times New Roman" pitchFamily="18" charset="0"/>
              </a:rPr>
              <a:t>Load</a:t>
            </a:r>
            <a:r>
              <a:rPr lang="ru-RU" altLang="ru-RU" sz="2400" smtClean="0">
                <a:latin typeface="Times New Roman" pitchFamily="18" charset="0"/>
              </a:rPr>
              <a:t>  	&lt;длина элемента&gt;</a:t>
            </a:r>
            <a:endParaRPr lang="en-US" altLang="ru-RU" sz="2400" smtClean="0">
              <a:latin typeface="Times New Roman" pitchFamily="18" charset="0"/>
            </a:endParaRPr>
          </a:p>
          <a:p>
            <a:pPr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b="1" smtClean="0">
                <a:latin typeface="Times New Roman" pitchFamily="18" charset="0"/>
              </a:rPr>
              <a:t>St</a:t>
            </a:r>
            <a:r>
              <a:rPr lang="ru-RU" altLang="ru-RU" sz="2400" b="1" smtClean="0">
                <a:latin typeface="Times New Roman" pitchFamily="18" charset="0"/>
              </a:rPr>
              <a:t>	</a:t>
            </a:r>
            <a:r>
              <a:rPr lang="en-US" altLang="ru-RU" sz="2400" b="1" smtClean="0">
                <a:latin typeface="Times New Roman" pitchFamily="18" charset="0"/>
              </a:rPr>
              <a:t>M</a:t>
            </a:r>
            <a:r>
              <a:rPr lang="ru-RU" altLang="ru-RU" sz="2400" b="1" smtClean="0">
                <a:latin typeface="Times New Roman" pitchFamily="18" charset="0"/>
              </a:rPr>
              <a:t> + </a:t>
            </a:r>
            <a:r>
              <a:rPr lang="en-US" altLang="ru-RU" sz="2400" b="1" smtClean="0">
                <a:latin typeface="Times New Roman" pitchFamily="18" charset="0"/>
              </a:rPr>
              <a:t>v</a:t>
            </a:r>
            <a:r>
              <a:rPr lang="ru-RU" altLang="ru-RU" sz="2400" smtClean="0">
                <a:latin typeface="Times New Roman" pitchFamily="18" charset="0"/>
              </a:rPr>
              <a:t>			</a:t>
            </a:r>
            <a:r>
              <a:rPr lang="en-US" altLang="ru-RU" sz="2400" smtClean="0">
                <a:latin typeface="Times New Roman" pitchFamily="18" charset="0"/>
              </a:rPr>
              <a:t>{</a:t>
            </a:r>
            <a:r>
              <a:rPr lang="ru-RU" altLang="ru-RU" sz="2400" smtClean="0">
                <a:latin typeface="Times New Roman" pitchFamily="18" charset="0"/>
              </a:rPr>
              <a:t>длина элемента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массива</a:t>
            </a:r>
            <a:r>
              <a:rPr lang="en-US" altLang="ru-RU" sz="2400" smtClean="0">
                <a:latin typeface="Times New Roman" pitchFamily="18" charset="0"/>
              </a:rPr>
              <a:t>}</a:t>
            </a:r>
          </a:p>
          <a:p>
            <a:pPr>
              <a:buFontTx/>
              <a:buNone/>
            </a:pPr>
            <a:endParaRPr lang="en-US" altLang="ru-RU" sz="2400" smtClean="0">
              <a:latin typeface="Times New Roman" pitchFamily="18" charset="0"/>
            </a:endParaRPr>
          </a:p>
          <a:p>
            <a:pPr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</a:t>
            </a:r>
            <a:r>
              <a:rPr lang="ru-RU" altLang="ru-RU" sz="2400" smtClean="0">
                <a:latin typeface="Times New Roman" pitchFamily="18" charset="0"/>
              </a:rPr>
              <a:t>Здесь </a:t>
            </a:r>
            <a:r>
              <a:rPr lang="en-US" altLang="ru-RU" sz="2400" b="1" smtClean="0">
                <a:latin typeface="Times New Roman" pitchFamily="18" charset="0"/>
              </a:rPr>
              <a:t>v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ru-RU" altLang="ru-RU" sz="2400" smtClean="0">
                <a:latin typeface="Times New Roman" pitchFamily="18" charset="0"/>
              </a:rPr>
              <a:t>– длина в байтах целочисленного значения.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3EAC961-0801-4165-89AA-6F69215A9239}" type="slidenum">
              <a:rPr lang="ru-RU" altLang="ru-RU" smtClean="0"/>
              <a:pPr eaLnBrk="1" hangingPunct="1"/>
              <a:t>14</a:t>
            </a:fld>
            <a:endParaRPr lang="ru-RU" altLang="ru-RU" smtClean="0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88913"/>
          </a:xfrm>
        </p:spPr>
        <p:txBody>
          <a:bodyPr/>
          <a:lstStyle/>
          <a:p>
            <a:endParaRPr lang="ru-RU" altLang="ru-RU" sz="4000" smtClean="0"/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60350"/>
            <a:ext cx="8362950" cy="63373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solidFill>
                  <a:schemeClr val="accent2"/>
                </a:solidFill>
              </a:rPr>
              <a:t>Расширение модели процессора. Вид команд:</a:t>
            </a:r>
          </a:p>
          <a:p>
            <a:pPr>
              <a:lnSpc>
                <a:spcPct val="90000"/>
              </a:lnSpc>
              <a:buFontTx/>
              <a:buNone/>
            </a:pPr>
            <a:endParaRPr lang="ru-RU" altLang="ru-RU" sz="2400" smtClean="0"/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/>
              <a:t>&lt;код операции&gt; &lt;признак&gt; &lt;операнд&gt;</a:t>
            </a:r>
          </a:p>
          <a:p>
            <a:pPr>
              <a:lnSpc>
                <a:spcPct val="90000"/>
              </a:lnSpc>
              <a:buFontTx/>
              <a:buNone/>
            </a:pPr>
            <a:endParaRPr lang="ru-RU" altLang="ru-RU" sz="2400" smtClean="0"/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/>
              <a:t>Если признак равен 0, то команда выполняется обычным образом, а если 1, то используется </a:t>
            </a:r>
            <a:r>
              <a:rPr lang="ru-RU" altLang="ru-RU" sz="2400" b="1" i="1" smtClean="0"/>
              <a:t>косвенная адресация</a:t>
            </a:r>
            <a:r>
              <a:rPr lang="ru-RU" altLang="ru-RU" sz="2400" smtClean="0"/>
              <a:t>, когда операнд в команде – это адрес в памяти, где находится адрес, ссылающийся на другую ячейку памяти, содержащую значение операнда.</a:t>
            </a:r>
          </a:p>
          <a:p>
            <a:pPr>
              <a:lnSpc>
                <a:spcPct val="90000"/>
              </a:lnSpc>
              <a:buFontTx/>
              <a:buNone/>
            </a:pPr>
            <a:endParaRPr lang="ru-RU" altLang="ru-RU" sz="2400" smtClean="0"/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/>
              <a:t>В магазине интерпретатора для каждой ячейки магазина дополнительно записывался признак (0 или 1). Тогда, при генерации любой команды с операндом из магазина, в команду записывается операнд и соответствующий признак.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D06B9DD-8E43-49C2-A4A8-5DA630E94DE7}" type="slidenum">
              <a:rPr lang="ru-RU" altLang="ru-RU" smtClean="0"/>
              <a:pPr eaLnBrk="1" hangingPunct="1"/>
              <a:t>15</a:t>
            </a:fld>
            <a:endParaRPr lang="ru-RU" altLang="ru-RU" smtClean="0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268413"/>
          </a:xfrm>
        </p:spPr>
        <p:txBody>
          <a:bodyPr/>
          <a:lstStyle/>
          <a:p>
            <a:r>
              <a:rPr lang="ru-RU" altLang="ru-RU" sz="3200" smtClean="0">
                <a:solidFill>
                  <a:schemeClr val="accent2"/>
                </a:solidFill>
              </a:rPr>
              <a:t>Генерация команд, реализующих операцию индексирования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196975"/>
            <a:ext cx="8229600" cy="5472113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Два верхних операнда в магазине: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a</a:t>
            </a:r>
            <a:r>
              <a:rPr lang="ru-RU" altLang="ru-RU" sz="2400" smtClean="0">
                <a:latin typeface="Times New Roman" pitchFamily="18" charset="0"/>
              </a:rPr>
              <a:t> - ссылка на паспорт массива,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b</a:t>
            </a:r>
            <a:r>
              <a:rPr lang="ru-RU" altLang="ru-RU" sz="2400" smtClean="0">
                <a:latin typeface="Times New Roman" pitchFamily="18" charset="0"/>
              </a:rPr>
              <a:t> – индекс элемента массива.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В переменной </a:t>
            </a:r>
            <a:r>
              <a:rPr lang="en-US" altLang="ru-RU" sz="2400" smtClean="0">
                <a:latin typeface="Times New Roman" pitchFamily="18" charset="0"/>
              </a:rPr>
              <a:t>k</a:t>
            </a:r>
            <a:r>
              <a:rPr lang="ru-RU" altLang="ru-RU" sz="2400" smtClean="0">
                <a:latin typeface="Times New Roman" pitchFamily="18" charset="0"/>
              </a:rPr>
              <a:t> находится ссылка на элемент магазина, содержащий 0.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t1</a:t>
            </a:r>
            <a:r>
              <a:rPr lang="ru-RU" altLang="ru-RU" sz="2400" smtClean="0">
                <a:latin typeface="Times New Roman" pitchFamily="18" charset="0"/>
              </a:rPr>
              <a:t>, </a:t>
            </a:r>
            <a:r>
              <a:rPr lang="en-US" altLang="ru-RU" sz="2400" smtClean="0">
                <a:latin typeface="Times New Roman" pitchFamily="18" charset="0"/>
              </a:rPr>
              <a:t>t2</a:t>
            </a:r>
            <a:r>
              <a:rPr lang="ru-RU" altLang="ru-RU" sz="2400" smtClean="0">
                <a:latin typeface="Times New Roman" pitchFamily="18" charset="0"/>
              </a:rPr>
              <a:t> – дополнительные временные переменные.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altLang="ru-RU" sz="2400" smtClean="0">
              <a:latin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Если </a:t>
            </a:r>
            <a:r>
              <a:rPr lang="en-US" altLang="ru-RU" sz="2400" b="1" smtClean="0">
                <a:latin typeface="Times New Roman" pitchFamily="18" charset="0"/>
              </a:rPr>
              <a:t>b</a:t>
            </a:r>
            <a:r>
              <a:rPr lang="ru-RU" altLang="ru-RU" sz="2400" b="1" smtClean="0">
                <a:latin typeface="Times New Roman" pitchFamily="18" charset="0"/>
              </a:rPr>
              <a:t> = 0, то генерируются команды: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ru-RU" sz="2400" b="1" smtClean="0">
              <a:latin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Mul</a:t>
            </a:r>
            <a:r>
              <a:rPr lang="ru-RU" altLang="ru-RU" sz="2400" smtClean="0">
                <a:latin typeface="Times New Roman" pitchFamily="18" charset="0"/>
              </a:rPr>
              <a:t>	0	</a:t>
            </a:r>
            <a:r>
              <a:rPr lang="en-US" altLang="ru-RU" sz="2400" smtClean="0">
                <a:latin typeface="Times New Roman" pitchFamily="18" charset="0"/>
              </a:rPr>
              <a:t>a </a:t>
            </a:r>
            <a:r>
              <a:rPr lang="ru-RU" altLang="ru-RU" sz="2400" smtClean="0">
                <a:latin typeface="Times New Roman" pitchFamily="18" charset="0"/>
              </a:rPr>
              <a:t>+</a:t>
            </a:r>
            <a:r>
              <a:rPr lang="en-US" altLang="ru-RU" sz="2400" smtClean="0">
                <a:latin typeface="Times New Roman" pitchFamily="18" charset="0"/>
              </a:rPr>
              <a:t> v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Add</a:t>
            </a:r>
            <a:r>
              <a:rPr lang="ru-RU" altLang="ru-RU" sz="2400" smtClean="0">
                <a:latin typeface="Times New Roman" pitchFamily="18" charset="0"/>
              </a:rPr>
              <a:t>	0	</a:t>
            </a:r>
            <a:r>
              <a:rPr lang="en-US" altLang="ru-RU" sz="2400" smtClean="0">
                <a:latin typeface="Times New Roman" pitchFamily="18" charset="0"/>
              </a:rPr>
              <a:t>a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St</a:t>
            </a:r>
            <a:r>
              <a:rPr lang="ru-RU" altLang="ru-RU" sz="2400" smtClean="0">
                <a:latin typeface="Times New Roman" pitchFamily="18" charset="0"/>
              </a:rPr>
              <a:t>	</a:t>
            </a:r>
            <a:r>
              <a:rPr lang="en-US" altLang="ru-RU" sz="2400" smtClean="0">
                <a:latin typeface="Times New Roman" pitchFamily="18" charset="0"/>
              </a:rPr>
              <a:t>0	t</a:t>
            </a:r>
            <a:r>
              <a:rPr lang="ru-RU" altLang="ru-RU" sz="2400" smtClean="0">
                <a:latin typeface="Times New Roman" pitchFamily="18" charset="0"/>
              </a:rPr>
              <a:t>1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altLang="ru-RU" sz="2400" smtClean="0">
              <a:latin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В магазин записывается </a:t>
            </a:r>
            <a:r>
              <a:rPr lang="en-US" altLang="ru-RU" sz="2400" smtClean="0">
                <a:latin typeface="Times New Roman" pitchFamily="18" charset="0"/>
              </a:rPr>
              <a:t>t</a:t>
            </a:r>
            <a:r>
              <a:rPr lang="ru-RU" altLang="ru-RU" sz="2400" smtClean="0">
                <a:latin typeface="Times New Roman" pitchFamily="18" charset="0"/>
              </a:rPr>
              <a:t>1 с признаком 1, а также </a:t>
            </a:r>
            <a:r>
              <a:rPr lang="en-US" altLang="ru-RU" sz="2400" smtClean="0">
                <a:latin typeface="Times New Roman" pitchFamily="18" charset="0"/>
              </a:rPr>
              <a:t>k</a:t>
            </a:r>
            <a:r>
              <a:rPr lang="ru-RU" altLang="ru-RU" sz="2400" smtClean="0">
                <a:latin typeface="Times New Roman" pitchFamily="18" charset="0"/>
              </a:rPr>
              <a:t> :=0.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EA06298-6BE6-42B6-97A5-8B79B5FFCEE7}" type="slidenum">
              <a:rPr lang="ru-RU" altLang="ru-RU" smtClean="0"/>
              <a:pPr eaLnBrk="1" hangingPunct="1"/>
              <a:t>16</a:t>
            </a:fld>
            <a:endParaRPr lang="ru-RU" altLang="ru-RU" smtClean="0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5888"/>
          </a:xfrm>
        </p:spPr>
        <p:txBody>
          <a:bodyPr/>
          <a:lstStyle/>
          <a:p>
            <a:endParaRPr lang="ru-RU" altLang="ru-RU" sz="3200" smtClean="0">
              <a:solidFill>
                <a:schemeClr val="accent2"/>
              </a:solidFill>
            </a:endParaRP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260350"/>
            <a:ext cx="8229600" cy="6408738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Если </a:t>
            </a:r>
            <a:r>
              <a:rPr lang="en-US" altLang="ru-RU" sz="2400" b="1" smtClean="0">
                <a:latin typeface="Times New Roman" pitchFamily="18" charset="0"/>
              </a:rPr>
              <a:t>b</a:t>
            </a:r>
            <a:r>
              <a:rPr lang="ru-RU" altLang="ru-RU" sz="2400" b="1" smtClean="0">
                <a:latin typeface="Times New Roman" pitchFamily="18" charset="0"/>
              </a:rPr>
              <a:t> ≠ 0, </a:t>
            </a:r>
            <a:r>
              <a:rPr lang="en-US" altLang="ru-RU" sz="2400" b="1" smtClean="0">
                <a:latin typeface="Times New Roman" pitchFamily="18" charset="0"/>
              </a:rPr>
              <a:t>k </a:t>
            </a:r>
            <a:r>
              <a:rPr lang="ru-RU" altLang="ru-RU" sz="2400" b="1" smtClean="0">
                <a:latin typeface="Times New Roman" pitchFamily="18" charset="0"/>
              </a:rPr>
              <a:t>= 0, то генерируются команды:</a:t>
            </a:r>
            <a:endParaRPr lang="en-US" altLang="ru-RU" sz="2400" b="1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Load</a:t>
            </a:r>
            <a:r>
              <a:rPr lang="ru-RU" altLang="ru-RU" sz="2400" smtClean="0">
                <a:latin typeface="Times New Roman" pitchFamily="18" charset="0"/>
              </a:rPr>
              <a:t>	0	</a:t>
            </a:r>
            <a:r>
              <a:rPr lang="en-US" altLang="ru-RU" sz="2400" smtClean="0">
                <a:latin typeface="Times New Roman" pitchFamily="18" charset="0"/>
              </a:rPr>
              <a:t>b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Mul</a:t>
            </a:r>
            <a:r>
              <a:rPr lang="ru-RU" altLang="ru-RU" sz="2400" smtClean="0">
                <a:latin typeface="Times New Roman" pitchFamily="18" charset="0"/>
              </a:rPr>
              <a:t>	0	</a:t>
            </a:r>
            <a:r>
              <a:rPr lang="en-US" altLang="ru-RU" sz="2400" smtClean="0">
                <a:latin typeface="Times New Roman" pitchFamily="18" charset="0"/>
              </a:rPr>
              <a:t>a </a:t>
            </a:r>
            <a:r>
              <a:rPr lang="ru-RU" altLang="ru-RU" sz="2400" smtClean="0">
                <a:latin typeface="Times New Roman" pitchFamily="18" charset="0"/>
              </a:rPr>
              <a:t>+</a:t>
            </a:r>
            <a:r>
              <a:rPr lang="en-US" altLang="ru-RU" sz="2400" smtClean="0">
                <a:latin typeface="Times New Roman" pitchFamily="18" charset="0"/>
              </a:rPr>
              <a:t> v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Add</a:t>
            </a:r>
            <a:r>
              <a:rPr lang="ru-RU" altLang="ru-RU" sz="2400" smtClean="0">
                <a:latin typeface="Times New Roman" pitchFamily="18" charset="0"/>
              </a:rPr>
              <a:t>	0	</a:t>
            </a:r>
            <a:r>
              <a:rPr lang="en-US" altLang="ru-RU" sz="2400" smtClean="0">
                <a:latin typeface="Times New Roman" pitchFamily="18" charset="0"/>
              </a:rPr>
              <a:t>a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St</a:t>
            </a:r>
            <a:r>
              <a:rPr lang="ru-RU" altLang="ru-RU" sz="2400" smtClean="0">
                <a:latin typeface="Times New Roman" pitchFamily="18" charset="0"/>
              </a:rPr>
              <a:t>	</a:t>
            </a:r>
            <a:r>
              <a:rPr lang="en-US" altLang="ru-RU" sz="2400" smtClean="0">
                <a:latin typeface="Times New Roman" pitchFamily="18" charset="0"/>
              </a:rPr>
              <a:t>0	t</a:t>
            </a:r>
            <a:r>
              <a:rPr lang="ru-RU" altLang="ru-RU" sz="2400" smtClean="0">
                <a:latin typeface="Times New Roman" pitchFamily="18" charset="0"/>
              </a:rPr>
              <a:t>1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В магазин записывается </a:t>
            </a:r>
            <a:r>
              <a:rPr lang="en-US" altLang="ru-RU" sz="2400" smtClean="0">
                <a:latin typeface="Times New Roman" pitchFamily="18" charset="0"/>
              </a:rPr>
              <a:t>t</a:t>
            </a:r>
            <a:r>
              <a:rPr lang="ru-RU" altLang="ru-RU" sz="2400" smtClean="0">
                <a:latin typeface="Times New Roman" pitchFamily="18" charset="0"/>
              </a:rPr>
              <a:t>1 с признаком 1, а также </a:t>
            </a:r>
            <a:r>
              <a:rPr lang="en-US" altLang="ru-RU" sz="2400" smtClean="0">
                <a:latin typeface="Times New Roman" pitchFamily="18" charset="0"/>
              </a:rPr>
              <a:t>k</a:t>
            </a:r>
            <a:r>
              <a:rPr lang="ru-RU" altLang="ru-RU" sz="2400" smtClean="0">
                <a:latin typeface="Times New Roman" pitchFamily="18" charset="0"/>
              </a:rPr>
              <a:t> :=0.</a:t>
            </a:r>
          </a:p>
          <a:p>
            <a:pPr>
              <a:lnSpc>
                <a:spcPct val="90000"/>
              </a:lnSpc>
              <a:buFontTx/>
              <a:buNone/>
            </a:pPr>
            <a:endParaRPr lang="ru-RU" altLang="ru-RU" sz="2400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Если </a:t>
            </a:r>
            <a:r>
              <a:rPr lang="en-US" altLang="ru-RU" sz="2400" b="1" smtClean="0">
                <a:latin typeface="Times New Roman" pitchFamily="18" charset="0"/>
              </a:rPr>
              <a:t>b</a:t>
            </a:r>
            <a:r>
              <a:rPr lang="ru-RU" altLang="ru-RU" sz="2400" b="1" smtClean="0">
                <a:latin typeface="Times New Roman" pitchFamily="18" charset="0"/>
              </a:rPr>
              <a:t> ≠ 0, </a:t>
            </a:r>
            <a:r>
              <a:rPr lang="en-US" altLang="ru-RU" sz="2400" b="1" smtClean="0">
                <a:latin typeface="Times New Roman" pitchFamily="18" charset="0"/>
              </a:rPr>
              <a:t>k </a:t>
            </a:r>
            <a:r>
              <a:rPr lang="ru-RU" altLang="ru-RU" sz="2400" b="1" smtClean="0">
                <a:latin typeface="Times New Roman" pitchFamily="18" charset="0"/>
              </a:rPr>
              <a:t>≠ 0, то генерируются команды:</a:t>
            </a:r>
            <a:endParaRPr lang="en-US" altLang="ru-RU" sz="2400" b="1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St</a:t>
            </a:r>
            <a:r>
              <a:rPr lang="ru-RU" altLang="ru-RU" sz="2400" smtClean="0">
                <a:latin typeface="Times New Roman" pitchFamily="18" charset="0"/>
              </a:rPr>
              <a:t>	0	</a:t>
            </a:r>
            <a:r>
              <a:rPr lang="en-US" altLang="ru-RU" sz="2400" smtClean="0">
                <a:latin typeface="Times New Roman" pitchFamily="18" charset="0"/>
              </a:rPr>
              <a:t>t</a:t>
            </a:r>
            <a:r>
              <a:rPr lang="ru-RU" altLang="ru-RU" sz="2400" smtClean="0">
                <a:latin typeface="Times New Roman" pitchFamily="18" charset="0"/>
              </a:rPr>
              <a:t>1</a:t>
            </a:r>
            <a:endParaRPr lang="en-US" altLang="ru-RU" sz="2400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Load</a:t>
            </a:r>
            <a:r>
              <a:rPr lang="ru-RU" altLang="ru-RU" sz="2400" smtClean="0">
                <a:latin typeface="Times New Roman" pitchFamily="18" charset="0"/>
              </a:rPr>
              <a:t>	0	</a:t>
            </a:r>
            <a:r>
              <a:rPr lang="en-US" altLang="ru-RU" sz="2400" smtClean="0">
                <a:latin typeface="Times New Roman" pitchFamily="18" charset="0"/>
              </a:rPr>
              <a:t>b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Mul</a:t>
            </a:r>
            <a:r>
              <a:rPr lang="ru-RU" altLang="ru-RU" sz="2400" smtClean="0">
                <a:latin typeface="Times New Roman" pitchFamily="18" charset="0"/>
              </a:rPr>
              <a:t>	0	</a:t>
            </a:r>
            <a:r>
              <a:rPr lang="en-US" altLang="ru-RU" sz="2400" smtClean="0">
                <a:latin typeface="Times New Roman" pitchFamily="18" charset="0"/>
              </a:rPr>
              <a:t>a </a:t>
            </a:r>
            <a:r>
              <a:rPr lang="ru-RU" altLang="ru-RU" sz="2400" smtClean="0">
                <a:latin typeface="Times New Roman" pitchFamily="18" charset="0"/>
              </a:rPr>
              <a:t>+</a:t>
            </a:r>
            <a:r>
              <a:rPr lang="en-US" altLang="ru-RU" sz="2400" smtClean="0">
                <a:latin typeface="Times New Roman" pitchFamily="18" charset="0"/>
              </a:rPr>
              <a:t> v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Add</a:t>
            </a:r>
            <a:r>
              <a:rPr lang="ru-RU" altLang="ru-RU" sz="2400" smtClean="0">
                <a:latin typeface="Times New Roman" pitchFamily="18" charset="0"/>
              </a:rPr>
              <a:t>	0	</a:t>
            </a:r>
            <a:r>
              <a:rPr lang="en-US" altLang="ru-RU" sz="2400" smtClean="0">
                <a:latin typeface="Times New Roman" pitchFamily="18" charset="0"/>
              </a:rPr>
              <a:t>a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St</a:t>
            </a:r>
            <a:r>
              <a:rPr lang="ru-RU" altLang="ru-RU" sz="2400" smtClean="0">
                <a:latin typeface="Times New Roman" pitchFamily="18" charset="0"/>
              </a:rPr>
              <a:t>	</a:t>
            </a:r>
            <a:r>
              <a:rPr lang="en-US" altLang="ru-RU" sz="2400" smtClean="0">
                <a:latin typeface="Times New Roman" pitchFamily="18" charset="0"/>
              </a:rPr>
              <a:t>0	t</a:t>
            </a:r>
            <a:r>
              <a:rPr lang="ru-RU" altLang="ru-RU" sz="2400" smtClean="0">
                <a:latin typeface="Times New Roman" pitchFamily="18" charset="0"/>
              </a:rPr>
              <a:t>2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В элемент магазина по ссылке </a:t>
            </a:r>
            <a:r>
              <a:rPr lang="en-US" altLang="ru-RU" sz="2400" smtClean="0">
                <a:latin typeface="Times New Roman" pitchFamily="18" charset="0"/>
              </a:rPr>
              <a:t>k</a:t>
            </a:r>
            <a:r>
              <a:rPr lang="ru-RU" altLang="ru-RU" sz="2400" smtClean="0">
                <a:latin typeface="Times New Roman" pitchFamily="18" charset="0"/>
              </a:rPr>
              <a:t> записывается </a:t>
            </a:r>
            <a:r>
              <a:rPr lang="en-US" altLang="ru-RU" sz="2400" smtClean="0">
                <a:latin typeface="Times New Roman" pitchFamily="18" charset="0"/>
              </a:rPr>
              <a:t>t</a:t>
            </a:r>
            <a:r>
              <a:rPr lang="ru-RU" altLang="ru-RU" sz="2400" smtClean="0">
                <a:latin typeface="Times New Roman" pitchFamily="18" charset="0"/>
              </a:rPr>
              <a:t>1, в верхний элемент магазина записывается </a:t>
            </a:r>
            <a:r>
              <a:rPr lang="en-US" altLang="ru-RU" sz="2400" smtClean="0">
                <a:latin typeface="Times New Roman" pitchFamily="18" charset="0"/>
              </a:rPr>
              <a:t>t</a:t>
            </a:r>
            <a:r>
              <a:rPr lang="ru-RU" altLang="ru-RU" sz="2400" smtClean="0">
                <a:latin typeface="Times New Roman" pitchFamily="18" charset="0"/>
              </a:rPr>
              <a:t>2 и признак для него 1, а также </a:t>
            </a:r>
            <a:r>
              <a:rPr lang="en-US" altLang="ru-RU" sz="2400" smtClean="0">
                <a:latin typeface="Times New Roman" pitchFamily="18" charset="0"/>
              </a:rPr>
              <a:t>k</a:t>
            </a:r>
            <a:r>
              <a:rPr lang="ru-RU" altLang="ru-RU" sz="2400" smtClean="0">
                <a:latin typeface="Times New Roman" pitchFamily="18" charset="0"/>
              </a:rPr>
              <a:t> :=0.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97B2464-BA9F-49BA-AD7B-9E2FC286E562}" type="slidenum">
              <a:rPr lang="ru-RU" altLang="ru-RU" smtClean="0"/>
              <a:pPr eaLnBrk="1" hangingPunct="1"/>
              <a:t>17</a:t>
            </a:fld>
            <a:endParaRPr lang="ru-RU" altLang="ru-RU" smtClean="0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8218487" cy="188913"/>
          </a:xfrm>
        </p:spPr>
        <p:txBody>
          <a:bodyPr/>
          <a:lstStyle/>
          <a:p>
            <a:endParaRPr lang="ru-RU" altLang="ru-RU" sz="4000" smtClean="0"/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113" y="188913"/>
            <a:ext cx="7848600" cy="6480175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b="1" smtClean="0">
                <a:solidFill>
                  <a:schemeClr val="accent2"/>
                </a:solidFill>
                <a:latin typeface="Times New Roman" pitchFamily="18" charset="0"/>
              </a:rPr>
              <a:t>Пример генерации команд</a:t>
            </a:r>
            <a:endParaRPr lang="ru-RU" altLang="ru-RU" sz="2400" b="1" smtClean="0">
              <a:latin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Пусть задана ОПС: 	</a:t>
            </a:r>
            <a:r>
              <a:rPr lang="en-US" altLang="ru-RU" sz="2400" smtClean="0">
                <a:latin typeface="Times New Roman" pitchFamily="18" charset="0"/>
              </a:rPr>
              <a:t>M j a </a:t>
            </a:r>
            <a:r>
              <a:rPr lang="ru-RU" altLang="ru-RU" sz="2400" smtClean="0">
                <a:latin typeface="Times New Roman" pitchFamily="18" charset="0"/>
              </a:rPr>
              <a:t>+ &lt;</a:t>
            </a:r>
            <a:r>
              <a:rPr lang="en-US" altLang="ru-RU" sz="2400" b="1" smtClean="0">
                <a:latin typeface="Times New Roman" pitchFamily="18" charset="0"/>
              </a:rPr>
              <a:t>i</a:t>
            </a:r>
            <a:r>
              <a:rPr lang="en-US" altLang="ru-RU" sz="2400" smtClean="0">
                <a:latin typeface="Times New Roman" pitchFamily="18" charset="0"/>
              </a:rPr>
              <a:t>&gt; L i d – &lt;</a:t>
            </a:r>
            <a:r>
              <a:rPr lang="en-US" altLang="ru-RU" sz="2400" b="1" smtClean="0">
                <a:latin typeface="Times New Roman" pitchFamily="18" charset="0"/>
              </a:rPr>
              <a:t>i</a:t>
            </a:r>
            <a:r>
              <a:rPr lang="en-US" altLang="ru-RU" sz="2400" smtClean="0">
                <a:latin typeface="Times New Roman" pitchFamily="18" charset="0"/>
              </a:rPr>
              <a:t>&gt;</a:t>
            </a:r>
            <a:r>
              <a:rPr lang="ru-RU" altLang="ru-RU" sz="2400" smtClean="0">
                <a:latin typeface="Times New Roman" pitchFamily="18" charset="0"/>
              </a:rPr>
              <a:t> :=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-      оператор: 	</a:t>
            </a:r>
            <a:r>
              <a:rPr lang="en-US" altLang="ru-RU" sz="2400" smtClean="0">
                <a:latin typeface="Times New Roman" pitchFamily="18" charset="0"/>
              </a:rPr>
              <a:t>M[ j + a] := L[i – d]</a:t>
            </a:r>
            <a:endParaRPr lang="ru-RU" altLang="ru-RU" sz="2400" smtClean="0">
              <a:latin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solidFill>
                  <a:srgbClr val="CC0066"/>
                </a:solidFill>
                <a:latin typeface="Times New Roman" pitchFamily="18" charset="0"/>
              </a:rPr>
              <a:t>Шаги работы генератора команд: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Операция +</a:t>
            </a:r>
            <a:r>
              <a:rPr lang="ru-RU" altLang="ru-RU" sz="2400" smtClean="0">
                <a:latin typeface="Times New Roman" pitchFamily="18" charset="0"/>
              </a:rPr>
              <a:t> , </a:t>
            </a:r>
            <a:r>
              <a:rPr lang="en-US" altLang="ru-RU" sz="2400" smtClean="0">
                <a:latin typeface="Times New Roman" pitchFamily="18" charset="0"/>
              </a:rPr>
              <a:t>k = 0,    </a:t>
            </a:r>
            <a:r>
              <a:rPr lang="ru-RU" altLang="ru-RU" sz="2400" smtClean="0">
                <a:latin typeface="Times New Roman" pitchFamily="18" charset="0"/>
              </a:rPr>
              <a:t>в магазине:  M</a:t>
            </a:r>
            <a:r>
              <a:rPr lang="en-US" altLang="ru-RU" sz="2400" smtClean="0">
                <a:latin typeface="Times New Roman" pitchFamily="18" charset="0"/>
              </a:rPr>
              <a:t>(0)  j(0)   a</a:t>
            </a:r>
            <a:r>
              <a:rPr lang="ru-RU" altLang="ru-RU" sz="2400" smtClean="0">
                <a:latin typeface="Times New Roman" pitchFamily="18" charset="0"/>
              </a:rPr>
              <a:t>(</a:t>
            </a:r>
            <a:r>
              <a:rPr lang="en-US" altLang="ru-RU" sz="2400" smtClean="0">
                <a:latin typeface="Times New Roman" pitchFamily="18" charset="0"/>
              </a:rPr>
              <a:t>0)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</a:t>
            </a:r>
            <a:r>
              <a:rPr lang="en-US" altLang="ru-RU" sz="2400" smtClean="0">
                <a:latin typeface="Times New Roman" pitchFamily="18" charset="0"/>
              </a:rPr>
              <a:t>	</a:t>
            </a:r>
            <a:r>
              <a:rPr lang="ru-RU" altLang="ru-RU" sz="2400" smtClean="0">
                <a:latin typeface="Times New Roman" pitchFamily="18" charset="0"/>
              </a:rPr>
              <a:t>(в скобках указаны признаки элементов магазина)      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генерируемые команды: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		</a:t>
            </a:r>
            <a:r>
              <a:rPr lang="en-US" altLang="ru-RU" sz="2400" smtClean="0">
                <a:latin typeface="Times New Roman" pitchFamily="18" charset="0"/>
              </a:rPr>
              <a:t>Load	0   j</a:t>
            </a:r>
            <a:endParaRPr lang="ru-RU" altLang="ru-RU" sz="2400" smtClean="0">
              <a:latin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Add</a:t>
            </a:r>
            <a:r>
              <a:rPr lang="ru-RU" altLang="ru-RU" sz="2400" smtClean="0">
                <a:latin typeface="Times New Roman" pitchFamily="18" charset="0"/>
              </a:rPr>
              <a:t>	</a:t>
            </a:r>
            <a:r>
              <a:rPr lang="en-US" altLang="ru-RU" sz="2400" smtClean="0">
                <a:latin typeface="Times New Roman" pitchFamily="18" charset="0"/>
              </a:rPr>
              <a:t>0  a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</a:t>
            </a:r>
            <a:r>
              <a:rPr lang="en-US" altLang="ru-RU" sz="2400" smtClean="0">
                <a:latin typeface="Times New Roman" pitchFamily="18" charset="0"/>
              </a:rPr>
              <a:t>k := 2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Операция </a:t>
            </a:r>
            <a:r>
              <a:rPr lang="en-US" altLang="ru-RU" sz="2400" b="1" smtClean="0">
                <a:latin typeface="Times New Roman" pitchFamily="18" charset="0"/>
              </a:rPr>
              <a:t>&lt;i&gt;</a:t>
            </a:r>
            <a:r>
              <a:rPr lang="ru-RU" altLang="ru-RU" sz="2400" smtClean="0">
                <a:latin typeface="Times New Roman" pitchFamily="18" charset="0"/>
              </a:rPr>
              <a:t> , </a:t>
            </a:r>
            <a:r>
              <a:rPr lang="en-US" altLang="ru-RU" sz="2400" smtClean="0">
                <a:latin typeface="Times New Roman" pitchFamily="18" charset="0"/>
              </a:rPr>
              <a:t>k = 2, </a:t>
            </a:r>
            <a:r>
              <a:rPr lang="ru-RU" altLang="ru-RU" sz="2400" smtClean="0">
                <a:latin typeface="Times New Roman" pitchFamily="18" charset="0"/>
              </a:rPr>
              <a:t>	в магазине:  </a:t>
            </a:r>
            <a:r>
              <a:rPr lang="en-US" altLang="ru-RU" sz="2400" smtClean="0">
                <a:latin typeface="Times New Roman" pitchFamily="18" charset="0"/>
              </a:rPr>
              <a:t>M(0)</a:t>
            </a:r>
            <a:r>
              <a:rPr lang="ru-RU" altLang="ru-RU" sz="2400" smtClean="0">
                <a:latin typeface="Times New Roman" pitchFamily="18" charset="0"/>
              </a:rPr>
              <a:t>  </a:t>
            </a:r>
            <a:r>
              <a:rPr lang="en-US" altLang="ru-RU" sz="2400" smtClean="0">
                <a:latin typeface="Times New Roman" pitchFamily="18" charset="0"/>
              </a:rPr>
              <a:t> 0(0)</a:t>
            </a:r>
            <a:endParaRPr lang="ru-RU" altLang="ru-RU" sz="2400" smtClean="0">
              <a:latin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генерируемые команды: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Mul</a:t>
            </a:r>
            <a:r>
              <a:rPr lang="ru-RU" altLang="ru-RU" sz="2400" smtClean="0">
                <a:latin typeface="Times New Roman" pitchFamily="18" charset="0"/>
              </a:rPr>
              <a:t>	0</a:t>
            </a:r>
            <a:r>
              <a:rPr lang="en-US" altLang="ru-RU" sz="2400" smtClean="0">
                <a:latin typeface="Times New Roman" pitchFamily="18" charset="0"/>
              </a:rPr>
              <a:t>  M </a:t>
            </a:r>
            <a:r>
              <a:rPr lang="ru-RU" altLang="ru-RU" sz="2400" smtClean="0">
                <a:latin typeface="Times New Roman" pitchFamily="18" charset="0"/>
              </a:rPr>
              <a:t>+</a:t>
            </a:r>
            <a:r>
              <a:rPr lang="en-US" altLang="ru-RU" sz="2400" smtClean="0">
                <a:latin typeface="Times New Roman" pitchFamily="18" charset="0"/>
              </a:rPr>
              <a:t> v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	Add	0  M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	St	0  t1</a:t>
            </a:r>
            <a:r>
              <a:rPr lang="ru-RU" altLang="ru-RU" sz="2400" smtClean="0">
                <a:latin typeface="Times New Roman" pitchFamily="18" charset="0"/>
              </a:rPr>
              <a:t>	</a:t>
            </a:r>
            <a:endParaRPr lang="en-US" altLang="ru-RU" sz="2400" smtClean="0">
              <a:latin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k</a:t>
            </a:r>
            <a:r>
              <a:rPr lang="ru-RU" altLang="ru-RU" sz="2400" smtClean="0">
                <a:latin typeface="Times New Roman" pitchFamily="18" charset="0"/>
              </a:rPr>
              <a:t> := </a:t>
            </a:r>
            <a:r>
              <a:rPr lang="en-US" altLang="ru-RU" sz="2400" smtClean="0">
                <a:latin typeface="Times New Roman" pitchFamily="18" charset="0"/>
              </a:rPr>
              <a:t>0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D146C01-F8D0-40A6-B1E1-3DDBF0D014C0}" type="slidenum">
              <a:rPr lang="ru-RU" altLang="ru-RU" smtClean="0"/>
              <a:pPr eaLnBrk="1" hangingPunct="1"/>
              <a:t>18</a:t>
            </a:fld>
            <a:endParaRPr lang="ru-RU" altLang="ru-RU" smtClean="0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8218487" cy="188913"/>
          </a:xfrm>
        </p:spPr>
        <p:txBody>
          <a:bodyPr/>
          <a:lstStyle/>
          <a:p>
            <a:endParaRPr lang="ru-RU" altLang="ru-RU" sz="4000" smtClean="0"/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113" y="188913"/>
            <a:ext cx="7848600" cy="6480175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Операция </a:t>
            </a:r>
            <a:r>
              <a:rPr lang="en-US" altLang="ru-RU" sz="2400" smtClean="0">
                <a:latin typeface="Times New Roman" pitchFamily="18" charset="0"/>
              </a:rPr>
              <a:t>–</a:t>
            </a:r>
            <a:r>
              <a:rPr lang="ru-RU" altLang="ru-RU" sz="2400" smtClean="0">
                <a:latin typeface="Times New Roman" pitchFamily="18" charset="0"/>
              </a:rPr>
              <a:t> , </a:t>
            </a:r>
            <a:r>
              <a:rPr lang="en-US" altLang="ru-RU" sz="2400" smtClean="0">
                <a:latin typeface="Times New Roman" pitchFamily="18" charset="0"/>
              </a:rPr>
              <a:t>k = 0,    </a:t>
            </a:r>
            <a:r>
              <a:rPr lang="ru-RU" altLang="ru-RU" sz="2400" smtClean="0">
                <a:latin typeface="Times New Roman" pitchFamily="18" charset="0"/>
              </a:rPr>
              <a:t>в магазине: </a:t>
            </a:r>
            <a:r>
              <a:rPr lang="en-US" altLang="ru-RU" sz="2400" smtClean="0">
                <a:latin typeface="Times New Roman" pitchFamily="18" charset="0"/>
              </a:rPr>
              <a:t> t1(1) </a:t>
            </a:r>
            <a:r>
              <a:rPr lang="ru-RU" altLang="ru-RU" sz="2400" smtClean="0">
                <a:latin typeface="Times New Roman" pitchFamily="18" charset="0"/>
              </a:rPr>
              <a:t>  </a:t>
            </a:r>
            <a:r>
              <a:rPr lang="en-US" altLang="ru-RU" sz="2400" smtClean="0">
                <a:latin typeface="Times New Roman" pitchFamily="18" charset="0"/>
              </a:rPr>
              <a:t>L(0)  i(0)  d(0)</a:t>
            </a:r>
            <a:endParaRPr lang="ru-RU" altLang="ru-RU" sz="2400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генерируемые команды: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		</a:t>
            </a:r>
            <a:r>
              <a:rPr lang="en-US" altLang="ru-RU" sz="2400" smtClean="0">
                <a:latin typeface="Times New Roman" pitchFamily="18" charset="0"/>
              </a:rPr>
              <a:t>Load  	0  i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</a:t>
            </a:r>
            <a:r>
              <a:rPr lang="en-US" altLang="ru-RU" sz="2400" smtClean="0">
                <a:latin typeface="Times New Roman" pitchFamily="18" charset="0"/>
              </a:rPr>
              <a:t>	Sub	0  </a:t>
            </a:r>
            <a:r>
              <a:rPr lang="ru-RU" altLang="ru-RU" sz="2400" smtClean="0">
                <a:latin typeface="Times New Roman" pitchFamily="18" charset="0"/>
              </a:rPr>
              <a:t>d</a:t>
            </a:r>
            <a:endParaRPr lang="en-US" altLang="ru-RU" sz="2400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</a:t>
            </a:r>
            <a:r>
              <a:rPr lang="en-US" altLang="ru-RU" sz="2400" smtClean="0">
                <a:latin typeface="Times New Roman" pitchFamily="18" charset="0"/>
              </a:rPr>
              <a:t>k</a:t>
            </a:r>
            <a:r>
              <a:rPr lang="ru-RU" altLang="ru-RU" sz="2400" smtClean="0">
                <a:latin typeface="Times New Roman" pitchFamily="18" charset="0"/>
              </a:rPr>
              <a:t> := 3 </a:t>
            </a:r>
            <a:endParaRPr lang="en-US" altLang="ru-RU" sz="2400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Операция </a:t>
            </a:r>
            <a:r>
              <a:rPr lang="en-US" altLang="ru-RU" sz="2400" b="1" smtClean="0">
                <a:latin typeface="Times New Roman" pitchFamily="18" charset="0"/>
              </a:rPr>
              <a:t>&lt;i&gt;</a:t>
            </a:r>
            <a:r>
              <a:rPr lang="ru-RU" altLang="ru-RU" sz="2400" smtClean="0">
                <a:latin typeface="Times New Roman" pitchFamily="18" charset="0"/>
              </a:rPr>
              <a:t> , </a:t>
            </a:r>
            <a:r>
              <a:rPr lang="en-US" altLang="ru-RU" sz="2400" smtClean="0">
                <a:latin typeface="Times New Roman" pitchFamily="18" charset="0"/>
              </a:rPr>
              <a:t>k = 3,  </a:t>
            </a:r>
            <a:r>
              <a:rPr lang="ru-RU" altLang="ru-RU" sz="2400" smtClean="0">
                <a:latin typeface="Times New Roman" pitchFamily="18" charset="0"/>
              </a:rPr>
              <a:t>в магазине: </a:t>
            </a:r>
            <a:r>
              <a:rPr lang="en-US" altLang="ru-RU" sz="2400" smtClean="0">
                <a:latin typeface="Times New Roman" pitchFamily="18" charset="0"/>
              </a:rPr>
              <a:t>t1(1) 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en-US" altLang="ru-RU" sz="2400" smtClean="0">
                <a:latin typeface="Times New Roman" pitchFamily="18" charset="0"/>
              </a:rPr>
              <a:t>L(0)  0(0)</a:t>
            </a:r>
            <a:endParaRPr lang="ru-RU" altLang="ru-RU" sz="2400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генерируемые команды: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Mul</a:t>
            </a:r>
            <a:r>
              <a:rPr lang="ru-RU" altLang="ru-RU" sz="2400" smtClean="0">
                <a:latin typeface="Times New Roman" pitchFamily="18" charset="0"/>
              </a:rPr>
              <a:t>	0</a:t>
            </a:r>
            <a:r>
              <a:rPr lang="en-US" altLang="ru-RU" sz="2400" smtClean="0">
                <a:latin typeface="Times New Roman" pitchFamily="18" charset="0"/>
              </a:rPr>
              <a:t>  L </a:t>
            </a:r>
            <a:r>
              <a:rPr lang="ru-RU" altLang="ru-RU" sz="2400" smtClean="0">
                <a:latin typeface="Times New Roman" pitchFamily="18" charset="0"/>
              </a:rPr>
              <a:t>+</a:t>
            </a:r>
            <a:r>
              <a:rPr lang="en-US" altLang="ru-RU" sz="2400" smtClean="0">
                <a:latin typeface="Times New Roman" pitchFamily="18" charset="0"/>
              </a:rPr>
              <a:t> v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	Add	0  L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	St	0  t2</a:t>
            </a:r>
            <a:r>
              <a:rPr lang="ru-RU" altLang="ru-RU" sz="2400" smtClean="0">
                <a:latin typeface="Times New Roman" pitchFamily="18" charset="0"/>
              </a:rPr>
              <a:t>	</a:t>
            </a:r>
            <a:endParaRPr lang="en-US" altLang="ru-RU" sz="2400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k</a:t>
            </a:r>
            <a:r>
              <a:rPr lang="ru-RU" altLang="ru-RU" sz="2400" smtClean="0">
                <a:latin typeface="Times New Roman" pitchFamily="18" charset="0"/>
              </a:rPr>
              <a:t> := </a:t>
            </a:r>
            <a:r>
              <a:rPr lang="en-US" altLang="ru-RU" sz="2400" smtClean="0">
                <a:latin typeface="Times New Roman" pitchFamily="18" charset="0"/>
              </a:rPr>
              <a:t>0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Операция :</a:t>
            </a:r>
            <a:r>
              <a:rPr lang="en-US" altLang="ru-RU" sz="2400" b="1" smtClean="0">
                <a:latin typeface="Times New Roman" pitchFamily="18" charset="0"/>
              </a:rPr>
              <a:t>=</a:t>
            </a:r>
            <a:r>
              <a:rPr lang="ru-RU" altLang="ru-RU" sz="2400" smtClean="0">
                <a:latin typeface="Times New Roman" pitchFamily="18" charset="0"/>
              </a:rPr>
              <a:t> , </a:t>
            </a:r>
            <a:r>
              <a:rPr lang="en-US" altLang="ru-RU" sz="2400" smtClean="0">
                <a:latin typeface="Times New Roman" pitchFamily="18" charset="0"/>
              </a:rPr>
              <a:t>k = 3,  </a:t>
            </a:r>
            <a:r>
              <a:rPr lang="ru-RU" altLang="ru-RU" sz="2400" smtClean="0">
                <a:latin typeface="Times New Roman" pitchFamily="18" charset="0"/>
              </a:rPr>
              <a:t>в магазине: </a:t>
            </a:r>
            <a:r>
              <a:rPr lang="en-US" altLang="ru-RU" sz="2400" smtClean="0">
                <a:latin typeface="Times New Roman" pitchFamily="18" charset="0"/>
              </a:rPr>
              <a:t>t1(1)</a:t>
            </a:r>
            <a:r>
              <a:rPr lang="ru-RU" altLang="ru-RU" sz="2400" smtClean="0">
                <a:latin typeface="Times New Roman" pitchFamily="18" charset="0"/>
              </a:rPr>
              <a:t>  </a:t>
            </a:r>
            <a:r>
              <a:rPr lang="en-US" altLang="ru-RU" sz="2400" smtClean="0">
                <a:latin typeface="Times New Roman" pitchFamily="18" charset="0"/>
              </a:rPr>
              <a:t>t</a:t>
            </a:r>
            <a:r>
              <a:rPr lang="ru-RU" altLang="ru-RU" sz="2400" smtClean="0">
                <a:latin typeface="Times New Roman" pitchFamily="18" charset="0"/>
              </a:rPr>
              <a:t>2</a:t>
            </a:r>
            <a:r>
              <a:rPr lang="en-US" altLang="ru-RU" sz="2400" smtClean="0">
                <a:latin typeface="Times New Roman" pitchFamily="18" charset="0"/>
              </a:rPr>
              <a:t>(1)</a:t>
            </a:r>
            <a:endParaRPr lang="ru-RU" altLang="ru-RU" sz="2400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генерируемые команды: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Load  	</a:t>
            </a:r>
            <a:r>
              <a:rPr lang="ru-RU" altLang="ru-RU" sz="2400" smtClean="0">
                <a:latin typeface="Times New Roman" pitchFamily="18" charset="0"/>
              </a:rPr>
              <a:t>1</a:t>
            </a:r>
            <a:r>
              <a:rPr lang="en-US" altLang="ru-RU" sz="2400" smtClean="0">
                <a:latin typeface="Times New Roman" pitchFamily="18" charset="0"/>
              </a:rPr>
              <a:t>  t2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</a:t>
            </a:r>
            <a:r>
              <a:rPr lang="en-US" altLang="ru-RU" sz="2400" smtClean="0">
                <a:latin typeface="Times New Roman" pitchFamily="18" charset="0"/>
              </a:rPr>
              <a:t>	St	1  t1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</a:t>
            </a:r>
            <a:r>
              <a:rPr lang="en-US" altLang="ru-RU" sz="2400" smtClean="0">
                <a:latin typeface="Times New Roman" pitchFamily="18" charset="0"/>
              </a:rPr>
              <a:t>k</a:t>
            </a:r>
            <a:r>
              <a:rPr lang="ru-RU" altLang="ru-RU" sz="2400" smtClean="0">
                <a:latin typeface="Times New Roman" pitchFamily="18" charset="0"/>
              </a:rPr>
              <a:t> := 0  магазин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пуст.</a:t>
            </a:r>
            <a:endParaRPr lang="en-US" altLang="ru-RU" sz="2400" smtClean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87B1D3A-A96A-481D-A65E-CE7ABE13ECFD}" type="slidenum">
              <a:rPr lang="ru-RU" altLang="ru-RU" smtClean="0"/>
              <a:pPr eaLnBrk="1" hangingPunct="1"/>
              <a:t>19</a:t>
            </a:fld>
            <a:endParaRPr lang="ru-RU" altLang="ru-RU" smtClean="0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8218487" cy="188913"/>
          </a:xfrm>
        </p:spPr>
        <p:txBody>
          <a:bodyPr/>
          <a:lstStyle/>
          <a:p>
            <a:endParaRPr lang="ru-RU" altLang="ru-RU" sz="4000" smtClean="0"/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113" y="188913"/>
            <a:ext cx="7848600" cy="6480175"/>
          </a:xfrm>
        </p:spPr>
        <p:txBody>
          <a:bodyPr/>
          <a:lstStyle/>
          <a:p>
            <a:pPr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Результат:</a:t>
            </a:r>
          </a:p>
          <a:p>
            <a:pPr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		</a:t>
            </a:r>
            <a:r>
              <a:rPr lang="en-US" altLang="ru-RU" sz="2400" smtClean="0">
                <a:latin typeface="Times New Roman" pitchFamily="18" charset="0"/>
              </a:rPr>
              <a:t>Load	0   j</a:t>
            </a:r>
            <a:endParaRPr lang="ru-RU" altLang="ru-RU" sz="2400" smtClean="0">
              <a:latin typeface="Times New Roman" pitchFamily="18" charset="0"/>
            </a:endParaRPr>
          </a:p>
          <a:p>
            <a:pPr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Add</a:t>
            </a:r>
            <a:r>
              <a:rPr lang="ru-RU" altLang="ru-RU" sz="2400" smtClean="0">
                <a:latin typeface="Times New Roman" pitchFamily="18" charset="0"/>
              </a:rPr>
              <a:t>	</a:t>
            </a:r>
            <a:r>
              <a:rPr lang="en-US" altLang="ru-RU" sz="2400" smtClean="0">
                <a:latin typeface="Times New Roman" pitchFamily="18" charset="0"/>
              </a:rPr>
              <a:t>0  a</a:t>
            </a:r>
            <a:endParaRPr lang="ru-RU" altLang="ru-RU" sz="2400" smtClean="0">
              <a:latin typeface="Times New Roman" pitchFamily="18" charset="0"/>
            </a:endParaRPr>
          </a:p>
          <a:p>
            <a:pPr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Mul</a:t>
            </a:r>
            <a:r>
              <a:rPr lang="ru-RU" altLang="ru-RU" sz="2400" smtClean="0">
                <a:latin typeface="Times New Roman" pitchFamily="18" charset="0"/>
              </a:rPr>
              <a:t>	0</a:t>
            </a:r>
            <a:r>
              <a:rPr lang="en-US" altLang="ru-RU" sz="2400" smtClean="0">
                <a:latin typeface="Times New Roman" pitchFamily="18" charset="0"/>
              </a:rPr>
              <a:t>  M </a:t>
            </a:r>
            <a:r>
              <a:rPr lang="ru-RU" altLang="ru-RU" sz="2400" smtClean="0">
                <a:latin typeface="Times New Roman" pitchFamily="18" charset="0"/>
              </a:rPr>
              <a:t>+</a:t>
            </a:r>
            <a:r>
              <a:rPr lang="en-US" altLang="ru-RU" sz="2400" smtClean="0">
                <a:latin typeface="Times New Roman" pitchFamily="18" charset="0"/>
              </a:rPr>
              <a:t> v</a:t>
            </a:r>
          </a:p>
          <a:p>
            <a:pPr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	Add	0  M</a:t>
            </a:r>
          </a:p>
          <a:p>
            <a:pPr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	St	0  t1</a:t>
            </a:r>
            <a:r>
              <a:rPr lang="ru-RU" altLang="ru-RU" sz="2400" smtClean="0">
                <a:latin typeface="Times New Roman" pitchFamily="18" charset="0"/>
              </a:rPr>
              <a:t>	</a:t>
            </a:r>
            <a:endParaRPr lang="en-US" altLang="ru-RU" sz="2400" smtClean="0">
              <a:latin typeface="Times New Roman" pitchFamily="18" charset="0"/>
            </a:endParaRPr>
          </a:p>
          <a:p>
            <a:pPr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Load  	0  i</a:t>
            </a:r>
          </a:p>
          <a:p>
            <a:pPr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</a:t>
            </a:r>
            <a:r>
              <a:rPr lang="en-US" altLang="ru-RU" sz="2400" smtClean="0">
                <a:latin typeface="Times New Roman" pitchFamily="18" charset="0"/>
              </a:rPr>
              <a:t>	Sub	0  </a:t>
            </a:r>
            <a:r>
              <a:rPr lang="ru-RU" altLang="ru-RU" sz="2400" smtClean="0">
                <a:latin typeface="Times New Roman" pitchFamily="18" charset="0"/>
              </a:rPr>
              <a:t>d</a:t>
            </a:r>
            <a:endParaRPr lang="en-US" altLang="ru-RU" sz="2400" smtClean="0">
              <a:latin typeface="Times New Roman" pitchFamily="18" charset="0"/>
            </a:endParaRPr>
          </a:p>
          <a:p>
            <a:pPr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Mul</a:t>
            </a:r>
            <a:r>
              <a:rPr lang="ru-RU" altLang="ru-RU" sz="2400" smtClean="0">
                <a:latin typeface="Times New Roman" pitchFamily="18" charset="0"/>
              </a:rPr>
              <a:t>	0</a:t>
            </a:r>
            <a:r>
              <a:rPr lang="en-US" altLang="ru-RU" sz="2400" smtClean="0">
                <a:latin typeface="Times New Roman" pitchFamily="18" charset="0"/>
              </a:rPr>
              <a:t>  L </a:t>
            </a:r>
            <a:r>
              <a:rPr lang="ru-RU" altLang="ru-RU" sz="2400" smtClean="0">
                <a:latin typeface="Times New Roman" pitchFamily="18" charset="0"/>
              </a:rPr>
              <a:t>+</a:t>
            </a:r>
            <a:r>
              <a:rPr lang="en-US" altLang="ru-RU" sz="2400" smtClean="0">
                <a:latin typeface="Times New Roman" pitchFamily="18" charset="0"/>
              </a:rPr>
              <a:t> v</a:t>
            </a:r>
          </a:p>
          <a:p>
            <a:pPr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	Add	0  L</a:t>
            </a:r>
          </a:p>
          <a:p>
            <a:pPr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	St	0  t2</a:t>
            </a:r>
            <a:r>
              <a:rPr lang="ru-RU" altLang="ru-RU" sz="2400" smtClean="0">
                <a:latin typeface="Times New Roman" pitchFamily="18" charset="0"/>
              </a:rPr>
              <a:t>	</a:t>
            </a:r>
            <a:endParaRPr lang="en-US" altLang="ru-RU" sz="2400" smtClean="0">
              <a:latin typeface="Times New Roman" pitchFamily="18" charset="0"/>
            </a:endParaRPr>
          </a:p>
          <a:p>
            <a:pPr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</a:t>
            </a:r>
            <a:r>
              <a:rPr lang="ru-RU" altLang="ru-RU" sz="2400" smtClean="0">
                <a:latin typeface="Times New Roman" pitchFamily="18" charset="0"/>
              </a:rPr>
              <a:t>	</a:t>
            </a:r>
            <a:r>
              <a:rPr lang="en-US" altLang="ru-RU" sz="2400" smtClean="0">
                <a:latin typeface="Times New Roman" pitchFamily="18" charset="0"/>
              </a:rPr>
              <a:t>Load  	</a:t>
            </a:r>
            <a:r>
              <a:rPr lang="ru-RU" altLang="ru-RU" sz="2400" smtClean="0">
                <a:latin typeface="Times New Roman" pitchFamily="18" charset="0"/>
              </a:rPr>
              <a:t>1</a:t>
            </a:r>
            <a:r>
              <a:rPr lang="en-US" altLang="ru-RU" sz="2400" smtClean="0">
                <a:latin typeface="Times New Roman" pitchFamily="18" charset="0"/>
              </a:rPr>
              <a:t>  t2</a:t>
            </a:r>
          </a:p>
          <a:p>
            <a:pPr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</a:t>
            </a:r>
            <a:r>
              <a:rPr lang="en-US" altLang="ru-RU" sz="2400" smtClean="0">
                <a:latin typeface="Times New Roman" pitchFamily="18" charset="0"/>
              </a:rPr>
              <a:t>	St	1  t1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Оформление по умолчанию">
  <a:themeElements>
    <a:clrScheme name="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Оформление по умолчанию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4499</TotalTime>
  <Words>350</Words>
  <Application>Microsoft Office PowerPoint</Application>
  <PresentationFormat>Экран (4:3)</PresentationFormat>
  <Paragraphs>248</Paragraphs>
  <Slides>19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0" baseType="lpstr">
      <vt:lpstr>Оформление по умолчанию</vt:lpstr>
      <vt:lpstr>ТОМСКИЙ ГОСУДАРСТВЕННЫЙ УНИВЕРСИТЕТ </vt:lpstr>
      <vt:lpstr>ГЕНЕРАЦИЯ КОМАНД В КОМПИЛЯТОРЕ</vt:lpstr>
      <vt:lpstr>Одноадресная система команд</vt:lpstr>
      <vt:lpstr>Генерация команд по сгенерированной ОПС интерпретатором </vt:lpstr>
      <vt:lpstr>Генерация команд для арифметических выражений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Выделение памяти для массивов </vt:lpstr>
      <vt:lpstr>Генерация команд выделения памяти</vt:lpstr>
      <vt:lpstr>Презентация PowerPoint</vt:lpstr>
      <vt:lpstr>Презентация PowerPoint</vt:lpstr>
      <vt:lpstr>Генерация команд, реализующих операцию индексирования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ТГУ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ТЕОРИЯ АВТОМАТОВ И ФОРМАЛЬНЫХ ЯЗЫКОВ</dc:title>
  <dc:creator>Вход</dc:creator>
  <cp:lastModifiedBy>User</cp:lastModifiedBy>
  <cp:revision>126</cp:revision>
  <dcterms:created xsi:type="dcterms:W3CDTF">2009-09-02T15:38:32Z</dcterms:created>
  <dcterms:modified xsi:type="dcterms:W3CDTF">2024-02-03T16:48:29Z</dcterms:modified>
</cp:coreProperties>
</file>