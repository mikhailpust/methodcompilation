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96" r:id="rId2"/>
    <p:sldId id="376" r:id="rId3"/>
    <p:sldId id="377" r:id="rId4"/>
    <p:sldId id="378" r:id="rId5"/>
    <p:sldId id="379" r:id="rId6"/>
    <p:sldId id="383" r:id="rId7"/>
    <p:sldId id="381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80" r:id="rId18"/>
    <p:sldId id="395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9" autoAdjust="0"/>
    <p:restoredTop sz="94660"/>
  </p:normalViewPr>
  <p:slideViewPr>
    <p:cSldViewPr>
      <p:cViewPr varScale="1">
        <p:scale>
          <a:sx n="89" d="100"/>
          <a:sy n="89" d="100"/>
        </p:scale>
        <p:origin x="-108" y="-15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ED72169-3A5D-45DC-A6E0-AFAD9F6765F4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705FAEC-ACA9-4CC0-8D29-67B15E04F7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1027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57348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EBB068E2-40B1-4CAC-8F55-AA7F77913563}" type="slidenum">
              <a:rPr lang="ru-RU" altLang="ru-RU" sz="1200"/>
              <a:pPr algn="r" eaLnBrk="1" hangingPunct="1"/>
              <a:t>1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07F10-91E6-4245-9905-B1209DDD470F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CE81A-22AC-4A92-927E-E1BC6C447FB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7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D830A-9C5B-4C32-A32F-084A8B58262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92BE0-3827-44C6-AEB4-3E352ADC6F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67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5433A-9336-4D88-98C8-9E6FC86B55D4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5AD70-FD1E-4B49-B334-46D64CC2F41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73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85C69-8867-4259-BC19-052338BB57C6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598C2-C508-46E7-9BA5-2B76B365B4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2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2426E-77A2-4CEE-A4CC-B566F98E425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66460-56C5-46C7-9670-57B477D5F3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8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73970-411A-46A5-9AC9-7A4B49016716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69661-FB95-4A78-AC9C-AF234D35BF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64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6B59A-5865-4470-8111-B090339F749A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41517-731B-4981-B7B6-B723C93ECBE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35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841E9-6C74-4E7A-9B4D-219174BF5910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F6152-00BA-4BCE-B1D4-902DECBB277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84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58748-CF5F-4F62-B486-3B03B0AA28C7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4BC7A-D283-4D78-93A2-FAE56A5C6B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36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65EB0-697A-4CF3-BAB3-52249A8B9955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D8147-44EB-481C-B5FD-8E13271ED2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81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F5383-6546-4D92-9229-929F5DAAC068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60725-FF88-469C-936A-7CDB09033B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642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A3245-C5AE-4B10-BE76-EB376E38BFE9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113B9-93B4-4531-BABE-1382CCE7F8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743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1D46E-269E-4CC7-8CAA-8D6BBD6639F1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E91B3-4263-4D18-B127-04290A9B44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30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D957EEF-7781-4737-B92F-EB0978470CB3}" type="datetime1">
              <a:rPr lang="ru-RU" altLang="ru-RU"/>
              <a:pPr>
                <a:defRPr/>
              </a:pPr>
              <a:t>03.02.2024</a:t>
            </a:fld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C99FCFB-8F5F-4F33-B39C-A4DACE6DC5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7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56324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AD986996-1F44-449A-9D14-02C93F86914F}" type="slidenum">
              <a:rPr lang="ru-RU" altLang="ru-RU" sz="1400"/>
              <a:pPr algn="r" eaLnBrk="1" hangingPunct="1"/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720725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Генерация команд сравнения и перехода</a:t>
            </a:r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395288" y="836613"/>
            <a:ext cx="8497887" cy="58324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/>
              <a:t>Команда сравнения</a:t>
            </a:r>
            <a:r>
              <a:rPr lang="en-US" altLang="ru-RU" sz="2400" b="1" smtClean="0"/>
              <a:t>:</a:t>
            </a:r>
            <a:endParaRPr lang="ru-RU" altLang="ru-RU" sz="2400" b="1" smtClean="0"/>
          </a:p>
          <a:p>
            <a:pPr marL="0" indent="0">
              <a:buFontTx/>
              <a:buNone/>
            </a:pPr>
            <a:r>
              <a:rPr lang="en-US" altLang="ru-RU" sz="2400" smtClean="0"/>
              <a:t>	</a:t>
            </a:r>
            <a:r>
              <a:rPr lang="en-US" altLang="ru-RU" sz="2400" smtClean="0">
                <a:latin typeface="Times New Roman" pitchFamily="18" charset="0"/>
              </a:rPr>
              <a:t> C   </a:t>
            </a:r>
            <a:r>
              <a:rPr lang="ru-RU" altLang="ru-RU" sz="2400" smtClean="0">
                <a:latin typeface="Times New Roman" pitchFamily="18" charset="0"/>
              </a:rPr>
              <a:t>&lt;признак&gt; &lt;операнд&gt;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сравнивает содержимое регистра сумматора с содержимым операнда. </a:t>
            </a:r>
          </a:p>
          <a:p>
            <a:pPr marL="0" indent="0">
              <a:buFontTx/>
              <a:buNone/>
            </a:pPr>
            <a:r>
              <a:rPr lang="ru-RU" altLang="ru-RU" sz="2200" b="1" smtClean="0"/>
              <a:t>Результат</a:t>
            </a:r>
            <a:r>
              <a:rPr lang="ru-RU" altLang="ru-RU" sz="2200" smtClean="0"/>
              <a:t> записывается в </a:t>
            </a:r>
            <a:r>
              <a:rPr lang="ru-RU" altLang="ru-RU" sz="2200" b="1" i="1" smtClean="0"/>
              <a:t>регистр состояний</a:t>
            </a:r>
            <a:r>
              <a:rPr lang="ru-RU" altLang="ru-RU" sz="2200" smtClean="0"/>
              <a:t>, который анализируется командами </a:t>
            </a:r>
            <a:r>
              <a:rPr lang="ru-RU" altLang="ru-RU" sz="2200" b="1" i="1" smtClean="0"/>
              <a:t>перехода</a:t>
            </a:r>
            <a:r>
              <a:rPr lang="ru-RU" altLang="ru-RU" sz="2200" smtClean="0"/>
              <a:t>: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&gt;	переход по условию больше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≥  	переход по условию больше или равно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&lt;  	переход по условию меньше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≤  	переход по условию меньше или равно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=  	переход по условию равно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≠	переход по условию не равно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	</a:t>
            </a:r>
            <a:r>
              <a:rPr lang="en-US" altLang="ru-RU" sz="2200" smtClean="0">
                <a:latin typeface="Times New Roman" pitchFamily="18" charset="0"/>
              </a:rPr>
              <a:t>J</a:t>
            </a:r>
            <a:r>
              <a:rPr lang="ru-RU" altLang="ru-RU" sz="2200" smtClean="0">
                <a:latin typeface="Times New Roman" pitchFamily="18" charset="0"/>
              </a:rPr>
              <a:t>	безусловный переход</a:t>
            </a:r>
          </a:p>
          <a:p>
            <a:pPr marL="0" indent="0"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Выполняют переход на команду, </a:t>
            </a:r>
            <a:r>
              <a:rPr lang="ru-RU" altLang="ru-RU" sz="2200" b="1" i="1" smtClean="0">
                <a:latin typeface="Times New Roman" pitchFamily="18" charset="0"/>
              </a:rPr>
              <a:t>номер</a:t>
            </a:r>
            <a:r>
              <a:rPr lang="ru-RU" altLang="ru-RU" sz="2200" smtClean="0">
                <a:latin typeface="Times New Roman" pitchFamily="18" charset="0"/>
              </a:rPr>
              <a:t> которой записан в операнде.</a:t>
            </a:r>
            <a:endParaRPr lang="ru-RU" altLang="ru-RU" smtClean="0"/>
          </a:p>
        </p:txBody>
      </p:sp>
      <p:sp>
        <p:nvSpPr>
          <p:cNvPr id="24580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81750"/>
            <a:ext cx="2411413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2C75A1D-CD88-4454-B35B-D3A1DA393688}" type="slidenum">
              <a:rPr lang="ru-RU" altLang="ru-RU" smtClean="0"/>
              <a:pPr eaLnBrk="1" hangingPunct="1"/>
              <a:t>2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395288" y="44450"/>
            <a:ext cx="8353425" cy="863600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Генерация команд сравнения</a:t>
            </a:r>
            <a:r>
              <a:rPr lang="en-US" altLang="ru-RU" sz="3200" smtClean="0">
                <a:solidFill>
                  <a:schemeClr val="accent2"/>
                </a:solidFill>
              </a:rPr>
              <a:t> “</a:t>
            </a:r>
            <a:r>
              <a:rPr lang="ru-RU" altLang="ru-RU" sz="3200" smtClean="0">
                <a:solidFill>
                  <a:schemeClr val="accent2"/>
                </a:solidFill>
              </a:rPr>
              <a:t>меньше</a:t>
            </a:r>
            <a:r>
              <a:rPr lang="en-US" altLang="ru-RU" sz="3200" smtClean="0">
                <a:solidFill>
                  <a:schemeClr val="accent2"/>
                </a:solidFill>
              </a:rPr>
              <a:t>”</a:t>
            </a:r>
            <a:r>
              <a:rPr lang="ru-RU" altLang="ru-RU" sz="3200" smtClean="0">
                <a:solidFill>
                  <a:schemeClr val="accent2"/>
                </a:solidFill>
              </a:rPr>
              <a:t> (&lt;) </a:t>
            </a:r>
          </a:p>
        </p:txBody>
      </p:sp>
      <p:sp>
        <p:nvSpPr>
          <p:cNvPr id="25603" name="Объект 2"/>
          <p:cNvSpPr>
            <a:spLocks noGrp="1"/>
          </p:cNvSpPr>
          <p:nvPr>
            <p:ph idx="1"/>
          </p:nvPr>
        </p:nvSpPr>
        <p:spPr>
          <a:xfrm>
            <a:off x="395288" y="908050"/>
            <a:ext cx="8569325" cy="576103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200" smtClean="0"/>
              <a:t>  Два верхних операнда в магазине: </a:t>
            </a:r>
            <a:r>
              <a:rPr lang="en-US" altLang="ru-RU" sz="2200" smtClean="0"/>
              <a:t>a </a:t>
            </a:r>
            <a:r>
              <a:rPr lang="ru-RU" altLang="ru-RU" sz="2200" smtClean="0"/>
              <a:t>и </a:t>
            </a:r>
            <a:r>
              <a:rPr lang="en-US" altLang="ru-RU" sz="2200" smtClean="0"/>
              <a:t>b</a:t>
            </a:r>
            <a:r>
              <a:rPr lang="ru-RU" altLang="ru-RU" sz="2200" smtClean="0"/>
              <a:t>. </a:t>
            </a:r>
          </a:p>
          <a:p>
            <a:pPr marL="0" indent="0">
              <a:buFontTx/>
              <a:buNone/>
            </a:pPr>
            <a:r>
              <a:rPr lang="ru-RU" altLang="ru-RU" sz="2200" smtClean="0"/>
              <a:t>  В переменной </a:t>
            </a:r>
            <a:r>
              <a:rPr lang="en-US" altLang="ru-RU" sz="2200" smtClean="0"/>
              <a:t>k</a:t>
            </a:r>
            <a:r>
              <a:rPr lang="ru-RU" altLang="ru-RU" sz="2200" smtClean="0"/>
              <a:t> - ссылка на элемент магазина, содержащий 0. </a:t>
            </a:r>
          </a:p>
          <a:p>
            <a:pPr marL="0" indent="0">
              <a:buFontTx/>
              <a:buNone/>
            </a:pPr>
            <a:r>
              <a:rPr lang="ru-RU" altLang="ru-RU" sz="2200" smtClean="0"/>
              <a:t>  </a:t>
            </a:r>
            <a:r>
              <a:rPr lang="en-US" altLang="ru-RU" sz="2200" smtClean="0"/>
              <a:t>t</a:t>
            </a:r>
            <a:r>
              <a:rPr lang="ru-RU" altLang="ru-RU" sz="2200" smtClean="0"/>
              <a:t>1 - временная переменная,</a:t>
            </a:r>
          </a:p>
          <a:p>
            <a:pPr marL="0" indent="0">
              <a:buFontTx/>
              <a:buNone/>
            </a:pPr>
            <a:r>
              <a:rPr lang="ru-RU" altLang="ru-RU" sz="2200" smtClean="0"/>
              <a:t>  «0» - адрес, где записана константа 0, </a:t>
            </a:r>
          </a:p>
          <a:p>
            <a:pPr marL="0" indent="0">
              <a:buFontTx/>
              <a:buNone/>
            </a:pPr>
            <a:r>
              <a:rPr lang="ru-RU" altLang="ru-RU" sz="2200" smtClean="0"/>
              <a:t>  «1» - адрес, где записана константа 1, </a:t>
            </a:r>
          </a:p>
          <a:p>
            <a:pPr marL="0" indent="0">
              <a:buFontTx/>
              <a:buNone/>
            </a:pPr>
            <a:r>
              <a:rPr lang="ru-RU" altLang="ru-RU" sz="2200" smtClean="0"/>
              <a:t>  </a:t>
            </a:r>
            <a:r>
              <a:rPr lang="en-US" altLang="ru-RU" sz="2200" smtClean="0"/>
              <a:t>p </a:t>
            </a:r>
            <a:r>
              <a:rPr lang="ru-RU" altLang="ru-RU" sz="2200" smtClean="0"/>
              <a:t> - признак косвенной адресации (0 или 1).</a:t>
            </a:r>
          </a:p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J&lt;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  <a:endParaRPr lang="ru-RU" altLang="ru-RU" smtClean="0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62B779-9C66-4513-A9B3-E3CBF8CF8C82}" type="slidenum">
              <a:rPr lang="ru-RU" altLang="ru-RU" smtClean="0"/>
              <a:pPr eaLnBrk="1" hangingPunct="1"/>
              <a:t>3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395288" y="44450"/>
            <a:ext cx="8353425" cy="215900"/>
          </a:xfrm>
        </p:spPr>
        <p:txBody>
          <a:bodyPr/>
          <a:lstStyle/>
          <a:p>
            <a:endParaRPr lang="en-US" altLang="ru-RU" sz="3200" smtClean="0">
              <a:solidFill>
                <a:schemeClr val="accent2"/>
              </a:solidFill>
            </a:endParaRPr>
          </a:p>
        </p:txBody>
      </p:sp>
      <p:sp>
        <p:nvSpPr>
          <p:cNvPr id="26627" name="Объект 2"/>
          <p:cNvSpPr>
            <a:spLocks noGrp="1"/>
          </p:cNvSpPr>
          <p:nvPr>
            <p:ph idx="1"/>
          </p:nvPr>
        </p:nvSpPr>
        <p:spPr>
          <a:xfrm>
            <a:off x="395288" y="188913"/>
            <a:ext cx="8569325" cy="64801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J≥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	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</a:p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≠ 0,</a:t>
            </a:r>
            <a:r>
              <a:rPr lang="en-US" altLang="ru-RU" sz="2400" b="1" smtClean="0">
                <a:latin typeface="Times New Roman" pitchFamily="18" charset="0"/>
              </a:rPr>
              <a:t> k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J≥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	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Во всех трёх случаях после генерации команд в магазин записывается 0, а в переменную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него.</a:t>
            </a: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659563" y="6308725"/>
            <a:ext cx="2133600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83DA480-28B5-4946-ABFB-20A6C10AEA5A}" type="slidenum">
              <a:rPr lang="ru-RU" altLang="ru-RU" smtClean="0"/>
              <a:pPr eaLnBrk="1" hangingPunct="1"/>
              <a:t>4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395288" y="44450"/>
            <a:ext cx="8353425" cy="215900"/>
          </a:xfrm>
        </p:spPr>
        <p:txBody>
          <a:bodyPr/>
          <a:lstStyle/>
          <a:p>
            <a:endParaRPr lang="en-US" altLang="ru-RU" sz="3200" smtClean="0">
              <a:solidFill>
                <a:schemeClr val="accent2"/>
              </a:solidFill>
            </a:endParaRPr>
          </a:p>
        </p:txBody>
      </p:sp>
      <p:sp>
        <p:nvSpPr>
          <p:cNvPr id="27651" name="Объект 2"/>
          <p:cNvSpPr>
            <a:spLocks noGrp="1"/>
          </p:cNvSpPr>
          <p:nvPr>
            <p:ph idx="1"/>
          </p:nvPr>
        </p:nvSpPr>
        <p:spPr>
          <a:xfrm>
            <a:off x="395288" y="188913"/>
            <a:ext cx="8569325" cy="64801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b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k</a:t>
            </a:r>
            <a:r>
              <a:rPr lang="ru-RU" altLang="ru-RU" sz="2400" b="1" smtClean="0">
                <a:latin typeface="Times New Roman" pitchFamily="18" charset="0"/>
              </a:rPr>
              <a:t> ≠ 0, то генерируются команды: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t1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0   «1»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≥	0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0   «0»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По ссылке </a:t>
            </a:r>
            <a:r>
              <a:rPr lang="en-US" altLang="ru-RU" sz="2400" smtClean="0">
                <a:latin typeface="Times New Roman" pitchFamily="18" charset="0"/>
              </a:rPr>
              <a:t>k </a:t>
            </a:r>
            <a:r>
              <a:rPr lang="ru-RU" altLang="ru-RU" sz="2400" smtClean="0">
                <a:latin typeface="Times New Roman" pitchFamily="18" charset="0"/>
              </a:rPr>
              <a:t>в магазин записывается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1, затем в магазин записывается 0, а в переменную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– ссылка на него.</a:t>
            </a:r>
          </a:p>
          <a:p>
            <a:pPr marL="0" indent="0">
              <a:buFontTx/>
              <a:buNone/>
            </a:pPr>
            <a:r>
              <a:rPr lang="ru-RU" altLang="ru-RU" sz="2400" b="1" i="1" smtClean="0"/>
              <a:t>После выполнения </a:t>
            </a:r>
            <a:r>
              <a:rPr lang="ru-RU" altLang="ru-RU" sz="2400" smtClean="0"/>
              <a:t>команд в регистре сумматора будет записано 1 (истина) или 0 (ложь).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Для генерации команд с </a:t>
            </a:r>
            <a:r>
              <a:rPr lang="ru-RU" altLang="ru-RU" sz="2400" b="1" i="1" smtClean="0"/>
              <a:t>другими операциями </a:t>
            </a:r>
            <a:r>
              <a:rPr lang="ru-RU" altLang="ru-RU" sz="2400" smtClean="0"/>
              <a:t>сравнения (в ОПС) надо заменить команду </a:t>
            </a:r>
            <a:r>
              <a:rPr lang="en-US" altLang="ru-RU" sz="2400" smtClean="0"/>
              <a:t>J</a:t>
            </a:r>
            <a:r>
              <a:rPr lang="ru-RU" altLang="ru-RU" sz="2400" smtClean="0"/>
              <a:t>&lt; (или </a:t>
            </a:r>
            <a:r>
              <a:rPr lang="en-US" altLang="ru-RU" sz="2400" smtClean="0"/>
              <a:t>J</a:t>
            </a:r>
            <a:r>
              <a:rPr lang="ru-RU" altLang="ru-RU" sz="2400" smtClean="0"/>
              <a:t>≥) другими командами условного перехода.</a:t>
            </a:r>
            <a:endParaRPr lang="ru-RU" altLang="ru-RU" smtClean="0"/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659563" y="6308725"/>
            <a:ext cx="2133600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04CE98-2830-42B1-BF7F-AE1BAC356943}" type="slidenum">
              <a:rPr lang="ru-RU" altLang="ru-RU" smtClean="0"/>
              <a:pPr eaLnBrk="1" hangingPunct="1"/>
              <a:t>5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720725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Генерация команд перехода</a:t>
            </a:r>
          </a:p>
        </p:txBody>
      </p:sp>
      <p:sp>
        <p:nvSpPr>
          <p:cNvPr id="29699" name="Объект 2"/>
          <p:cNvSpPr>
            <a:spLocks noGrp="1"/>
          </p:cNvSpPr>
          <p:nvPr>
            <p:ph idx="4294967295"/>
          </p:nvPr>
        </p:nvSpPr>
        <p:spPr>
          <a:xfrm>
            <a:off x="395288" y="836613"/>
            <a:ext cx="8497887" cy="58324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/>
              <a:t>Операция безусловного перехода – генерируется команда: </a:t>
            </a:r>
          </a:p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		</a:t>
            </a:r>
            <a:r>
              <a:rPr lang="en-US" altLang="ru-RU" sz="2400" b="1" smtClean="0">
                <a:latin typeface="Times New Roman" pitchFamily="18" charset="0"/>
              </a:rPr>
              <a:t>J	0</a:t>
            </a:r>
            <a:r>
              <a:rPr lang="ru-RU" altLang="ru-RU" sz="2400" b="1" smtClean="0">
                <a:latin typeface="Times New Roman" pitchFamily="18" charset="0"/>
              </a:rPr>
              <a:t>   </a:t>
            </a:r>
            <a:r>
              <a:rPr lang="en-US" altLang="ru-RU" sz="2400" b="1" smtClean="0">
                <a:latin typeface="Times New Roman" pitchFamily="18" charset="0"/>
              </a:rPr>
              <a:t>M: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где М: - метка перехода. </a:t>
            </a:r>
          </a:p>
          <a:p>
            <a:pPr marL="0" indent="0">
              <a:buFontTx/>
              <a:buNone/>
            </a:pPr>
            <a:endParaRPr lang="en-US" altLang="ru-RU" sz="2400" b="1" smtClean="0"/>
          </a:p>
          <a:p>
            <a:pPr marL="0" indent="0">
              <a:buFontTx/>
              <a:buNone/>
            </a:pPr>
            <a:r>
              <a:rPr lang="ru-RU" altLang="ru-RU" sz="2400" b="1" smtClean="0"/>
              <a:t>Операция перехода по условию «ложь».</a:t>
            </a:r>
            <a:r>
              <a:rPr lang="ru-RU" altLang="ru-RU" sz="2400" smtClean="0"/>
              <a:t> В магазине: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	</a:t>
            </a:r>
            <a:r>
              <a:rPr lang="en-US" altLang="ru-RU" sz="2400" smtClean="0"/>
              <a:t>a – </a:t>
            </a:r>
            <a:r>
              <a:rPr lang="ru-RU" altLang="ru-RU" sz="2400" smtClean="0"/>
              <a:t>логическое значение, 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	М: - метка перехода. </a:t>
            </a:r>
          </a:p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	</a:t>
            </a:r>
            <a:r>
              <a:rPr lang="ru-RU" altLang="ru-RU" sz="2400" smtClean="0">
                <a:latin typeface="Times New Roman" pitchFamily="18" charset="0"/>
              </a:rPr>
              <a:t>0   «1»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В магазин ничего не записывается,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 0.</a:t>
            </a:r>
          </a:p>
        </p:txBody>
      </p:sp>
      <p:sp>
        <p:nvSpPr>
          <p:cNvPr id="29700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D8170776-3212-4A0C-9DA8-A2279F18C9E4}" type="slidenum">
              <a:rPr lang="ru-RU" altLang="ru-RU" sz="1400"/>
              <a:pPr algn="r" eaLnBrk="1" hangingPunct="1"/>
              <a:t>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15900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0723" name="Объект 2"/>
          <p:cNvSpPr>
            <a:spLocks noGrp="1"/>
          </p:cNvSpPr>
          <p:nvPr>
            <p:ph idx="4294967295"/>
          </p:nvPr>
        </p:nvSpPr>
        <p:spPr>
          <a:xfrm>
            <a:off x="395288" y="404813"/>
            <a:ext cx="8497887" cy="62642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≠ 0, </a:t>
            </a:r>
            <a:r>
              <a:rPr lang="en-US" altLang="ru-RU" sz="2400" b="1" smtClean="0">
                <a:latin typeface="Times New Roman" pitchFamily="18" charset="0"/>
              </a:rPr>
              <a:t>k</a:t>
            </a:r>
            <a:r>
              <a:rPr lang="ru-RU" altLang="ru-RU" sz="2400" b="1" smtClean="0">
                <a:latin typeface="Times New Roman" pitchFamily="18" charset="0"/>
              </a:rPr>
              <a:t> = 0, то генерируются команды:</a:t>
            </a:r>
            <a:endParaRPr lang="en-US" altLang="ru-RU" sz="2400" b="1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С	0   «1»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≠	0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В магазин ничего не записывается,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 0.</a:t>
            </a:r>
          </a:p>
          <a:p>
            <a:pPr marL="0" indent="0"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</a:t>
            </a:r>
            <a:r>
              <a:rPr lang="en-US" altLang="ru-RU" sz="2400" b="1" smtClean="0">
                <a:latin typeface="Times New Roman" pitchFamily="18" charset="0"/>
              </a:rPr>
              <a:t>a</a:t>
            </a:r>
            <a:r>
              <a:rPr lang="ru-RU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ru-RU" altLang="ru-RU" sz="2400" b="1" smtClean="0">
                <a:latin typeface="Times New Roman" pitchFamily="18" charset="0"/>
              </a:rPr>
              <a:t> 0, </a:t>
            </a:r>
            <a:r>
              <a:rPr lang="en-US" altLang="ru-RU" sz="2400" b="1" smtClean="0">
                <a:latin typeface="Times New Roman" pitchFamily="18" charset="0"/>
              </a:rPr>
              <a:t>k</a:t>
            </a:r>
            <a:r>
              <a:rPr lang="ru-RU" altLang="ru-RU" sz="2400" b="1" smtClean="0">
                <a:latin typeface="Times New Roman" pitchFamily="18" charset="0"/>
              </a:rPr>
              <a:t> </a:t>
            </a:r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ru-RU" altLang="ru-RU" sz="2400" b="1" smtClean="0">
                <a:latin typeface="Times New Roman" pitchFamily="18" charset="0"/>
              </a:rPr>
              <a:t> 0, то генерируются команды:</a:t>
            </a:r>
            <a:endParaRPr lang="en-US" altLang="ru-RU" sz="2400" b="1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t1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p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С	0   «1»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≠	0 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После генерации команд по ссылке </a:t>
            </a:r>
            <a:r>
              <a:rPr lang="en-US" altLang="ru-RU" sz="2400" smtClean="0">
                <a:latin typeface="Times New Roman" pitchFamily="18" charset="0"/>
              </a:rPr>
              <a:t>k </a:t>
            </a:r>
            <a:r>
              <a:rPr lang="ru-RU" altLang="ru-RU" sz="2400" smtClean="0">
                <a:latin typeface="Times New Roman" pitchFamily="18" charset="0"/>
              </a:rPr>
              <a:t>в магазин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записывается </a:t>
            </a:r>
            <a:r>
              <a:rPr lang="en-US" altLang="ru-RU" sz="2400" smtClean="0">
                <a:latin typeface="Times New Roman" pitchFamily="18" charset="0"/>
              </a:rPr>
              <a:t>t</a:t>
            </a:r>
            <a:r>
              <a:rPr lang="ru-RU" altLang="ru-RU" sz="2400" smtClean="0">
                <a:latin typeface="Times New Roman" pitchFamily="18" charset="0"/>
              </a:rPr>
              <a:t>1, </a:t>
            </a:r>
            <a:r>
              <a:rPr lang="en-US" altLang="ru-RU" sz="2400" smtClean="0">
                <a:latin typeface="Times New Roman" pitchFamily="18" charset="0"/>
              </a:rPr>
              <a:t>k</a:t>
            </a:r>
            <a:r>
              <a:rPr lang="ru-RU" altLang="ru-RU" sz="2400" smtClean="0">
                <a:latin typeface="Times New Roman" pitchFamily="18" charset="0"/>
              </a:rPr>
              <a:t> := 0.</a:t>
            </a:r>
          </a:p>
          <a:p>
            <a:pPr marL="0" indent="0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30724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7E2C9E6-5155-43C4-8EE6-C8E0B02DC8EA}" type="slidenum">
              <a:rPr lang="ru-RU" altLang="ru-RU" sz="1400"/>
              <a:pPr algn="r" eaLnBrk="1" hangingPunct="1"/>
              <a:t>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1747" name="Объект 2"/>
          <p:cNvSpPr>
            <a:spLocks noGrp="1"/>
          </p:cNvSpPr>
          <p:nvPr>
            <p:ph idx="4294967295"/>
          </p:nvPr>
        </p:nvSpPr>
        <p:spPr>
          <a:xfrm>
            <a:off x="323850" y="188913"/>
            <a:ext cx="8497888" cy="64801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Пример генерации команд для условного оператора</a:t>
            </a:r>
            <a:endParaRPr lang="ru-RU" altLang="ru-RU" sz="2400" b="1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ОПС: 	</a:t>
            </a:r>
            <a:r>
              <a:rPr lang="en-US" altLang="ru-RU" sz="2400" smtClean="0">
                <a:latin typeface="Times New Roman" pitchFamily="18" charset="0"/>
              </a:rPr>
              <a:t>a b &lt; M1</a:t>
            </a:r>
            <a:r>
              <a:rPr lang="en-US" altLang="ru-RU" sz="2400" b="1" smtClean="0">
                <a:latin typeface="Times New Roman" pitchFamily="18" charset="0"/>
              </a:rPr>
              <a:t> jf </a:t>
            </a:r>
            <a:r>
              <a:rPr lang="en-US" altLang="ru-RU" sz="2400" smtClean="0">
                <a:latin typeface="Times New Roman" pitchFamily="18" charset="0"/>
              </a:rPr>
              <a:t> a b := M2</a:t>
            </a:r>
            <a:r>
              <a:rPr lang="en-US" altLang="ru-RU" sz="2400" b="1" smtClean="0">
                <a:latin typeface="Times New Roman" pitchFamily="18" charset="0"/>
              </a:rPr>
              <a:t>  j  </a:t>
            </a:r>
            <a:r>
              <a:rPr lang="en-US" altLang="ru-RU" sz="2400" smtClean="0">
                <a:latin typeface="Times New Roman" pitchFamily="18" charset="0"/>
              </a:rPr>
              <a:t>b a :=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	</a:t>
            </a:r>
            <a:r>
              <a:rPr lang="ru-RU" altLang="ru-RU" sz="2400" smtClean="0">
                <a:latin typeface="Times New Roman" pitchFamily="18" charset="0"/>
              </a:rPr>
              <a:t>       </a:t>
            </a:r>
            <a:r>
              <a:rPr lang="en-US" altLang="ru-RU" sz="2400" smtClean="0">
                <a:latin typeface="Times New Roman" pitchFamily="18" charset="0"/>
              </a:rPr>
              <a:t>		    </a:t>
            </a:r>
            <a:r>
              <a:rPr lang="ru-RU" altLang="ru-RU" sz="2400" smtClean="0">
                <a:latin typeface="Times New Roman" pitchFamily="18" charset="0"/>
              </a:rPr>
              <a:t> ↑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↑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	</a:t>
            </a:r>
            <a:r>
              <a:rPr lang="en-US" altLang="ru-RU" sz="2400" smtClean="0">
                <a:latin typeface="Times New Roman" pitchFamily="18" charset="0"/>
              </a:rPr>
              <a:t>       		   M</a:t>
            </a:r>
            <a:r>
              <a:rPr lang="ru-RU" altLang="ru-RU" sz="2400" smtClean="0">
                <a:latin typeface="Times New Roman" pitchFamily="18" charset="0"/>
              </a:rPr>
              <a:t>1	</a:t>
            </a:r>
            <a:r>
              <a:rPr lang="en-US" altLang="ru-RU" sz="2400" smtClean="0">
                <a:latin typeface="Times New Roman" pitchFamily="18" charset="0"/>
              </a:rPr>
              <a:t>  M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оператор: 	</a:t>
            </a:r>
            <a:r>
              <a:rPr lang="en-US" altLang="ru-RU" sz="2400" b="1" smtClean="0">
                <a:latin typeface="Times New Roman" pitchFamily="18" charset="0"/>
              </a:rPr>
              <a:t>if</a:t>
            </a:r>
            <a:r>
              <a:rPr lang="en-US" altLang="ru-RU" sz="2400" smtClean="0">
                <a:latin typeface="Times New Roman" pitchFamily="18" charset="0"/>
              </a:rPr>
              <a:t>  a &lt; b  </a:t>
            </a:r>
            <a:r>
              <a:rPr lang="en-US" altLang="ru-RU" sz="2400" b="1" smtClean="0">
                <a:latin typeface="Times New Roman" pitchFamily="18" charset="0"/>
              </a:rPr>
              <a:t>then</a:t>
            </a:r>
            <a:r>
              <a:rPr lang="en-US" altLang="ru-RU" sz="2400" smtClean="0">
                <a:latin typeface="Times New Roman" pitchFamily="18" charset="0"/>
              </a:rPr>
              <a:t>  a := b  </a:t>
            </a:r>
            <a:r>
              <a:rPr lang="en-US" altLang="ru-RU" sz="2400" b="1" smtClean="0">
                <a:latin typeface="Times New Roman" pitchFamily="18" charset="0"/>
              </a:rPr>
              <a:t>else</a:t>
            </a:r>
            <a:r>
              <a:rPr lang="en-US" altLang="ru-RU" sz="2400" smtClean="0">
                <a:latin typeface="Times New Roman" pitchFamily="18" charset="0"/>
              </a:rPr>
              <a:t>  b := a</a:t>
            </a:r>
            <a:r>
              <a:rPr lang="ru-RU" altLang="ru-RU" sz="2400" smtClean="0"/>
              <a:t> 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  <a:latin typeface="Times New Roman" pitchFamily="18" charset="0"/>
              </a:rPr>
              <a:t>Шаги работы генератора команд:</a:t>
            </a: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&lt;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a(0)  b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J≥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k:=1</a:t>
            </a:r>
          </a:p>
        </p:txBody>
      </p:sp>
      <p:sp>
        <p:nvSpPr>
          <p:cNvPr id="31748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2AA22150-4687-4F32-B063-A3A4951B186D}" type="slidenum">
              <a:rPr lang="ru-RU" altLang="ru-RU" sz="1400"/>
              <a:pPr algn="r" eaLnBrk="1" hangingPunct="1"/>
              <a:t>8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2771" name="Объект 2"/>
          <p:cNvSpPr>
            <a:spLocks noGrp="1"/>
          </p:cNvSpPr>
          <p:nvPr>
            <p:ph idx="4294967295"/>
          </p:nvPr>
        </p:nvSpPr>
        <p:spPr>
          <a:xfrm>
            <a:off x="323850" y="333375"/>
            <a:ext cx="8497888" cy="63357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k = 1,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0(0)  M1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en-US" altLang="ru-RU" sz="2400" smtClean="0">
                <a:latin typeface="Times New Roman" pitchFamily="18" charset="0"/>
              </a:rPr>
              <a:t>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M1: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smtClean="0">
                <a:latin typeface="Times New Roman" pitchFamily="18" charset="0"/>
              </a:rPr>
              <a:t>:=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a(0)  b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</a:p>
        </p:txBody>
      </p:sp>
      <p:sp>
        <p:nvSpPr>
          <p:cNvPr id="32772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3E3621C7-588D-4BCB-BEE1-D94C9D3CDFAB}" type="slidenum">
              <a:rPr lang="ru-RU" altLang="ru-RU" sz="1400"/>
              <a:pPr algn="r" eaLnBrk="1" hangingPunct="1"/>
              <a:t>9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3795" name="Объект 2"/>
          <p:cNvSpPr>
            <a:spLocks noGrp="1"/>
          </p:cNvSpPr>
          <p:nvPr>
            <p:ph idx="4294967295"/>
          </p:nvPr>
        </p:nvSpPr>
        <p:spPr>
          <a:xfrm>
            <a:off x="323850" y="549275"/>
            <a:ext cx="8497888" cy="61198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M2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M2: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smtClean="0">
                <a:latin typeface="Times New Roman" pitchFamily="18" charset="0"/>
              </a:rPr>
              <a:t>:=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b(0)  a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M1: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M2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  <a:r>
              <a:rPr lang="en-US" altLang="ru-RU" sz="2400" smtClean="0">
                <a:latin typeface="Times New Roman" pitchFamily="18" charset="0"/>
              </a:rPr>
              <a:t>	</a:t>
            </a:r>
            <a:r>
              <a:rPr lang="ru-RU" altLang="ru-RU" sz="2400" smtClean="0">
                <a:latin typeface="Times New Roman" pitchFamily="18" charset="0"/>
              </a:rPr>
              <a:t>«следующая команда»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k:=0, </a:t>
            </a:r>
            <a:r>
              <a:rPr lang="ru-RU" altLang="ru-RU" sz="2400" smtClean="0">
                <a:latin typeface="Times New Roman" pitchFamily="18" charset="0"/>
              </a:rPr>
              <a:t>магазин пуст.</a:t>
            </a:r>
            <a:endParaRPr lang="en-US" altLang="ru-RU" sz="2400" smtClean="0">
              <a:latin typeface="Times New Roman" pitchFamily="18" charset="0"/>
            </a:endParaRPr>
          </a:p>
        </p:txBody>
      </p:sp>
      <p:sp>
        <p:nvSpPr>
          <p:cNvPr id="33796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FA9A8C7F-17A2-4B64-80C8-E55DCE471DAA}" type="slidenum">
              <a:rPr lang="ru-RU" altLang="ru-RU" sz="1400"/>
              <a:pPr algn="r" eaLnBrk="1" hangingPunct="1"/>
              <a:t>10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/>
          <a:lstStyle/>
          <a:p>
            <a:endParaRPr lang="en-US" altLang="ru-RU" sz="400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404813"/>
            <a:ext cx="7366000" cy="597693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Результат:</a:t>
            </a: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 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J≥ 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M: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С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J≠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M1: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M2: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M1: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2:	«следующая команда»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/>
          <a:lstStyle/>
          <a:p>
            <a:endParaRPr lang="en-US" altLang="ru-RU" sz="400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404813"/>
            <a:ext cx="7366000" cy="5976937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Если использовать оптимизацию при генерации команд, то результат другой:</a:t>
            </a:r>
          </a:p>
          <a:p>
            <a:pPr>
              <a:buFontTx/>
              <a:buNone/>
            </a:pPr>
            <a:endParaRPr lang="en-US" altLang="ru-RU" sz="2400" b="1" smtClean="0">
              <a:latin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C 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≥</a:t>
            </a:r>
            <a:r>
              <a:rPr lang="en-US" altLang="ru-RU" sz="2400" smtClean="0">
                <a:latin typeface="Times New Roman" pitchFamily="18" charset="0"/>
              </a:rPr>
              <a:t>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M1: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M2: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M1: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a</a:t>
            </a:r>
          </a:p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b</a:t>
            </a:r>
          </a:p>
          <a:p>
            <a:pPr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2:	«следующая команда»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6867" name="Объект 2"/>
          <p:cNvSpPr>
            <a:spLocks noGrp="1"/>
          </p:cNvSpPr>
          <p:nvPr>
            <p:ph idx="4294967295"/>
          </p:nvPr>
        </p:nvSpPr>
        <p:spPr>
          <a:xfrm>
            <a:off x="323850" y="260350"/>
            <a:ext cx="8820150" cy="640873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Пример генерации команд для оператора цикла</a:t>
            </a:r>
            <a:endParaRPr lang="ru-RU" altLang="ru-RU" sz="2400" b="1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Пусть задана ОПС: 	x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«2» := х «10»</a:t>
            </a:r>
            <a:r>
              <a:rPr lang="en-US" altLang="ru-RU" sz="2400" smtClean="0">
                <a:latin typeface="Times New Roman" pitchFamily="18" charset="0"/>
              </a:rPr>
              <a:t> &lt; M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r>
              <a:rPr lang="en-US" altLang="ru-RU" sz="2400" b="1" smtClean="0">
                <a:latin typeface="Times New Roman" pitchFamily="18" charset="0"/>
              </a:rPr>
              <a:t>  jf  </a:t>
            </a:r>
            <a:r>
              <a:rPr lang="ru-RU" altLang="ru-RU" sz="2400" smtClean="0">
                <a:latin typeface="Times New Roman" pitchFamily="18" charset="0"/>
              </a:rPr>
              <a:t>х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х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r>
              <a:rPr lang="en-US" altLang="ru-RU" sz="2400" smtClean="0">
                <a:latin typeface="Times New Roman" pitchFamily="18" charset="0"/>
              </a:rPr>
              <a:t> * :=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M1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		 </a:t>
            </a:r>
            <a:r>
              <a:rPr lang="ru-RU" altLang="ru-RU" sz="2400" smtClean="0">
                <a:latin typeface="Times New Roman" pitchFamily="18" charset="0"/>
              </a:rPr>
              <a:t> ↑	</a:t>
            </a:r>
            <a:r>
              <a:rPr lang="en-US" altLang="ru-RU" sz="2400" smtClean="0">
                <a:latin typeface="Times New Roman" pitchFamily="18" charset="0"/>
              </a:rPr>
              <a:t>  			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          </a:t>
            </a:r>
            <a:r>
              <a:rPr lang="ru-RU" altLang="ru-RU" sz="2400" smtClean="0">
                <a:latin typeface="Times New Roman" pitchFamily="18" charset="0"/>
              </a:rPr>
              <a:t>↑</a:t>
            </a: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	</a:t>
            </a:r>
            <a:r>
              <a:rPr lang="en-US" altLang="ru-RU" sz="2400" smtClean="0">
                <a:latin typeface="Times New Roman" pitchFamily="18" charset="0"/>
              </a:rPr>
              <a:t>   	 M</a:t>
            </a:r>
            <a:r>
              <a:rPr lang="ru-RU" altLang="ru-RU" sz="2400" smtClean="0">
                <a:latin typeface="Times New Roman" pitchFamily="18" charset="0"/>
              </a:rPr>
              <a:t>1	</a:t>
            </a:r>
            <a:r>
              <a:rPr lang="en-US" altLang="ru-RU" sz="2400" smtClean="0">
                <a:latin typeface="Times New Roman" pitchFamily="18" charset="0"/>
              </a:rPr>
              <a:t>  			          M</a:t>
            </a:r>
            <a:r>
              <a:rPr lang="ru-RU" altLang="ru-RU" sz="2400" smtClean="0">
                <a:latin typeface="Times New Roman" pitchFamily="18" charset="0"/>
              </a:rPr>
              <a:t>2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-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операторы: 	</a:t>
            </a:r>
            <a:r>
              <a:rPr lang="en-US" altLang="ru-RU" sz="2400" smtClean="0">
                <a:latin typeface="Times New Roman" pitchFamily="18" charset="0"/>
              </a:rPr>
              <a:t>x := 2; </a:t>
            </a:r>
            <a:r>
              <a:rPr lang="ru-RU" altLang="ru-RU" sz="2400" b="1" smtClean="0">
                <a:latin typeface="Times New Roman" pitchFamily="18" charset="0"/>
              </a:rPr>
              <a:t>w</a:t>
            </a:r>
            <a:r>
              <a:rPr lang="en-US" altLang="ru-RU" sz="2400" b="1" smtClean="0">
                <a:latin typeface="Times New Roman" pitchFamily="18" charset="0"/>
              </a:rPr>
              <a:t>hile</a:t>
            </a:r>
            <a:r>
              <a:rPr lang="en-US" altLang="ru-RU" sz="2400" smtClean="0">
                <a:latin typeface="Times New Roman" pitchFamily="18" charset="0"/>
              </a:rPr>
              <a:t>  x &lt; 10  </a:t>
            </a:r>
            <a:r>
              <a:rPr lang="en-US" altLang="ru-RU" sz="2400" b="1" smtClean="0">
                <a:latin typeface="Times New Roman" pitchFamily="18" charset="0"/>
              </a:rPr>
              <a:t>do</a:t>
            </a:r>
            <a:r>
              <a:rPr lang="en-US" altLang="ru-RU" sz="2400" smtClean="0">
                <a:latin typeface="Times New Roman" pitchFamily="18" charset="0"/>
              </a:rPr>
              <a:t>  x := x * 2</a:t>
            </a:r>
            <a:r>
              <a:rPr lang="ru-RU" altLang="ru-RU" sz="2400" smtClean="0"/>
              <a:t> 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endParaRPr lang="en-US" altLang="ru-RU" sz="2400" smtClean="0">
              <a:solidFill>
                <a:srgbClr val="CC0066"/>
              </a:solidFill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  <a:latin typeface="Times New Roman" pitchFamily="18" charset="0"/>
              </a:rPr>
              <a:t>Шаги работы генератора команд:</a:t>
            </a: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  <a:r>
              <a:rPr lang="en-US" altLang="ru-RU" sz="2400" smtClean="0">
                <a:latin typeface="Times New Roman" pitchFamily="18" charset="0"/>
              </a:rPr>
              <a:t>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x(0) </a:t>
            </a:r>
            <a:r>
              <a:rPr lang="ru-RU" altLang="ru-RU" sz="2400" smtClean="0">
                <a:latin typeface="Times New Roman" pitchFamily="18" charset="0"/>
              </a:rPr>
              <a:t>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 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</a:p>
        </p:txBody>
      </p:sp>
      <p:sp>
        <p:nvSpPr>
          <p:cNvPr id="36868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A65D46A3-B0DC-467F-B8F8-C00660E6C5FD}" type="slidenum">
              <a:rPr lang="ru-RU" altLang="ru-RU" sz="1400"/>
              <a:pPr algn="r" eaLnBrk="1" hangingPunct="1"/>
              <a:t>13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7891" name="Объект 2"/>
          <p:cNvSpPr>
            <a:spLocks noGrp="1"/>
          </p:cNvSpPr>
          <p:nvPr>
            <p:ph idx="4294967295"/>
          </p:nvPr>
        </p:nvSpPr>
        <p:spPr>
          <a:xfrm>
            <a:off x="323850" y="188913"/>
            <a:ext cx="8640763" cy="64801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&lt;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x(0) </a:t>
            </a:r>
            <a:r>
              <a:rPr lang="ru-RU" altLang="ru-RU" sz="2400" smtClean="0">
                <a:latin typeface="Times New Roman" pitchFamily="18" charset="0"/>
              </a:rPr>
              <a:t>«10»(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</a:t>
            </a:r>
            <a:r>
              <a:rPr lang="ru-RU" altLang="ru-RU" sz="2400" smtClean="0">
                <a:latin typeface="Times New Roman" pitchFamily="18" charset="0"/>
              </a:rPr>
              <a:t>	0   «10»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J≥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M</a:t>
            </a:r>
            <a:r>
              <a:rPr lang="ru-RU" altLang="ru-RU" sz="2400" smtClean="0">
                <a:latin typeface="Times New Roman" pitchFamily="18" charset="0"/>
              </a:rPr>
              <a:t>:	«следующая команда»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k:=1</a:t>
            </a:r>
          </a:p>
          <a:p>
            <a:pPr marL="0" indent="0">
              <a:buFontTx/>
              <a:buNone/>
            </a:pPr>
            <a:endParaRPr lang="en-US" altLang="ru-RU" sz="10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jf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k = 1,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0(0)  M2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en-US" altLang="ru-RU" sz="2400" smtClean="0">
                <a:latin typeface="Times New Roman" pitchFamily="18" charset="0"/>
              </a:rPr>
              <a:t>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M2: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</a:p>
        </p:txBody>
      </p:sp>
      <p:sp>
        <p:nvSpPr>
          <p:cNvPr id="37892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A0F99CC-3568-4448-BA0F-133979EA3C26}" type="slidenum">
              <a:rPr lang="ru-RU" altLang="ru-RU" sz="1400"/>
              <a:pPr algn="r" eaLnBrk="1" hangingPunct="1"/>
              <a:t>14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44450"/>
            <a:ext cx="8229600" cy="288925"/>
          </a:xfrm>
        </p:spPr>
        <p:txBody>
          <a:bodyPr/>
          <a:lstStyle/>
          <a:p>
            <a:endParaRPr lang="en-US" altLang="ru-RU" sz="2800" smtClean="0">
              <a:solidFill>
                <a:schemeClr val="accent2"/>
              </a:solidFill>
            </a:endParaRPr>
          </a:p>
        </p:txBody>
      </p:sp>
      <p:sp>
        <p:nvSpPr>
          <p:cNvPr id="38915" name="Объект 2"/>
          <p:cNvSpPr>
            <a:spLocks noGrp="1"/>
          </p:cNvSpPr>
          <p:nvPr>
            <p:ph idx="4294967295"/>
          </p:nvPr>
        </p:nvSpPr>
        <p:spPr>
          <a:xfrm>
            <a:off x="323850" y="333375"/>
            <a:ext cx="8497888" cy="63357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smtClean="0">
                <a:latin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x(0)  x(0) </a:t>
            </a:r>
            <a:r>
              <a:rPr lang="ru-RU" altLang="ru-RU" sz="2400" smtClean="0">
                <a:latin typeface="Times New Roman" pitchFamily="18" charset="0"/>
              </a:rPr>
              <a:t>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Mul</a:t>
            </a:r>
            <a:r>
              <a:rPr lang="ru-RU" altLang="ru-RU" sz="2400" smtClean="0">
                <a:latin typeface="Times New Roman" pitchFamily="18" charset="0"/>
              </a:rPr>
              <a:t>	0   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  k:=1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endParaRPr lang="en-US" altLang="ru-RU" sz="10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smtClean="0">
                <a:latin typeface="Times New Roman" pitchFamily="18" charset="0"/>
              </a:rPr>
              <a:t>:=</a:t>
            </a:r>
            <a:r>
              <a:rPr lang="ru-RU" altLang="ru-RU" sz="2400" smtClean="0">
                <a:latin typeface="Times New Roman" pitchFamily="18" charset="0"/>
              </a:rPr>
              <a:t> , </a:t>
            </a:r>
            <a:r>
              <a:rPr lang="en-US" altLang="ru-RU" sz="2400" smtClean="0">
                <a:latin typeface="Times New Roman" pitchFamily="18" charset="0"/>
              </a:rPr>
              <a:t>k = 1,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x(0)  0</a:t>
            </a:r>
            <a:r>
              <a:rPr lang="ru-RU" altLang="ru-RU" sz="2400" smtClean="0">
                <a:latin typeface="Times New Roman" pitchFamily="18" charset="0"/>
              </a:rPr>
              <a:t>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 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endParaRPr lang="en-US" altLang="ru-RU" sz="10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b="1" smtClean="0">
                <a:latin typeface="Times New Roman" pitchFamily="18" charset="0"/>
              </a:rPr>
              <a:t>	</a:t>
            </a:r>
            <a:r>
              <a:rPr lang="ru-RU" altLang="ru-RU" sz="2400" b="1" smtClean="0">
                <a:latin typeface="Times New Roman" pitchFamily="18" charset="0"/>
              </a:rPr>
              <a:t>Операция </a:t>
            </a:r>
            <a:r>
              <a:rPr lang="en-US" altLang="ru-RU" sz="2400" b="1" smtClean="0">
                <a:latin typeface="Times New Roman" pitchFamily="18" charset="0"/>
              </a:rPr>
              <a:t>j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en-US" altLang="ru-RU" sz="2400" smtClean="0">
                <a:latin typeface="Times New Roman" pitchFamily="18" charset="0"/>
              </a:rPr>
              <a:t>k = 0,    </a:t>
            </a:r>
            <a:r>
              <a:rPr lang="ru-RU" altLang="ru-RU" sz="2400" smtClean="0">
                <a:latin typeface="Times New Roman" pitchFamily="18" charset="0"/>
              </a:rPr>
              <a:t>в магазине:  </a:t>
            </a: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1(</a:t>
            </a:r>
            <a:r>
              <a:rPr lang="en-US" altLang="ru-RU" sz="2400" smtClean="0">
                <a:latin typeface="Times New Roman" pitchFamily="18" charset="0"/>
              </a:rPr>
              <a:t>0)</a:t>
            </a:r>
            <a:endParaRPr lang="ru-RU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генерируемые команды:</a:t>
            </a:r>
            <a:endParaRPr lang="en-US" altLang="ru-RU" sz="2400" smtClean="0"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M1:</a:t>
            </a:r>
          </a:p>
          <a:p>
            <a:pPr marL="0" indent="0"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   k:=0, </a:t>
            </a:r>
            <a:r>
              <a:rPr lang="ru-RU" altLang="ru-RU" sz="2400" smtClean="0">
                <a:latin typeface="Times New Roman" pitchFamily="18" charset="0"/>
              </a:rPr>
              <a:t>магазин пуст.</a:t>
            </a:r>
            <a:endParaRPr lang="en-US" altLang="ru-RU" sz="2400" smtClean="0">
              <a:latin typeface="Times New Roman" pitchFamily="18" charset="0"/>
            </a:endParaRPr>
          </a:p>
        </p:txBody>
      </p:sp>
      <p:sp>
        <p:nvSpPr>
          <p:cNvPr id="38916" name="Номер слайда 3"/>
          <p:cNvSpPr txBox="1">
            <a:spLocks noGrp="1"/>
          </p:cNvSpPr>
          <p:nvPr/>
        </p:nvSpPr>
        <p:spPr bwMode="auto">
          <a:xfrm>
            <a:off x="6553200" y="6381750"/>
            <a:ext cx="24114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72A075B0-7C23-41B8-A0C6-F66E0C57B0E2}" type="slidenum">
              <a:rPr lang="ru-RU" altLang="ru-RU" sz="1400"/>
              <a:pPr algn="r" eaLnBrk="1" hangingPunct="1"/>
              <a:t>15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/>
          <a:lstStyle/>
          <a:p>
            <a:endParaRPr lang="en-US" altLang="ru-RU" sz="400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404813"/>
            <a:ext cx="7366000" cy="619283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Результат:</a:t>
            </a:r>
            <a:endParaRPr lang="en-US" altLang="ru-RU" sz="2400" b="1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</a:t>
            </a:r>
            <a:r>
              <a:rPr lang="en-US" altLang="ru-RU" sz="2400" smtClean="0">
                <a:latin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</a:rPr>
              <a:t>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M1: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Load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C</a:t>
            </a:r>
            <a:r>
              <a:rPr lang="ru-RU" altLang="ru-RU" sz="2400" smtClean="0">
                <a:latin typeface="Times New Roman" pitchFamily="18" charset="0"/>
              </a:rPr>
              <a:t>	0   «10»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J≥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Load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«0»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M:</a:t>
            </a: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С  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«1»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J≠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M2: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</a:t>
            </a:r>
            <a:r>
              <a:rPr lang="en-US" altLang="ru-RU" sz="2400" smtClean="0">
                <a:latin typeface="Times New Roman" pitchFamily="18" charset="0"/>
              </a:rPr>
              <a:t>	Load</a:t>
            </a:r>
            <a:r>
              <a:rPr lang="ru-RU" altLang="ru-RU" sz="2400" smtClean="0">
                <a:latin typeface="Times New Roman" pitchFamily="18" charset="0"/>
              </a:rPr>
              <a:t>	0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		Mul</a:t>
            </a:r>
            <a:r>
              <a:rPr lang="ru-RU" altLang="ru-RU" sz="2400" smtClean="0">
                <a:latin typeface="Times New Roman" pitchFamily="18" charset="0"/>
              </a:rPr>
              <a:t>	0   «</a:t>
            </a:r>
            <a:r>
              <a:rPr lang="en-US" altLang="ru-RU" sz="2400" smtClean="0">
                <a:latin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endParaRPr lang="en-US" altLang="ru-RU" sz="24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St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x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		</a:t>
            </a:r>
            <a:r>
              <a:rPr lang="en-US" altLang="ru-RU" sz="2400" smtClean="0">
                <a:latin typeface="Times New Roman" pitchFamily="18" charset="0"/>
              </a:rPr>
              <a:t>J	0</a:t>
            </a:r>
            <a:r>
              <a:rPr lang="ru-RU" altLang="ru-RU" sz="2400" smtClean="0">
                <a:latin typeface="Times New Roman" pitchFamily="18" charset="0"/>
              </a:rPr>
              <a:t>   </a:t>
            </a:r>
            <a:r>
              <a:rPr lang="en-US" altLang="ru-RU" sz="2400" smtClean="0">
                <a:latin typeface="Times New Roman" pitchFamily="18" charset="0"/>
              </a:rPr>
              <a:t>M1: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M</a:t>
            </a:r>
            <a:r>
              <a:rPr lang="ru-RU" altLang="ru-RU" sz="2400" smtClean="0">
                <a:latin typeface="Times New Roman" pitchFamily="18" charset="0"/>
              </a:rPr>
              <a:t>2:	«следующая команда»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468313" y="0"/>
            <a:ext cx="8218487" cy="1341438"/>
          </a:xfrm>
        </p:spPr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</a:rPr>
              <a:t>Формирование меток (адресов команд) для команд перехода</a:t>
            </a:r>
            <a:endParaRPr lang="en-US" altLang="ru-RU" sz="3200" b="1" smtClean="0">
              <a:solidFill>
                <a:schemeClr val="accent2"/>
              </a:solidFill>
            </a:endParaRPr>
          </a:p>
        </p:txBody>
      </p:sp>
      <p:sp>
        <p:nvSpPr>
          <p:cNvPr id="28675" name="Объект 2"/>
          <p:cNvSpPr>
            <a:spLocks noGrp="1"/>
          </p:cNvSpPr>
          <p:nvPr>
            <p:ph idx="1"/>
          </p:nvPr>
        </p:nvSpPr>
        <p:spPr>
          <a:xfrm>
            <a:off x="395288" y="1628775"/>
            <a:ext cx="8569325" cy="47529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smtClean="0"/>
              <a:t>Таблица соответствия </a:t>
            </a:r>
            <a:r>
              <a:rPr lang="ru-RU" altLang="ru-RU" sz="2400" smtClean="0"/>
              <a:t>меток (адресов) ОПС и адресов генерируемых команд содержит 2 столбца: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	- метки ОПС;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	- адреса генерируемых команд.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Предварительный просмотр ОПС – формируются метки ОПС в </a:t>
            </a:r>
            <a:r>
              <a:rPr lang="ru-RU" altLang="ru-RU" sz="2400" b="1" i="1" smtClean="0"/>
              <a:t>первом столбце</a:t>
            </a:r>
            <a:r>
              <a:rPr lang="ru-RU" altLang="ru-RU" sz="2400" smtClean="0"/>
              <a:t>. 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Затем метки сортируются по возрастанию и удаляются повторения. </a:t>
            </a:r>
          </a:p>
          <a:p>
            <a:pPr marL="0" indent="0">
              <a:buFontTx/>
              <a:buNone/>
            </a:pPr>
            <a:endParaRPr lang="ru-RU" altLang="ru-RU" sz="2400" smtClean="0"/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7AEBCE-05EA-48BC-801F-B9EF23838965}" type="slidenum">
              <a:rPr lang="ru-RU" altLang="ru-RU" smtClean="0"/>
              <a:pPr eaLnBrk="1" hangingPunct="1"/>
              <a:t>17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68313" y="0"/>
            <a:ext cx="8218487" cy="1341438"/>
          </a:xfrm>
        </p:spPr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</a:rPr>
              <a:t>Формирование меток (адресов команд) для команд перехода</a:t>
            </a:r>
            <a:endParaRPr lang="en-US" altLang="ru-RU" sz="3200" b="1" smtClean="0">
              <a:solidFill>
                <a:schemeClr val="accent2"/>
              </a:solidFill>
            </a:endParaRPr>
          </a:p>
        </p:txBody>
      </p:sp>
      <p:sp>
        <p:nvSpPr>
          <p:cNvPr id="55299" name="Объект 2"/>
          <p:cNvSpPr>
            <a:spLocks noGrp="1"/>
          </p:cNvSpPr>
          <p:nvPr>
            <p:ph idx="4294967295"/>
          </p:nvPr>
        </p:nvSpPr>
        <p:spPr>
          <a:xfrm>
            <a:off x="395288" y="1628775"/>
            <a:ext cx="8569325" cy="47529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b="1" i="1" smtClean="0"/>
              <a:t>Второй столбец </a:t>
            </a:r>
            <a:r>
              <a:rPr lang="ru-RU" altLang="ru-RU" sz="2400" smtClean="0"/>
              <a:t>– создается в процессе генерации команд. Одновременно операнды - адреса команд перехода временно заполняются метками ОПС, а номера таких команд записываются в отдельный список. </a:t>
            </a:r>
          </a:p>
          <a:p>
            <a:pPr marL="0" indent="0">
              <a:buFontTx/>
              <a:buNone/>
            </a:pPr>
            <a:r>
              <a:rPr lang="ru-RU" altLang="ru-RU" sz="2400" b="1" i="1" smtClean="0"/>
              <a:t>После генерации </a:t>
            </a:r>
            <a:r>
              <a:rPr lang="ru-RU" altLang="ru-RU" sz="2400" smtClean="0"/>
              <a:t>всех команд просматривается этот список и метки ОПС в командах перехода заменяются адресами команд.</a:t>
            </a:r>
          </a:p>
          <a:p>
            <a:pPr marL="0" indent="0">
              <a:buFontTx/>
              <a:buNone/>
            </a:pPr>
            <a:endParaRPr lang="ru-RU" altLang="ru-RU" sz="2400" smtClean="0"/>
          </a:p>
        </p:txBody>
      </p:sp>
      <p:sp>
        <p:nvSpPr>
          <p:cNvPr id="55300" name="Номер слайда 3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72A00B18-A36B-49CB-BBFF-C935140F0468}" type="slidenum">
              <a:rPr lang="ru-RU" altLang="ru-RU" sz="1400"/>
              <a:pPr algn="r" eaLnBrk="1" hangingPunct="1"/>
              <a:t>18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4580</TotalTime>
  <Words>188</Words>
  <Application>Microsoft Office PowerPoint</Application>
  <PresentationFormat>Экран (4:3)</PresentationFormat>
  <Paragraphs>226</Paragraphs>
  <Slides>18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Оформление по умолчанию</vt:lpstr>
      <vt:lpstr>ТОМСКИЙ ГОСУДАРСТВЕННЫЙ УНИВЕРСИТЕТ </vt:lpstr>
      <vt:lpstr>Генерация команд сравнения и перехода</vt:lpstr>
      <vt:lpstr>Генерация команд сравнения “меньше” (&lt;) </vt:lpstr>
      <vt:lpstr>Презентация PowerPoint</vt:lpstr>
      <vt:lpstr>Презентация PowerPoint</vt:lpstr>
      <vt:lpstr>Генерация команд перехода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Формирование меток (адресов команд) для команд перехода</vt:lpstr>
      <vt:lpstr>Формирование меток (адресов команд) для команд перехода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127</cp:revision>
  <dcterms:created xsi:type="dcterms:W3CDTF">2009-09-02T15:38:32Z</dcterms:created>
  <dcterms:modified xsi:type="dcterms:W3CDTF">2024-02-03T16:48:44Z</dcterms:modified>
</cp:coreProperties>
</file>