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04" r:id="rId2"/>
    <p:sldId id="268" r:id="rId3"/>
    <p:sldId id="301" r:id="rId4"/>
    <p:sldId id="305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0" r:id="rId16"/>
    <p:sldId id="281" r:id="rId17"/>
    <p:sldId id="282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306" r:id="rId26"/>
    <p:sldId id="307" r:id="rId27"/>
    <p:sldId id="293" r:id="rId28"/>
    <p:sldId id="294" r:id="rId29"/>
    <p:sldId id="295" r:id="rId30"/>
    <p:sldId id="296" r:id="rId31"/>
    <p:sldId id="308" r:id="rId3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0000"/>
    <a:srgbClr val="CC0066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73" autoAdjust="0"/>
    <p:restoredTop sz="94660"/>
  </p:normalViewPr>
  <p:slideViewPr>
    <p:cSldViewPr>
      <p:cViewPr varScale="1">
        <p:scale>
          <a:sx n="81" d="100"/>
          <a:sy n="81" d="100"/>
        </p:scale>
        <p:origin x="-96" y="-17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A94552C-9B5B-4A58-BB7D-89E70228F752}" type="datetimeFigureOut">
              <a:rPr lang="ru-RU"/>
              <a:pPr>
                <a:defRPr/>
              </a:pPr>
              <a:t>03.02.2024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D0BA1B-B1CD-4EB4-B470-7EFA84543CD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1123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34820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E37D914-13A3-4D2C-A603-E98BAF036A95}" type="slidenum">
              <a:rPr lang="ru-RU" altLang="ru-RU">
                <a:latin typeface="Arial" charset="0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ru-RU" altLang="ru-RU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595F47-1D4C-4BA6-B9AA-712466D308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92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07A35-2C70-4D17-8D15-2F696A270F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6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9DFE7-9678-4FE1-858E-54CDE57535B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07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B3610-BB75-47FC-9DCA-28616CF285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8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A3340-6D81-4957-9268-73B744025D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31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A6F81-630E-47FD-B18A-A2C58A7E50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96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F8038-C646-4D95-A299-01EE4D22C90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66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4C92D-3443-4792-880D-D11CCC02FC9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35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622-A7C1-468D-B8D0-7D50A4D62A0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94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AFAC9-3A41-43BD-9066-60AAB0B0309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77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E1274-96CF-4326-9942-99F3FE537F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77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ECEF6-B12C-4FD4-8113-3421F57AF3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62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6B197-29BA-453F-A0C3-2ECDF16AC9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50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AB3D515-8DA3-403F-BA84-14A2947336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9144000" cy="1512887"/>
          </a:xfrm>
        </p:spPr>
        <p:txBody>
          <a:bodyPr/>
          <a:lstStyle/>
          <a:p>
            <a:r>
              <a:rPr lang="ru-RU" altLang="ru-RU" sz="2800" b="1" smtClean="0"/>
              <a:t>ТОМСКИЙ ГОСУДАРСТВЕННЫЙ УНИВЕРСИТЕТ</a:t>
            </a:r>
            <a:br>
              <a:rPr lang="ru-RU" altLang="ru-RU" sz="2800" b="1" smtClean="0"/>
            </a:br>
            <a:endParaRPr lang="ru-RU" altLang="ru-RU" sz="2800" smtClean="0"/>
          </a:p>
        </p:txBody>
      </p:sp>
      <p:sp>
        <p:nvSpPr>
          <p:cNvPr id="2051" name="Объект 2"/>
          <p:cNvSpPr>
            <a:spLocks noGrp="1"/>
          </p:cNvSpPr>
          <p:nvPr>
            <p:ph idx="4294967295"/>
          </p:nvPr>
        </p:nvSpPr>
        <p:spPr>
          <a:xfrm>
            <a:off x="457200" y="1484313"/>
            <a:ext cx="8229600" cy="4968875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ru-RU" altLang="ru-RU" dirty="0" smtClean="0"/>
              <a:t>Костюк Ю. Л.</a:t>
            </a:r>
          </a:p>
          <a:p>
            <a:pPr marL="0" indent="0" algn="ctr">
              <a:buFontTx/>
              <a:buNone/>
            </a:pPr>
            <a:endParaRPr lang="ru-RU" altLang="ru-RU" sz="3600" b="1" dirty="0" smtClean="0"/>
          </a:p>
          <a:p>
            <a:pPr marL="0" indent="0" algn="ctr">
              <a:buFontTx/>
              <a:buNone/>
            </a:pPr>
            <a:r>
              <a:rPr lang="ru-RU" altLang="ru-RU" sz="3600" b="1"/>
              <a:t>МЕТОДЫ КОМПИЛЯЦИИ</a:t>
            </a:r>
          </a:p>
          <a:p>
            <a:pPr marL="0" indent="0" algn="ctr" eaLnBrk="1" hangingPunct="1">
              <a:buFontTx/>
              <a:buNone/>
            </a:pPr>
            <a:endParaRPr lang="ru-RU" altLang="ru-RU" sz="3600" b="1" dirty="0" smtClean="0"/>
          </a:p>
          <a:p>
            <a:pPr marL="0" indent="0" algn="ctr" eaLnBrk="1" hangingPunct="1">
              <a:buFontTx/>
              <a:buNone/>
            </a:pPr>
            <a:r>
              <a:rPr lang="ru-RU" altLang="ru-RU" sz="3600" b="1" dirty="0" smtClean="0"/>
              <a:t>Лекция 2</a:t>
            </a:r>
            <a:r>
              <a:rPr lang="ru-RU" altLang="ru-RU" sz="3600" dirty="0" smtClean="0"/>
              <a:t> </a:t>
            </a:r>
          </a:p>
          <a:p>
            <a:pPr marL="0" indent="0" algn="ctr">
              <a:buFontTx/>
              <a:buNone/>
            </a:pPr>
            <a:endParaRPr lang="ru-RU" altLang="ru-RU" sz="3600" dirty="0" smtClean="0"/>
          </a:p>
        </p:txBody>
      </p:sp>
      <p:sp>
        <p:nvSpPr>
          <p:cNvPr id="205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5AC1A09-76F0-400E-ADE0-E3E0B1160BA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647700"/>
          </a:xfrm>
        </p:spPr>
        <p:txBody>
          <a:bodyPr/>
          <a:lstStyle/>
          <a:p>
            <a:r>
              <a:rPr lang="ru-RU" altLang="ru-RU" sz="3200" b="1" smtClean="0">
                <a:solidFill>
                  <a:schemeClr val="accent2"/>
                </a:solidFill>
              </a:rPr>
              <a:t>АВТОМАТНЫЕ ГРАММАТИКИ И ЯЗЫКИ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435975" cy="568801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Класс 3: автоматные </a:t>
            </a:r>
            <a:r>
              <a:rPr lang="ru-RU" altLang="ru-RU" sz="2400" smtClean="0">
                <a:latin typeface="Times New Roman" pitchFamily="18" charset="0"/>
              </a:rPr>
              <a:t>грамматики (А-грамматики).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Вид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порождающих правил</a:t>
            </a:r>
            <a:r>
              <a:rPr lang="ru-RU" altLang="ru-RU" sz="2400" smtClean="0">
                <a:latin typeface="Times New Roman" pitchFamily="18" charset="0"/>
              </a:rPr>
              <a:t>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 или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ru-RU" altLang="ru-RU" sz="2400" i="1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      где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</a:rPr>
              <a:t>, В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нетерминалы,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</a:rPr>
              <a:t> – терминал.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</a:rPr>
              <a:t>Пример автоматной грамматики</a:t>
            </a:r>
            <a:endParaRPr lang="en-US" altLang="ru-RU" sz="2400" smtClean="0">
              <a:solidFill>
                <a:srgbClr val="CC0066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Грамматика:      </a:t>
            </a:r>
            <a:r>
              <a:rPr lang="en-US" altLang="ru-RU" sz="2400" i="1" smtClean="0">
                <a:latin typeface="Times New Roman" pitchFamily="18" charset="0"/>
              </a:rPr>
              <a:t>G</a:t>
            </a:r>
            <a:r>
              <a:rPr lang="ru-RU" altLang="ru-RU" sz="2400" baseline="-25000" smtClean="0">
                <a:latin typeface="Times New Roman" pitchFamily="18" charset="0"/>
              </a:rPr>
              <a:t>2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L</a:t>
            </a:r>
            <a:r>
              <a:rPr lang="en-US" altLang="ru-RU" sz="2400" smtClean="0">
                <a:latin typeface="Times New Roman" pitchFamily="18" charset="0"/>
              </a:rPr>
              <a:t>)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endParaRPr lang="ru-RU" altLang="ru-RU" sz="21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S, 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</a:rPr>
              <a:t>Процесс порождения: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aS =&gt; abT =&gt; aba,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bT =&gt; bbT =&gt; bbbT =&gt; bbba   , . . 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Со второго шага порождения</a:t>
            </a:r>
            <a:r>
              <a:rPr lang="ru-RU" altLang="ru-RU" sz="2400" smtClean="0"/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цепочка</a:t>
            </a:r>
            <a:r>
              <a:rPr lang="ru-RU" altLang="ru-RU" sz="2400" smtClean="0"/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имеет вид: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en-US" altLang="ru-RU" sz="2400" i="1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altLang="ru-RU" sz="240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 – терминальная цепочка, </a:t>
            </a:r>
            <a:r>
              <a:rPr lang="en-US" altLang="ru-RU" sz="2400" i="1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 – нетерминал, на последнем шаге нетерминал </a:t>
            </a:r>
            <a:r>
              <a:rPr lang="ru-RU" altLang="ru-RU" sz="2400" i="1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заменяется на терминал.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l-GR" altLang="ru-RU" sz="2400" smtClean="0">
              <a:latin typeface="Times New Roman" pitchFamily="18" charset="0"/>
            </a:endParaRPr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7127966-2FB5-4D8F-B304-864E00931D2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9144000" cy="647700"/>
          </a:xfrm>
        </p:spPr>
        <p:txBody>
          <a:bodyPr/>
          <a:lstStyle/>
          <a:p>
            <a:r>
              <a:rPr lang="ru-RU" altLang="ru-RU" sz="2800" b="1" smtClean="0">
                <a:solidFill>
                  <a:schemeClr val="accent2"/>
                </a:solidFill>
                <a:latin typeface="Times New Roman" pitchFamily="18" charset="0"/>
              </a:rPr>
              <a:t>РАСПОЗНАВАТЕЛЬ АВТОМАТНОЙ ГРАММАТИКИ – КОНЕЧНЫЙ АВТОМАТ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125538"/>
            <a:ext cx="8435975" cy="547211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Конечный автомат – это частный вид машины Тьюринга, в которой:</a:t>
            </a:r>
          </a:p>
          <a:p>
            <a:pPr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</a:rPr>
              <a:t>1) лента является входной, на каждом шаге работы автомата с неё считывается очередной символ;</a:t>
            </a:r>
          </a:p>
          <a:p>
            <a:pPr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</a:rPr>
              <a:t>2) на каждом шаге работы автомата устройство управления делает переход в новое состояние в соответствии с правилами перехода.</a:t>
            </a:r>
            <a:r>
              <a:rPr lang="ru-RU" altLang="ru-RU" sz="2800" smtClean="0">
                <a:solidFill>
                  <a:srgbClr val="CC0066"/>
                </a:solidFill>
              </a:rPr>
              <a:t>  </a:t>
            </a:r>
          </a:p>
        </p:txBody>
      </p:sp>
      <p:sp>
        <p:nvSpPr>
          <p:cNvPr id="4100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2F96CFC-7F4D-48A5-8128-DC8480E2554B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400"/>
          </a:p>
        </p:txBody>
      </p:sp>
      <p:grpSp>
        <p:nvGrpSpPr>
          <p:cNvPr id="4101" name="Group 18"/>
          <p:cNvGrpSpPr>
            <a:grpSpLocks noChangeAspect="1"/>
          </p:cNvGrpSpPr>
          <p:nvPr/>
        </p:nvGrpSpPr>
        <p:grpSpPr bwMode="auto">
          <a:xfrm>
            <a:off x="1547813" y="4149725"/>
            <a:ext cx="5329237" cy="1954213"/>
            <a:chOff x="2360" y="4560"/>
            <a:chExt cx="5952" cy="2359"/>
          </a:xfrm>
        </p:grpSpPr>
        <p:sp>
          <p:nvSpPr>
            <p:cNvPr id="4102" name="AutoShape 19"/>
            <p:cNvSpPr>
              <a:spLocks noChangeAspect="1" noChangeArrowheads="1"/>
            </p:cNvSpPr>
            <p:nvPr/>
          </p:nvSpPr>
          <p:spPr bwMode="auto">
            <a:xfrm>
              <a:off x="2360" y="4560"/>
              <a:ext cx="5952" cy="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03" name="Rectangle 20"/>
            <p:cNvSpPr>
              <a:spLocks noChangeArrowheads="1"/>
            </p:cNvSpPr>
            <p:nvPr/>
          </p:nvSpPr>
          <p:spPr bwMode="auto">
            <a:xfrm>
              <a:off x="2914" y="4837"/>
              <a:ext cx="553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04" name="Rectangle 21"/>
            <p:cNvSpPr>
              <a:spLocks noChangeArrowheads="1"/>
            </p:cNvSpPr>
            <p:nvPr/>
          </p:nvSpPr>
          <p:spPr bwMode="auto">
            <a:xfrm>
              <a:off x="3467" y="4837"/>
              <a:ext cx="554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05" name="Rectangle 22"/>
            <p:cNvSpPr>
              <a:spLocks noChangeArrowheads="1"/>
            </p:cNvSpPr>
            <p:nvPr/>
          </p:nvSpPr>
          <p:spPr bwMode="auto">
            <a:xfrm>
              <a:off x="4021" y="4837"/>
              <a:ext cx="554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06" name="Rectangle 23"/>
            <p:cNvSpPr>
              <a:spLocks noChangeArrowheads="1"/>
            </p:cNvSpPr>
            <p:nvPr/>
          </p:nvSpPr>
          <p:spPr bwMode="auto">
            <a:xfrm>
              <a:off x="4575" y="4837"/>
              <a:ext cx="553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07" name="Rectangle 24"/>
            <p:cNvSpPr>
              <a:spLocks noChangeArrowheads="1"/>
            </p:cNvSpPr>
            <p:nvPr/>
          </p:nvSpPr>
          <p:spPr bwMode="auto">
            <a:xfrm>
              <a:off x="5128" y="4837"/>
              <a:ext cx="554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08" name="Rectangle 25"/>
            <p:cNvSpPr>
              <a:spLocks noChangeArrowheads="1"/>
            </p:cNvSpPr>
            <p:nvPr/>
          </p:nvSpPr>
          <p:spPr bwMode="auto">
            <a:xfrm>
              <a:off x="5682" y="4837"/>
              <a:ext cx="553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09" name="Rectangle 26"/>
            <p:cNvSpPr>
              <a:spLocks noChangeArrowheads="1"/>
            </p:cNvSpPr>
            <p:nvPr/>
          </p:nvSpPr>
          <p:spPr bwMode="auto">
            <a:xfrm>
              <a:off x="6789" y="4837"/>
              <a:ext cx="554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10" name="Rectangle 27"/>
            <p:cNvSpPr>
              <a:spLocks noChangeArrowheads="1"/>
            </p:cNvSpPr>
            <p:nvPr/>
          </p:nvSpPr>
          <p:spPr bwMode="auto">
            <a:xfrm>
              <a:off x="6236" y="4837"/>
              <a:ext cx="552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11" name="Rectangle 28"/>
            <p:cNvSpPr>
              <a:spLocks noChangeArrowheads="1"/>
            </p:cNvSpPr>
            <p:nvPr/>
          </p:nvSpPr>
          <p:spPr bwMode="auto">
            <a:xfrm>
              <a:off x="7343" y="4837"/>
              <a:ext cx="553" cy="55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112" name="Line 29"/>
            <p:cNvSpPr>
              <a:spLocks noChangeShapeType="1"/>
            </p:cNvSpPr>
            <p:nvPr/>
          </p:nvSpPr>
          <p:spPr bwMode="auto">
            <a:xfrm flipV="1">
              <a:off x="5405" y="5392"/>
              <a:ext cx="0" cy="5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113" name="Text Box 30"/>
            <p:cNvSpPr txBox="1">
              <a:spLocks noChangeArrowheads="1"/>
            </p:cNvSpPr>
            <p:nvPr/>
          </p:nvSpPr>
          <p:spPr bwMode="auto">
            <a:xfrm>
              <a:off x="4436" y="5947"/>
              <a:ext cx="1800" cy="83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1600" b="1" i="1"/>
                <a:t>Устройство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ru-RU" altLang="ru-RU" sz="1600" b="1" i="1"/>
                <a:t>управления</a:t>
              </a:r>
              <a:endParaRPr lang="ru-RU" altLang="ru-RU" sz="1800" i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229600" cy="543401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Конечный автомат задается пятеркой множеств: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{</a:t>
            </a:r>
            <a:r>
              <a:rPr lang="en-US" altLang="ru-RU" sz="2800" smtClean="0">
                <a:latin typeface="Times New Roman" pitchFamily="18" charset="0"/>
              </a:rPr>
              <a:t>Σ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ru-RU" altLang="ru-RU" sz="2800" smtClean="0">
                <a:latin typeface="Times New Roman" pitchFamily="18" charset="0"/>
              </a:rPr>
              <a:t>, </a:t>
            </a:r>
            <a:r>
              <a:rPr lang="en-US" altLang="ru-RU" sz="2800" smtClean="0">
                <a:latin typeface="Times New Roman" pitchFamily="18" charset="0"/>
              </a:rPr>
              <a:t>δ</a:t>
            </a:r>
            <a:r>
              <a:rPr lang="ru-RU" altLang="ru-RU" sz="2800" smtClean="0">
                <a:latin typeface="Times New Roman" pitchFamily="18" charset="0"/>
              </a:rPr>
              <a:t>},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где </a:t>
            </a:r>
            <a:r>
              <a:rPr lang="en-US" altLang="ru-RU" sz="2800" smtClean="0">
                <a:latin typeface="Times New Roman" pitchFamily="18" charset="0"/>
              </a:rPr>
              <a:t>Σ</a:t>
            </a:r>
            <a:r>
              <a:rPr lang="ru-RU" altLang="ru-RU" sz="2800" smtClean="0">
                <a:latin typeface="Times New Roman" pitchFamily="18" charset="0"/>
              </a:rPr>
              <a:t> – множество (алфавит) входных символов;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i="1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– множество состояний автомата;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latin typeface="Times New Roman" pitchFamily="18" charset="0"/>
              </a:rPr>
              <a:t> – начальное состояние</a:t>
            </a:r>
            <a:r>
              <a:rPr lang="en-US" altLang="ru-RU" sz="2800" smtClean="0">
                <a:latin typeface="Times New Roman" pitchFamily="18" charset="0"/>
              </a:rPr>
              <a:t>               </a:t>
            </a:r>
            <a:r>
              <a:rPr lang="ru-RU" altLang="ru-RU" sz="2800" smtClean="0">
                <a:latin typeface="Times New Roman" pitchFamily="18" charset="0"/>
              </a:rPr>
              <a:t>; 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F</a:t>
            </a:r>
            <a:r>
              <a:rPr lang="ru-RU" altLang="ru-RU" sz="2800" smtClean="0">
                <a:latin typeface="Times New Roman" pitchFamily="18" charset="0"/>
              </a:rPr>
              <a:t> – множество заключительных состояний</a:t>
            </a:r>
            <a:r>
              <a:rPr lang="en-US" altLang="ru-RU" sz="2800" smtClean="0">
                <a:latin typeface="Times New Roman" pitchFamily="18" charset="0"/>
              </a:rPr>
              <a:t>             </a:t>
            </a:r>
            <a:r>
              <a:rPr lang="ru-RU" altLang="ru-RU" sz="2800" smtClean="0">
                <a:latin typeface="Times New Roman" pitchFamily="18" charset="0"/>
              </a:rPr>
              <a:t>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</a:rPr>
              <a:t>δ</a:t>
            </a:r>
            <a:r>
              <a:rPr lang="ru-RU" altLang="ru-RU" sz="2800" smtClean="0">
                <a:latin typeface="Times New Roman" pitchFamily="18" charset="0"/>
              </a:rPr>
              <a:t> – множество правил перехода, имеющих вид: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i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→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j</a:t>
            </a:r>
            <a:r>
              <a:rPr lang="en-US" altLang="ru-RU" sz="2800" smtClean="0">
                <a:latin typeface="Times New Roman" pitchFamily="18" charset="0"/>
              </a:rPr>
              <a:t>,</a:t>
            </a:r>
            <a:endParaRPr lang="ru-RU" altLang="ru-RU" sz="280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Правило перехода задаёт переход из состояния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i</a:t>
            </a:r>
            <a:r>
              <a:rPr lang="ru-RU" altLang="ru-RU" sz="2800" smtClean="0">
                <a:latin typeface="Times New Roman" pitchFamily="18" charset="0"/>
              </a:rPr>
              <a:t>, когда на входе читается символ 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</a:rPr>
              <a:t>, в состояние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j</a:t>
            </a:r>
            <a:r>
              <a:rPr lang="ru-RU" altLang="ru-RU" sz="2800" smtClean="0">
                <a:latin typeface="Times New Roman" pitchFamily="18" charset="0"/>
              </a:rPr>
              <a:t>. </a:t>
            </a: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5" name="Object 4"/>
          <p:cNvGraphicFramePr>
            <a:graphicFrameLocks noChangeAspect="1"/>
          </p:cNvGraphicFramePr>
          <p:nvPr/>
        </p:nvGraphicFramePr>
        <p:xfrm>
          <a:off x="4500563" y="2565400"/>
          <a:ext cx="11541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Формула" r:id="rId3" imgW="431613" imgH="203112" progId="Equation.3">
                  <p:embed/>
                </p:oleObj>
              </mc:Choice>
              <mc:Fallback>
                <p:oleObj name="Формула" r:id="rId3" imgW="431613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565400"/>
                        <a:ext cx="11541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127" name="Object 6"/>
          <p:cNvGraphicFramePr>
            <a:graphicFrameLocks noChangeAspect="1"/>
          </p:cNvGraphicFramePr>
          <p:nvPr/>
        </p:nvGraphicFramePr>
        <p:xfrm>
          <a:off x="7164388" y="3068638"/>
          <a:ext cx="10795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Формула" r:id="rId5" imgW="393529" imgH="190417" progId="Equation.3">
                  <p:embed/>
                </p:oleObj>
              </mc:Choice>
              <mc:Fallback>
                <p:oleObj name="Формула" r:id="rId5" imgW="393529" imgH="19041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3068638"/>
                        <a:ext cx="10795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647700"/>
          </a:xfrm>
        </p:spPr>
        <p:txBody>
          <a:bodyPr/>
          <a:lstStyle/>
          <a:p>
            <a:r>
              <a:rPr lang="ru-RU" altLang="ru-RU" sz="2800" b="1" smtClean="0">
                <a:solidFill>
                  <a:schemeClr val="accent2"/>
                </a:solidFill>
                <a:latin typeface="Times New Roman" pitchFamily="18" charset="0"/>
              </a:rPr>
              <a:t>РАСПОЗНАВАТЕЛЬ АВТОМАТНОЙ ГРАММАТИКИ – КОНЕЧНЫЙ АВТОМАТ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435975" cy="5545137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>
                <a:solidFill>
                  <a:srgbClr val="008000"/>
                </a:solidFill>
              </a:rPr>
              <a:t>Начало работы: считывающая головка автомата обозревает самый левый символ на ленте; автомат находится в начальном состоянии</a:t>
            </a:r>
            <a:r>
              <a:rPr lang="en-US" altLang="ru-RU" sz="2800" smtClean="0">
                <a:solidFill>
                  <a:srgbClr val="008000"/>
                </a:solidFill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ru-RU" altLang="ru-RU" sz="2800" baseline="-25000" smtClean="0">
                <a:latin typeface="Times New Roman" pitchFamily="18" charset="0"/>
              </a:rPr>
              <a:t>0</a:t>
            </a:r>
            <a:r>
              <a:rPr lang="ru-RU" altLang="ru-RU" sz="2800" smtClean="0">
                <a:solidFill>
                  <a:srgbClr val="008000"/>
                </a:solidFill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1000" smtClean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На очередном шаге – переход в новое состояние в соответствии с правилом перехода: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i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ru-RU" altLang="ru-RU" sz="2800" smtClean="0">
                <a:latin typeface="Times New Roman" pitchFamily="18" charset="0"/>
              </a:rPr>
              <a:t>→</a:t>
            </a:r>
            <a:r>
              <a:rPr lang="en-US" altLang="ru-RU" sz="2800" smtClean="0">
                <a:latin typeface="Times New Roman" pitchFamily="18" charset="0"/>
              </a:rPr>
              <a:t> </a:t>
            </a:r>
            <a:r>
              <a:rPr lang="en-US" altLang="ru-RU" sz="2800" i="1" smtClean="0">
                <a:latin typeface="Times New Roman" pitchFamily="18" charset="0"/>
              </a:rPr>
              <a:t>q</a:t>
            </a:r>
            <a:r>
              <a:rPr lang="en-US" altLang="ru-RU" sz="2800" i="1" baseline="-25000" smtClean="0">
                <a:latin typeface="Times New Roman" pitchFamily="18" charset="0"/>
              </a:rPr>
              <a:t>j</a:t>
            </a:r>
            <a:r>
              <a:rPr lang="en-US" altLang="ru-RU" sz="2800" smtClean="0">
                <a:latin typeface="Times New Roman" pitchFamily="18" charset="0"/>
              </a:rPr>
              <a:t>,</a:t>
            </a:r>
            <a:endParaRPr lang="ru-RU" altLang="ru-RU" sz="28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лента продвигается влево на один символ. 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10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Если прочитаны все символы на ленте и автомат находится в заключительном состоянии, то говорят, что входная цепочка успешно распознана (</a:t>
            </a:r>
            <a:r>
              <a:rPr lang="ru-RU" altLang="ru-RU" sz="2400" i="1" smtClean="0">
                <a:solidFill>
                  <a:srgbClr val="CC0066"/>
                </a:solidFill>
              </a:rPr>
              <a:t>допущена</a:t>
            </a:r>
            <a:r>
              <a:rPr lang="ru-RU" altLang="ru-RU" sz="2400" smtClean="0"/>
              <a:t>) автоматом.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10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/>
              <a:t>В противном случае - цепочка </a:t>
            </a:r>
            <a:r>
              <a:rPr lang="ru-RU" altLang="ru-RU" sz="2400" i="1" smtClean="0">
                <a:solidFill>
                  <a:srgbClr val="CC0066"/>
                </a:solidFill>
              </a:rPr>
              <a:t>не допущена</a:t>
            </a:r>
            <a:r>
              <a:rPr lang="ru-RU" altLang="ru-RU" sz="2400" smtClean="0"/>
              <a:t>.</a:t>
            </a:r>
            <a:r>
              <a:rPr lang="ru-RU" altLang="ru-RU" sz="2000" smtClean="0"/>
              <a:t> </a:t>
            </a:r>
          </a:p>
        </p:txBody>
      </p:sp>
      <p:sp>
        <p:nvSpPr>
          <p:cNvPr id="614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A0F58C7-DA29-4D55-A3EE-5F1D0757B83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503237"/>
          </a:xfrm>
        </p:spPr>
        <p:txBody>
          <a:bodyPr/>
          <a:lstStyle/>
          <a:p>
            <a:r>
              <a:rPr lang="ru-RU" altLang="ru-RU" sz="2800" b="1" smtClean="0">
                <a:solidFill>
                  <a:schemeClr val="accent2"/>
                </a:solidFill>
                <a:latin typeface="Times New Roman" pitchFamily="18" charset="0"/>
              </a:rPr>
              <a:t>КОНЕЧНЫЙ АВТОМАТ: РЕАЛИЗАЦИЯ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642350" cy="594995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1. Справа после входных символов на ленте автомата – «пустая» клетка (символ «</a:t>
            </a:r>
            <a:r>
              <a:rPr lang="ru-RU" altLang="ru-RU" sz="2800" baseline="-25000" smtClean="0">
                <a:latin typeface="Times New Roman" pitchFamily="18" charset="0"/>
                <a:cs typeface="Arial" charset="0"/>
              </a:rPr>
              <a:t>┴</a:t>
            </a:r>
            <a:r>
              <a:rPr lang="ru-RU" altLang="ru-RU" sz="2800" smtClean="0">
                <a:latin typeface="Times New Roman" pitchFamily="18" charset="0"/>
              </a:rPr>
              <a:t>»),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</a:rPr>
              <a:t>не принадлежащий алфавиту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2. Каждому нетерминалу грамматики соответствует одно состояние конечного автомата.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3. В грамматику добавляется еще один нетерминал </a:t>
            </a:r>
            <a:r>
              <a:rPr lang="en-US" altLang="ru-RU" sz="2800" i="1" smtClean="0">
                <a:latin typeface="Times New Roman" pitchFamily="18" charset="0"/>
              </a:rPr>
              <a:t>Z</a:t>
            </a:r>
            <a:r>
              <a:rPr lang="en-US" altLang="ru-RU" sz="2800" smtClean="0">
                <a:latin typeface="Times New Roman" pitchFamily="18" charset="0"/>
              </a:rPr>
              <a:t>, </a:t>
            </a:r>
            <a:r>
              <a:rPr lang="ru-RU" altLang="ru-RU" sz="2800" smtClean="0">
                <a:latin typeface="Times New Roman" pitchFamily="18" charset="0"/>
              </a:rPr>
              <a:t>ему соответствует заключительное состояние. Правила вида: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i="1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заменяются на</a:t>
            </a:r>
            <a:r>
              <a:rPr lang="ru-RU" altLang="ru-RU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i="1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aZ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, кроме того,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добавляется правило</a:t>
            </a:r>
            <a:r>
              <a:rPr lang="ru-RU" altLang="ru-RU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l-GR" altLang="ru-RU" sz="2800" i="1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baseline="-25000" smtClean="0">
                <a:latin typeface="Times New Roman" pitchFamily="18" charset="0"/>
                <a:cs typeface="Arial" charset="0"/>
              </a:rPr>
              <a:t>┴.</a:t>
            </a:r>
            <a:endParaRPr lang="ru-RU" altLang="ru-RU" sz="2800" i="1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4. Успешному распознаванию в работе конечного автомата соответствует следующая ситуация:</a:t>
            </a:r>
          </a:p>
          <a:p>
            <a:pPr>
              <a:lnSpc>
                <a:spcPct val="80000"/>
              </a:lnSpc>
            </a:pPr>
            <a:r>
              <a:rPr lang="ru-RU" altLang="ru-RU" sz="2800" smtClean="0">
                <a:solidFill>
                  <a:srgbClr val="008000"/>
                </a:solidFill>
              </a:rPr>
              <a:t>головка автомата обозревает символ </a:t>
            </a:r>
            <a:r>
              <a:rPr lang="ru-RU" altLang="ru-RU" sz="2800" smtClean="0">
                <a:solidFill>
                  <a:srgbClr val="008000"/>
                </a:solidFill>
                <a:latin typeface="Times New Roman" pitchFamily="18" charset="0"/>
              </a:rPr>
              <a:t>«</a:t>
            </a:r>
            <a:r>
              <a:rPr lang="ru-RU" altLang="ru-RU" sz="2800" baseline="-25000" smtClean="0">
                <a:solidFill>
                  <a:srgbClr val="008000"/>
                </a:solidFill>
                <a:latin typeface="Times New Roman" pitchFamily="18" charset="0"/>
                <a:cs typeface="Arial" charset="0"/>
              </a:rPr>
              <a:t>┴</a:t>
            </a:r>
            <a:r>
              <a:rPr lang="ru-RU" altLang="ru-RU" sz="2800" smtClean="0">
                <a:solidFill>
                  <a:srgbClr val="008000"/>
                </a:solidFill>
                <a:latin typeface="Times New Roman" pitchFamily="18" charset="0"/>
              </a:rPr>
              <a:t>»;</a:t>
            </a:r>
          </a:p>
          <a:p>
            <a:pPr>
              <a:lnSpc>
                <a:spcPct val="80000"/>
              </a:lnSpc>
            </a:pPr>
            <a:r>
              <a:rPr lang="ru-RU" altLang="ru-RU" sz="2800" smtClean="0">
                <a:solidFill>
                  <a:srgbClr val="008000"/>
                </a:solidFill>
              </a:rPr>
              <a:t>автомат находится в заключительном состоянии.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800" smtClean="0"/>
              <a:t> Тогда входная цепочка </a:t>
            </a:r>
            <a:r>
              <a:rPr lang="ru-RU" altLang="ru-RU" sz="2800" b="1" i="1" smtClean="0">
                <a:solidFill>
                  <a:srgbClr val="C00000"/>
                </a:solidFill>
              </a:rPr>
              <a:t>допущена</a:t>
            </a:r>
            <a:r>
              <a:rPr lang="ru-RU" altLang="ru-RU" sz="2800" smtClean="0"/>
              <a:t> автоматом.</a:t>
            </a:r>
          </a:p>
        </p:txBody>
      </p:sp>
      <p:sp>
        <p:nvSpPr>
          <p:cNvPr id="717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A65FCD-54EF-45DB-B0EF-09975854565F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r>
              <a:rPr lang="ru-RU" altLang="ru-RU" sz="2800" b="1" smtClean="0">
                <a:solidFill>
                  <a:schemeClr val="accent2"/>
                </a:solidFill>
              </a:rPr>
              <a:t>ПРИМЕР КОНЕЧНОГО АВТОМАТА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836613"/>
            <a:ext cx="8569325" cy="6021387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Грамматика:      </a:t>
            </a:r>
            <a:r>
              <a:rPr lang="en-US" altLang="ru-RU" sz="2400" i="1" smtClean="0">
                <a:latin typeface="Times New Roman" pitchFamily="18" charset="0"/>
              </a:rPr>
              <a:t>G</a:t>
            </a:r>
            <a:r>
              <a:rPr lang="ru-RU" altLang="ru-RU" sz="2400" baseline="-25000" smtClean="0">
                <a:latin typeface="Times New Roman" pitchFamily="18" charset="0"/>
              </a:rPr>
              <a:t>2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L</a:t>
            </a:r>
            <a:r>
              <a:rPr lang="en-US" altLang="ru-RU" sz="2400" smtClean="0">
                <a:latin typeface="Times New Roman" pitchFamily="18" charset="0"/>
              </a:rPr>
              <a:t>)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endParaRPr lang="ru-RU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S, T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}.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Замена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aZ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.</a:t>
            </a:r>
            <a:endParaRPr lang="ru-RU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Добавление: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ru-RU" altLang="ru-RU" sz="2800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 Автомат в виде таблицы:</a:t>
            </a: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Примеры: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 a a b b a  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                 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  b 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                            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  b  a  a  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ru-RU" altLang="ru-RU" sz="2400" baseline="-250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ru-RU" sz="2400" baseline="-250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1000" smtClean="0"/>
              <a:t>                                         </a:t>
            </a:r>
            <a:r>
              <a:rPr lang="en-US" altLang="ru-RU" sz="1600" smtClean="0">
                <a:cs typeface="Arial" charset="0"/>
              </a:rPr>
              <a:t>↑  ↑  ↑   ↑  ↑   ↑    ↑                 ↑   ↑   ↑    </a:t>
            </a:r>
            <a:r>
              <a:rPr lang="ru-RU" altLang="ru-RU" sz="1600" smtClean="0">
                <a:cs typeface="Arial" charset="0"/>
              </a:rPr>
              <a:t> </a:t>
            </a:r>
            <a:r>
              <a:rPr lang="en-US" altLang="ru-RU" sz="1600" smtClean="0">
                <a:cs typeface="Arial" charset="0"/>
              </a:rPr>
              <a:t>           </a:t>
            </a:r>
            <a:r>
              <a:rPr lang="ru-RU" altLang="ru-RU" sz="1600" smtClean="0">
                <a:cs typeface="Arial" charset="0"/>
              </a:rPr>
              <a:t>              </a:t>
            </a:r>
            <a:r>
              <a:rPr lang="en-US" altLang="ru-RU" sz="1600" smtClean="0">
                <a:cs typeface="Arial" charset="0"/>
              </a:rPr>
              <a:t>↑   ↑    ↑    ↑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800" smtClean="0"/>
              <a:t>              </a:t>
            </a:r>
            <a:r>
              <a:rPr lang="en-US" altLang="ru-RU" sz="2400" i="1" smtClean="0">
                <a:latin typeface="Times New Roman" pitchFamily="18" charset="0"/>
              </a:rPr>
              <a:t>S S S S T T  </a:t>
            </a:r>
            <a:r>
              <a:rPr lang="en-US" altLang="ru-RU" sz="2400" b="1" i="1" smtClean="0">
                <a:solidFill>
                  <a:srgbClr val="CC0066"/>
                </a:solidFill>
                <a:latin typeface="Times New Roman" pitchFamily="18" charset="0"/>
              </a:rPr>
              <a:t>Z</a:t>
            </a:r>
            <a:r>
              <a:rPr lang="en-US" altLang="ru-RU" sz="2400" i="1" smtClean="0">
                <a:solidFill>
                  <a:srgbClr val="CC0066"/>
                </a:solidFill>
                <a:latin typeface="Times New Roman" pitchFamily="18" charset="0"/>
              </a:rPr>
              <a:t>            </a:t>
            </a:r>
            <a:r>
              <a:rPr lang="en-US" altLang="ru-RU" sz="2400" i="1" smtClean="0">
                <a:latin typeface="Times New Roman" pitchFamily="18" charset="0"/>
              </a:rPr>
              <a:t>S  S </a:t>
            </a:r>
            <a:r>
              <a:rPr lang="en-US" altLang="ru-RU" sz="2400" b="1" i="1" smtClean="0">
                <a:solidFill>
                  <a:srgbClr val="CC0066"/>
                </a:solidFill>
                <a:latin typeface="Times New Roman" pitchFamily="18" charset="0"/>
              </a:rPr>
              <a:t>T </a:t>
            </a:r>
            <a:r>
              <a:rPr lang="en-US" altLang="ru-RU" sz="2400" i="1" smtClean="0">
                <a:latin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</a:rPr>
              <a:t>  </a:t>
            </a:r>
            <a:r>
              <a:rPr lang="ru-RU" altLang="ru-RU" sz="2400" b="1" smtClean="0">
                <a:solidFill>
                  <a:srgbClr val="CC0066"/>
                </a:solidFill>
                <a:latin typeface="Times New Roman" pitchFamily="18" charset="0"/>
              </a:rPr>
              <a:t>               </a:t>
            </a:r>
            <a:r>
              <a:rPr lang="en-US" altLang="ru-RU" sz="2400" b="1" smtClean="0">
                <a:solidFill>
                  <a:srgbClr val="CC0066"/>
                </a:solidFill>
                <a:latin typeface="Times New Roman" pitchFamily="18" charset="0"/>
              </a:rPr>
              <a:t> </a:t>
            </a:r>
            <a:r>
              <a:rPr lang="ru-RU" altLang="ru-RU" sz="2400" b="1" smtClean="0">
                <a:solidFill>
                  <a:srgbClr val="CC0066"/>
                </a:solidFill>
                <a:latin typeface="Times New Roman" pitchFamily="18" charset="0"/>
              </a:rPr>
              <a:t>  </a:t>
            </a:r>
            <a:r>
              <a:rPr lang="en-US" altLang="ru-RU" sz="2400" i="1" smtClean="0">
                <a:latin typeface="Times New Roman" pitchFamily="18" charset="0"/>
              </a:rPr>
              <a:t>S 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</a:rPr>
              <a:t>S  T  </a:t>
            </a:r>
            <a:r>
              <a:rPr lang="en-US" altLang="ru-RU" sz="2400" b="1" i="1" smtClean="0">
                <a:solidFill>
                  <a:srgbClr val="CC0066"/>
                </a:solidFill>
                <a:latin typeface="Times New Roman" pitchFamily="18" charset="0"/>
              </a:rPr>
              <a:t>Z</a:t>
            </a:r>
            <a:r>
              <a:rPr lang="en-US" altLang="ru-RU" sz="2400" i="1" smtClean="0">
                <a:solidFill>
                  <a:srgbClr val="CC0066"/>
                </a:solidFill>
                <a:latin typeface="Times New Roman" pitchFamily="18" charset="0"/>
              </a:rPr>
              <a:t> </a:t>
            </a:r>
            <a:endParaRPr lang="ru-RU" altLang="ru-RU" sz="2400" i="1" smtClean="0">
              <a:solidFill>
                <a:srgbClr val="CC0066"/>
              </a:solidFill>
              <a:latin typeface="Times New Roman" pitchFamily="18" charset="0"/>
            </a:endParaRPr>
          </a:p>
        </p:txBody>
      </p:sp>
      <p:graphicFrame>
        <p:nvGraphicFramePr>
          <p:cNvPr id="18471" name="Group 39"/>
          <p:cNvGraphicFramePr>
            <a:graphicFrameLocks noGrp="1"/>
          </p:cNvGraphicFramePr>
          <p:nvPr>
            <p:ph sz="half" idx="2"/>
          </p:nvPr>
        </p:nvGraphicFramePr>
        <p:xfrm>
          <a:off x="1187450" y="2708275"/>
          <a:ext cx="5689600" cy="2249556"/>
        </p:xfrm>
        <a:graphic>
          <a:graphicData uri="http://schemas.openxmlformats.org/drawingml/2006/table">
            <a:tbl>
              <a:tblPr/>
              <a:tblGrid>
                <a:gridCol w="2303463"/>
                <a:gridCol w="1009650"/>
                <a:gridCol w="935037"/>
                <a:gridCol w="1441450"/>
              </a:tblGrid>
              <a:tr h="6952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Входной символ_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Состояние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32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┴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altLang="ru-RU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8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допуск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23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60FF986-8B9E-4041-B273-9F7CF8E2550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52513"/>
          </a:xfrm>
        </p:spPr>
        <p:txBody>
          <a:bodyPr/>
          <a:lstStyle/>
          <a:p>
            <a:r>
              <a:rPr lang="ru-RU" altLang="ru-RU" sz="2800" b="1" smtClean="0">
                <a:solidFill>
                  <a:schemeClr val="accent2"/>
                </a:solidFill>
              </a:rPr>
              <a:t>РЕАЛИЗАЦИЯ ДЕТЕРМИНИРОВАННОГО КОНЕЧНОГО АВТОМАТА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41425"/>
            <a:ext cx="8640763" cy="56165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Входная цепочка: массив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Номер текущего символа: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Состояние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s</a:t>
            </a:r>
            <a:r>
              <a:rPr lang="ru-RU" altLang="ru-RU" sz="2400" b="1" smtClean="0">
                <a:latin typeface="Courier New" pitchFamily="49" charset="0"/>
              </a:rPr>
              <a:t>: 1, 2, . . . , </a:t>
            </a:r>
            <a:r>
              <a:rPr lang="en-US" altLang="ru-RU" sz="2400" b="1" smtClean="0">
                <a:latin typeface="Courier New" pitchFamily="49" charset="0"/>
              </a:rPr>
              <a:t>k, k+1</a:t>
            </a:r>
            <a:r>
              <a:rPr lang="en-US" altLang="ru-RU" sz="2400" smtClean="0">
                <a:latin typeface="Times New Roman" pitchFamily="18" charset="0"/>
              </a:rPr>
              <a:t>.  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 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Начальное: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b="1" smtClean="0">
                <a:latin typeface="Courier New" pitchFamily="49" charset="0"/>
              </a:rPr>
              <a:t>1</a:t>
            </a:r>
            <a:r>
              <a:rPr lang="ru-RU" altLang="ru-RU" sz="2400" smtClean="0">
                <a:latin typeface="Times New Roman" pitchFamily="18" charset="0"/>
              </a:rPr>
              <a:t>, 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заключительное: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k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ошибочное: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k+1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Матрица переходов: массив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M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Таблица перекодировки (символ -</a:t>
            </a:r>
            <a:r>
              <a:rPr lang="en-US" altLang="ru-RU" sz="2400" smtClean="0">
                <a:solidFill>
                  <a:srgbClr val="008000"/>
                </a:solidFill>
                <a:latin typeface="Times New Roman" pitchFamily="18" charset="0"/>
              </a:rPr>
              <a:t>&gt;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 номер столбца):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Courier New" pitchFamily="49" charset="0"/>
              </a:rPr>
              <a:t>i:=1; s:=1;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Courier New" pitchFamily="49" charset="0"/>
              </a:rPr>
              <a:t>while s&lt;k do begin</a:t>
            </a:r>
            <a:r>
              <a:rPr lang="ru-RU" altLang="ru-RU" sz="2400" b="1" smtClean="0">
                <a:latin typeface="Courier New" pitchFamily="49" charset="0"/>
              </a:rPr>
              <a:t>      </a:t>
            </a:r>
            <a:r>
              <a:rPr lang="en-US" altLang="ru-RU" sz="2400" b="1" smtClean="0">
                <a:latin typeface="Courier New" pitchFamily="49" charset="0"/>
              </a:rPr>
              <a:t>{i</a:t>
            </a:r>
            <a:r>
              <a:rPr lang="ru-RU" altLang="ru-RU" sz="2400" b="1" smtClean="0">
                <a:latin typeface="Courier New" pitchFamily="49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&lt;=</a:t>
            </a:r>
            <a:r>
              <a:rPr lang="ru-RU" altLang="ru-RU" sz="2400" b="1" smtClean="0">
                <a:latin typeface="Courier New" pitchFamily="49" charset="0"/>
              </a:rPr>
              <a:t> </a:t>
            </a:r>
            <a:r>
              <a:rPr lang="ru-RU" altLang="ru-RU" sz="2400" b="1" i="1" smtClean="0">
                <a:solidFill>
                  <a:srgbClr val="008000"/>
                </a:solidFill>
                <a:latin typeface="Times New Roman" pitchFamily="18" charset="0"/>
              </a:rPr>
              <a:t>длины строки</a:t>
            </a:r>
            <a:r>
              <a:rPr lang="ru-RU" altLang="ru-RU" sz="2400" b="1" smtClean="0">
                <a:latin typeface="Courier New" pitchFamily="49" charset="0"/>
              </a:rPr>
              <a:t> С</a:t>
            </a:r>
            <a:r>
              <a:rPr lang="en-US" altLang="ru-RU" sz="2400" b="1" smtClean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Courier New" pitchFamily="49" charset="0"/>
              </a:rPr>
              <a:t>  j:=T[ord(C[i])];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Courier New" pitchFamily="49" charset="0"/>
              </a:rPr>
              <a:t>  s:=M[s,j];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Courier New" pitchFamily="49" charset="0"/>
              </a:rPr>
              <a:t>  i:=i+1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Courier New" pitchFamily="49" charset="0"/>
              </a:rPr>
              <a:t>end;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b="1" smtClean="0">
                <a:latin typeface="Courier New" pitchFamily="49" charset="0"/>
              </a:rPr>
              <a:t>if (s=k)and(C[i]=’</a:t>
            </a:r>
            <a:r>
              <a:rPr lang="en-US" altLang="ru-RU" sz="2400" b="1" baseline="-25000" smtClean="0">
                <a:latin typeface="Courier New" pitchFamily="49" charset="0"/>
                <a:cs typeface="Arial" charset="0"/>
              </a:rPr>
              <a:t>┴</a:t>
            </a:r>
            <a:r>
              <a:rPr lang="en-US" altLang="ru-RU" sz="2400" b="1" smtClean="0">
                <a:latin typeface="Courier New" pitchFamily="49" charset="0"/>
              </a:rPr>
              <a:t>’) then </a:t>
            </a:r>
            <a:r>
              <a:rPr lang="ru-RU" altLang="ru-RU" sz="2400" b="1" smtClean="0">
                <a:solidFill>
                  <a:srgbClr val="CC0066"/>
                </a:solidFill>
                <a:latin typeface="Courier New" pitchFamily="49" charset="0"/>
              </a:rPr>
              <a:t>«допуск»</a:t>
            </a:r>
            <a:r>
              <a:rPr lang="ru-RU" altLang="ru-RU" sz="2400" b="1" smtClean="0">
                <a:latin typeface="Courier New" pitchFamily="49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else </a:t>
            </a:r>
            <a:r>
              <a:rPr lang="ru-RU" altLang="ru-RU" sz="2400" b="1" smtClean="0">
                <a:solidFill>
                  <a:srgbClr val="CC0066"/>
                </a:solidFill>
                <a:latin typeface="Courier New" pitchFamily="49" charset="0"/>
              </a:rPr>
              <a:t>«нет»</a:t>
            </a:r>
            <a:endParaRPr lang="en-US" altLang="ru-RU" sz="2400" b="1" smtClean="0">
              <a:solidFill>
                <a:srgbClr val="CC0066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ru-RU" sz="1000" b="1" i="1" smtClean="0">
              <a:solidFill>
                <a:srgbClr val="CC0066"/>
              </a:solidFill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sz="2400" b="1" i="1" smtClean="0">
                <a:solidFill>
                  <a:srgbClr val="CC0066"/>
                </a:solidFill>
                <a:latin typeface="Times New Roman" pitchFamily="18" charset="0"/>
              </a:rPr>
              <a:t>Трудоемкость</a:t>
            </a:r>
            <a:r>
              <a:rPr lang="ru-RU" altLang="ru-RU" sz="2400" b="1" smtClean="0">
                <a:solidFill>
                  <a:srgbClr val="CC0066"/>
                </a:solidFill>
                <a:latin typeface="Times New Roman" pitchFamily="18" charset="0"/>
              </a:rPr>
              <a:t>: </a:t>
            </a:r>
            <a:r>
              <a:rPr lang="en-US" altLang="ru-RU" sz="2400" i="1" smtClean="0">
                <a:latin typeface="Times New Roman" pitchFamily="18" charset="0"/>
              </a:rPr>
              <a:t>O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</a:rPr>
              <a:t>)</a:t>
            </a:r>
            <a:endParaRPr lang="ru-RU" altLang="ru-RU" sz="2400" b="1" smtClean="0">
              <a:solidFill>
                <a:srgbClr val="CC0066"/>
              </a:solidFill>
              <a:latin typeface="Courier New" pitchFamily="49" charset="0"/>
            </a:endParaRPr>
          </a:p>
        </p:txBody>
      </p:sp>
      <p:sp>
        <p:nvSpPr>
          <p:cNvPr id="922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41173F2-2606-4553-8139-D87E3D37FD9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700" b="1" smtClean="0">
                <a:solidFill>
                  <a:schemeClr val="accent2"/>
                </a:solidFill>
              </a:rPr>
              <a:t>НЕДЕТЕРМИНИРОВАННЫЙ КОНЕЧНЫЙ АВТОМАТ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341438"/>
            <a:ext cx="8713787" cy="55165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Грамматика:      </a:t>
            </a:r>
            <a:r>
              <a:rPr lang="en-US" altLang="ru-RU" sz="2400" i="1" smtClean="0">
                <a:latin typeface="Times New Roman" pitchFamily="18" charset="0"/>
              </a:rPr>
              <a:t>G</a:t>
            </a:r>
            <a:r>
              <a:rPr lang="en-US" altLang="ru-RU" sz="2400" baseline="-25000" smtClean="0">
                <a:latin typeface="Times New Roman" pitchFamily="18" charset="0"/>
              </a:rPr>
              <a:t>3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L</a:t>
            </a:r>
            <a:r>
              <a:rPr lang="en-US" altLang="ru-RU" sz="2400" smtClean="0">
                <a:latin typeface="Times New Roman" pitchFamily="18" charset="0"/>
              </a:rPr>
              <a:t>)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endParaRPr lang="ru-RU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S, T, 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aC,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Замена: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bZ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Добавление: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i="1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Недетерминированности: 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bZ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ru-RU" sz="20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Примеры: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    a     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     b    </a:t>
            </a:r>
            <a:r>
              <a:rPr lang="en-US" altLang="ru-RU" sz="2400" baseline="-25000" smtClean="0">
                <a:latin typeface="Times New Roman" pitchFamily="18" charset="0"/>
                <a:cs typeface="Times New Roman" pitchFamily="18" charset="0"/>
              </a:rPr>
              <a:t>┴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1400" smtClean="0"/>
              <a:t>                             </a:t>
            </a:r>
            <a:r>
              <a:rPr lang="en-US" altLang="ru-RU" sz="1400" smtClean="0">
                <a:cs typeface="Arial" charset="0"/>
              </a:rPr>
              <a:t>↑        ↑       </a:t>
            </a:r>
            <a:r>
              <a:rPr lang="ru-RU" altLang="ru-RU" sz="1400" smtClean="0">
                <a:cs typeface="Arial" charset="0"/>
              </a:rPr>
              <a:t> </a:t>
            </a:r>
            <a:r>
              <a:rPr lang="en-US" altLang="ru-RU" sz="1400" smtClean="0">
                <a:cs typeface="Arial" charset="0"/>
              </a:rPr>
              <a:t>  ↑          ↑     </a:t>
            </a:r>
            <a:r>
              <a:rPr lang="ru-RU" altLang="ru-RU" sz="1400" smtClean="0">
                <a:cs typeface="Arial" charset="0"/>
              </a:rPr>
              <a:t> </a:t>
            </a:r>
            <a:r>
              <a:rPr lang="en-US" altLang="ru-RU" sz="1400" smtClean="0">
                <a:cs typeface="Arial" charset="0"/>
              </a:rPr>
              <a:t>  ↑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ru-RU" sz="2000" smtClean="0"/>
              <a:t>                    </a:t>
            </a:r>
            <a:r>
              <a:rPr lang="en-US" altLang="ru-RU" sz="2000" i="1" smtClean="0">
                <a:latin typeface="Times New Roman" pitchFamily="18" charset="0"/>
              </a:rPr>
              <a:t>S     T/</a:t>
            </a:r>
            <a:r>
              <a:rPr lang="en-US" altLang="ru-RU" sz="2000" i="1" smtClean="0">
                <a:solidFill>
                  <a:srgbClr val="CC0066"/>
                </a:solidFill>
                <a:latin typeface="Times New Roman" pitchFamily="18" charset="0"/>
              </a:rPr>
              <a:t>C</a:t>
            </a:r>
            <a:r>
              <a:rPr lang="en-US" altLang="ru-RU" sz="2000" i="1" smtClean="0">
                <a:latin typeface="Times New Roman" pitchFamily="18" charset="0"/>
              </a:rPr>
              <a:t>   T/C  C/</a:t>
            </a:r>
            <a:r>
              <a:rPr lang="en-US" altLang="ru-RU" sz="2000" i="1" smtClean="0">
                <a:solidFill>
                  <a:srgbClr val="CC0066"/>
                </a:solidFill>
                <a:latin typeface="Times New Roman" pitchFamily="18" charset="0"/>
              </a:rPr>
              <a:t>Z</a:t>
            </a:r>
            <a:r>
              <a:rPr lang="en-US" altLang="ru-RU" sz="2000" i="1" smtClean="0">
                <a:latin typeface="Times New Roman" pitchFamily="18" charset="0"/>
              </a:rPr>
              <a:t>  </a:t>
            </a:r>
            <a:r>
              <a:rPr lang="en-US" altLang="ru-RU" sz="2000" i="1" smtClean="0">
                <a:solidFill>
                  <a:srgbClr val="CC0066"/>
                </a:solidFill>
                <a:latin typeface="Times New Roman" pitchFamily="18" charset="0"/>
              </a:rPr>
              <a:t>C</a:t>
            </a:r>
            <a:r>
              <a:rPr lang="en-US" altLang="ru-RU" sz="2000" i="1" smtClean="0">
                <a:latin typeface="Times New Roman" pitchFamily="18" charset="0"/>
              </a:rPr>
              <a:t>/</a:t>
            </a:r>
            <a:r>
              <a:rPr lang="en-US" altLang="ru-RU" sz="2000" b="1" i="1" smtClean="0">
                <a:solidFill>
                  <a:srgbClr val="CC0066"/>
                </a:solidFill>
                <a:latin typeface="Times New Roman" pitchFamily="18" charset="0"/>
              </a:rPr>
              <a:t>Z</a:t>
            </a:r>
          </a:p>
        </p:txBody>
      </p:sp>
      <p:graphicFrame>
        <p:nvGraphicFramePr>
          <p:cNvPr id="19508" name="Group 52"/>
          <p:cNvGraphicFramePr>
            <a:graphicFrameLocks noGrp="1"/>
          </p:cNvGraphicFramePr>
          <p:nvPr>
            <p:ph sz="half" idx="2"/>
          </p:nvPr>
        </p:nvGraphicFramePr>
        <p:xfrm>
          <a:off x="4572000" y="2997200"/>
          <a:ext cx="4038600" cy="2620964"/>
        </p:xfrm>
        <a:graphic>
          <a:graphicData uri="http://schemas.openxmlformats.org/drawingml/2006/table">
            <a:tbl>
              <a:tblPr/>
              <a:tblGrid>
                <a:gridCol w="1868488"/>
                <a:gridCol w="647700"/>
                <a:gridCol w="647700"/>
                <a:gridCol w="874712"/>
              </a:tblGrid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Входной символ_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Состояние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T/C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T/C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C/Z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допуск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E398847-3B7F-4D2D-B3E6-9FE0CF99325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r>
              <a:rPr lang="ru-RU" altLang="ru-RU" sz="2400" b="1" smtClean="0">
                <a:solidFill>
                  <a:schemeClr val="accent2"/>
                </a:solidFill>
              </a:rPr>
              <a:t>РЕАЛИЗАЦИЯ НЕДЕТЕРМИНИРОВАННОГО КОНЕЧНОГО АВТОМАТА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686800" cy="6021387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Входная цепочка: массив</a:t>
            </a:r>
            <a:r>
              <a:rPr lang="ru-RU" altLang="ru-RU" sz="2000" smtClean="0">
                <a:latin typeface="Times New Roman" pitchFamily="18" charset="0"/>
              </a:rPr>
              <a:t> </a:t>
            </a:r>
            <a:r>
              <a:rPr lang="en-US" altLang="ru-RU" sz="2000" b="1" smtClean="0">
                <a:latin typeface="Courier New" pitchFamily="49" charset="0"/>
              </a:rPr>
              <a:t>C</a:t>
            </a:r>
            <a:r>
              <a:rPr lang="ru-RU" altLang="ru-RU" sz="2000" smtClean="0">
                <a:latin typeface="Times New Roman" pitchFamily="18" charset="0"/>
              </a:rPr>
              <a:t>, </a:t>
            </a: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Номер текущего символа:</a:t>
            </a:r>
            <a:r>
              <a:rPr lang="ru-RU" altLang="ru-RU" sz="2000" smtClean="0">
                <a:latin typeface="Times New Roman" pitchFamily="18" charset="0"/>
              </a:rPr>
              <a:t> </a:t>
            </a:r>
            <a:r>
              <a:rPr lang="en-US" altLang="ru-RU" sz="2000" b="1" smtClean="0">
                <a:latin typeface="Courier New" pitchFamily="49" charset="0"/>
              </a:rPr>
              <a:t>i</a:t>
            </a:r>
            <a:r>
              <a:rPr lang="en-US" altLang="ru-RU" sz="2000" smtClean="0">
                <a:latin typeface="Times New Roman" pitchFamily="18" charset="0"/>
              </a:rPr>
              <a:t>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Состояние</a:t>
            </a:r>
            <a:r>
              <a:rPr lang="ru-RU" altLang="ru-RU" sz="2000" smtClean="0">
                <a:latin typeface="Times New Roman" pitchFamily="18" charset="0"/>
              </a:rPr>
              <a:t> </a:t>
            </a:r>
            <a:r>
              <a:rPr lang="en-US" altLang="ru-RU" sz="2000" b="1" smtClean="0">
                <a:latin typeface="Courier New" pitchFamily="49" charset="0"/>
              </a:rPr>
              <a:t>s</a:t>
            </a:r>
            <a:r>
              <a:rPr lang="ru-RU" altLang="ru-RU" sz="2000" b="1" smtClean="0">
                <a:latin typeface="Courier New" pitchFamily="49" charset="0"/>
              </a:rPr>
              <a:t>:</a:t>
            </a:r>
            <a:r>
              <a:rPr lang="ru-RU" altLang="ru-RU" sz="2000" b="1" smtClean="0">
                <a:latin typeface="Times New Roman" pitchFamily="18" charset="0"/>
              </a:rPr>
              <a:t>  </a:t>
            </a:r>
            <a:r>
              <a:rPr lang="ru-RU" altLang="ru-RU" sz="2000" smtClean="0">
                <a:solidFill>
                  <a:srgbClr val="CC0066"/>
                </a:solidFill>
                <a:latin typeface="Times New Roman" pitchFamily="18" charset="0"/>
              </a:rPr>
              <a:t>битовый вектор</a:t>
            </a: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 длиной</a:t>
            </a:r>
            <a:r>
              <a:rPr lang="ru-RU" altLang="ru-RU" sz="2000" b="1" smtClean="0">
                <a:latin typeface="Times New Roman" pitchFamily="18" charset="0"/>
              </a:rPr>
              <a:t>  </a:t>
            </a:r>
            <a:r>
              <a:rPr lang="en-US" altLang="ru-RU" sz="2000" b="1" smtClean="0">
                <a:latin typeface="Courier New" pitchFamily="49" charset="0"/>
              </a:rPr>
              <a:t>k</a:t>
            </a:r>
            <a:r>
              <a:rPr lang="en-US" altLang="ru-RU" sz="2000" b="1" smtClean="0">
                <a:latin typeface="Times New Roman" pitchFamily="18" charset="0"/>
              </a:rPr>
              <a:t> </a:t>
            </a: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бит</a:t>
            </a:r>
            <a:r>
              <a:rPr lang="en-US" altLang="ru-RU" sz="2000" smtClean="0">
                <a:solidFill>
                  <a:srgbClr val="008000"/>
                </a:solidFill>
                <a:latin typeface="Times New Roman" pitchFamily="18" charset="0"/>
              </a:rPr>
              <a:t>.</a:t>
            </a:r>
            <a:r>
              <a:rPr lang="en-US" altLang="ru-RU" sz="2000" smtClean="0">
                <a:latin typeface="Times New Roman" pitchFamily="18" charset="0"/>
              </a:rPr>
              <a:t>  </a:t>
            </a:r>
            <a:endParaRPr lang="ru-RU" altLang="ru-RU" sz="20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    </a:t>
            </a: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Начальное:</a:t>
            </a:r>
            <a:r>
              <a:rPr lang="ru-RU" altLang="ru-RU" sz="2000" smtClean="0">
                <a:latin typeface="Times New Roman" pitchFamily="18" charset="0"/>
              </a:rPr>
              <a:t> (1,0,0, . . . 0) </a:t>
            </a: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заключительное:</a:t>
            </a:r>
            <a:r>
              <a:rPr lang="ru-RU" altLang="ru-RU" sz="2000" smtClean="0">
                <a:latin typeface="Times New Roman" pitchFamily="18" charset="0"/>
              </a:rPr>
              <a:t> (?, ?, ?, . . . , ?, 1)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   </a:t>
            </a:r>
            <a:r>
              <a:rPr lang="en-US" altLang="ru-RU" sz="2000" smtClean="0">
                <a:latin typeface="Times New Roman" pitchFamily="18" charset="0"/>
              </a:rPr>
              <a:t> </a:t>
            </a: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ошибочное:</a:t>
            </a:r>
            <a:r>
              <a:rPr lang="ru-RU" altLang="ru-RU" sz="2000" smtClean="0">
                <a:latin typeface="Times New Roman" pitchFamily="18" charset="0"/>
              </a:rPr>
              <a:t> (0,0,0, . . . 0) </a:t>
            </a:r>
            <a:endParaRPr lang="en-US" altLang="ru-RU" sz="20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Матрица переходов: массив</a:t>
            </a:r>
            <a:r>
              <a:rPr lang="ru-RU" altLang="ru-RU" sz="2000" smtClean="0">
                <a:latin typeface="Times New Roman" pitchFamily="18" charset="0"/>
              </a:rPr>
              <a:t> </a:t>
            </a:r>
            <a:r>
              <a:rPr lang="en-US" altLang="ru-RU" sz="2000" b="1" smtClean="0">
                <a:latin typeface="Courier New" pitchFamily="49" charset="0"/>
              </a:rPr>
              <a:t>M</a:t>
            </a:r>
            <a:r>
              <a:rPr lang="ru-RU" altLang="ru-RU" sz="2000" smtClean="0">
                <a:latin typeface="Times New Roman" pitchFamily="18" charset="0"/>
              </a:rPr>
              <a:t> </a:t>
            </a:r>
            <a:r>
              <a:rPr lang="ru-RU" altLang="ru-RU" sz="2000" smtClean="0">
                <a:solidFill>
                  <a:srgbClr val="CC0066"/>
                </a:solidFill>
                <a:latin typeface="Times New Roman" pitchFamily="18" charset="0"/>
              </a:rPr>
              <a:t>из битовых векторов</a:t>
            </a:r>
            <a:r>
              <a:rPr lang="en-US" altLang="ru-RU" sz="2000" smtClean="0">
                <a:solidFill>
                  <a:srgbClr val="CC0066"/>
                </a:solidFill>
                <a:latin typeface="Times New Roman" pitchFamily="18" charset="0"/>
              </a:rPr>
              <a:t> </a:t>
            </a:r>
            <a:r>
              <a:rPr lang="ru-RU" altLang="ru-RU" sz="2000" smtClean="0">
                <a:solidFill>
                  <a:srgbClr val="CC0066"/>
                </a:solidFill>
                <a:latin typeface="Times New Roman" pitchFamily="18" charset="0"/>
              </a:rPr>
              <a:t>длиной </a:t>
            </a:r>
            <a:r>
              <a:rPr lang="en-US" altLang="ru-RU" sz="2000" b="1" smtClean="0">
                <a:latin typeface="Courier New" pitchFamily="49" charset="0"/>
              </a:rPr>
              <a:t>k</a:t>
            </a:r>
            <a:r>
              <a:rPr lang="ru-RU" altLang="ru-RU" sz="2000" smtClean="0">
                <a:solidFill>
                  <a:srgbClr val="CC0066"/>
                </a:solidFill>
                <a:latin typeface="Times New Roman" pitchFamily="18" charset="0"/>
              </a:rPr>
              <a:t>.</a:t>
            </a:r>
            <a:endParaRPr lang="en-US" altLang="ru-RU" sz="2000" smtClean="0">
              <a:solidFill>
                <a:srgbClr val="CC0066"/>
              </a:solidFill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Таблица перекодировки (символ -</a:t>
            </a:r>
            <a:r>
              <a:rPr lang="en-US" altLang="ru-RU" sz="2000" smtClean="0">
                <a:solidFill>
                  <a:srgbClr val="008000"/>
                </a:solidFill>
                <a:latin typeface="Times New Roman" pitchFamily="18" charset="0"/>
              </a:rPr>
              <a:t>&gt;</a:t>
            </a: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</a:rPr>
              <a:t> номер столбца):</a:t>
            </a:r>
            <a:r>
              <a:rPr lang="ru-RU" altLang="ru-RU" sz="2000" smtClean="0">
                <a:latin typeface="Times New Roman" pitchFamily="18" charset="0"/>
              </a:rPr>
              <a:t> </a:t>
            </a:r>
            <a:r>
              <a:rPr lang="en-US" altLang="ru-RU" sz="2000" b="1" smtClean="0">
                <a:latin typeface="Courier New" pitchFamily="49" charset="0"/>
              </a:rPr>
              <a:t>T</a:t>
            </a:r>
            <a:r>
              <a:rPr lang="en-US" altLang="ru-RU" sz="20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i:=1; s:=</a:t>
            </a:r>
            <a:r>
              <a:rPr lang="ru-RU" altLang="ru-RU" sz="2000" smtClean="0">
                <a:latin typeface="Times New Roman" pitchFamily="18" charset="0"/>
              </a:rPr>
              <a:t>(1,0,0, . . . 0)</a:t>
            </a:r>
            <a:r>
              <a:rPr lang="en-US" altLang="ru-RU" sz="2000" b="1" smtClean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while (s&lt;&gt;</a:t>
            </a:r>
            <a:r>
              <a:rPr lang="ru-RU" altLang="ru-RU" sz="2000" smtClean="0">
                <a:latin typeface="Times New Roman" pitchFamily="18" charset="0"/>
              </a:rPr>
              <a:t>(</a:t>
            </a:r>
            <a:r>
              <a:rPr lang="en-US" altLang="ru-RU" sz="2000" smtClean="0">
                <a:latin typeface="Times New Roman" pitchFamily="18" charset="0"/>
              </a:rPr>
              <a:t>0</a:t>
            </a:r>
            <a:r>
              <a:rPr lang="ru-RU" altLang="ru-RU" sz="2000" smtClean="0">
                <a:latin typeface="Times New Roman" pitchFamily="18" charset="0"/>
              </a:rPr>
              <a:t>,0,0, . . . 0)</a:t>
            </a:r>
            <a:r>
              <a:rPr lang="en-US" altLang="ru-RU" sz="2000" b="1" smtClean="0">
                <a:latin typeface="Courier New" pitchFamily="49" charset="0"/>
              </a:rPr>
              <a:t>)and(C[i]&lt;&gt;’</a:t>
            </a:r>
            <a:r>
              <a:rPr lang="en-US" altLang="ru-RU" sz="2000" b="1" baseline="-25000" smtClean="0">
                <a:latin typeface="Courier New" pitchFamily="49" charset="0"/>
                <a:cs typeface="Arial" charset="0"/>
              </a:rPr>
              <a:t>┴</a:t>
            </a:r>
            <a:r>
              <a:rPr lang="en-US" altLang="ru-RU" sz="2000" b="1" smtClean="0">
                <a:latin typeface="Courier New" pitchFamily="49" charset="0"/>
              </a:rPr>
              <a:t>’) do {i&lt;=</a:t>
            </a:r>
            <a:r>
              <a:rPr lang="ru-RU" altLang="ru-RU" sz="2000" b="1" i="1" smtClean="0">
                <a:solidFill>
                  <a:srgbClr val="008000"/>
                </a:solidFill>
                <a:latin typeface="Times New Roman" pitchFamily="18" charset="0"/>
              </a:rPr>
              <a:t>длины строки</a:t>
            </a:r>
            <a:r>
              <a:rPr lang="ru-RU" altLang="ru-RU" sz="2000" b="1" smtClean="0">
                <a:latin typeface="Courier New" pitchFamily="49" charset="0"/>
              </a:rPr>
              <a:t> С</a:t>
            </a:r>
            <a:r>
              <a:rPr lang="en-US" altLang="ru-RU" sz="2000" b="1" smtClean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begin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  j:=T[ord(C[i])];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  s1:=</a:t>
            </a:r>
            <a:r>
              <a:rPr lang="ru-RU" altLang="ru-RU" sz="2000" smtClean="0">
                <a:latin typeface="Times New Roman" pitchFamily="18" charset="0"/>
              </a:rPr>
              <a:t>(</a:t>
            </a:r>
            <a:r>
              <a:rPr lang="en-US" altLang="ru-RU" sz="2000" smtClean="0">
                <a:latin typeface="Times New Roman" pitchFamily="18" charset="0"/>
              </a:rPr>
              <a:t>0</a:t>
            </a:r>
            <a:r>
              <a:rPr lang="ru-RU" altLang="ru-RU" sz="2000" smtClean="0">
                <a:latin typeface="Times New Roman" pitchFamily="18" charset="0"/>
              </a:rPr>
              <a:t>,0,0, . . . 0)</a:t>
            </a:r>
            <a:r>
              <a:rPr lang="en-US" altLang="ru-RU" sz="2000" b="1" smtClean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  for p:=1 to k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    if s[p]=1 then s1:=s1 or M[p,j];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  s:=s1;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  i:=i+1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end;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000" b="1" smtClean="0">
                <a:latin typeface="Courier New" pitchFamily="49" charset="0"/>
              </a:rPr>
              <a:t>if (s[k]=1)and(C[i]=’</a:t>
            </a:r>
            <a:r>
              <a:rPr lang="en-US" altLang="ru-RU" sz="2000" b="1" baseline="-25000" smtClean="0">
                <a:latin typeface="Courier New" pitchFamily="49" charset="0"/>
                <a:cs typeface="Arial" charset="0"/>
              </a:rPr>
              <a:t>┴</a:t>
            </a:r>
            <a:r>
              <a:rPr lang="en-US" altLang="ru-RU" sz="2000" b="1" smtClean="0">
                <a:latin typeface="Courier New" pitchFamily="49" charset="0"/>
              </a:rPr>
              <a:t>’) then </a:t>
            </a:r>
            <a:r>
              <a:rPr lang="ru-RU" altLang="ru-RU" sz="2000" b="1" smtClean="0">
                <a:solidFill>
                  <a:srgbClr val="CC0066"/>
                </a:solidFill>
                <a:latin typeface="Courier New" pitchFamily="49" charset="0"/>
              </a:rPr>
              <a:t>«допуск»</a:t>
            </a:r>
            <a:r>
              <a:rPr lang="ru-RU" altLang="ru-RU" sz="2000" b="1" smtClean="0">
                <a:latin typeface="Courier New" pitchFamily="49" charset="0"/>
              </a:rPr>
              <a:t> </a:t>
            </a:r>
            <a:r>
              <a:rPr lang="en-US" altLang="ru-RU" sz="2000" b="1" smtClean="0">
                <a:latin typeface="Courier New" pitchFamily="49" charset="0"/>
              </a:rPr>
              <a:t>else </a:t>
            </a:r>
            <a:r>
              <a:rPr lang="ru-RU" altLang="ru-RU" sz="2000" b="1" smtClean="0">
                <a:solidFill>
                  <a:srgbClr val="CC0066"/>
                </a:solidFill>
                <a:latin typeface="Courier New" pitchFamily="49" charset="0"/>
              </a:rPr>
              <a:t>«нет»</a:t>
            </a:r>
            <a:endParaRPr lang="en-US" altLang="ru-RU" sz="2000" b="1" smtClean="0">
              <a:solidFill>
                <a:srgbClr val="CC0066"/>
              </a:solidFill>
              <a:latin typeface="Courier New" pitchFamily="49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sz="2000" b="1" i="1" smtClean="0">
                <a:solidFill>
                  <a:srgbClr val="C00000"/>
                </a:solidFill>
                <a:latin typeface="Times New Roman" pitchFamily="18" charset="0"/>
              </a:rPr>
              <a:t>Трудоемкость</a:t>
            </a:r>
            <a:r>
              <a:rPr lang="ru-RU" altLang="ru-RU" sz="2000" b="1" smtClean="0">
                <a:solidFill>
                  <a:srgbClr val="C00000"/>
                </a:solidFill>
                <a:latin typeface="Times New Roman" pitchFamily="18" charset="0"/>
              </a:rPr>
              <a:t>:</a:t>
            </a:r>
            <a:r>
              <a:rPr lang="ru-RU" altLang="ru-RU" sz="2000" b="1" smtClean="0">
                <a:solidFill>
                  <a:srgbClr val="CC0066"/>
                </a:solidFill>
                <a:latin typeface="Times New Roman" pitchFamily="18" charset="0"/>
              </a:rPr>
              <a:t> </a:t>
            </a:r>
            <a:r>
              <a:rPr lang="en-US" altLang="ru-RU" sz="2000" i="1" smtClean="0">
                <a:latin typeface="Times New Roman" pitchFamily="18" charset="0"/>
              </a:rPr>
              <a:t>O</a:t>
            </a:r>
            <a:r>
              <a:rPr lang="en-US" altLang="ru-RU" sz="2000" smtClean="0">
                <a:latin typeface="Times New Roman" pitchFamily="18" charset="0"/>
              </a:rPr>
              <a:t>(</a:t>
            </a:r>
            <a:r>
              <a:rPr lang="en-US" altLang="ru-RU" sz="2000" i="1" smtClean="0">
                <a:latin typeface="Times New Roman" pitchFamily="18" charset="0"/>
              </a:rPr>
              <a:t>k</a:t>
            </a:r>
            <a:r>
              <a:rPr lang="en-US" altLang="ru-RU" sz="2000" baseline="30000" smtClean="0">
                <a:latin typeface="Times New Roman" pitchFamily="18" charset="0"/>
              </a:rPr>
              <a:t>2 </a:t>
            </a:r>
            <a:r>
              <a:rPr lang="en-US" altLang="ru-RU" sz="2000" i="1" smtClean="0">
                <a:latin typeface="Times New Roman" pitchFamily="18" charset="0"/>
              </a:rPr>
              <a:t>n</a:t>
            </a:r>
            <a:r>
              <a:rPr lang="en-US" altLang="ru-RU" sz="2000" smtClean="0">
                <a:latin typeface="Times New Roman" pitchFamily="18" charset="0"/>
              </a:rPr>
              <a:t>) </a:t>
            </a:r>
            <a:r>
              <a:rPr lang="ru-RU" altLang="ru-RU" sz="2000" smtClean="0">
                <a:latin typeface="Times New Roman" pitchFamily="18" charset="0"/>
              </a:rPr>
              <a:t>или </a:t>
            </a:r>
            <a:r>
              <a:rPr lang="en-US" altLang="ru-RU" sz="2000" i="1" smtClean="0">
                <a:latin typeface="Times New Roman" pitchFamily="18" charset="0"/>
              </a:rPr>
              <a:t>O</a:t>
            </a:r>
            <a:r>
              <a:rPr lang="en-US" altLang="ru-RU" sz="2000" smtClean="0">
                <a:latin typeface="Times New Roman" pitchFamily="18" charset="0"/>
              </a:rPr>
              <a:t>(</a:t>
            </a:r>
            <a:r>
              <a:rPr lang="en-US" altLang="ru-RU" sz="2000" i="1" smtClean="0">
                <a:latin typeface="Times New Roman" pitchFamily="18" charset="0"/>
              </a:rPr>
              <a:t>k</a:t>
            </a:r>
            <a:r>
              <a:rPr lang="en-US" altLang="ru-RU" sz="2000" baseline="30000" smtClean="0">
                <a:latin typeface="Times New Roman" pitchFamily="18" charset="0"/>
              </a:rPr>
              <a:t> </a:t>
            </a:r>
            <a:r>
              <a:rPr lang="en-US" altLang="ru-RU" sz="2000" i="1" smtClean="0">
                <a:latin typeface="Times New Roman" pitchFamily="18" charset="0"/>
              </a:rPr>
              <a:t>n</a:t>
            </a:r>
            <a:r>
              <a:rPr lang="en-US" altLang="ru-RU" sz="2000" smtClean="0">
                <a:latin typeface="Times New Roman" pitchFamily="18" charset="0"/>
              </a:rPr>
              <a:t>) </a:t>
            </a:r>
            <a:endParaRPr lang="ru-RU" altLang="ru-RU" sz="2000" smtClean="0"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sz="2000" smtClean="0">
                <a:latin typeface="Times New Roman" pitchFamily="18" charset="0"/>
              </a:rPr>
              <a:t>(при использовании битово-векторных операций)</a:t>
            </a:r>
          </a:p>
        </p:txBody>
      </p:sp>
      <p:sp>
        <p:nvSpPr>
          <p:cNvPr id="1126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FCF3194-AE16-4F1C-BD7F-22CC46D7973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5538"/>
          </a:xfrm>
        </p:spPr>
        <p:txBody>
          <a:bodyPr/>
          <a:lstStyle/>
          <a:p>
            <a:r>
              <a:rPr lang="ru-RU" altLang="ru-RU" sz="2400" b="1" smtClean="0">
                <a:solidFill>
                  <a:schemeClr val="accent2"/>
                </a:solidFill>
              </a:rPr>
              <a:t>ПРЕОБРАЗОВАНИЕ НЕДЕТЕРМИНИРОВАННОЙ АВТОМАТНОЙ ГРАММАТИКИ К ДЕТЕРМИНИРОВАННОЙ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713788" cy="5472113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Пусть в грамматике (с добавленным нетерминалом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) есть недетерминированность: </a:t>
            </a:r>
            <a:endParaRPr lang="en-US" altLang="ru-RU" sz="2000" smtClean="0"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bB</a:t>
            </a:r>
            <a:r>
              <a:rPr lang="en-US" altLang="ru-RU" sz="20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.        		    (*)</a:t>
            </a:r>
            <a:endParaRPr lang="en-US" altLang="ru-RU" sz="20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Обозначим: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*={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0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}.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i="1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Вместо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порождающих правил (*) </a:t>
            </a:r>
            <a:r>
              <a:rPr lang="ru-RU" altLang="ru-RU" sz="2000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добавим 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правило: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bB*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i="1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В дополнение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к правилам 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l-GR" altLang="ru-RU" sz="20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l-GR" altLang="ru-RU" sz="20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0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l-GR" altLang="ru-RU" sz="20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0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добавим 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правила: 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000" i="1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l-GR" altLang="ru-RU" sz="20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000" i="1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l-GR" altLang="ru-RU" sz="20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0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0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000" i="1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l-GR" altLang="ru-RU" sz="20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0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Преобразованная грамматика будет порождать в точности то же самое множество цепочек, что и исходная грамматика, т.е. </a:t>
            </a:r>
            <a:r>
              <a:rPr lang="ru-RU" altLang="ru-RU" sz="2000" i="1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язык не изменится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000" b="1" smtClean="0">
                <a:latin typeface="Times New Roman" pitchFamily="18" charset="0"/>
                <a:cs typeface="Times New Roman" pitchFamily="18" charset="0"/>
              </a:rPr>
              <a:t>Применим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 такое же преобразование ко всем другим недетерминированнос-тям, в результате грамматика станет </a:t>
            </a:r>
            <a:r>
              <a:rPr lang="ru-RU" altLang="ru-RU" sz="2000" i="1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детерминированной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. Общее коли-чество имевшихся в исходной грамматике нетерминалов и вновь добав-ленных не более чем </a:t>
            </a:r>
            <a:r>
              <a:rPr lang="ru-RU" altLang="ru-RU" sz="2000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000" i="1" baseline="30000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, где </a:t>
            </a:r>
            <a:r>
              <a:rPr lang="en-US" altLang="ru-RU" sz="2000" i="1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ru-RU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 smtClean="0">
                <a:latin typeface="Times New Roman" pitchFamily="18" charset="0"/>
                <a:cs typeface="Times New Roman" pitchFamily="18" charset="0"/>
              </a:rPr>
              <a:t>– количество имевшихся в исходной грам-матике нетерминалов.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1000" smtClean="0">
                <a:latin typeface="Times New Roman" pitchFamily="18" charset="0"/>
                <a:cs typeface="Times New Roman" pitchFamily="18" charset="0"/>
              </a:rPr>
              <a:t>____________________________________________________________________________________________________________________________________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1000" b="1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Теорема: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любую недетерминированную автоматную грамматику можно преобразовать к эквивалентной детерминированной.</a:t>
            </a:r>
            <a:endParaRPr lang="en-US" altLang="ru-RU" sz="22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200" b="1" smtClean="0">
                <a:latin typeface="Times New Roman" pitchFamily="18" charset="0"/>
                <a:cs typeface="Times New Roman" pitchFamily="18" charset="0"/>
              </a:rPr>
              <a:t>Следствие: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Все автоматные языки </a:t>
            </a:r>
            <a:r>
              <a:rPr lang="ru-RU" altLang="ru-RU" sz="2200" i="1" smtClean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детерминированные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2292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AB4E76B-0DE4-44AD-BAB1-64EFEB1100E1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r>
              <a:rPr lang="ru-RU" altLang="ru-RU" sz="3200" smtClean="0">
                <a:solidFill>
                  <a:schemeClr val="accent2"/>
                </a:solidFill>
              </a:rPr>
              <a:t>Пример преобразования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964612" cy="594995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Грамматика:      </a:t>
            </a:r>
            <a:r>
              <a:rPr lang="en-US" altLang="ru-RU" sz="2400" i="1" smtClean="0">
                <a:latin typeface="Times New Roman" pitchFamily="18" charset="0"/>
              </a:rPr>
              <a:t>G</a:t>
            </a:r>
            <a:r>
              <a:rPr lang="ru-RU" altLang="ru-RU" sz="2400" baseline="-25000" smtClean="0">
                <a:latin typeface="Times New Roman" pitchFamily="18" charset="0"/>
              </a:rPr>
              <a:t>3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L</a:t>
            </a:r>
            <a:r>
              <a:rPr lang="en-US" altLang="ru-RU" sz="2400" smtClean="0">
                <a:latin typeface="Times New Roman" pitchFamily="18" charset="0"/>
              </a:rPr>
              <a:t>)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endParaRPr lang="ru-RU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S, T, 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aC,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}. </a:t>
            </a:r>
            <a:endParaRPr lang="ru-RU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Замена: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bZ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добавление: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i="1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Недетерминированности: </a:t>
            </a:r>
            <a:endParaRPr lang="en-US" altLang="ru-RU" sz="240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то же самое,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bZ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C, Z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Здесь  </a:t>
            </a:r>
            <a:r>
              <a:rPr lang="en-US" altLang="ru-RU" sz="2400" i="1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altLang="ru-RU" sz="2400" i="1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– заключительный нетерминал.</a:t>
            </a:r>
            <a:endParaRPr lang="en-US" altLang="ru-RU" sz="2400" smtClean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Преобразованные правила: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bE, E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bE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i="1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i="1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Преобразованные правила без лишних правил: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bE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i="1" baseline="-25000" smtClean="0">
                <a:latin typeface="Times New Roman" pitchFamily="18" charset="0"/>
                <a:cs typeface="Times New Roman" pitchFamily="18" charset="0"/>
              </a:rPr>
              <a:t>┴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Так как нетерминалы 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и С не смогут появиться при любом порождении, начиная с начального</a:t>
            </a:r>
            <a:r>
              <a:rPr lang="ru-RU" altLang="ru-RU" sz="240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нетерминала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1331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594C6C2-A3C7-4462-BE9B-AB1C8EE3EE9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5888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507413" cy="6408738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solidFill>
                  <a:schemeClr val="accent2"/>
                </a:solidFill>
                <a:latin typeface="Times New Roman" pitchFamily="18" charset="0"/>
              </a:rPr>
              <a:t>После преобразования в грамматике могут появиться бесполезные порождающие правила и бесполезные нетерминалы. Они не влияют на процесс порождения (и, соответственно, на процесс распознавания), поэтому их можно удалить, не изменяя сам язык.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Алгоритм 1. Обнаружение бесполезных нетерминалов 1 типа (таких, которые не могут быть порождены, начиная с начального нетерминала).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Начальный нетерминал помечается как «полезный».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 Просматриваются все порождающие правила, у которых в левой части имеются нетерминалы,  помеченные как «полезные». Нетерминалы в правых частях таких правил также помечаются как «полезные».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 2-й шаг повторяется до тех пор, пока не останется непросмотренных правил.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4. Нетерминалы, не помеченные как «полезные», считаются бесполезными. </a:t>
            </a:r>
          </a:p>
        </p:txBody>
      </p:sp>
      <p:sp>
        <p:nvSpPr>
          <p:cNvPr id="1434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7754089-907A-49A0-AF04-E33654CAD92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5888"/>
          </a:xfrm>
        </p:spPr>
        <p:txBody>
          <a:bodyPr/>
          <a:lstStyle/>
          <a:p>
            <a:endParaRPr lang="ru-RU" altLang="ru-RU" sz="400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476250"/>
            <a:ext cx="8713788" cy="6121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Алгоритм 2. Обнаружение бесполезных нетерминалов 2 типа (таких, из которых не может быть порождена терминальная цепочка).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1. Просматриваются все порождающие правила, у которых в правой части имеются только терминалы. Нетерминалы в левых частях таких правил помечаются как «полезные».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 Просматриваются все порождающие правила, у которых в правой части имеются нетерминалы,  помеченные как «полезные». Нетерминалы в левых частях таких правил также помечаются как «полезные».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 2-й шаг повторяется до тех пор, пока не останется непросмотренных правил.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4. Нетерминалы, не помеченные как «полезные», считаются бесполезными.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После завершения обоих алгоритмов из грамматики необходимо удалить все бесполезные нетерминалы и все порождающие правила, где встречаются эти нетерминалы (как в левой, так и в правой части). </a:t>
            </a:r>
          </a:p>
        </p:txBody>
      </p:sp>
      <p:sp>
        <p:nvSpPr>
          <p:cNvPr id="1536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18C287-1EBD-4CC4-AD82-6625BE1A352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81075"/>
          </a:xfrm>
        </p:spPr>
        <p:txBody>
          <a:bodyPr/>
          <a:lstStyle/>
          <a:p>
            <a:pPr eaLnBrk="1" hangingPunct="1"/>
            <a:r>
              <a:rPr lang="ru-RU" altLang="ru-RU" sz="3200" smtClean="0">
                <a:solidFill>
                  <a:schemeClr val="accent2"/>
                </a:solidFill>
              </a:rPr>
              <a:t>Автоматный язык с несколькими видами цепочек и с символом</a:t>
            </a:r>
            <a:r>
              <a:rPr lang="en-US" altLang="ru-RU" sz="3200" smtClean="0">
                <a:solidFill>
                  <a:schemeClr val="accent2"/>
                </a:solidFill>
              </a:rPr>
              <a:t> </a:t>
            </a:r>
            <a:r>
              <a:rPr lang="ru-RU" altLang="ru-RU" sz="3200" smtClean="0">
                <a:latin typeface="Times New Roman" pitchFamily="18" charset="0"/>
              </a:rPr>
              <a:t>«</a:t>
            </a:r>
            <a:r>
              <a:rPr lang="ru-RU" altLang="ru-RU" sz="3200" baseline="-25000" smtClean="0">
                <a:latin typeface="Times New Roman" pitchFamily="18" charset="0"/>
                <a:cs typeface="Arial" charset="0"/>
              </a:rPr>
              <a:t>┴</a:t>
            </a:r>
            <a:r>
              <a:rPr lang="ru-RU" altLang="ru-RU" sz="3200" smtClean="0">
                <a:latin typeface="Times New Roman" pitchFamily="18" charset="0"/>
              </a:rPr>
              <a:t>»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81075"/>
            <a:ext cx="8435975" cy="5876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</a:rPr>
              <a:t>Дана автоматная грамматика, порождающая цепочки нескольких видов, в конце цепочки имеется символ</a:t>
            </a:r>
            <a:r>
              <a:rPr lang="en-US" altLang="ru-RU" sz="2200" smtClean="0">
                <a:solidFill>
                  <a:srgbClr val="008000"/>
                </a:solidFill>
                <a:latin typeface="Times New Roman" pitchFamily="18" charset="0"/>
              </a:rPr>
              <a:t> </a:t>
            </a:r>
            <a:r>
              <a:rPr lang="ru-RU" altLang="ru-RU" sz="2000" smtClean="0">
                <a:latin typeface="Times New Roman" pitchFamily="18" charset="0"/>
              </a:rPr>
              <a:t>«</a:t>
            </a:r>
            <a:r>
              <a:rPr lang="ru-RU" altLang="ru-RU" sz="2000" baseline="-25000" smtClean="0">
                <a:latin typeface="Times New Roman" pitchFamily="18" charset="0"/>
                <a:cs typeface="Arial" charset="0"/>
              </a:rPr>
              <a:t>┴</a:t>
            </a:r>
            <a:r>
              <a:rPr lang="ru-RU" altLang="ru-RU" sz="2000" smtClean="0">
                <a:latin typeface="Times New Roman" pitchFamily="18" charset="0"/>
              </a:rPr>
              <a:t>»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</a:rPr>
              <a:t>. Для каждого вида цепочек предусмотрен отдельный заключительный нетерминал.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b="1" smtClean="0">
                <a:latin typeface="Times New Roman" pitchFamily="18" charset="0"/>
              </a:rPr>
              <a:t>Виды цепочек: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200" smtClean="0">
                <a:latin typeface="Times New Roman" pitchFamily="18" charset="0"/>
              </a:rPr>
              <a:t>имена (идентификаторы языков программирования);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200" smtClean="0">
                <a:latin typeface="Times New Roman" pitchFamily="18" charset="0"/>
              </a:rPr>
              <a:t>целые числа без знака;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200" smtClean="0">
                <a:latin typeface="Times New Roman" pitchFamily="18" charset="0"/>
              </a:rPr>
              <a:t>числа с десятичной точкой без знака.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Для сокращения записи вместо отдельных цифр 0,1,. . .,9 будем писать </a:t>
            </a:r>
            <a:r>
              <a:rPr lang="en-US" altLang="ru-RU" sz="2200" smtClean="0">
                <a:latin typeface="Times New Roman" pitchFamily="18" charset="0"/>
              </a:rPr>
              <a:t>&lt;</a:t>
            </a:r>
            <a:r>
              <a:rPr lang="ru-RU" altLang="ru-RU" sz="2200" smtClean="0">
                <a:latin typeface="Times New Roman" pitchFamily="18" charset="0"/>
              </a:rPr>
              <a:t>ц</a:t>
            </a:r>
            <a:r>
              <a:rPr lang="en-US" altLang="ru-RU" sz="2200" smtClean="0">
                <a:latin typeface="Times New Roman" pitchFamily="18" charset="0"/>
              </a:rPr>
              <a:t>&gt;</a:t>
            </a:r>
            <a:r>
              <a:rPr lang="ru-RU" altLang="ru-RU" sz="2200" smtClean="0">
                <a:latin typeface="Times New Roman" pitchFamily="18" charset="0"/>
              </a:rPr>
              <a:t>, а вместо отдельных букв </a:t>
            </a:r>
            <a:r>
              <a:rPr lang="en-US" altLang="ru-RU" sz="2200" smtClean="0">
                <a:latin typeface="Times New Roman" pitchFamily="18" charset="0"/>
              </a:rPr>
              <a:t>A,B,. . .,Z </a:t>
            </a:r>
            <a:r>
              <a:rPr lang="ru-RU" altLang="ru-RU" sz="2200" smtClean="0">
                <a:latin typeface="Times New Roman" pitchFamily="18" charset="0"/>
              </a:rPr>
              <a:t>будем писать </a:t>
            </a:r>
            <a:r>
              <a:rPr lang="en-US" altLang="ru-RU" sz="2200" smtClean="0">
                <a:latin typeface="Times New Roman" pitchFamily="18" charset="0"/>
              </a:rPr>
              <a:t>&lt;</a:t>
            </a:r>
            <a:r>
              <a:rPr lang="ru-RU" altLang="ru-RU" sz="2200" smtClean="0">
                <a:latin typeface="Times New Roman" pitchFamily="18" charset="0"/>
              </a:rPr>
              <a:t>б</a:t>
            </a:r>
            <a:r>
              <a:rPr lang="en-US" altLang="ru-RU" sz="2200" smtClean="0">
                <a:latin typeface="Times New Roman" pitchFamily="18" charset="0"/>
              </a:rPr>
              <a:t>&gt;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Символ «точка» запишем в кавычках: «.».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solidFill>
                  <a:schemeClr val="accent2"/>
                </a:solidFill>
                <a:latin typeface="Times New Roman" pitchFamily="18" charset="0"/>
              </a:rPr>
              <a:t>Правила грамматики (различные правые части при одинаковой левой части разделены вертикальной чертой):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{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S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б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ц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C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б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ц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ru-RU" altLang="ru-RU" sz="2200" baseline="-25000" smtClean="0">
                <a:solidFill>
                  <a:srgbClr val="800000"/>
                </a:solidFill>
                <a:latin typeface="Times New Roman" pitchFamily="18" charset="0"/>
                <a:cs typeface="Arial" charset="0"/>
              </a:rPr>
              <a:t>┴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C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ц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C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«.»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D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ru-RU" altLang="ru-RU" sz="2200" baseline="-25000" smtClean="0">
                <a:solidFill>
                  <a:srgbClr val="800000"/>
                </a:solidFill>
                <a:latin typeface="Times New Roman" pitchFamily="18" charset="0"/>
                <a:cs typeface="Arial" charset="0"/>
              </a:rPr>
              <a:t>┴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 ,        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D →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ц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E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E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ц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E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ru-RU" altLang="ru-RU" sz="2200" baseline="-25000" smtClean="0">
                <a:solidFill>
                  <a:srgbClr val="800000"/>
                </a:solidFill>
                <a:latin typeface="Times New Roman" pitchFamily="18" charset="0"/>
                <a:cs typeface="Arial" charset="0"/>
              </a:rPr>
              <a:t>┴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}.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solidFill>
                  <a:schemeClr val="accent2"/>
                </a:solidFill>
                <a:latin typeface="Times New Roman" pitchFamily="18" charset="0"/>
              </a:rPr>
              <a:t>Заключительные нетерминалы: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ru-RU" altLang="ru-RU" sz="2200" i="1" smtClean="0">
                <a:solidFill>
                  <a:srgbClr val="800000"/>
                </a:solidFill>
                <a:latin typeface="Times New Roman" pitchFamily="18" charset="0"/>
              </a:rPr>
              <a:t>,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</a:rPr>
              <a:t>C, E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  <a:endParaRPr lang="en-US" altLang="ru-RU" sz="2200" smtClean="0">
              <a:latin typeface="Times New Roman" pitchFamily="18" charset="0"/>
            </a:endParaRPr>
          </a:p>
        </p:txBody>
      </p:sp>
      <p:sp>
        <p:nvSpPr>
          <p:cNvPr id="1638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C31926-A66A-4345-9849-82F7CDC22FB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525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Конечный автомат с семантическими программами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435975" cy="15113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Кроме перехода в новое состояние в конечном автомате на каждом шаге предусматриваются дополнительные действия (семантические программы).</a:t>
            </a:r>
            <a:r>
              <a:rPr lang="en-US" altLang="ru-RU" sz="2400" smtClean="0">
                <a:solidFill>
                  <a:srgbClr val="008000"/>
                </a:solidFill>
                <a:latin typeface="Times New Roman" pitchFamily="18" charset="0"/>
              </a:rPr>
              <a:t> 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Номера программ указываются в клетках матрицы переходов.</a:t>
            </a:r>
            <a:r>
              <a:rPr lang="en-US" altLang="ru-RU" sz="2400" smtClean="0">
                <a:solidFill>
                  <a:srgbClr val="008000"/>
                </a:solidFill>
                <a:latin typeface="Times New Roman" pitchFamily="18" charset="0"/>
              </a:rPr>
              <a:t> </a:t>
            </a:r>
            <a:endParaRPr lang="ru-RU" altLang="ru-RU" sz="2400" smtClean="0">
              <a:solidFill>
                <a:srgbClr val="008000"/>
              </a:solidFill>
              <a:latin typeface="Times New Roman" pitchFamily="18" charset="0"/>
            </a:endParaRPr>
          </a:p>
        </p:txBody>
      </p:sp>
      <p:graphicFrame>
        <p:nvGraphicFramePr>
          <p:cNvPr id="32827" name="Group 59"/>
          <p:cNvGraphicFramePr>
            <a:graphicFrameLocks noGrp="1"/>
          </p:cNvGraphicFramePr>
          <p:nvPr>
            <p:ph sz="half" idx="2"/>
          </p:nvPr>
        </p:nvGraphicFramePr>
        <p:xfrm>
          <a:off x="1619250" y="3068638"/>
          <a:ext cx="6121400" cy="3228975"/>
        </p:xfrm>
        <a:graphic>
          <a:graphicData uri="http://schemas.openxmlformats.org/drawingml/2006/table">
            <a:tbl>
              <a:tblPr/>
              <a:tblGrid>
                <a:gridCol w="1784350"/>
                <a:gridCol w="879475"/>
                <a:gridCol w="936625"/>
                <a:gridCol w="1008063"/>
                <a:gridCol w="1512887"/>
              </a:tblGrid>
              <a:tr h="5608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Входной символ_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Состояние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б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ц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«.»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┴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3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1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2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49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3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3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имя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3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/ 4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5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цел.число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3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6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sng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3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 6</a:t>
                      </a:r>
                      <a:endParaRPr kumimoji="0" lang="ru-R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вещ.число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5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AFF6857-16B2-4A43-B68A-A1726EC59C17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25538"/>
          </a:xfrm>
        </p:spPr>
        <p:txBody>
          <a:bodyPr/>
          <a:lstStyle/>
          <a:p>
            <a:pPr eaLnBrk="1" hangingPunct="1"/>
            <a:r>
              <a:rPr lang="ru-RU" altLang="ru-RU" sz="3600" b="1" smtClean="0">
                <a:solidFill>
                  <a:schemeClr val="accent2"/>
                </a:solidFill>
              </a:rPr>
              <a:t>Семантические программы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268413"/>
            <a:ext cx="8497887" cy="4752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</a:rPr>
              <a:t>C</a:t>
            </a:r>
            <a:r>
              <a:rPr lang="en-US" altLang="ru-RU" sz="2800" smtClean="0">
                <a:latin typeface="Times New Roman" pitchFamily="18" charset="0"/>
              </a:rPr>
              <a:t>[</a:t>
            </a:r>
            <a:r>
              <a:rPr lang="en-US" altLang="ru-RU" sz="2800" i="1" smtClean="0">
                <a:latin typeface="Times New Roman" pitchFamily="18" charset="0"/>
              </a:rPr>
              <a:t>i</a:t>
            </a:r>
            <a:r>
              <a:rPr lang="en-US" altLang="ru-RU" sz="2800" smtClean="0">
                <a:latin typeface="Times New Roman" pitchFamily="18" charset="0"/>
              </a:rPr>
              <a:t>]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</a:rPr>
              <a:t>– </a:t>
            </a:r>
            <a:r>
              <a:rPr lang="ru-RU" altLang="ru-RU" sz="2800" smtClean="0">
                <a:latin typeface="Times New Roman" pitchFamily="18" charset="0"/>
              </a:rPr>
              <a:t>текущий входной символ; </a:t>
            </a:r>
            <a:r>
              <a:rPr lang="en-US" altLang="ru-RU" sz="2800" i="1" smtClean="0">
                <a:latin typeface="Times New Roman" pitchFamily="18" charset="0"/>
              </a:rPr>
              <a:t>name</a:t>
            </a:r>
            <a:r>
              <a:rPr lang="en-US" altLang="ru-RU" sz="2800" smtClean="0">
                <a:latin typeface="Times New Roman" pitchFamily="18" charset="0"/>
              </a:rPr>
              <a:t> – </a:t>
            </a:r>
            <a:r>
              <a:rPr lang="ru-RU" altLang="ru-RU" sz="2800" smtClean="0">
                <a:latin typeface="Times New Roman" pitchFamily="18" charset="0"/>
              </a:rPr>
              <a:t>символьная строка; </a:t>
            </a:r>
            <a:r>
              <a:rPr lang="en-US" altLang="ru-RU" sz="2800" i="1" smtClean="0">
                <a:latin typeface="Times New Roman" pitchFamily="18" charset="0"/>
              </a:rPr>
              <a:t>n</a:t>
            </a:r>
            <a:r>
              <a:rPr lang="en-US" altLang="ru-RU" sz="2800" smtClean="0">
                <a:latin typeface="Times New Roman" pitchFamily="18" charset="0"/>
              </a:rPr>
              <a:t> – </a:t>
            </a:r>
            <a:r>
              <a:rPr lang="ru-RU" altLang="ru-RU" sz="2800" smtClean="0">
                <a:latin typeface="Times New Roman" pitchFamily="18" charset="0"/>
              </a:rPr>
              <a:t>целочисленная переменная;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x, d</a:t>
            </a:r>
            <a:r>
              <a:rPr lang="en-US" altLang="ru-RU" sz="2800" smtClean="0">
                <a:latin typeface="Times New Roman" pitchFamily="18" charset="0"/>
              </a:rPr>
              <a:t> – </a:t>
            </a:r>
            <a:r>
              <a:rPr lang="ru-RU" altLang="ru-RU" sz="2800" smtClean="0">
                <a:latin typeface="Times New Roman" pitchFamily="18" charset="0"/>
              </a:rPr>
              <a:t>вещественные переменные. </a:t>
            </a:r>
          </a:p>
          <a:p>
            <a:pPr eaLnBrk="1" hangingPunct="1"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1. </a:t>
            </a:r>
            <a:r>
              <a:rPr lang="en-US" altLang="ru-RU" sz="2800" i="1" smtClean="0">
                <a:latin typeface="Times New Roman" pitchFamily="18" charset="0"/>
              </a:rPr>
              <a:t>name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:= </a:t>
            </a:r>
            <a:r>
              <a:rPr lang="en-US" altLang="ru-RU" sz="2800" i="1" smtClean="0">
                <a:latin typeface="Times New Roman" pitchFamily="18" charset="0"/>
              </a:rPr>
              <a:t>C</a:t>
            </a:r>
            <a:r>
              <a:rPr lang="en-US" altLang="ru-RU" sz="2800" smtClean="0">
                <a:latin typeface="Times New Roman" pitchFamily="18" charset="0"/>
              </a:rPr>
              <a:t>[</a:t>
            </a:r>
            <a:r>
              <a:rPr lang="en-US" altLang="ru-RU" sz="2800" i="1" smtClean="0">
                <a:latin typeface="Times New Roman" pitchFamily="18" charset="0"/>
              </a:rPr>
              <a:t>i</a:t>
            </a:r>
            <a:r>
              <a:rPr lang="en-US" altLang="ru-RU" sz="2800" smtClean="0">
                <a:latin typeface="Times New Roman" pitchFamily="18" charset="0"/>
              </a:rPr>
              <a:t>]</a:t>
            </a:r>
            <a:r>
              <a:rPr lang="ru-RU" altLang="ru-RU" sz="2800" smtClean="0">
                <a:latin typeface="Times New Roman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2.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</a:rPr>
              <a:t> := </a:t>
            </a:r>
            <a:r>
              <a:rPr lang="en-US" altLang="ru-RU" sz="2800" smtClean="0">
                <a:latin typeface="Times New Roman" pitchFamily="18" charset="0"/>
              </a:rPr>
              <a:t>ord(</a:t>
            </a:r>
            <a:r>
              <a:rPr lang="en-US" altLang="ru-RU" sz="2800" i="1" smtClean="0">
                <a:latin typeface="Times New Roman" pitchFamily="18" charset="0"/>
              </a:rPr>
              <a:t>C</a:t>
            </a:r>
            <a:r>
              <a:rPr lang="en-US" altLang="ru-RU" sz="2800" smtClean="0">
                <a:latin typeface="Times New Roman" pitchFamily="18" charset="0"/>
              </a:rPr>
              <a:t>[</a:t>
            </a:r>
            <a:r>
              <a:rPr lang="en-US" altLang="ru-RU" sz="2800" i="1" smtClean="0">
                <a:latin typeface="Times New Roman" pitchFamily="18" charset="0"/>
              </a:rPr>
              <a:t>i</a:t>
            </a:r>
            <a:r>
              <a:rPr lang="en-US" altLang="ru-RU" sz="2800" smtClean="0">
                <a:latin typeface="Times New Roman" pitchFamily="18" charset="0"/>
              </a:rPr>
              <a:t>])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ru-RU" sz="2800" smtClean="0">
                <a:latin typeface="Times New Roman" pitchFamily="18" charset="0"/>
              </a:rPr>
              <a:t>ord(’0’) </a:t>
            </a:r>
            <a:r>
              <a:rPr lang="ru-RU" altLang="ru-RU" sz="2800" smtClean="0">
                <a:latin typeface="Times New Roman" pitchFamily="18" charset="0"/>
              </a:rPr>
              <a:t>;</a:t>
            </a:r>
            <a:r>
              <a:rPr lang="ru-RU" altLang="ru-RU" sz="2800" b="1" smtClean="0">
                <a:latin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3. </a:t>
            </a:r>
            <a:r>
              <a:rPr lang="en-US" altLang="ru-RU" sz="2800" i="1" smtClean="0">
                <a:latin typeface="Times New Roman" pitchFamily="18" charset="0"/>
              </a:rPr>
              <a:t>name</a:t>
            </a:r>
            <a:r>
              <a:rPr lang="ru-RU" altLang="ru-RU" sz="2800" i="1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:= </a:t>
            </a:r>
            <a:r>
              <a:rPr lang="en-US" altLang="ru-RU" sz="2800" i="1" smtClean="0">
                <a:latin typeface="Times New Roman" pitchFamily="18" charset="0"/>
              </a:rPr>
              <a:t>name</a:t>
            </a:r>
            <a:r>
              <a:rPr lang="ru-RU" altLang="ru-RU" sz="2800" smtClean="0">
                <a:latin typeface="Times New Roman" pitchFamily="18" charset="0"/>
              </a:rPr>
              <a:t> + </a:t>
            </a:r>
            <a:r>
              <a:rPr lang="en-US" altLang="ru-RU" sz="2800" i="1" smtClean="0">
                <a:latin typeface="Times New Roman" pitchFamily="18" charset="0"/>
              </a:rPr>
              <a:t>C</a:t>
            </a:r>
            <a:r>
              <a:rPr lang="en-US" altLang="ru-RU" sz="2800" smtClean="0">
                <a:latin typeface="Times New Roman" pitchFamily="18" charset="0"/>
              </a:rPr>
              <a:t>[</a:t>
            </a:r>
            <a:r>
              <a:rPr lang="en-US" altLang="ru-RU" sz="2800" i="1" smtClean="0">
                <a:latin typeface="Times New Roman" pitchFamily="18" charset="0"/>
              </a:rPr>
              <a:t>i</a:t>
            </a:r>
            <a:r>
              <a:rPr lang="en-US" altLang="ru-RU" sz="2800" smtClean="0">
                <a:latin typeface="Times New Roman" pitchFamily="18" charset="0"/>
              </a:rPr>
              <a:t>]</a:t>
            </a:r>
            <a:r>
              <a:rPr lang="ru-RU" altLang="ru-RU" sz="2800" smtClean="0">
                <a:latin typeface="Times New Roman" pitchFamily="18" charset="0"/>
              </a:rPr>
              <a:t>;</a:t>
            </a:r>
            <a:endParaRPr lang="en-US" altLang="ru-RU" sz="2800" smtClean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800" b="1" smtClean="0">
                <a:latin typeface="Times New Roman" pitchFamily="18" charset="0"/>
              </a:rPr>
              <a:t>4</a:t>
            </a:r>
            <a:r>
              <a:rPr lang="ru-RU" altLang="ru-RU" sz="2800" b="1" smtClean="0">
                <a:latin typeface="Times New Roman" pitchFamily="18" charset="0"/>
              </a:rPr>
              <a:t>.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</a:rPr>
              <a:t> := </a:t>
            </a:r>
            <a:r>
              <a:rPr lang="en-US" altLang="ru-RU" sz="2800" i="1" smtClean="0">
                <a:latin typeface="Times New Roman" pitchFamily="18" charset="0"/>
              </a:rPr>
              <a:t>n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</a:rPr>
              <a:t>*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smtClean="0">
                <a:latin typeface="Times New Roman" pitchFamily="18" charset="0"/>
              </a:rPr>
              <a:t>10 + ord(</a:t>
            </a:r>
            <a:r>
              <a:rPr lang="en-US" altLang="ru-RU" sz="2800" i="1" smtClean="0">
                <a:latin typeface="Times New Roman" pitchFamily="18" charset="0"/>
              </a:rPr>
              <a:t>C</a:t>
            </a:r>
            <a:r>
              <a:rPr lang="en-US" altLang="ru-RU" sz="2800" smtClean="0">
                <a:latin typeface="Times New Roman" pitchFamily="18" charset="0"/>
              </a:rPr>
              <a:t>[</a:t>
            </a:r>
            <a:r>
              <a:rPr lang="en-US" altLang="ru-RU" sz="2800" i="1" smtClean="0">
                <a:latin typeface="Times New Roman" pitchFamily="18" charset="0"/>
              </a:rPr>
              <a:t>i</a:t>
            </a:r>
            <a:r>
              <a:rPr lang="en-US" altLang="ru-RU" sz="2800" smtClean="0">
                <a:latin typeface="Times New Roman" pitchFamily="18" charset="0"/>
              </a:rPr>
              <a:t>])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ru-RU" sz="2800" smtClean="0">
                <a:latin typeface="Times New Roman" pitchFamily="18" charset="0"/>
              </a:rPr>
              <a:t>ord(’0’)</a:t>
            </a:r>
            <a:r>
              <a:rPr lang="ru-RU" altLang="ru-RU" sz="2800" smtClean="0">
                <a:latin typeface="Times New Roman" pitchFamily="18" charset="0"/>
              </a:rPr>
              <a:t>;</a:t>
            </a:r>
            <a:r>
              <a:rPr lang="ru-RU" altLang="ru-RU" sz="2800" b="1" smtClean="0">
                <a:latin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5.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d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:= 1;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x</a:t>
            </a:r>
            <a:r>
              <a:rPr lang="en-US" altLang="ru-RU" sz="2800" smtClean="0">
                <a:latin typeface="Times New Roman" pitchFamily="18" charset="0"/>
              </a:rPr>
              <a:t> := </a:t>
            </a:r>
            <a:r>
              <a:rPr lang="en-US" altLang="ru-RU" sz="2800" i="1" smtClean="0">
                <a:latin typeface="Times New Roman" pitchFamily="18" charset="0"/>
              </a:rPr>
              <a:t>n</a:t>
            </a:r>
            <a:r>
              <a:rPr lang="en-US" altLang="ru-RU" sz="2800" smtClean="0">
                <a:latin typeface="Times New Roman" pitchFamily="18" charset="0"/>
              </a:rPr>
              <a:t>;</a:t>
            </a:r>
            <a:endParaRPr lang="ru-RU" altLang="ru-RU" sz="2800" smtClean="0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800" b="1" smtClean="0">
                <a:latin typeface="Times New Roman" pitchFamily="18" charset="0"/>
              </a:rPr>
              <a:t>6.</a:t>
            </a:r>
            <a:r>
              <a:rPr lang="ru-RU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d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:= </a:t>
            </a:r>
            <a:r>
              <a:rPr lang="en-US" altLang="ru-RU" sz="2800" i="1" smtClean="0">
                <a:latin typeface="Times New Roman" pitchFamily="18" charset="0"/>
              </a:rPr>
              <a:t>d</a:t>
            </a:r>
            <a:r>
              <a:rPr lang="ru-RU" altLang="ru-RU" sz="2800" smtClean="0">
                <a:latin typeface="Times New Roman" pitchFamily="18" charset="0"/>
              </a:rPr>
              <a:t> * 0.1;  </a:t>
            </a:r>
            <a:r>
              <a:rPr lang="en-US" altLang="ru-RU" sz="2800" i="1" smtClean="0">
                <a:latin typeface="Times New Roman" pitchFamily="18" charset="0"/>
              </a:rPr>
              <a:t>x</a:t>
            </a:r>
            <a:r>
              <a:rPr lang="ru-RU" altLang="ru-RU" sz="2800" smtClean="0">
                <a:latin typeface="Times New Roman" pitchFamily="18" charset="0"/>
              </a:rPr>
              <a:t> := </a:t>
            </a:r>
            <a:r>
              <a:rPr lang="en-US" altLang="ru-RU" sz="2800" i="1" smtClean="0">
                <a:latin typeface="Times New Roman" pitchFamily="18" charset="0"/>
              </a:rPr>
              <a:t>x</a:t>
            </a:r>
            <a:r>
              <a:rPr lang="en-US" altLang="ru-RU" sz="2800" smtClean="0">
                <a:latin typeface="Times New Roman" pitchFamily="18" charset="0"/>
              </a:rPr>
              <a:t> + </a:t>
            </a:r>
            <a:r>
              <a:rPr lang="ru-RU" altLang="ru-RU" sz="2800" smtClean="0">
                <a:latin typeface="Times New Roman" pitchFamily="18" charset="0"/>
              </a:rPr>
              <a:t>(</a:t>
            </a:r>
            <a:r>
              <a:rPr lang="en-US" altLang="ru-RU" sz="2800" smtClean="0">
                <a:latin typeface="Times New Roman" pitchFamily="18" charset="0"/>
              </a:rPr>
              <a:t>ord(</a:t>
            </a:r>
            <a:r>
              <a:rPr lang="en-US" altLang="ru-RU" sz="2800" i="1" smtClean="0">
                <a:latin typeface="Times New Roman" pitchFamily="18" charset="0"/>
              </a:rPr>
              <a:t>C</a:t>
            </a:r>
            <a:r>
              <a:rPr lang="en-US" altLang="ru-RU" sz="2800" smtClean="0">
                <a:latin typeface="Times New Roman" pitchFamily="18" charset="0"/>
              </a:rPr>
              <a:t>[</a:t>
            </a:r>
            <a:r>
              <a:rPr lang="en-US" altLang="ru-RU" sz="2800" i="1" smtClean="0">
                <a:latin typeface="Times New Roman" pitchFamily="18" charset="0"/>
              </a:rPr>
              <a:t>i</a:t>
            </a:r>
            <a:r>
              <a:rPr lang="en-US" altLang="ru-RU" sz="2800" smtClean="0">
                <a:latin typeface="Times New Roman" pitchFamily="18" charset="0"/>
              </a:rPr>
              <a:t>])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ru-RU" sz="2800" smtClean="0">
                <a:latin typeface="Times New Roman" pitchFamily="18" charset="0"/>
              </a:rPr>
              <a:t>ord(’0’)</a:t>
            </a:r>
            <a:r>
              <a:rPr lang="ru-RU" altLang="ru-RU" sz="2800" smtClean="0">
                <a:latin typeface="Times New Roman" pitchFamily="18" charset="0"/>
              </a:rPr>
              <a:t>)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</a:rPr>
              <a:t>*</a:t>
            </a:r>
            <a:r>
              <a:rPr lang="en-US" altLang="ru-RU" sz="2800" smtClean="0">
                <a:latin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</a:rPr>
              <a:t>d</a:t>
            </a:r>
            <a:r>
              <a:rPr lang="ru-RU" altLang="ru-RU" sz="2800" smtClean="0">
                <a:latin typeface="Times New Roman" pitchFamily="18" charset="0"/>
              </a:rPr>
              <a:t>;</a:t>
            </a:r>
            <a:endParaRPr lang="en-US" altLang="ru-RU" sz="2800" smtClean="0">
              <a:latin typeface="Times New Roman" pitchFamily="18" charset="0"/>
            </a:endParaRPr>
          </a:p>
        </p:txBody>
      </p:sp>
      <p:sp>
        <p:nvSpPr>
          <p:cNvPr id="1843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8E1B96A-56F6-4A3D-BC9C-5A9643A6B92C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1196975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Лексический анализатор для языка программирования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686800" cy="54451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Лексемы, выделяемые лексическим анализатором: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имена (идентификаторы),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ключевые (служебные) слова,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целые числа,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вещественные числа (с десятичной точкой и/или с показателем степени),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символьные строки,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составные символы (:= и др.),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отдельные символы (скобки, знаки операций из одного символа и т.п.).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latin typeface="Times New Roman" pitchFamily="18" charset="0"/>
              </a:rPr>
              <a:t>Лексемы, пропускаемые лексическим анализатором: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пробелы и символы конца строки,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комментарии.</a:t>
            </a:r>
          </a:p>
        </p:txBody>
      </p:sp>
      <p:sp>
        <p:nvSpPr>
          <p:cNvPr id="1946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33D943B-A1B4-489F-8E79-FF89AC75B4CE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18487" cy="333375"/>
          </a:xfrm>
        </p:spPr>
        <p:txBody>
          <a:bodyPr/>
          <a:lstStyle/>
          <a:p>
            <a:pPr eaLnBrk="1" hangingPunct="1"/>
            <a:endParaRPr lang="ru-RU" altLang="ru-RU" sz="2400" smtClean="0">
              <a:solidFill>
                <a:srgbClr val="660066"/>
              </a:solidFill>
              <a:latin typeface="Times New Roman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507413" cy="65246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Лексический анализатор реализуется как процедура, вызываемая всякий раз, как требуется из входной строки символов выделить очередную лексему.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solidFill>
                <a:srgbClr val="008000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chemeClr val="accent2"/>
                </a:solidFill>
                <a:latin typeface="Times New Roman" pitchFamily="18" charset="0"/>
              </a:rPr>
              <a:t>Пример входа: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C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входная строка символов.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– </a:t>
            </a:r>
            <a:r>
              <a:rPr lang="ru-RU" altLang="ru-RU" sz="2400" smtClean="0">
                <a:latin typeface="Times New Roman" pitchFamily="18" charset="0"/>
              </a:rPr>
              <a:t>номер текущего входного символа в строке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C</a:t>
            </a:r>
            <a:r>
              <a:rPr lang="ru-RU" altLang="ru-RU" sz="2400" smtClean="0">
                <a:latin typeface="Times New Roman" pitchFamily="18" charset="0"/>
              </a:rPr>
              <a:t>, с него начинается анализ; после окончания анализа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i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– </a:t>
            </a:r>
            <a:r>
              <a:rPr lang="ru-RU" altLang="ru-RU" sz="2400" smtClean="0">
                <a:latin typeface="Times New Roman" pitchFamily="18" charset="0"/>
              </a:rPr>
              <a:t>номер входного символа </a:t>
            </a:r>
            <a:r>
              <a:rPr lang="ru-RU" altLang="ru-RU" sz="2400" i="1" smtClean="0">
                <a:latin typeface="Times New Roman" pitchFamily="18" charset="0"/>
              </a:rPr>
              <a:t>после</a:t>
            </a:r>
            <a:r>
              <a:rPr lang="ru-RU" altLang="ru-RU" sz="2400" smtClean="0">
                <a:latin typeface="Times New Roman" pitchFamily="18" charset="0"/>
              </a:rPr>
              <a:t> лексемы.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400" smtClean="0">
              <a:solidFill>
                <a:schemeClr val="accent2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smtClean="0">
                <a:solidFill>
                  <a:schemeClr val="accent2"/>
                </a:solidFill>
                <a:latin typeface="Times New Roman" pitchFamily="18" charset="0"/>
              </a:rPr>
              <a:t>Пример выхода: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a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номер распознанной лексемы.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name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символьная строка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ru-RU" altLang="ru-RU" sz="2400" smtClean="0">
                <a:latin typeface="Times New Roman" pitchFamily="18" charset="0"/>
              </a:rPr>
              <a:t>содержащая имя, если лексема – имя или строка символов.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значение целого числа, если лексема – целое число.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x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en-US" altLang="ru-RU" sz="2400" smtClean="0">
                <a:latin typeface="Times New Roman" pitchFamily="18" charset="0"/>
              </a:rPr>
              <a:t>– </a:t>
            </a:r>
            <a:r>
              <a:rPr lang="ru-RU" altLang="ru-RU" sz="2400" smtClean="0">
                <a:latin typeface="Times New Roman" pitchFamily="18" charset="0"/>
              </a:rPr>
              <a:t>значение вещественного числа, если лексема – вещественное число.</a:t>
            </a:r>
          </a:p>
        </p:txBody>
      </p:sp>
      <p:sp>
        <p:nvSpPr>
          <p:cNvPr id="2048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E401691-AE05-4AFB-BB52-BDC5248F2D85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260350"/>
          </a:xfrm>
        </p:spPr>
        <p:txBody>
          <a:bodyPr/>
          <a:lstStyle/>
          <a:p>
            <a:pPr eaLnBrk="1" hangingPunct="1"/>
            <a:endParaRPr lang="ru-RU" altLang="ru-RU" sz="40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88913"/>
            <a:ext cx="8642350" cy="66690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Пример</a:t>
            </a:r>
            <a:r>
              <a:rPr lang="en-US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lang="ru-RU" altLang="ru-RU" sz="2400" smtClean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Анализируемая входная строка символов содержит лексемы: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имена (идентификаторы),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служебные слова,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целые числа без знака,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числа с десятичной точкой без знака,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символьные строки в одиночных кавычках,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отдельные символы языка (такие, как 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+, *,</a:t>
            </a:r>
            <a:r>
              <a:rPr lang="ru-RU" altLang="ru-RU" sz="2400" smtClean="0">
                <a:latin typeface="Times New Roman" pitchFamily="18" charset="0"/>
              </a:rPr>
              <a:t> скобки и др.),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составной символ (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:=</a:t>
            </a:r>
            <a:r>
              <a:rPr lang="ru-RU" altLang="ru-RU" sz="2400" smtClean="0">
                <a:latin typeface="Times New Roman" pitchFamily="18" charset="0"/>
              </a:rPr>
              <a:t>),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пробелы, переводы строк  </a:t>
            </a:r>
            <a:r>
              <a:rPr lang="ru-RU" altLang="ru-RU" sz="2400" smtClean="0">
                <a:solidFill>
                  <a:srgbClr val="FF0000"/>
                </a:solidFill>
                <a:latin typeface="Times New Roman" pitchFamily="18" charset="0"/>
              </a:rPr>
              <a:t>(должны пропускаться) 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  <a:endParaRPr lang="ru-RU" altLang="ru-RU" sz="2400" smtClean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комментарии, начало - символы (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/*</a:t>
            </a:r>
            <a:r>
              <a:rPr lang="ru-RU" altLang="ru-RU" sz="2400" smtClean="0">
                <a:latin typeface="Times New Roman" pitchFamily="18" charset="0"/>
              </a:rPr>
              <a:t>), конец - символы (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*/</a:t>
            </a:r>
            <a:r>
              <a:rPr lang="ru-RU" altLang="ru-RU" sz="2400" smtClean="0">
                <a:latin typeface="Times New Roman" pitchFamily="18" charset="0"/>
              </a:rPr>
              <a:t>) </a:t>
            </a:r>
            <a:r>
              <a:rPr lang="ru-RU" altLang="ru-RU" sz="2400" smtClean="0">
                <a:solidFill>
                  <a:srgbClr val="FF0000"/>
                </a:solidFill>
                <a:latin typeface="Times New Roman" pitchFamily="18" charset="0"/>
              </a:rPr>
              <a:t>(должны пропускаться)</a:t>
            </a:r>
            <a:r>
              <a:rPr lang="ru-RU" altLang="ru-RU" sz="2400" smtClean="0">
                <a:latin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концевой ограничитель - символ (</a:t>
            </a:r>
            <a:r>
              <a:rPr lang="ru-RU" altLang="ru-RU" sz="2400" baseline="-25000" smtClean="0">
                <a:latin typeface="Times New Roman" pitchFamily="18" charset="0"/>
                <a:cs typeface="Arial" charset="0"/>
              </a:rPr>
              <a:t>┴</a:t>
            </a:r>
            <a:r>
              <a:rPr lang="ru-RU" altLang="ru-RU" sz="2400" smtClean="0">
                <a:latin typeface="Times New Roman" pitchFamily="18" charset="0"/>
              </a:rPr>
              <a:t>),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 smtClean="0">
                <a:latin typeface="Times New Roman" pitchFamily="18" charset="0"/>
              </a:rPr>
              <a:t>все другие символы, которые могут встречаться внутри комментария (не символы языка).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Обозначения входных символов: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ц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цифра,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б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буква, 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«.»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точка, 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« »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– пробел, 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с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отдельные символы, 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Arial" charset="0"/>
              </a:rPr>
              <a:t>┴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концевой ограничитель, 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&lt;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д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&gt;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– другие символы </a:t>
            </a:r>
            <a:r>
              <a:rPr lang="ru-RU" altLang="ru-RU" sz="2400" smtClean="0">
                <a:latin typeface="Times New Roman" pitchFamily="18" charset="0"/>
              </a:rPr>
              <a:t>(не символы языка).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2150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5B2CF7-216D-4A38-A6B1-67E4247B8557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6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6613"/>
          </a:xfrm>
        </p:spPr>
        <p:txBody>
          <a:bodyPr/>
          <a:lstStyle/>
          <a:p>
            <a:pPr eaLnBrk="1" hangingPunct="1"/>
            <a:r>
              <a:rPr lang="en-US" altLang="ru-RU" sz="2400" i="1" smtClean="0">
                <a:latin typeface="Times New Roman" pitchFamily="18" charset="0"/>
              </a:rPr>
              <a:t>Z</a:t>
            </a:r>
            <a:r>
              <a:rPr lang="ru-RU" altLang="ru-RU" sz="2400" i="1" smtClean="0">
                <a:latin typeface="Times New Roman" pitchFamily="18" charset="0"/>
              </a:rPr>
              <a:t>*  -  переход в заключительное состояние с действием</a:t>
            </a:r>
            <a:r>
              <a:rPr lang="en-US" altLang="ru-RU" sz="2400" smtClean="0">
                <a:latin typeface="Times New Roman" pitchFamily="18" charset="0"/>
              </a:rPr>
              <a:t>:</a:t>
            </a:r>
            <a:r>
              <a:rPr lang="ru-RU" altLang="ru-RU" sz="2400" i="1" smtClean="0">
                <a:latin typeface="Times New Roman" pitchFamily="18" charset="0"/>
              </a:rPr>
              <a:t> </a:t>
            </a:r>
            <a:r>
              <a:rPr lang="en-US" altLang="ru-RU" sz="2400" b="1" smtClean="0">
                <a:latin typeface="Courier New" pitchFamily="49" charset="0"/>
              </a:rPr>
              <a:t>i:=i-1</a:t>
            </a:r>
            <a:endParaRPr lang="ru-RU" altLang="ru-RU" sz="2400" b="1" i="1" smtClean="0">
              <a:latin typeface="Courier New" pitchFamily="49" charset="0"/>
            </a:endParaRPr>
          </a:p>
        </p:txBody>
      </p:sp>
      <p:graphicFrame>
        <p:nvGraphicFramePr>
          <p:cNvPr id="37049" name="Group 185"/>
          <p:cNvGraphicFramePr>
            <a:graphicFrameLocks noGrp="1"/>
          </p:cNvGraphicFramePr>
          <p:nvPr>
            <p:ph idx="1"/>
          </p:nvPr>
        </p:nvGraphicFramePr>
        <p:xfrm>
          <a:off x="395288" y="1052513"/>
          <a:ext cx="8288337" cy="5222875"/>
        </p:xfrm>
        <a:graphic>
          <a:graphicData uri="http://schemas.openxmlformats.org/drawingml/2006/table">
            <a:tbl>
              <a:tblPr/>
              <a:tblGrid>
                <a:gridCol w="1392237"/>
                <a:gridCol w="685800"/>
                <a:gridCol w="674688"/>
                <a:gridCol w="628650"/>
                <a:gridCol w="674687"/>
                <a:gridCol w="590550"/>
                <a:gridCol w="577850"/>
                <a:gridCol w="625475"/>
                <a:gridCol w="601663"/>
                <a:gridCol w="625475"/>
                <a:gridCol w="668337"/>
                <a:gridCol w="542925"/>
              </a:tblGrid>
              <a:tr h="77469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ВХОДНОЙ СИМВОЛ_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СОСТОЯНИЕ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б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ц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«.»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« »</a:t>
                      </a:r>
                      <a:endParaRPr kumimoji="0" lang="ru-RU" altLang="ru-RU" sz="2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r>
                        <a:rPr kumimoji="0" lang="en-US" altLang="ru-RU" sz="22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altLang="ru-RU" sz="2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=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/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&lt;</a:t>
                      </a:r>
                      <a:r>
                        <a:rPr kumimoji="0" lang="ru-RU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</a:t>
                      </a:r>
                      <a:r>
                        <a:rPr kumimoji="0" lang="en-US" alt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┴</a:t>
                      </a:r>
                      <a:endParaRPr kumimoji="0" lang="ru-RU" alt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8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2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</a:t>
                      </a: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Z*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Z</a:t>
                      </a:r>
                      <a:r>
                        <a:rPr kumimoji="0" lang="ru-RU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7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ru-RU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6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01434B7-376E-4685-832C-7BFE73BDE1F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5175"/>
          </a:xfrm>
        </p:spPr>
        <p:txBody>
          <a:bodyPr/>
          <a:lstStyle/>
          <a:p>
            <a:pPr eaLnBrk="1" hangingPunct="1"/>
            <a:r>
              <a:rPr lang="ru-RU" altLang="ru-RU" sz="2800" b="1" smtClean="0">
                <a:solidFill>
                  <a:schemeClr val="accent2"/>
                </a:solidFill>
              </a:rPr>
              <a:t>ПРАВОЛИНЕЙНЫЕ ГРАММАТИКИ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68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Обобщение автоматных грамматик. Порождающие правила в виде: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 или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ω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где </a:t>
            </a:r>
            <a:r>
              <a:rPr lang="en-US" altLang="ru-RU" sz="2400" i="1" smtClean="0">
                <a:latin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</a:rPr>
              <a:t>, В</a:t>
            </a:r>
            <a:r>
              <a:rPr lang="en-US" altLang="ru-RU" sz="2400" smtClean="0">
                <a:latin typeface="Times New Roman" pitchFamily="18" charset="0"/>
              </a:rPr>
              <a:t> – </a:t>
            </a:r>
            <a:r>
              <a:rPr lang="ru-RU" altLang="ru-RU" sz="2400" smtClean="0">
                <a:latin typeface="Times New Roman" pitchFamily="18" charset="0"/>
              </a:rPr>
              <a:t>нетерминалы,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– терминальная цепочка, допустимо: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l-GR" altLang="ru-RU" sz="24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</a:rPr>
              <a:t>Пример праволинейной грамматики</a:t>
            </a:r>
            <a:endParaRPr lang="en-US" altLang="ru-RU" sz="2400" smtClean="0">
              <a:solidFill>
                <a:srgbClr val="CC0066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Грамматика:      </a:t>
            </a:r>
            <a:r>
              <a:rPr lang="en-US" altLang="ru-RU" sz="2400" i="1" smtClean="0">
                <a:latin typeface="Times New Roman" pitchFamily="18" charset="0"/>
              </a:rPr>
              <a:t>G</a:t>
            </a:r>
            <a:r>
              <a:rPr lang="en-US" altLang="ru-RU" sz="2400" baseline="-25000" smtClean="0">
                <a:latin typeface="Times New Roman" pitchFamily="18" charset="0"/>
              </a:rPr>
              <a:t>4</a:t>
            </a:r>
            <a:r>
              <a:rPr lang="en-US" altLang="ru-RU" sz="2400" smtClean="0">
                <a:latin typeface="Times New Roman" pitchFamily="18" charset="0"/>
              </a:rPr>
              <a:t>(</a:t>
            </a:r>
            <a:r>
              <a:rPr lang="en-US" altLang="ru-RU" sz="2400" i="1" smtClean="0">
                <a:latin typeface="Times New Roman" pitchFamily="18" charset="0"/>
              </a:rPr>
              <a:t>L</a:t>
            </a:r>
            <a:r>
              <a:rPr lang="en-US" altLang="ru-RU" sz="2400" smtClean="0">
                <a:latin typeface="Times New Roman" pitchFamily="18" charset="0"/>
              </a:rPr>
              <a:t>)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endParaRPr lang="ru-RU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S, T, C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bbC, T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C, C 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}.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>
                <a:solidFill>
                  <a:srgbClr val="CC0066"/>
                </a:solidFill>
              </a:rPr>
              <a:t>Процесс порождения: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aaT =&gt; aaC =&gt; aaa,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aaT =&gt; aabbC =&gt; aabba,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aaT =&gt; aaaT =&gt; aaaC =&gt; aaaa,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altLang="ru-RU" sz="2400" i="1" smtClean="0">
                <a:latin typeface="Times New Roman" pitchFamily="18" charset="0"/>
                <a:cs typeface="Times New Roman" pitchFamily="18" charset="0"/>
              </a:rPr>
              <a:t>aaT =&gt; aaaT =&gt; aaabbC =&gt; aabba, . . .</a:t>
            </a:r>
            <a:endParaRPr lang="ru-RU" altLang="ru-RU" sz="2400" i="1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DBDBD4A-A7C8-4C1D-BEB2-8006BC1495E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52513"/>
          </a:xfrm>
        </p:spPr>
        <p:txBody>
          <a:bodyPr/>
          <a:lstStyle/>
          <a:p>
            <a:pPr eaLnBrk="1" hangingPunct="1"/>
            <a:r>
              <a:rPr lang="ru-RU" altLang="ru-RU" sz="2800" b="1" smtClean="0">
                <a:solidFill>
                  <a:schemeClr val="accent2"/>
                </a:solidFill>
              </a:rPr>
              <a:t>Преобразование праволинейной грамматики к автоматной грамматике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435975" cy="54006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1. Пусть в грамматике имеется правило: </a:t>
            </a:r>
          </a:p>
          <a:p>
            <a:pPr algn="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. . .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  	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	   (*)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где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&gt; 1.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Добавим в грамматику новые нетерминалы: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-1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И вместо правила (*) добавим правила: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2458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6F00930-788E-418E-B88B-06BB5D94C4A8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2400" b="1" smtClean="0">
              <a:solidFill>
                <a:schemeClr val="accent2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435975" cy="61928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8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 Пусть в грамматике имеется правило: </a:t>
            </a:r>
          </a:p>
          <a:p>
            <a:pPr algn="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  			  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(**)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а также правила: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Вместо правила (**) добавим правила: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m</a:t>
            </a:r>
            <a:endParaRPr lang="ru-RU" altLang="ru-RU" sz="2800" i="1" baseline="-25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3. Пусть в грамматике имеется правило: </a:t>
            </a:r>
          </a:p>
          <a:p>
            <a:pPr algn="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(*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*)</a:t>
            </a: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а также правила: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Вместо правила (**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) добавим правила: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800" baseline="-2500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. . . 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altLang="ru-RU" sz="2800" i="1" baseline="-2500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altLang="ru-RU" sz="28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 Пусть в грамматике имеется правило: </a:t>
            </a:r>
          </a:p>
          <a:p>
            <a:pPr algn="r" eaLnBrk="1" hangingPunct="1">
              <a:lnSpc>
                <a:spcPct val="8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(**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*)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– начальный  нетерминал.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Это порождающее правило оставляем без изменения.</a:t>
            </a:r>
            <a:endParaRPr lang="en-US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ru-RU" altLang="ru-RU" sz="2800" baseline="-25000" smtClean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0B8F087-1916-4882-A09B-36035ED4A9D0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88913"/>
          </a:xfrm>
        </p:spPr>
        <p:txBody>
          <a:bodyPr/>
          <a:lstStyle/>
          <a:p>
            <a:pPr eaLnBrk="1" hangingPunct="1"/>
            <a:endParaRPr lang="ru-RU" altLang="ru-RU" sz="2400" b="1" smtClean="0">
              <a:solidFill>
                <a:schemeClr val="accent2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76250"/>
            <a:ext cx="8435975" cy="61928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b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В результате преобразований язык </a:t>
            </a:r>
            <a:r>
              <a:rPr lang="ru-RU" altLang="ru-RU" sz="2800" b="1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не изменится</a:t>
            </a:r>
            <a:r>
              <a:rPr lang="ru-RU" altLang="ru-RU" sz="2800" b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Трудоёмкость преобразования определяется количеством новых нетерминалов.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smtClean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Если в языке не было правила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800" smtClean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и оно не появилось после всех преобразований, то получившаяся грамматика будет автоматной.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smtClean="0"/>
              <a:t>Теорема. </a:t>
            </a:r>
            <a:endParaRPr lang="ru-RU" altLang="ru-RU" sz="2800" i="1" smtClean="0"/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sz="2800" i="1" smtClean="0"/>
              <a:t>Любая праволинейная грамматика эквивалент-на автоматной грамматике, к которой (возможно) добавлено порождающее правило</a:t>
            </a:r>
            <a:r>
              <a:rPr lang="ru-RU" altLang="ru-RU" sz="2800" smtClean="0"/>
              <a:t>:</a:t>
            </a:r>
            <a:endParaRPr lang="en-US" altLang="ru-RU" sz="2800" i="1" smtClean="0"/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80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800" smtClean="0"/>
              <a:t>.</a:t>
            </a:r>
            <a:endParaRPr lang="ru-RU" altLang="ru-RU" sz="2800" smtClean="0">
              <a:solidFill>
                <a:schemeClr val="hlink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800" b="1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Следствие:</a:t>
            </a:r>
            <a:r>
              <a:rPr lang="ru-RU" altLang="ru-RU" sz="280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множество праволинейных языков </a:t>
            </a:r>
            <a:r>
              <a:rPr lang="ru-RU" altLang="ru-RU" sz="2800" b="1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почти</a:t>
            </a:r>
            <a:r>
              <a:rPr lang="ru-RU" altLang="ru-RU" sz="2800" b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совпадает с множеством автоматных языков.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800" baseline="-25000" smtClean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8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BFBF9B5-3FE4-423D-A450-E16A001DC0C9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341438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Пример преобразования праволинейной грамматики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84313"/>
            <a:ext cx="8229600" cy="51133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800" smtClean="0">
                <a:latin typeface="Times New Roman" pitchFamily="18" charset="0"/>
              </a:rPr>
              <a:t>Грамматика:      </a:t>
            </a:r>
            <a:r>
              <a:rPr lang="en-US" altLang="ru-RU" sz="2800" i="1" smtClean="0">
                <a:latin typeface="Times New Roman" pitchFamily="18" charset="0"/>
              </a:rPr>
              <a:t>G</a:t>
            </a:r>
            <a:r>
              <a:rPr lang="en-US" altLang="ru-RU" sz="2800" baseline="-25000" smtClean="0">
                <a:latin typeface="Times New Roman" pitchFamily="18" charset="0"/>
              </a:rPr>
              <a:t>4</a:t>
            </a:r>
            <a:r>
              <a:rPr lang="en-US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L</a:t>
            </a:r>
            <a:r>
              <a:rPr lang="en-US" altLang="ru-RU" sz="2800" smtClean="0">
                <a:latin typeface="Times New Roman" pitchFamily="18" charset="0"/>
              </a:rPr>
              <a:t>)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800" smtClean="0">
                <a:latin typeface="Times New Roman" pitchFamily="18" charset="0"/>
              </a:rPr>
              <a:t>},</a:t>
            </a: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S, T, C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aaT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bbC, T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C, C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}.</a:t>
            </a: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Автоматная г</a:t>
            </a:r>
            <a:r>
              <a:rPr lang="ru-RU" altLang="ru-RU" sz="2800" smtClean="0">
                <a:latin typeface="Times New Roman" pitchFamily="18" charset="0"/>
              </a:rPr>
              <a:t>рамматика: </a:t>
            </a:r>
            <a:r>
              <a:rPr lang="en-US" altLang="ru-RU" sz="2800" i="1" smtClean="0">
                <a:latin typeface="Times New Roman" pitchFamily="18" charset="0"/>
              </a:rPr>
              <a:t>G</a:t>
            </a:r>
            <a:r>
              <a:rPr lang="ru-RU" altLang="ru-RU" sz="2800" baseline="-25000" smtClean="0">
                <a:latin typeface="Times New Roman" pitchFamily="18" charset="0"/>
              </a:rPr>
              <a:t>5</a:t>
            </a:r>
            <a:r>
              <a:rPr lang="en-US" altLang="ru-RU" sz="2800" smtClean="0">
                <a:latin typeface="Times New Roman" pitchFamily="18" charset="0"/>
              </a:rPr>
              <a:t>(</a:t>
            </a:r>
            <a:r>
              <a:rPr lang="en-US" altLang="ru-RU" sz="2800" i="1" smtClean="0">
                <a:latin typeface="Times New Roman" pitchFamily="18" charset="0"/>
              </a:rPr>
              <a:t>L</a:t>
            </a:r>
            <a:r>
              <a:rPr lang="en-US" altLang="ru-RU" sz="2800" smtClean="0">
                <a:latin typeface="Times New Roman" pitchFamily="18" charset="0"/>
              </a:rPr>
              <a:t>)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∑, N, S, P</a:t>
            </a:r>
            <a:r>
              <a:rPr lang="en-US" altLang="ru-RU" sz="2800" smtClean="0">
                <a:latin typeface="Times New Roman" pitchFamily="18" charset="0"/>
              </a:rPr>
              <a:t>},</a:t>
            </a:r>
            <a:endParaRPr lang="ru-RU" altLang="ru-RU" sz="28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ru-RU" altLang="ru-RU" sz="28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a, b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   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S, T, A, B, C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    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bB, T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altLang="ru-RU" sz="2800" i="1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       B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bC, C 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ru-RU" sz="2800" i="1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ru-RU" sz="2800" smtClean="0">
                <a:latin typeface="Times New Roman" pitchFamily="18" charset="0"/>
                <a:cs typeface="Times New Roman" pitchFamily="18" charset="0"/>
              </a:rPr>
              <a:t>}.</a:t>
            </a:r>
            <a:endParaRPr lang="ru-RU" altLang="ru-RU" sz="28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ru-RU" sz="2800" smtClean="0">
              <a:latin typeface="Times New Roman" pitchFamily="18" charset="0"/>
            </a:endParaRPr>
          </a:p>
        </p:txBody>
      </p:sp>
      <p:sp>
        <p:nvSpPr>
          <p:cNvPr id="2765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04FCE82-3E2F-4690-AAAA-2F9521DAD4F5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150"/>
          </a:xfrm>
        </p:spPr>
        <p:txBody>
          <a:bodyPr/>
          <a:lstStyle/>
          <a:p>
            <a:pPr eaLnBrk="1" hangingPunct="1"/>
            <a:r>
              <a:rPr lang="ru-RU" altLang="ru-RU" sz="2800" b="1" smtClean="0">
                <a:solidFill>
                  <a:schemeClr val="accent2"/>
                </a:solidFill>
              </a:rPr>
              <a:t>Регулярные множества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686800" cy="59499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Регулярные множества – это следующие множества цепочек символов из некоторого алфавита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:</a:t>
            </a:r>
          </a:p>
          <a:p>
            <a:pPr eaLnBrk="1" hangingPunct="1"/>
            <a:r>
              <a:rPr lang="ru-RU" altLang="ru-RU" sz="2400" smtClean="0">
                <a:latin typeface="Times New Roman" pitchFamily="18" charset="0"/>
              </a:rPr>
              <a:t>Пустое множество </a:t>
            </a:r>
            <a:r>
              <a:rPr lang="en-US" altLang="ru-RU" sz="2400" smtClean="0">
                <a:solidFill>
                  <a:srgbClr val="800000"/>
                </a:solidFill>
                <a:cs typeface="Arial" charset="0"/>
              </a:rPr>
              <a:t>Ø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/>
            <a:r>
              <a:rPr lang="ru-RU" altLang="ru-RU" sz="2400" smtClean="0">
                <a:latin typeface="Times New Roman" pitchFamily="18" charset="0"/>
              </a:rPr>
              <a:t>Множество из пустой цепочки 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{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  <a:endParaRPr lang="en-US" altLang="ru-RU" sz="2400" smtClean="0">
              <a:latin typeface="Times New Roman" pitchFamily="18" charset="0"/>
            </a:endParaRPr>
          </a:p>
          <a:p>
            <a:pPr eaLnBrk="1" hangingPunct="1"/>
            <a:r>
              <a:rPr lang="ru-RU" altLang="ru-RU" sz="2400" smtClean="0">
                <a:latin typeface="Times New Roman" pitchFamily="18" charset="0"/>
              </a:rPr>
              <a:t>Множество из</a:t>
            </a:r>
            <a:r>
              <a:rPr lang="en-US" altLang="ru-RU" sz="2400" smtClean="0">
                <a:latin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</a:rPr>
              <a:t>любого символа 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{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</a:rPr>
              <a:t>a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}</a:t>
            </a:r>
            <a:r>
              <a:rPr lang="ru-RU" altLang="ru-RU" sz="2400" smtClean="0">
                <a:latin typeface="Times New Roman" pitchFamily="18" charset="0"/>
              </a:rPr>
              <a:t> алфавита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/>
            <a:r>
              <a:rPr lang="ru-RU" altLang="ru-RU" sz="2400" smtClean="0">
                <a:latin typeface="Times New Roman" pitchFamily="18" charset="0"/>
              </a:rPr>
              <a:t>Множество всех возможных цепочек вида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αβ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(конкатенация);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solidFill>
                  <a:srgbClr val="800000"/>
                </a:solidFill>
                <a:latin typeface="AvantGarde Bk BT" pitchFamily="34" charset="0"/>
                <a:cs typeface="Arial" charset="0"/>
              </a:rPr>
              <a:t>Є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solidFill>
                  <a:srgbClr val="800000"/>
                </a:solidFill>
                <a:cs typeface="Arial" charset="0"/>
              </a:rPr>
              <a:t>Є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altLang="ru-RU" sz="2400" smtClean="0">
                <a:latin typeface="Times New Roman" pitchFamily="18" charset="0"/>
              </a:rPr>
              <a:t>егулярные  множества.</a:t>
            </a:r>
          </a:p>
          <a:p>
            <a:pPr eaLnBrk="1" hangingPunct="1"/>
            <a:r>
              <a:rPr lang="ru-RU" altLang="ru-RU" sz="2400" smtClean="0">
                <a:latin typeface="Times New Roman" pitchFamily="18" charset="0"/>
              </a:rPr>
              <a:t>Объединение множеств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en-US" altLang="ru-RU" sz="2400" smtClean="0">
                <a:solidFill>
                  <a:srgbClr val="800000"/>
                </a:solidFill>
                <a:cs typeface="Arial" charset="0"/>
              </a:rPr>
              <a:t>U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altLang="ru-RU" sz="2400" smtClean="0">
                <a:latin typeface="Times New Roman" pitchFamily="18" charset="0"/>
              </a:rPr>
              <a:t>егулярные     множества.</a:t>
            </a:r>
          </a:p>
          <a:p>
            <a:pPr eaLnBrk="1" hangingPunct="1"/>
            <a:r>
              <a:rPr lang="ru-RU" altLang="ru-RU" sz="2400" smtClean="0">
                <a:latin typeface="Times New Roman" pitchFamily="18" charset="0"/>
              </a:rPr>
              <a:t>Объединение множеств всех возможных цепочек вида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   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,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,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, . . .</a:t>
            </a:r>
            <a:r>
              <a:rPr lang="ru-RU" altLang="ru-RU" sz="2400" smtClean="0">
                <a:latin typeface="Times New Roman" pitchFamily="18" charset="0"/>
              </a:rPr>
              <a:t> и т.д., где все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,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, 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4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, . . .</a:t>
            </a:r>
            <a:r>
              <a:rPr lang="ru-RU" altLang="ru-RU" sz="2400" smtClean="0">
                <a:latin typeface="Times New Roman" pitchFamily="18" charset="0"/>
              </a:rPr>
              <a:t> принадлежат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altLang="ru-RU" sz="2400" smtClean="0">
                <a:latin typeface="Times New Roman" pitchFamily="18" charset="0"/>
              </a:rPr>
              <a:t>егулярному  множеству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 транзитивное замыкание</a:t>
            </a:r>
            <a:r>
              <a:rPr lang="ru-RU" altLang="ru-RU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4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4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 eaLnBrk="1" hangingPunct="1"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</p:txBody>
      </p:sp>
      <p:sp>
        <p:nvSpPr>
          <p:cNvPr id="286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A26C207-F908-4FC9-8BA2-AAD81746A3FE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150"/>
          </a:xfrm>
        </p:spPr>
        <p:txBody>
          <a:bodyPr/>
          <a:lstStyle/>
          <a:p>
            <a:pPr eaLnBrk="1" hangingPunct="1"/>
            <a:r>
              <a:rPr lang="ru-RU" altLang="ru-RU" sz="2800" b="1" smtClean="0">
                <a:solidFill>
                  <a:schemeClr val="accent2"/>
                </a:solidFill>
              </a:rPr>
              <a:t>Регулярные выражения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686800" cy="61658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Регулярное выражение – это шаблон для задания регулярного множества цепочек символов из некоторого алфавита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</a:rPr>
              <a:t>Кроме символов алфавита </a:t>
            </a:r>
            <a:r>
              <a:rPr lang="el-GR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 в регулярное 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</a:rPr>
              <a:t>выражение могут входить вспомогательные метасимволы: </a:t>
            </a:r>
            <a:r>
              <a:rPr lang="en-US" altLang="ru-RU" sz="2200" smtClean="0">
                <a:solidFill>
                  <a:srgbClr val="008000"/>
                </a:solidFill>
                <a:cs typeface="Arial" charset="0"/>
              </a:rPr>
              <a:t>Ø</a:t>
            </a:r>
            <a:r>
              <a:rPr lang="ru-RU" altLang="ru-RU" sz="220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(пустое множество),</a:t>
            </a:r>
            <a:r>
              <a:rPr lang="ru-RU" altLang="ru-RU" sz="220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el-GR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 (пустая строка), скобки </a:t>
            </a:r>
            <a:r>
              <a:rPr lang="en-US" altLang="ru-RU" sz="2200" smtClean="0">
                <a:solidFill>
                  <a:srgbClr val="008000"/>
                </a:solidFill>
                <a:latin typeface="Times New Roman" pitchFamily="18" charset="0"/>
              </a:rPr>
              <a:t>{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</a:rPr>
              <a:t> </a:t>
            </a:r>
            <a:r>
              <a:rPr lang="en-US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, скобки </a:t>
            </a:r>
            <a:r>
              <a:rPr lang="en-US" altLang="ru-RU" sz="2200" smtClean="0">
                <a:solidFill>
                  <a:srgbClr val="008000"/>
                </a:solidFill>
                <a:latin typeface="Times New Roman" pitchFamily="18" charset="0"/>
              </a:rPr>
              <a:t>{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</a:rPr>
              <a:t> </a:t>
            </a:r>
            <a:r>
              <a:rPr lang="en-US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*, вертикальная черта  </a:t>
            </a:r>
            <a:r>
              <a:rPr lang="en-US" altLang="ru-RU" sz="2200" b="1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altLang="ru-RU" sz="2200" smtClean="0">
              <a:solidFill>
                <a:srgbClr val="008000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>
                <a:latin typeface="Times New Roman" pitchFamily="18" charset="0"/>
              </a:rPr>
              <a:t>Пустое множество</a:t>
            </a:r>
            <a:r>
              <a:rPr lang="en-US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обозначается знаком </a:t>
            </a:r>
            <a:r>
              <a:rPr lang="en-US" altLang="ru-RU" sz="2200" smtClean="0">
                <a:solidFill>
                  <a:srgbClr val="800000"/>
                </a:solidFill>
                <a:cs typeface="Arial" charset="0"/>
              </a:rPr>
              <a:t>Ø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>
                <a:latin typeface="Times New Roman" pitchFamily="18" charset="0"/>
              </a:rPr>
              <a:t>Пустая цепочка обозначается знаком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  <a:endParaRPr lang="en-US" altLang="ru-RU" sz="22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>
                <a:latin typeface="Times New Roman" pitchFamily="18" charset="0"/>
              </a:rPr>
              <a:t>Символ алфавита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ru-RU" altLang="ru-RU" sz="2200" smtClean="0">
                <a:latin typeface="Times New Roman" pitchFamily="18" charset="0"/>
              </a:rPr>
              <a:t> обозначает себя сам.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>
                <a:latin typeface="Times New Roman" pitchFamily="18" charset="0"/>
              </a:rPr>
              <a:t>Если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latin typeface="Times New Roman" pitchFamily="18" charset="0"/>
              </a:rPr>
              <a:t> 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200" smtClean="0">
                <a:latin typeface="Times New Roman" pitchFamily="18" charset="0"/>
              </a:rPr>
              <a:t> – оба регулярные выражения, то запись вида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αβ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регулярное </a:t>
            </a:r>
            <a:r>
              <a:rPr lang="ru-RU" altLang="ru-RU" sz="2200" smtClean="0">
                <a:latin typeface="Times New Roman" pitchFamily="18" charset="0"/>
              </a:rPr>
              <a:t>выражение,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конкатенация цепочек из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latin typeface="Times New Roman" pitchFamily="18" charset="0"/>
              </a:rPr>
              <a:t> 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>
                <a:latin typeface="Times New Roman" pitchFamily="18" charset="0"/>
              </a:rPr>
              <a:t>Если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latin typeface="Times New Roman" pitchFamily="18" charset="0"/>
              </a:rPr>
              <a:t> 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200" smtClean="0">
                <a:latin typeface="Times New Roman" pitchFamily="18" charset="0"/>
              </a:rPr>
              <a:t> – оба регулярные выражения, то запись вида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200" b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регулярное </a:t>
            </a:r>
            <a:r>
              <a:rPr lang="ru-RU" altLang="ru-RU" sz="2200" smtClean="0">
                <a:latin typeface="Times New Roman" pitchFamily="18" charset="0"/>
              </a:rPr>
              <a:t>выражение, обозначающее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объединение множеств цепочек из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latin typeface="Times New Roman" pitchFamily="18" charset="0"/>
              </a:rPr>
              <a:t> 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>
                <a:latin typeface="Times New Roman" pitchFamily="18" charset="0"/>
              </a:rPr>
              <a:t>Если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– регулярное выражения, то запись вида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{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то же самое регулярное </a:t>
            </a:r>
            <a:r>
              <a:rPr lang="ru-RU" altLang="ru-RU" sz="2200" smtClean="0">
                <a:latin typeface="Times New Roman" pitchFamily="18" charset="0"/>
              </a:rPr>
              <a:t>выражение, рассматриваемое, как единое целое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ru-RU" altLang="ru-RU" sz="22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>
                <a:latin typeface="Times New Roman" pitchFamily="18" charset="0"/>
              </a:rPr>
              <a:t>Если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– регулярное выражения, то запись вида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{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регулярное </a:t>
            </a:r>
            <a:r>
              <a:rPr lang="ru-RU" altLang="ru-RU" sz="2200" smtClean="0">
                <a:latin typeface="Times New Roman" pitchFamily="18" charset="0"/>
              </a:rPr>
              <a:t>выражение, обозначающее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объединение множеств цепочек из: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,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αα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,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ααα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</a:rPr>
              <a:t>, . . 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     и т.д.,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</a:rPr>
              <a:t>{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</a:rPr>
              <a:t>–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транзитивное замыкание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altLang="ru-RU" sz="2200" smtClean="0">
                <a:latin typeface="Times New Roman" pitchFamily="18" charset="0"/>
              </a:rPr>
              <a:t>.</a:t>
            </a:r>
          </a:p>
        </p:txBody>
      </p:sp>
      <p:sp>
        <p:nvSpPr>
          <p:cNvPr id="29700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B3C221-EDEA-4D9E-AA12-977B2BC8848A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274637"/>
          </a:xfrm>
        </p:spPr>
        <p:txBody>
          <a:bodyPr/>
          <a:lstStyle/>
          <a:p>
            <a:pPr eaLnBrk="1" hangingPunct="1"/>
            <a:r>
              <a:rPr lang="ru-RU" altLang="ru-RU" sz="2800" b="1" smtClean="0">
                <a:solidFill>
                  <a:schemeClr val="accent2"/>
                </a:solidFill>
              </a:rPr>
              <a:t>Примеры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893175" cy="58324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1. Регулярное </a:t>
            </a:r>
            <a:r>
              <a:rPr lang="ru-RU" altLang="ru-RU" sz="2400" smtClean="0">
                <a:latin typeface="Times New Roman" pitchFamily="18" charset="0"/>
              </a:rPr>
              <a:t>выражение:</a:t>
            </a:r>
          </a:p>
          <a:p>
            <a:pPr algn="ctr" eaLnBrk="1" hangingPunct="1">
              <a:buFontTx/>
              <a:buNone/>
            </a:pP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{</a:t>
            </a:r>
            <a:r>
              <a:rPr lang="el-GR" altLang="ru-RU" sz="24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|+|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–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}{0|1|2|3|4|5|6|7|8|9}{0|1|2|3|4|5|6|7|8|9}*</a:t>
            </a:r>
            <a:endParaRPr lang="ru-RU" altLang="ru-RU" sz="2400" smtClean="0">
              <a:solidFill>
                <a:srgbClr val="800000"/>
              </a:solidFill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задает запись целого числа без знака или со знаком «+» или «–».</a:t>
            </a:r>
          </a:p>
          <a:p>
            <a:pPr eaLnBrk="1" hangingPunct="1">
              <a:buFontTx/>
              <a:buNone/>
            </a:pPr>
            <a:r>
              <a:rPr lang="ru-RU" altLang="ru-RU" sz="1000" smtClean="0">
                <a:latin typeface="Times New Roman" pitchFamily="18" charset="0"/>
              </a:rPr>
              <a:t>____________________________________________________________________________________________________________________________________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Для краткости вместо явного перечисления цифр или букв через символ «</a:t>
            </a:r>
            <a:r>
              <a:rPr lang="en-US" altLang="ru-RU" sz="2400" smtClean="0">
                <a:solidFill>
                  <a:srgbClr val="008000"/>
                </a:solidFill>
                <a:latin typeface="Times New Roman" pitchFamily="18" charset="0"/>
              </a:rPr>
              <a:t>|</a:t>
            </a:r>
            <a:r>
              <a:rPr lang="ru-RU" altLang="ru-RU" sz="2400" smtClean="0">
                <a:solidFill>
                  <a:srgbClr val="008000"/>
                </a:solidFill>
                <a:latin typeface="Times New Roman" pitchFamily="18" charset="0"/>
              </a:rPr>
              <a:t>», будем использовать многоточие.</a:t>
            </a:r>
          </a:p>
          <a:p>
            <a:pPr eaLnBrk="1" hangingPunct="1">
              <a:buFontTx/>
              <a:buNone/>
            </a:pPr>
            <a:r>
              <a:rPr lang="ru-RU" altLang="ru-RU" sz="1000" smtClean="0">
                <a:latin typeface="Times New Roman" pitchFamily="18" charset="0"/>
              </a:rPr>
              <a:t>____________________________________________________________________________________________________________________________________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2.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Регулярное </a:t>
            </a:r>
            <a:r>
              <a:rPr lang="ru-RU" altLang="ru-RU" sz="2400" smtClean="0">
                <a:latin typeface="Times New Roman" pitchFamily="18" charset="0"/>
              </a:rPr>
              <a:t>выражение:</a:t>
            </a:r>
          </a:p>
          <a:p>
            <a:pPr algn="ctr" eaLnBrk="1" hangingPunct="1">
              <a:buFontTx/>
              <a:buNone/>
            </a:pP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{0|1|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. . .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 |9}{0|1|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. . .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 |9}*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 .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{0|1|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. . .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 |9}{0|1|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. . .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 |9}*</a:t>
            </a:r>
            <a:r>
              <a:rPr lang="ru-RU" altLang="ru-RU" sz="2400" smtClean="0">
                <a:latin typeface="Times New Roman" pitchFamily="18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задает запись беззнакового десятичного числа с дробной частью.</a:t>
            </a:r>
          </a:p>
          <a:p>
            <a:pPr eaLnBrk="1" hangingPunct="1">
              <a:buFontTx/>
              <a:buNone/>
            </a:pPr>
            <a:r>
              <a:rPr lang="ru-RU" altLang="ru-RU" sz="1000" smtClean="0">
                <a:latin typeface="Times New Roman" pitchFamily="18" charset="0"/>
              </a:rPr>
              <a:t>____________________________________________________________________________________________________________________________________</a:t>
            </a: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3. </a:t>
            </a:r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Регулярное </a:t>
            </a:r>
            <a:r>
              <a:rPr lang="ru-RU" altLang="ru-RU" sz="2400" smtClean="0">
                <a:latin typeface="Times New Roman" pitchFamily="18" charset="0"/>
              </a:rPr>
              <a:t>выражение:</a:t>
            </a:r>
          </a:p>
          <a:p>
            <a:pPr algn="ctr" eaLnBrk="1" hangingPunct="1">
              <a:buFontTx/>
              <a:buNone/>
            </a:pP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{A|B|. . .|Z}{0|1|</a:t>
            </a:r>
            <a:r>
              <a:rPr lang="ru-RU" altLang="ru-RU" sz="2400" smtClean="0">
                <a:solidFill>
                  <a:srgbClr val="800000"/>
                </a:solidFill>
                <a:latin typeface="Times New Roman" pitchFamily="18" charset="0"/>
              </a:rPr>
              <a:t>. . .</a:t>
            </a:r>
            <a:r>
              <a:rPr lang="en-US" altLang="ru-RU" sz="2400" smtClean="0">
                <a:solidFill>
                  <a:srgbClr val="800000"/>
                </a:solidFill>
                <a:latin typeface="Times New Roman" pitchFamily="18" charset="0"/>
              </a:rPr>
              <a:t> |9|A|B|. . .|Z}*</a:t>
            </a:r>
            <a:endParaRPr lang="ru-RU" altLang="ru-RU" sz="2400" smtClean="0">
              <a:latin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задает запись идентификатора (имени) для языка программирования.</a:t>
            </a:r>
            <a:endParaRPr lang="ru-RU" altLang="ru-RU" sz="4400" smtClean="0">
              <a:latin typeface="Times New Roman" pitchFamily="18" charset="0"/>
            </a:endParaRPr>
          </a:p>
        </p:txBody>
      </p:sp>
      <p:sp>
        <p:nvSpPr>
          <p:cNvPr id="30724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25644A-3B15-4EBF-B509-4994856CB9B2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52513"/>
          </a:xfrm>
        </p:spPr>
        <p:txBody>
          <a:bodyPr/>
          <a:lstStyle/>
          <a:p>
            <a:pPr eaLnBrk="1" hangingPunct="1"/>
            <a:r>
              <a:rPr lang="ru-RU" altLang="ru-RU" sz="2800" b="1" smtClean="0">
                <a:solidFill>
                  <a:schemeClr val="accent2"/>
                </a:solidFill>
              </a:rPr>
              <a:t>Преобразование регулярного выражения к праволинейной грамматике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964612" cy="5661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</a:rPr>
              <a:t>1. Пусть задано р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егулярное </a:t>
            </a:r>
            <a:r>
              <a:rPr lang="ru-RU" altLang="ru-RU" sz="2200" smtClean="0">
                <a:latin typeface="Times New Roman" pitchFamily="18" charset="0"/>
              </a:rPr>
              <a:t>выражение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. Запишем прообраз порождающего правила в виде: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где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начальный  нетерминал.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Пусть прообраз порождающего правила имеет вид: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	где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некоторый  нетерминал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– терминал. Заменим это правило на следующие: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, где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новый  нетерминал.</a:t>
            </a:r>
            <a:endParaRPr lang="en-US" altLang="ru-RU" sz="22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Пусть прообраз порождающего правила имеет вид: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где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некоторый  нетерминал. Заменим это правило на следующие: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baseline="-250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ru-RU" sz="22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Пусть прообраз порождающего правила имеет вид: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где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– некоторый  нетерминал. Заменим это правило на два прообраза: 1)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β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altLang="ru-RU" sz="2200" smtClean="0">
                <a:latin typeface="Times New Roman" pitchFamily="18" charset="0"/>
                <a:cs typeface="Times New Roman" pitchFamily="18" charset="0"/>
              </a:rPr>
              <a:t> 2)</a:t>
            </a:r>
            <a:r>
              <a:rPr lang="en-US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ru-RU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ru-RU" sz="2200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altLang="ru-RU" sz="2200" i="1" smtClean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ru-RU" sz="220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altLang="ru-RU" sz="22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1200" smtClean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Преобразования проводятся до тех пор, пока все полученные порождающие правила не станут праволинейными.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sz="2400" smtClean="0"/>
              <a:t>Регулярные множества есть множество автоматных языков!</a:t>
            </a:r>
            <a:endParaRPr lang="el-GR" altLang="ru-RU" sz="2400" smtClean="0"/>
          </a:p>
        </p:txBody>
      </p:sp>
      <p:sp>
        <p:nvSpPr>
          <p:cNvPr id="31748" name="Номер слайда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D056EB-1BDB-442F-B011-61E6773A91C3}" type="slidenum">
              <a:rPr lang="ru-RU" altLang="ru-RU" sz="1400" smtClean="0"/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ru-RU" altLang="ru-RU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052513"/>
          </a:xfrm>
        </p:spPr>
        <p:txBody>
          <a:bodyPr/>
          <a:lstStyle/>
          <a:p>
            <a:pPr eaLnBrk="1" hangingPunct="1"/>
            <a:r>
              <a:rPr lang="ru-RU" altLang="ru-RU" sz="3200" b="1" smtClean="0">
                <a:solidFill>
                  <a:schemeClr val="accent2"/>
                </a:solidFill>
              </a:rPr>
              <a:t>Примеры преобразования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981075"/>
            <a:ext cx="8964612" cy="58769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Регулярное выражение:</a:t>
            </a:r>
            <a:endParaRPr lang="en-US" altLang="ru-RU" sz="2400" b="1" smtClean="0">
              <a:solidFill>
                <a:schemeClr val="accent2"/>
              </a:solidFill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{</a:t>
            </a:r>
            <a:r>
              <a:rPr lang="el-GR" altLang="ru-RU" sz="2400" smtClean="0">
                <a:latin typeface="Times New Roman" pitchFamily="18" charset="0"/>
              </a:rPr>
              <a:t>λ</a:t>
            </a:r>
            <a:r>
              <a:rPr lang="en-US" altLang="ru-RU" sz="2400" smtClean="0">
                <a:latin typeface="Times New Roman" pitchFamily="18" charset="0"/>
              </a:rPr>
              <a:t>|+|</a:t>
            </a:r>
            <a:r>
              <a:rPr lang="ru-RU" altLang="ru-RU" sz="2400" smtClean="0">
                <a:latin typeface="Times New Roman" pitchFamily="18" charset="0"/>
              </a:rPr>
              <a:t>–</a:t>
            </a:r>
            <a:r>
              <a:rPr lang="en-US" altLang="ru-RU" sz="2400" smtClean="0">
                <a:latin typeface="Times New Roman" pitchFamily="18" charset="0"/>
              </a:rPr>
              <a:t>}{0|1|</a:t>
            </a:r>
            <a:r>
              <a:rPr lang="ru-RU" altLang="ru-RU" sz="2400" smtClean="0">
                <a:latin typeface="Times New Roman" pitchFamily="18" charset="0"/>
              </a:rPr>
              <a:t> . . .</a:t>
            </a:r>
            <a:r>
              <a:rPr lang="en-US" altLang="ru-RU" sz="2400" smtClean="0">
                <a:latin typeface="Times New Roman" pitchFamily="18" charset="0"/>
              </a:rPr>
              <a:t> |9}{0|1|</a:t>
            </a:r>
            <a:r>
              <a:rPr lang="ru-RU" altLang="ru-RU" sz="2400" smtClean="0">
                <a:latin typeface="Times New Roman" pitchFamily="18" charset="0"/>
              </a:rPr>
              <a:t> . . .</a:t>
            </a:r>
            <a:r>
              <a:rPr lang="en-US" altLang="ru-RU" sz="2400" smtClean="0">
                <a:latin typeface="Times New Roman" pitchFamily="18" charset="0"/>
              </a:rPr>
              <a:t> |9}</a:t>
            </a:r>
            <a:r>
              <a:rPr lang="ru-RU" altLang="ru-RU" sz="2400" smtClean="0">
                <a:latin typeface="Times New Roman" pitchFamily="18" charset="0"/>
              </a:rPr>
              <a:t>*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преобразуется в праволинейную грамматику с правилами:</a:t>
            </a:r>
            <a:endParaRPr lang="en-US" altLang="ru-RU" sz="2400" i="1" smtClean="0"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→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, 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→ –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→ +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ц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C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C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ц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C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 C</a:t>
            </a:r>
            <a:r>
              <a:rPr lang="en-US" altLang="ru-RU" sz="2400" smtClean="0">
                <a:latin typeface="Times New Roman" pitchFamily="18" charset="0"/>
              </a:rPr>
              <a:t> → </a:t>
            </a:r>
            <a:r>
              <a:rPr lang="el-GR" altLang="ru-RU" sz="2400" smtClean="0">
                <a:latin typeface="Times New Roman" pitchFamily="18" charset="0"/>
              </a:rPr>
              <a:t>λ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Регулярное выражение:</a:t>
            </a:r>
            <a:endParaRPr lang="en-US" altLang="ru-RU" sz="2400" b="1" smtClean="0">
              <a:solidFill>
                <a:schemeClr val="accent2"/>
              </a:solidFill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{0|1|</a:t>
            </a:r>
            <a:r>
              <a:rPr lang="ru-RU" altLang="ru-RU" sz="2400" smtClean="0">
                <a:latin typeface="Times New Roman" pitchFamily="18" charset="0"/>
              </a:rPr>
              <a:t> . . .</a:t>
            </a:r>
            <a:r>
              <a:rPr lang="en-US" altLang="ru-RU" sz="2400" smtClean="0">
                <a:latin typeface="Times New Roman" pitchFamily="18" charset="0"/>
              </a:rPr>
              <a:t> |9}{0|1|</a:t>
            </a:r>
            <a:r>
              <a:rPr lang="ru-RU" altLang="ru-RU" sz="2400" smtClean="0">
                <a:latin typeface="Times New Roman" pitchFamily="18" charset="0"/>
              </a:rPr>
              <a:t> . . .</a:t>
            </a:r>
            <a:r>
              <a:rPr lang="en-US" altLang="ru-RU" sz="2400" smtClean="0">
                <a:latin typeface="Times New Roman" pitchFamily="18" charset="0"/>
              </a:rPr>
              <a:t> |9}*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  <a:r>
              <a:rPr lang="en-US" altLang="ru-RU" sz="2400" smtClean="0">
                <a:latin typeface="Times New Roman" pitchFamily="18" charset="0"/>
              </a:rPr>
              <a:t>{0|1|</a:t>
            </a:r>
            <a:r>
              <a:rPr lang="ru-RU" altLang="ru-RU" sz="2400" smtClean="0">
                <a:latin typeface="Times New Roman" pitchFamily="18" charset="0"/>
              </a:rPr>
              <a:t> . . .</a:t>
            </a:r>
            <a:r>
              <a:rPr lang="en-US" altLang="ru-RU" sz="2400" smtClean="0">
                <a:latin typeface="Times New Roman" pitchFamily="18" charset="0"/>
              </a:rPr>
              <a:t> |9}{0|1|</a:t>
            </a:r>
            <a:r>
              <a:rPr lang="ru-RU" altLang="ru-RU" sz="2400" smtClean="0">
                <a:latin typeface="Times New Roman" pitchFamily="18" charset="0"/>
              </a:rPr>
              <a:t> . . .</a:t>
            </a:r>
            <a:r>
              <a:rPr lang="en-US" altLang="ru-RU" sz="2400" smtClean="0">
                <a:latin typeface="Times New Roman" pitchFamily="18" charset="0"/>
              </a:rPr>
              <a:t> |9}*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преобразуется в праволинейную грамматику с правилами:</a:t>
            </a:r>
            <a:endParaRPr lang="en-US" altLang="ru-RU" sz="2400" i="1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ц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, 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ц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T</a:t>
            </a:r>
            <a:r>
              <a:rPr lang="en-US" altLang="ru-RU" sz="2400" smtClean="0">
                <a:latin typeface="Times New Roman" pitchFamily="18" charset="0"/>
              </a:rPr>
              <a:t> → </a:t>
            </a:r>
            <a:r>
              <a:rPr lang="ru-RU" altLang="ru-RU" sz="2400" smtClean="0">
                <a:latin typeface="Times New Roman" pitchFamily="18" charset="0"/>
              </a:rPr>
              <a:t>«</a:t>
            </a:r>
            <a:r>
              <a:rPr lang="en-US" altLang="ru-RU" sz="2400" smtClean="0">
                <a:latin typeface="Times New Roman" pitchFamily="18" charset="0"/>
              </a:rPr>
              <a:t>.</a:t>
            </a:r>
            <a:r>
              <a:rPr lang="ru-RU" altLang="ru-RU" sz="2400" smtClean="0">
                <a:latin typeface="Times New Roman" pitchFamily="18" charset="0"/>
              </a:rPr>
              <a:t>»</a:t>
            </a:r>
            <a:r>
              <a:rPr lang="en-US" altLang="ru-RU" sz="2400" i="1" smtClean="0">
                <a:latin typeface="Times New Roman" pitchFamily="18" charset="0"/>
              </a:rPr>
              <a:t>C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C </a:t>
            </a:r>
            <a:r>
              <a:rPr lang="en-US" altLang="ru-RU" sz="2400" smtClean="0">
                <a:latin typeface="Times New Roman" pitchFamily="18" charset="0"/>
              </a:rPr>
              <a:t>→ &lt;</a:t>
            </a:r>
            <a:r>
              <a:rPr lang="ru-RU" altLang="ru-RU" sz="2400" smtClean="0">
                <a:latin typeface="Times New Roman" pitchFamily="18" charset="0"/>
              </a:rPr>
              <a:t>ц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</a:rPr>
              <a:t> → </a:t>
            </a:r>
            <a:r>
              <a:rPr lang="el-GR" altLang="ru-RU" sz="2400" smtClean="0">
                <a:latin typeface="Times New Roman" pitchFamily="18" charset="0"/>
              </a:rPr>
              <a:t>λ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 D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ц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D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b="1" smtClean="0">
                <a:solidFill>
                  <a:schemeClr val="accent2"/>
                </a:solidFill>
                <a:latin typeface="Times New Roman" pitchFamily="18" charset="0"/>
              </a:rPr>
              <a:t>Регулярное выражение:</a:t>
            </a:r>
            <a:endParaRPr lang="en-US" altLang="ru-RU" sz="2400" b="1" smtClean="0">
              <a:solidFill>
                <a:schemeClr val="accent2"/>
              </a:solidFill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{A|B| . . . |Z}{0|1|</a:t>
            </a:r>
            <a:r>
              <a:rPr lang="ru-RU" altLang="ru-RU" sz="2400" smtClean="0">
                <a:latin typeface="Times New Roman" pitchFamily="18" charset="0"/>
              </a:rPr>
              <a:t> . . .</a:t>
            </a:r>
            <a:r>
              <a:rPr lang="en-US" altLang="ru-RU" sz="2400" smtClean="0">
                <a:latin typeface="Times New Roman" pitchFamily="18" charset="0"/>
              </a:rPr>
              <a:t> |9|A|B| . . . |Z}*</a:t>
            </a:r>
            <a:endParaRPr lang="ru-RU" altLang="ru-RU" sz="240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ru-RU" altLang="ru-RU" sz="2400" smtClean="0">
                <a:latin typeface="Times New Roman" pitchFamily="18" charset="0"/>
              </a:rPr>
              <a:t>преобразуется в праволинейную грамматику с правилами:</a:t>
            </a:r>
            <a:endParaRPr lang="en-US" altLang="ru-RU" sz="2400" i="1" smtClean="0">
              <a:latin typeface="Times New Roman" pitchFamily="18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ru-RU" sz="2400" smtClean="0">
                <a:latin typeface="Times New Roman" pitchFamily="18" charset="0"/>
              </a:rPr>
              <a:t>{</a:t>
            </a:r>
            <a:r>
              <a:rPr lang="en-US" altLang="ru-RU" sz="2400" i="1" smtClean="0">
                <a:latin typeface="Times New Roman" pitchFamily="18" charset="0"/>
              </a:rPr>
              <a:t>S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б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,</a:t>
            </a:r>
            <a:r>
              <a:rPr lang="en-US" altLang="ru-RU" sz="2400" i="1" smtClean="0">
                <a:latin typeface="Times New Roman" pitchFamily="18" charset="0"/>
              </a:rPr>
              <a:t> I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б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 → &lt;</a:t>
            </a:r>
            <a:r>
              <a:rPr lang="ru-RU" altLang="ru-RU" sz="2400" smtClean="0">
                <a:latin typeface="Times New Roman" pitchFamily="18" charset="0"/>
              </a:rPr>
              <a:t>ц</a:t>
            </a:r>
            <a:r>
              <a:rPr lang="en-US" altLang="ru-RU" sz="2400" smtClean="0">
                <a:latin typeface="Times New Roman" pitchFamily="18" charset="0"/>
              </a:rPr>
              <a:t>&gt;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, </a:t>
            </a:r>
            <a:r>
              <a:rPr lang="en-US" altLang="ru-RU" sz="2400" i="1" smtClean="0">
                <a:latin typeface="Times New Roman" pitchFamily="18" charset="0"/>
              </a:rPr>
              <a:t>I</a:t>
            </a:r>
            <a:r>
              <a:rPr lang="en-US" altLang="ru-RU" sz="2400" smtClean="0">
                <a:latin typeface="Times New Roman" pitchFamily="18" charset="0"/>
              </a:rPr>
              <a:t> → </a:t>
            </a:r>
            <a:r>
              <a:rPr lang="el-GR" altLang="ru-RU" sz="2400" smtClean="0">
                <a:latin typeface="Times New Roman" pitchFamily="18" charset="0"/>
              </a:rPr>
              <a:t>λ</a:t>
            </a:r>
            <a:r>
              <a:rPr lang="en-US" altLang="ru-RU" sz="2400" smtClean="0">
                <a:latin typeface="Times New Roman" pitchFamily="18" charset="0"/>
              </a:rPr>
              <a:t>}</a:t>
            </a:r>
            <a:r>
              <a:rPr lang="ru-RU" altLang="ru-RU" sz="2400" smtClean="0">
                <a:latin typeface="Times New Roman" pitchFamily="18" charset="0"/>
              </a:rPr>
              <a:t>.</a:t>
            </a:r>
          </a:p>
        </p:txBody>
      </p:sp>
      <p:sp>
        <p:nvSpPr>
          <p:cNvPr id="32772" name="Номер слайда 1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43553C4-5A07-4F62-B6AD-320C83B27571}" type="slidenum">
              <a:rPr lang="ru-RU" altLang="ru-RU" sz="1400"/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ru-RU" altLang="ru-RU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</TotalTime>
  <Words>3472</Words>
  <Application>Microsoft Office PowerPoint</Application>
  <PresentationFormat>Экран (4:3)</PresentationFormat>
  <Paragraphs>509</Paragraphs>
  <Slides>31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3" baseType="lpstr">
      <vt:lpstr>Оформление по умолчанию</vt:lpstr>
      <vt:lpstr>Формула</vt:lpstr>
      <vt:lpstr>ТОМСКИЙ ГОСУДАРСТВЕННЫЙ УНИВЕРСИТЕТ </vt:lpstr>
      <vt:lpstr>АВТОМАТНЫЕ ГРАММАТИКИ И ЯЗЫКИ</vt:lpstr>
      <vt:lpstr>РАСПОЗНАВАТЕЛЬ АВТОМАТНОЙ ГРАММАТИКИ – КОНЕЧНЫЙ АВТОМАТ</vt:lpstr>
      <vt:lpstr>Презентация PowerPoint</vt:lpstr>
      <vt:lpstr>РАСПОЗНАВАТЕЛЬ АВТОМАТНОЙ ГРАММАТИКИ – КОНЕЧНЫЙ АВТОМАТ</vt:lpstr>
      <vt:lpstr>КОНЕЧНЫЙ АВТОМАТ: РЕАЛИЗАЦИЯ</vt:lpstr>
      <vt:lpstr>ПРИМЕР КОНЕЧНОГО АВТОМАТА</vt:lpstr>
      <vt:lpstr>РЕАЛИЗАЦИЯ ДЕТЕРМИНИРОВАННОГО КОНЕЧНОГО АВТОМАТА</vt:lpstr>
      <vt:lpstr>НЕДЕТЕРМИНИРОВАННЫЙ КОНЕЧНЫЙ АВТОМАТ</vt:lpstr>
      <vt:lpstr>РЕАЛИЗАЦИЯ НЕДЕТЕРМИНИРОВАННОГО КОНЕЧНОГО АВТОМАТА</vt:lpstr>
      <vt:lpstr>ПРЕОБРАЗОВАНИЕ НЕДЕТЕРМИНИРОВАННОЙ АВТОМАТНОЙ ГРАММАТИКИ К ДЕТЕРМИНИРОВАННОЙ</vt:lpstr>
      <vt:lpstr>Пример преобразования</vt:lpstr>
      <vt:lpstr>Презентация PowerPoint</vt:lpstr>
      <vt:lpstr>Презентация PowerPoint</vt:lpstr>
      <vt:lpstr>Автоматный язык с несколькими видами цепочек и с символом «┴»</vt:lpstr>
      <vt:lpstr>Конечный автомат с семантическими программами</vt:lpstr>
      <vt:lpstr>Семантические программы</vt:lpstr>
      <vt:lpstr>Лексический анализатор для языка программирования</vt:lpstr>
      <vt:lpstr>Презентация PowerPoint</vt:lpstr>
      <vt:lpstr>Презентация PowerPoint</vt:lpstr>
      <vt:lpstr>Z*  -  переход в заключительное состояние с действием: i:=i-1</vt:lpstr>
      <vt:lpstr>ПРАВОЛИНЕЙНЫЕ ГРАММАТИКИ</vt:lpstr>
      <vt:lpstr>Преобразование праволинейной грамматики к автоматной грамматике</vt:lpstr>
      <vt:lpstr>Презентация PowerPoint</vt:lpstr>
      <vt:lpstr>Презентация PowerPoint</vt:lpstr>
      <vt:lpstr>Пример преобразования праволинейной грамматики</vt:lpstr>
      <vt:lpstr>Регулярные множества</vt:lpstr>
      <vt:lpstr>Регулярные выражения</vt:lpstr>
      <vt:lpstr>Примеры</vt:lpstr>
      <vt:lpstr>Преобразование регулярного выражения к праволинейной грамматике</vt:lpstr>
      <vt:lpstr>Примеры преобразования</vt:lpstr>
    </vt:vector>
  </TitlesOfParts>
  <Company>ТГУ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АВТОМАТОВ И ФОРМАЛЬНЫХ ЯЗЫКОВ</dc:title>
  <dc:creator>Вход</dc:creator>
  <cp:lastModifiedBy>User</cp:lastModifiedBy>
  <cp:revision>62</cp:revision>
  <dcterms:created xsi:type="dcterms:W3CDTF">2009-09-02T15:38:32Z</dcterms:created>
  <dcterms:modified xsi:type="dcterms:W3CDTF">2024-02-03T16:47:15Z</dcterms:modified>
</cp:coreProperties>
</file>