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354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47" r:id="rId10"/>
    <p:sldId id="351" r:id="rId11"/>
    <p:sldId id="348" r:id="rId12"/>
    <p:sldId id="349" r:id="rId13"/>
    <p:sldId id="352" r:id="rId14"/>
    <p:sldId id="353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36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43" r:id="rId39"/>
    <p:sldId id="342" r:id="rId40"/>
    <p:sldId id="327" r:id="rId41"/>
    <p:sldId id="344" r:id="rId42"/>
    <p:sldId id="328" r:id="rId43"/>
    <p:sldId id="329" r:id="rId44"/>
    <p:sldId id="330" r:id="rId45"/>
    <p:sldId id="331" r:id="rId46"/>
    <p:sldId id="332" r:id="rId47"/>
    <p:sldId id="333" r:id="rId48"/>
    <p:sldId id="345" r:id="rId49"/>
    <p:sldId id="334" r:id="rId50"/>
    <p:sldId id="335" r:id="rId51"/>
    <p:sldId id="338" r:id="rId52"/>
    <p:sldId id="340" r:id="rId53"/>
    <p:sldId id="339" r:id="rId54"/>
    <p:sldId id="341" r:id="rId55"/>
    <p:sldId id="346" r:id="rId5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540" y="-18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CEA4010B-8F72-4892-B3B5-4F7F1B2BA31C}" type="datetimeFigureOut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5AAAA667-97E6-4F53-8AF6-4272B5223A3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13063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A0873EE-4145-4CC9-839D-FBEFCA99BB78}" type="datetimeFigureOut">
              <a:rPr lang="ru-RU"/>
              <a:pPr>
                <a:defRPr/>
              </a:pPr>
              <a:t>03.02.2024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7BD1B51-AC36-421D-847E-C1848784985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1236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59396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36363D6-A0D5-481B-AB94-58A46BC1BC61}" type="slidenum">
              <a:rPr lang="ru-RU" altLang="ru-RU">
                <a:latin typeface="Arial" charset="0"/>
              </a:rPr>
              <a:pPr algn="r" eaLnBrk="1" hangingPunct="1">
                <a:spcBef>
                  <a:spcPct val="0"/>
                </a:spcBef>
              </a:pPr>
              <a:t>1</a:t>
            </a:fld>
            <a:endParaRPr lang="ru-RU" altLang="ru-RU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Номер слайда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758DD4B-3F1B-4D37-BF97-D121757102F7}" type="slidenum">
              <a:rPr lang="ru-RU" altLang="ru-RU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37</a:t>
            </a:fld>
            <a:endParaRPr lang="ru-RU" altLang="ru-RU" smtClean="0">
              <a:latin typeface="Arial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Номер слайда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E2DCCDE-0E19-42F6-BB8A-C51A3490FF26}" type="slidenum">
              <a:rPr lang="ru-RU" altLang="ru-RU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38</a:t>
            </a:fld>
            <a:endParaRPr lang="ru-RU" altLang="ru-RU" smtClean="0">
              <a:latin typeface="Arial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Номер слайда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1BC3225-8E31-4923-8FBB-AD40120B4626}" type="slidenum">
              <a:rPr lang="ru-RU" altLang="ru-RU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39</a:t>
            </a:fld>
            <a:endParaRPr lang="ru-RU" altLang="ru-RU" smtClean="0">
              <a:latin typeface="Arial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Номер слайда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49F6C01-75B7-45AB-8D65-339D9A644DC6}" type="slidenum">
              <a:rPr lang="ru-RU" altLang="ru-RU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47</a:t>
            </a:fld>
            <a:endParaRPr lang="ru-RU" altLang="ru-RU" smtClean="0">
              <a:latin typeface="Arial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Номер слайда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17936BE-67D0-4397-8E99-03A8CB2E8505}" type="slidenum">
              <a:rPr lang="ru-RU" altLang="ru-RU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48</a:t>
            </a:fld>
            <a:endParaRPr lang="ru-RU" altLang="ru-RU" smtClean="0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Номер слайда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07A2C85-55D7-4907-8CA5-C82EE5FE8C74}" type="slidenum">
              <a:rPr lang="ru-RU" altLang="ru-RU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55</a:t>
            </a:fld>
            <a:endParaRPr lang="ru-RU" altLang="ru-RU" smtClean="0">
              <a:latin typeface="Arial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345A3-CCD5-4BCF-B556-291C79BAC76E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E7CDC-0FEF-4EE8-B4D5-82048AC53E6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65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28B2A-973C-4FC4-BCBC-6883ED3AB023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549A7-E839-4A27-B9D0-D1A91E53570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456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CF36F-9EA9-4805-B2D7-E4DA1E42C98D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4B3F1-DC69-4251-8C4B-3EC5AA4D807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32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4DD91-99B1-45E0-8C53-16818B9E7E70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70AE8-2DD5-4BBD-9E43-7023210FA4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037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4CECC1-A7E1-4018-AC7D-54045D2D9815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88A14-D6A7-4A22-AFBD-DCA3DFCCC3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27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6B5ED-97FB-469D-A432-933C7D433623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4F61A-5ABD-4A4D-9DF4-D27A46A51BF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21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2370C-CF43-4CE7-A802-6ACB1FF58B9A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5120F-C961-4A11-85A4-D10979C8288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684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05E18-AD6E-4549-B598-9985136F2B19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2F896-6619-430E-A8C5-DAEE101826B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79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BC1CF-5957-48C3-AF95-E3F1EAF2B4D3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58240-9FD3-4136-AA80-6C88A44272B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68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08640-2B61-4920-844D-970943592D7C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18945-B714-47E9-8ADF-9EFAA85B12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33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638C0-EFC4-4F93-958B-ED84FAE52920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88C19-D161-4A5A-ACFB-659A9114E5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684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E0DCA6-86EF-4910-BC11-45FF69C12627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84F27-7D77-4F29-BA02-5EDE659EA0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47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8A89358-D69C-4CB9-A35C-D6BDB51CAAA4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B524FBA-77E5-494D-BAC5-79076FB844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9144000" cy="1512887"/>
          </a:xfrm>
        </p:spPr>
        <p:txBody>
          <a:bodyPr/>
          <a:lstStyle/>
          <a:p>
            <a:r>
              <a:rPr lang="ru-RU" altLang="ru-RU" sz="2800" b="1" smtClean="0"/>
              <a:t>ТОМСКИЙ ГОСУДАРСТВЕННЫЙ УНИВЕРСИТЕТ</a:t>
            </a:r>
            <a:br>
              <a:rPr lang="ru-RU" altLang="ru-RU" sz="2800" b="1" smtClean="0"/>
            </a:br>
            <a:endParaRPr lang="ru-RU" altLang="ru-RU" sz="2800" smtClean="0"/>
          </a:p>
        </p:txBody>
      </p:sp>
      <p:sp>
        <p:nvSpPr>
          <p:cNvPr id="2051" name="Объект 2"/>
          <p:cNvSpPr>
            <a:spLocks noGrp="1"/>
          </p:cNvSpPr>
          <p:nvPr>
            <p:ph idx="4294967295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ru-RU" altLang="ru-RU" dirty="0" smtClean="0"/>
              <a:t>Костюк Ю. Л.</a:t>
            </a:r>
          </a:p>
          <a:p>
            <a:pPr marL="0" indent="0" algn="ctr">
              <a:buFontTx/>
              <a:buNone/>
            </a:pPr>
            <a:endParaRPr lang="ru-RU" altLang="ru-RU" sz="3600" b="1" dirty="0" smtClean="0"/>
          </a:p>
          <a:p>
            <a:pPr marL="0" indent="0" algn="ctr">
              <a:buFontTx/>
              <a:buNone/>
            </a:pPr>
            <a:r>
              <a:rPr lang="ru-RU" altLang="ru-RU" sz="3600" b="1"/>
              <a:t>МЕТОДЫ КОМПИЛЯЦИИ</a:t>
            </a:r>
          </a:p>
          <a:p>
            <a:pPr marL="0" indent="0" algn="ctr" eaLnBrk="1" hangingPunct="1">
              <a:buFontTx/>
              <a:buNone/>
            </a:pPr>
            <a:endParaRPr lang="ru-RU" altLang="ru-RU" sz="3600" b="1" dirty="0" smtClean="0"/>
          </a:p>
          <a:p>
            <a:pPr marL="0" indent="0" algn="ctr" eaLnBrk="1" hangingPunct="1">
              <a:buFontTx/>
              <a:buNone/>
            </a:pPr>
            <a:r>
              <a:rPr lang="ru-RU" altLang="ru-RU" sz="3600" b="1" dirty="0" smtClean="0"/>
              <a:t>Лекция </a:t>
            </a:r>
            <a:r>
              <a:rPr lang="en-US" altLang="ru-RU" sz="3600" b="1" dirty="0" smtClean="0"/>
              <a:t>8</a:t>
            </a:r>
            <a:r>
              <a:rPr lang="ru-RU" altLang="ru-RU" sz="3600" dirty="0" smtClean="0"/>
              <a:t> </a:t>
            </a:r>
          </a:p>
          <a:p>
            <a:pPr marL="0" indent="0" algn="ctr">
              <a:buFontTx/>
              <a:buNone/>
            </a:pPr>
            <a:endParaRPr lang="ru-RU" altLang="ru-RU" sz="3600" dirty="0" smtClean="0"/>
          </a:p>
        </p:txBody>
      </p:sp>
      <p:sp>
        <p:nvSpPr>
          <p:cNvPr id="205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09A0736-85B7-45DE-963D-8635D921F529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16830B-72E8-441D-8109-EAD04F53D3B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ru-RU" altLang="ru-RU" sz="1400" smtClean="0"/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pPr eaLnBrk="1" hangingPunct="1"/>
            <a:r>
              <a:rPr lang="ru-RU" altLang="en-US" sz="3600" smtClean="0">
                <a:solidFill>
                  <a:schemeClr val="accent2"/>
                </a:solidFill>
              </a:rPr>
              <a:t>Рекурсивный спуск</a:t>
            </a:r>
          </a:p>
        </p:txBody>
      </p:sp>
      <p:sp>
        <p:nvSpPr>
          <p:cNvPr id="307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748712" cy="55451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en-US" sz="2800" b="1" smtClean="0"/>
              <a:t>Вариант анализа сверху-вниз</a:t>
            </a:r>
          </a:p>
          <a:p>
            <a:pPr eaLnBrk="1" hangingPunct="1">
              <a:buFontTx/>
              <a:buNone/>
            </a:pPr>
            <a:r>
              <a:rPr lang="ru-RU" altLang="en-US" sz="2800" smtClean="0"/>
              <a:t>Преобразование грамматики для рекурсивного спуска. Используются метасимволы, как для регулярных выражений:</a:t>
            </a:r>
          </a:p>
          <a:p>
            <a:pPr eaLnBrk="1" hangingPunct="1">
              <a:buFontTx/>
              <a:buNone/>
            </a:pPr>
            <a:r>
              <a:rPr lang="ru-RU" altLang="en-US" sz="2800" smtClean="0"/>
              <a:t>- вертикальная черта «или»</a:t>
            </a:r>
            <a:r>
              <a:rPr lang="en-US" altLang="en-US" sz="2800" smtClean="0"/>
              <a:t> </a:t>
            </a:r>
            <a:r>
              <a:rPr lang="en-US" altLang="en-US" sz="2800" b="1" smtClean="0"/>
              <a:t>|</a:t>
            </a:r>
            <a:r>
              <a:rPr lang="ru-RU" altLang="en-US" sz="2800" smtClean="0"/>
              <a:t>,</a:t>
            </a:r>
          </a:p>
          <a:p>
            <a:pPr eaLnBrk="1" hangingPunct="1">
              <a:buFontTx/>
              <a:buNone/>
            </a:pPr>
            <a:r>
              <a:rPr lang="ru-RU" altLang="en-US" sz="2800" smtClean="0"/>
              <a:t>- скобки </a:t>
            </a:r>
            <a:r>
              <a:rPr lang="en-US" altLang="en-US" sz="2800" b="1" smtClean="0"/>
              <a:t>{ }</a:t>
            </a:r>
            <a:r>
              <a:rPr lang="en-US" altLang="en-US" sz="2800" smtClean="0"/>
              <a:t>,</a:t>
            </a:r>
          </a:p>
          <a:p>
            <a:pPr eaLnBrk="1" hangingPunct="1">
              <a:buFontTx/>
              <a:buNone/>
            </a:pPr>
            <a:r>
              <a:rPr lang="ru-RU" altLang="en-US" sz="2800" smtClean="0"/>
              <a:t>- скобки </a:t>
            </a:r>
            <a:r>
              <a:rPr lang="en-US" altLang="en-US" sz="2800" smtClean="0"/>
              <a:t>- </a:t>
            </a:r>
            <a:r>
              <a:rPr lang="ru-RU" altLang="en-US" sz="2800" smtClean="0"/>
              <a:t>транзитивное замыкание </a:t>
            </a:r>
            <a:r>
              <a:rPr lang="en-US" altLang="en-US" sz="2800" b="1" smtClean="0"/>
              <a:t>{ }*</a:t>
            </a:r>
            <a:r>
              <a:rPr lang="ru-RU" altLang="en-US" sz="2800" smtClean="0"/>
              <a:t>.</a:t>
            </a:r>
          </a:p>
          <a:p>
            <a:pPr eaLnBrk="1" hangingPunct="1">
              <a:buFontTx/>
              <a:buNone/>
            </a:pPr>
            <a:endParaRPr lang="en-US" altLang="en-US" sz="2800" smtClean="0"/>
          </a:p>
          <a:p>
            <a:pPr eaLnBrk="1" hangingPunct="1">
              <a:buFontTx/>
              <a:buNone/>
            </a:pPr>
            <a:r>
              <a:rPr lang="ru-RU" altLang="en-US" sz="2800" b="1" smtClean="0"/>
              <a:t>При этом надо устранить левую рекурсию!</a:t>
            </a:r>
          </a:p>
          <a:p>
            <a:pPr eaLnBrk="1" hangingPunct="1">
              <a:buFontTx/>
              <a:buNone/>
            </a:pPr>
            <a:endParaRPr lang="ru-RU" altLang="en-US" sz="28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117D8A5-CCDC-4B1E-925C-81D252A581A6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400" smtClean="0"/>
          </a:p>
        </p:txBody>
      </p:sp>
      <p:sp>
        <p:nvSpPr>
          <p:cNvPr id="4099" name="Заголовок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576262"/>
          </a:xfrm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60350"/>
            <a:ext cx="8229600" cy="6264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b="1" dirty="0" smtClean="0">
                <a:latin typeface="Times New Roman" pitchFamily="18" charset="0"/>
              </a:rPr>
              <a:t>Пример. </a:t>
            </a:r>
            <a:r>
              <a:rPr lang="ru-RU" sz="2800" dirty="0" smtClean="0">
                <a:latin typeface="Times New Roman" pitchFamily="18" charset="0"/>
              </a:rPr>
              <a:t>Грамматика простых арифметических выражений :</a:t>
            </a:r>
            <a:endParaRPr lang="en-US" sz="2800" i="1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 smtClean="0">
                <a:latin typeface="Times New Roman" pitchFamily="18" charset="0"/>
              </a:rPr>
              <a:t>				</a:t>
            </a:r>
            <a:r>
              <a:rPr lang="en-US" sz="2800" i="1" dirty="0" smtClean="0">
                <a:latin typeface="Times New Roman" pitchFamily="18" charset="0"/>
              </a:rPr>
              <a:t>S</a:t>
            </a:r>
            <a:r>
              <a:rPr lang="ru-RU" sz="2800" dirty="0" smtClean="0">
                <a:latin typeface="Times New Roman" pitchFamily="18" charset="0"/>
              </a:rPr>
              <a:t> → </a:t>
            </a:r>
            <a:r>
              <a:rPr lang="en-US" sz="2800" i="1" dirty="0" smtClean="0">
                <a:latin typeface="Times New Roman" pitchFamily="18" charset="0"/>
              </a:rPr>
              <a:t>S </a:t>
            </a:r>
            <a:r>
              <a:rPr lang="ru-RU" sz="2800" dirty="0" smtClean="0">
                <a:latin typeface="Times New Roman" pitchFamily="18" charset="0"/>
              </a:rPr>
              <a:t>+</a:t>
            </a:r>
            <a:r>
              <a:rPr lang="en-US" sz="2800" dirty="0" smtClean="0">
                <a:latin typeface="Times New Roman" pitchFamily="18" charset="0"/>
              </a:rPr>
              <a:t> </a:t>
            </a:r>
            <a:r>
              <a:rPr lang="en-US" sz="2800" i="1" dirty="0" smtClean="0">
                <a:latin typeface="Times New Roman" pitchFamily="18" charset="0"/>
              </a:rPr>
              <a:t>T</a:t>
            </a:r>
            <a:r>
              <a:rPr lang="en-US" sz="2800" dirty="0" smtClean="0">
                <a:latin typeface="Times New Roman" pitchFamily="18" charset="0"/>
              </a:rPr>
              <a:t> </a:t>
            </a:r>
            <a:r>
              <a:rPr lang="ru-RU" sz="2800" dirty="0" smtClean="0">
                <a:latin typeface="Times New Roman" pitchFamily="18" charset="0"/>
              </a:rPr>
              <a:t>|</a:t>
            </a:r>
            <a:r>
              <a:rPr lang="en-US" sz="2800" dirty="0" smtClean="0">
                <a:latin typeface="Times New Roman" pitchFamily="18" charset="0"/>
              </a:rPr>
              <a:t> </a:t>
            </a:r>
            <a:r>
              <a:rPr lang="en-US" sz="2800" i="1" dirty="0" smtClean="0">
                <a:latin typeface="Times New Roman" pitchFamily="18" charset="0"/>
              </a:rPr>
              <a:t>T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 smtClean="0">
                <a:latin typeface="Times New Roman" pitchFamily="18" charset="0"/>
              </a:rPr>
              <a:t>				</a:t>
            </a:r>
            <a:r>
              <a:rPr lang="en-US" sz="2800" i="1" dirty="0" smtClean="0">
                <a:latin typeface="Times New Roman" pitchFamily="18" charset="0"/>
              </a:rPr>
              <a:t>T</a:t>
            </a:r>
            <a:r>
              <a:rPr lang="en-US" sz="2800" dirty="0" smtClean="0">
                <a:latin typeface="Times New Roman" pitchFamily="18" charset="0"/>
              </a:rPr>
              <a:t> → </a:t>
            </a:r>
            <a:r>
              <a:rPr lang="en-US" sz="2800" i="1" dirty="0" smtClean="0">
                <a:latin typeface="Times New Roman" pitchFamily="18" charset="0"/>
              </a:rPr>
              <a:t>T </a:t>
            </a:r>
            <a:r>
              <a:rPr lang="en-US" sz="2800" dirty="0" smtClean="0">
                <a:latin typeface="Times New Roman" pitchFamily="18" charset="0"/>
              </a:rPr>
              <a:t>* </a:t>
            </a:r>
            <a:r>
              <a:rPr lang="en-US" sz="2800" i="1" dirty="0" smtClean="0">
                <a:latin typeface="Times New Roman" pitchFamily="18" charset="0"/>
              </a:rPr>
              <a:t>F</a:t>
            </a:r>
            <a:r>
              <a:rPr lang="en-US" sz="2800" dirty="0" smtClean="0">
                <a:latin typeface="Times New Roman" pitchFamily="18" charset="0"/>
              </a:rPr>
              <a:t> | </a:t>
            </a:r>
            <a:r>
              <a:rPr lang="en-US" sz="2800" i="1" dirty="0" smtClean="0">
                <a:latin typeface="Times New Roman" pitchFamily="18" charset="0"/>
              </a:rPr>
              <a:t>F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 smtClean="0">
                <a:latin typeface="Times New Roman" pitchFamily="18" charset="0"/>
              </a:rPr>
              <a:t>				</a:t>
            </a:r>
            <a:r>
              <a:rPr lang="en-US" sz="2800" i="1" dirty="0" smtClean="0">
                <a:latin typeface="Times New Roman" pitchFamily="18" charset="0"/>
              </a:rPr>
              <a:t>F</a:t>
            </a:r>
            <a:r>
              <a:rPr lang="en-US" sz="2800" dirty="0" smtClean="0">
                <a:latin typeface="Times New Roman" pitchFamily="18" charset="0"/>
              </a:rPr>
              <a:t> → (</a:t>
            </a:r>
            <a:r>
              <a:rPr lang="en-US" sz="2800" i="1" dirty="0" smtClean="0">
                <a:latin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</a:rPr>
              <a:t>) | </a:t>
            </a:r>
            <a:r>
              <a:rPr lang="en-US" sz="2800" i="1" dirty="0" smtClean="0">
                <a:latin typeface="Times New Roman" pitchFamily="18" charset="0"/>
              </a:rPr>
              <a:t>a</a:t>
            </a:r>
            <a:endParaRPr lang="ru-RU" sz="2800" i="1" dirty="0" smtClean="0">
              <a:latin typeface="Times New Roman" pitchFamily="18" charset="0"/>
            </a:endParaRPr>
          </a:p>
          <a:p>
            <a:pPr eaLnBrk="1" hangingPunct="1">
              <a:buFontTx/>
              <a:buNone/>
              <a:defRPr/>
            </a:pPr>
            <a:r>
              <a:rPr lang="ru-RU" sz="2800" dirty="0" smtClean="0"/>
              <a:t>1. Дополнение грамматики начальным правилом: </a:t>
            </a:r>
            <a:r>
              <a:rPr lang="ru-RU" sz="2800" i="1" dirty="0" smtClean="0">
                <a:latin typeface="Times New Roman" pitchFamily="18" charset="0"/>
              </a:rPr>
              <a:t>	</a:t>
            </a:r>
            <a:r>
              <a:rPr lang="en-US" sz="2800" i="1" dirty="0" smtClean="0">
                <a:latin typeface="Times New Roman" pitchFamily="18" charset="0"/>
              </a:rPr>
              <a:t>S</a:t>
            </a:r>
            <a:r>
              <a:rPr lang="ru-RU" sz="2800" baseline="-25000" dirty="0" smtClean="0">
                <a:latin typeface="Times New Roman" pitchFamily="18" charset="0"/>
              </a:rPr>
              <a:t>0</a:t>
            </a:r>
            <a:r>
              <a:rPr lang="ru-RU" sz="2800" dirty="0" smtClean="0">
                <a:latin typeface="Times New Roman" pitchFamily="18" charset="0"/>
              </a:rPr>
              <a:t> → </a:t>
            </a:r>
            <a:r>
              <a:rPr lang="en-US" sz="2800" i="1" dirty="0" smtClean="0">
                <a:latin typeface="Times New Roman" pitchFamily="18" charset="0"/>
              </a:rPr>
              <a:t>S</a:t>
            </a:r>
            <a:r>
              <a:rPr lang="ru-RU" sz="2800" baseline="-25000" dirty="0" smtClean="0"/>
              <a:t> ┴</a:t>
            </a:r>
          </a:p>
          <a:p>
            <a:pPr eaLnBrk="1" hangingPunct="1">
              <a:buFontTx/>
              <a:buNone/>
              <a:defRPr/>
            </a:pPr>
            <a:r>
              <a:rPr lang="ru-RU" sz="2800" dirty="0" smtClean="0"/>
              <a:t>2. Преобразованная грамматика: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 smtClean="0">
                <a:latin typeface="Times New Roman" pitchFamily="18" charset="0"/>
              </a:rPr>
              <a:t>				</a:t>
            </a:r>
            <a:r>
              <a:rPr lang="en-US" sz="2800" i="1" dirty="0" smtClean="0">
                <a:latin typeface="Times New Roman" pitchFamily="18" charset="0"/>
              </a:rPr>
              <a:t>S</a:t>
            </a:r>
            <a:r>
              <a:rPr lang="ru-RU" sz="2800" baseline="-25000" dirty="0" smtClean="0">
                <a:latin typeface="Times New Roman" pitchFamily="18" charset="0"/>
              </a:rPr>
              <a:t>0</a:t>
            </a:r>
            <a:r>
              <a:rPr lang="ru-RU" sz="2800" dirty="0" smtClean="0">
                <a:latin typeface="Times New Roman" pitchFamily="18" charset="0"/>
              </a:rPr>
              <a:t> → </a:t>
            </a:r>
            <a:r>
              <a:rPr lang="en-US" sz="2800" i="1" dirty="0" smtClean="0">
                <a:latin typeface="Times New Roman" pitchFamily="18" charset="0"/>
              </a:rPr>
              <a:t>S</a:t>
            </a:r>
            <a:r>
              <a:rPr lang="ru-RU" sz="2800" baseline="-25000" dirty="0" smtClean="0"/>
              <a:t> ┴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 smtClean="0">
                <a:latin typeface="Times New Roman" pitchFamily="18" charset="0"/>
              </a:rPr>
              <a:t>				</a:t>
            </a:r>
            <a:r>
              <a:rPr lang="en-US" sz="2800" i="1" dirty="0" smtClean="0">
                <a:latin typeface="Times New Roman" pitchFamily="18" charset="0"/>
              </a:rPr>
              <a:t>S</a:t>
            </a:r>
            <a:r>
              <a:rPr lang="ru-RU" sz="2800" dirty="0" smtClean="0">
                <a:latin typeface="Times New Roman" pitchFamily="18" charset="0"/>
              </a:rPr>
              <a:t> → </a:t>
            </a:r>
            <a:r>
              <a:rPr lang="en-US" sz="2800" i="1" dirty="0" smtClean="0">
                <a:latin typeface="Times New Roman" pitchFamily="18" charset="0"/>
              </a:rPr>
              <a:t>T </a:t>
            </a:r>
            <a:r>
              <a:rPr lang="en-US" sz="2800" b="1" dirty="0" smtClean="0"/>
              <a:t>{</a:t>
            </a:r>
            <a:r>
              <a:rPr lang="ru-RU" sz="2800" dirty="0" smtClean="0">
                <a:latin typeface="Times New Roman" pitchFamily="18" charset="0"/>
              </a:rPr>
              <a:t>+</a:t>
            </a:r>
            <a:r>
              <a:rPr lang="en-US" sz="2800" dirty="0" smtClean="0">
                <a:latin typeface="Times New Roman" pitchFamily="18" charset="0"/>
              </a:rPr>
              <a:t> </a:t>
            </a:r>
            <a:r>
              <a:rPr lang="en-US" sz="2800" i="1" dirty="0" smtClean="0">
                <a:latin typeface="Times New Roman" pitchFamily="18" charset="0"/>
              </a:rPr>
              <a:t>T</a:t>
            </a:r>
            <a:r>
              <a:rPr lang="en-US" sz="2800" dirty="0" smtClean="0">
                <a:latin typeface="Times New Roman" pitchFamily="18" charset="0"/>
              </a:rPr>
              <a:t> </a:t>
            </a:r>
            <a:r>
              <a:rPr lang="en-US" sz="2800" b="1" dirty="0" smtClean="0"/>
              <a:t>}*</a:t>
            </a:r>
            <a:endParaRPr lang="en-US" sz="2800" b="1" i="1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 smtClean="0">
                <a:latin typeface="Times New Roman" pitchFamily="18" charset="0"/>
              </a:rPr>
              <a:t>				</a:t>
            </a:r>
            <a:r>
              <a:rPr lang="en-US" sz="2800" i="1" dirty="0" smtClean="0">
                <a:latin typeface="Times New Roman" pitchFamily="18" charset="0"/>
              </a:rPr>
              <a:t>T</a:t>
            </a:r>
            <a:r>
              <a:rPr lang="en-US" sz="2800" dirty="0" smtClean="0">
                <a:latin typeface="Times New Roman" pitchFamily="18" charset="0"/>
              </a:rPr>
              <a:t> → </a:t>
            </a:r>
            <a:r>
              <a:rPr lang="en-US" sz="2800" i="1" dirty="0" smtClean="0">
                <a:latin typeface="Times New Roman" pitchFamily="18" charset="0"/>
              </a:rPr>
              <a:t>F </a:t>
            </a:r>
            <a:r>
              <a:rPr lang="en-US" sz="2800" b="1" dirty="0" smtClean="0"/>
              <a:t>{</a:t>
            </a:r>
            <a:r>
              <a:rPr lang="en-US" sz="2800" dirty="0" smtClean="0">
                <a:latin typeface="Times New Roman" pitchFamily="18" charset="0"/>
              </a:rPr>
              <a:t>* </a:t>
            </a:r>
            <a:r>
              <a:rPr lang="en-US" sz="2800" i="1" dirty="0" smtClean="0">
                <a:latin typeface="Times New Roman" pitchFamily="18" charset="0"/>
              </a:rPr>
              <a:t>F</a:t>
            </a:r>
            <a:r>
              <a:rPr lang="en-US" sz="2800" dirty="0" smtClean="0">
                <a:latin typeface="Times New Roman" pitchFamily="18" charset="0"/>
              </a:rPr>
              <a:t> </a:t>
            </a:r>
            <a:r>
              <a:rPr lang="en-US" sz="2800" b="1" dirty="0" smtClean="0"/>
              <a:t>}*</a:t>
            </a:r>
            <a:endParaRPr lang="en-US" sz="2800" b="1" i="1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 smtClean="0">
                <a:latin typeface="Times New Roman" pitchFamily="18" charset="0"/>
              </a:rPr>
              <a:t>				</a:t>
            </a:r>
            <a:r>
              <a:rPr lang="en-US" sz="2800" i="1" dirty="0" smtClean="0">
                <a:latin typeface="Times New Roman" pitchFamily="18" charset="0"/>
              </a:rPr>
              <a:t>F</a:t>
            </a:r>
            <a:r>
              <a:rPr lang="en-US" sz="2800" dirty="0" smtClean="0">
                <a:latin typeface="Times New Roman" pitchFamily="18" charset="0"/>
              </a:rPr>
              <a:t> → (</a:t>
            </a:r>
            <a:r>
              <a:rPr lang="en-US" sz="2800" i="1" dirty="0" smtClean="0">
                <a:latin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</a:rPr>
              <a:t>) </a:t>
            </a:r>
            <a:r>
              <a:rPr lang="en-US" sz="2800" b="1" dirty="0" smtClean="0"/>
              <a:t>|</a:t>
            </a:r>
            <a:r>
              <a:rPr lang="en-US" sz="2800" dirty="0" smtClean="0">
                <a:latin typeface="Times New Roman" pitchFamily="18" charset="0"/>
              </a:rPr>
              <a:t> </a:t>
            </a:r>
            <a:r>
              <a:rPr lang="en-US" sz="2800" i="1" dirty="0" smtClean="0">
                <a:latin typeface="Times New Roman" pitchFamily="18" charset="0"/>
              </a:rPr>
              <a:t>a</a:t>
            </a:r>
            <a:endParaRPr lang="ru-RU" sz="2800" i="1" dirty="0" smtClean="0">
              <a:latin typeface="Times New Roman" pitchFamily="18" charset="0"/>
            </a:endParaRPr>
          </a:p>
          <a:p>
            <a:pPr eaLnBrk="1" hangingPunct="1">
              <a:buFontTx/>
              <a:buNone/>
              <a:defRPr/>
            </a:pPr>
            <a:r>
              <a:rPr lang="ru-RU" sz="2800" dirty="0" smtClean="0"/>
              <a:t> 		</a:t>
            </a:r>
            <a:r>
              <a:rPr lang="en-US" sz="2800" i="1" dirty="0" smtClean="0">
                <a:latin typeface="Times New Roman" pitchFamily="18" charset="0"/>
              </a:rPr>
              <a:t> S</a:t>
            </a:r>
            <a:r>
              <a:rPr lang="ru-RU" sz="2800" baseline="-25000" dirty="0" smtClean="0">
                <a:latin typeface="Times New Roman" pitchFamily="18" charset="0"/>
              </a:rPr>
              <a:t>0 </a:t>
            </a:r>
            <a:r>
              <a:rPr lang="ru-RU" sz="2800" dirty="0" smtClean="0"/>
              <a:t>- новый начальный </a:t>
            </a:r>
            <a:r>
              <a:rPr lang="ru-RU" sz="2800" dirty="0" err="1" smtClean="0"/>
              <a:t>нетерминал</a:t>
            </a:r>
            <a:endParaRPr lang="ru-RU" sz="2800" dirty="0" smtClean="0"/>
          </a:p>
          <a:p>
            <a:pPr eaLnBrk="1" hangingPunct="1">
              <a:buFontTx/>
              <a:buNone/>
              <a:defRPr/>
            </a:pPr>
            <a:endParaRPr lang="ru-RU" dirty="0" smtClean="0"/>
          </a:p>
          <a:p>
            <a:pPr marL="0" indent="0" eaLnBrk="1" hangingPunct="1">
              <a:buFontTx/>
              <a:buNone/>
              <a:defRPr/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9EB5FFF-209F-4618-8618-73E70D9956C3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400" smtClean="0"/>
          </a:p>
        </p:txBody>
      </p:sp>
      <p:sp>
        <p:nvSpPr>
          <p:cNvPr id="5123" name="Заголовок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52525"/>
          </a:xfrm>
        </p:spPr>
        <p:txBody>
          <a:bodyPr/>
          <a:lstStyle/>
          <a:p>
            <a:pPr eaLnBrk="1" hangingPunct="1"/>
            <a:r>
              <a:rPr lang="ru-RU" altLang="en-US" sz="3600" smtClean="0"/>
              <a:t>Анализатор рекурсивного спуска – набор рекурсивных функций</a:t>
            </a:r>
          </a:p>
        </p:txBody>
      </p:sp>
      <p:sp>
        <p:nvSpPr>
          <p:cNvPr id="5124" name="Объект 2"/>
          <p:cNvSpPr>
            <a:spLocks noGrp="1"/>
          </p:cNvSpPr>
          <p:nvPr>
            <p:ph idx="1"/>
          </p:nvPr>
        </p:nvSpPr>
        <p:spPr>
          <a:xfrm>
            <a:off x="457200" y="1412875"/>
            <a:ext cx="8435975" cy="5329238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Глобальные переменные:</a:t>
            </a:r>
          </a:p>
          <a:p>
            <a:pPr marL="0" indent="0" eaLnBrk="1" hangingPunct="1">
              <a:buFontTx/>
              <a:buNone/>
            </a:pP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С – массив (строка) входных символов (лексем);</a:t>
            </a:r>
          </a:p>
          <a:p>
            <a:pPr marL="0" indent="0" eaLnBrk="1" hangingPunct="1">
              <a:buFontTx/>
              <a:buNone/>
            </a:pPr>
            <a:r>
              <a:rPr lang="en-US" altLang="en-US" sz="2800" smtClean="0">
                <a:latin typeface="Times New Roman" pitchFamily="18" charset="0"/>
                <a:cs typeface="Times New Roman" pitchFamily="18" charset="0"/>
              </a:rPr>
              <a:t>i – 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номер текущего входного символа.</a:t>
            </a:r>
          </a:p>
          <a:p>
            <a:pPr marL="0" indent="0" eaLnBrk="1" hangingPunct="1">
              <a:buFontTx/>
              <a:buNone/>
            </a:pP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Для каждого нетерминала – своя функция, которая анализирует порождение этого нетерминала.</a:t>
            </a:r>
          </a:p>
          <a:p>
            <a:pPr marL="0" indent="0" eaLnBrk="1" hangingPunct="1">
              <a:buFontTx/>
              <a:buNone/>
            </a:pPr>
            <a:r>
              <a:rPr lang="ru-RU" altLang="en-US" sz="2800" b="1" i="1" smtClean="0">
                <a:latin typeface="Times New Roman" pitchFamily="18" charset="0"/>
                <a:cs typeface="Times New Roman" pitchFamily="18" charset="0"/>
              </a:rPr>
              <a:t>Перед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 вызовом функции: </a:t>
            </a:r>
            <a:r>
              <a:rPr lang="en-US" altLang="en-US" sz="2800" smtClean="0">
                <a:latin typeface="Times New Roman" pitchFamily="18" charset="0"/>
                <a:cs typeface="Times New Roman" pitchFamily="18" charset="0"/>
              </a:rPr>
              <a:t>C[i] – </a:t>
            </a:r>
            <a:r>
              <a:rPr lang="ru-RU" altLang="en-US" sz="2800" b="1" i="1" smtClean="0">
                <a:latin typeface="Times New Roman" pitchFamily="18" charset="0"/>
                <a:cs typeface="Times New Roman" pitchFamily="18" charset="0"/>
              </a:rPr>
              <a:t>первый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 символ порождения нетерминала. </a:t>
            </a:r>
          </a:p>
          <a:p>
            <a:pPr marL="0" indent="0" eaLnBrk="1" hangingPunct="1">
              <a:buFontTx/>
              <a:buNone/>
            </a:pPr>
            <a:r>
              <a:rPr lang="ru-RU" altLang="en-US" sz="2800" b="1" i="1" smtClean="0">
                <a:latin typeface="Times New Roman" pitchFamily="18" charset="0"/>
                <a:cs typeface="Times New Roman" pitchFamily="18" charset="0"/>
              </a:rPr>
              <a:t>После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 работы функции: </a:t>
            </a:r>
            <a:r>
              <a:rPr lang="en-US" altLang="en-US" sz="2800" smtClean="0">
                <a:latin typeface="Times New Roman" pitchFamily="18" charset="0"/>
                <a:cs typeface="Times New Roman" pitchFamily="18" charset="0"/>
              </a:rPr>
              <a:t>C[i] – </a:t>
            </a:r>
            <a:r>
              <a:rPr lang="ru-RU" altLang="en-US" sz="2800" b="1" i="1" smtClean="0">
                <a:latin typeface="Times New Roman" pitchFamily="18" charset="0"/>
                <a:cs typeface="Times New Roman" pitchFamily="18" charset="0"/>
              </a:rPr>
              <a:t>первый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 символ</a:t>
            </a:r>
            <a:r>
              <a:rPr lang="en-US" altLang="en-US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после порождения нетерминала (если не было ошибки).</a:t>
            </a:r>
          </a:p>
          <a:p>
            <a:pPr marL="0" indent="0" eaLnBrk="1" hangingPunct="1">
              <a:buFontTx/>
              <a:buNone/>
            </a:pPr>
            <a:r>
              <a:rPr lang="ru-RU" altLang="en-US" sz="2800" b="1" i="1" smtClean="0">
                <a:latin typeface="Times New Roman" pitchFamily="18" charset="0"/>
                <a:cs typeface="Times New Roman" pitchFamily="18" charset="0"/>
              </a:rPr>
              <a:t>Результат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 функции: </a:t>
            </a:r>
            <a:r>
              <a:rPr lang="en-US" altLang="en-US" sz="2800" smtClean="0">
                <a:latin typeface="Times New Roman" pitchFamily="18" charset="0"/>
                <a:cs typeface="Times New Roman" pitchFamily="18" charset="0"/>
              </a:rPr>
              <a:t>true 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(нет ошибки) или </a:t>
            </a:r>
            <a:r>
              <a:rPr lang="en-US" altLang="en-US" sz="2800" smtClean="0">
                <a:latin typeface="Times New Roman" pitchFamily="18" charset="0"/>
                <a:cs typeface="Times New Roman" pitchFamily="18" charset="0"/>
              </a:rPr>
              <a:t>false (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ошибка, тогда </a:t>
            </a:r>
            <a:r>
              <a:rPr lang="en-US" altLang="en-US" sz="2800" smtClean="0">
                <a:latin typeface="Times New Roman" pitchFamily="18" charset="0"/>
                <a:cs typeface="Times New Roman" pitchFamily="18" charset="0"/>
              </a:rPr>
              <a:t>C[i] – </a:t>
            </a:r>
            <a:r>
              <a:rPr lang="ru-RU" altLang="en-US" sz="2800" smtClean="0">
                <a:latin typeface="Times New Roman" pitchFamily="18" charset="0"/>
                <a:cs typeface="Times New Roman" pitchFamily="18" charset="0"/>
              </a:rPr>
              <a:t>ошибочный символ).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5D83235-C280-436E-B525-0EA030C72B86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ru-RU" altLang="ru-RU" sz="1400" smtClean="0"/>
          </a:p>
        </p:txBody>
      </p:sp>
      <p:sp>
        <p:nvSpPr>
          <p:cNvPr id="6147" name="Заголовок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576262"/>
          </a:xfrm>
        </p:spPr>
        <p:txBody>
          <a:bodyPr/>
          <a:lstStyle/>
          <a:p>
            <a:pPr algn="l" eaLnBrk="1" hangingPunct="1"/>
            <a:r>
              <a:rPr lang="ru-RU" altLang="en-US" sz="3200" b="1" smtClean="0">
                <a:latin typeface="Times New Roman" pitchFamily="18" charset="0"/>
              </a:rPr>
              <a:t>Пример.</a:t>
            </a:r>
            <a:endParaRPr lang="ru-RU" altLang="en-US" sz="3200" smtClean="0"/>
          </a:p>
        </p:txBody>
      </p:sp>
      <p:sp>
        <p:nvSpPr>
          <p:cNvPr id="6148" name="Объект 2"/>
          <p:cNvSpPr>
            <a:spLocks noGrp="1"/>
          </p:cNvSpPr>
          <p:nvPr>
            <p:ph idx="1"/>
          </p:nvPr>
        </p:nvSpPr>
        <p:spPr>
          <a:xfrm>
            <a:off x="457200" y="765175"/>
            <a:ext cx="8229600" cy="583247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function S0:boolean;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if S then begin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if C[i]=’┴’ then begin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  i:=i+1; S0:=true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else S0:=false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else S0:=false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end;</a:t>
            </a:r>
          </a:p>
          <a:p>
            <a:pPr marL="0" indent="0" eaLnBrk="1" hangingPunct="1">
              <a:buFontTx/>
              <a:buNone/>
            </a:pPr>
            <a:endParaRPr lang="en-US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3414B5-FB6F-422D-BED0-0DB1416D9E5B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400" smtClean="0"/>
          </a:p>
        </p:txBody>
      </p:sp>
      <p:sp>
        <p:nvSpPr>
          <p:cNvPr id="7171" name="Заголовок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217487"/>
          </a:xfrm>
        </p:spPr>
        <p:txBody>
          <a:bodyPr/>
          <a:lstStyle/>
          <a:p>
            <a:pPr algn="l" eaLnBrk="1" hangingPunct="1"/>
            <a:endParaRPr lang="en-US" altLang="en-US" sz="3200" smtClean="0"/>
          </a:p>
        </p:txBody>
      </p:sp>
      <p:sp>
        <p:nvSpPr>
          <p:cNvPr id="7172" name="Объект 2"/>
          <p:cNvSpPr>
            <a:spLocks noGrp="1"/>
          </p:cNvSpPr>
          <p:nvPr>
            <p:ph idx="1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function S:boolean;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var b:boolean;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b:=T;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while b and (C[i]=’+’) do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begin i:=i+1; b:=T end;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S:=b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end;</a:t>
            </a:r>
            <a:endParaRPr lang="en-US" altLang="en-US" sz="10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1000" b="1" smtClean="0">
                <a:latin typeface="Courier New" pitchFamily="49" charset="0"/>
                <a:cs typeface="Courier New" pitchFamily="49" charset="0"/>
              </a:rPr>
              <a:t>_______________________________________________________________________________________________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function T:boolean;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var b:boolean;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b:=F;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while b and (C[i]=’*’) do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begin i:=i+1; b:=F end;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T:=b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end;   </a:t>
            </a: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1A04CDA-9205-4201-867F-3D123A8ECFB2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400" smtClean="0"/>
          </a:p>
        </p:txBody>
      </p:sp>
      <p:sp>
        <p:nvSpPr>
          <p:cNvPr id="8195" name="Заголовок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217487"/>
          </a:xfrm>
        </p:spPr>
        <p:txBody>
          <a:bodyPr/>
          <a:lstStyle/>
          <a:p>
            <a:pPr algn="l" eaLnBrk="1" hangingPunct="1"/>
            <a:endParaRPr lang="en-US" altLang="en-US" sz="3200" smtClean="0"/>
          </a:p>
        </p:txBody>
      </p:sp>
      <p:sp>
        <p:nvSpPr>
          <p:cNvPr id="8196" name="Объект 2"/>
          <p:cNvSpPr>
            <a:spLocks noGrp="1"/>
          </p:cNvSpPr>
          <p:nvPr>
            <p:ph idx="1"/>
          </p:nvPr>
        </p:nvSpPr>
        <p:spPr>
          <a:xfrm>
            <a:off x="457200" y="404813"/>
            <a:ext cx="8229600" cy="6192837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function F:boolean;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if C[i]=’(’ then begin i:=i+1;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if S and (C[i]=’)’) then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  begin i:=i+1; F:=true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else F:=false;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else if C[i]=’a’ then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begin i:=i+1; F:=true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else F:=false;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end;</a:t>
            </a:r>
          </a:p>
          <a:p>
            <a:pPr marL="0" indent="0" eaLnBrk="1" hangingPunct="1">
              <a:buFontTx/>
              <a:buNone/>
            </a:pPr>
            <a:endParaRPr lang="en-US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F1928F5-958F-475F-858A-9BE23524198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ru-RU" altLang="ru-RU" sz="1400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en-US" altLang="en-US" sz="400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663" y="149225"/>
            <a:ext cx="8220075" cy="64484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en-US" sz="2400" smtClean="0">
                <a:latin typeface="Times New Roman" pitchFamily="18" charset="0"/>
              </a:rPr>
              <a:t>На рисунке изображено неявно строящееся при разборе дерево порождения  цепочки: </a:t>
            </a:r>
            <a:r>
              <a:rPr lang="en-US" altLang="en-US" sz="2400" i="1" smtClean="0">
                <a:latin typeface="Times New Roman" pitchFamily="18" charset="0"/>
              </a:rPr>
              <a:t>a</a:t>
            </a:r>
            <a:r>
              <a:rPr lang="en-US" altLang="en-US" sz="2400" smtClean="0">
                <a:latin typeface="Times New Roman" pitchFamily="18" charset="0"/>
              </a:rPr>
              <a:t> </a:t>
            </a:r>
            <a:r>
              <a:rPr lang="ru-RU" altLang="en-US" sz="2400" smtClean="0">
                <a:latin typeface="Times New Roman" pitchFamily="18" charset="0"/>
              </a:rPr>
              <a:t>+</a:t>
            </a:r>
            <a:r>
              <a:rPr lang="en-US" altLang="en-US" sz="2400" smtClean="0">
                <a:latin typeface="Times New Roman" pitchFamily="18" charset="0"/>
              </a:rPr>
              <a:t> </a:t>
            </a:r>
            <a:r>
              <a:rPr lang="en-US" altLang="en-US" sz="2400" i="1" smtClean="0">
                <a:latin typeface="Times New Roman" pitchFamily="18" charset="0"/>
              </a:rPr>
              <a:t>a * a </a:t>
            </a:r>
            <a:r>
              <a:rPr lang="en-US" altLang="en-US" sz="2400" b="1" baseline="-25000" smtClean="0">
                <a:latin typeface="Courier New" pitchFamily="49" charset="0"/>
                <a:cs typeface="Courier New" pitchFamily="49" charset="0"/>
              </a:rPr>
              <a:t>┴</a:t>
            </a:r>
            <a:endParaRPr lang="ru-RU" altLang="en-US" sz="2400" smtClean="0">
              <a:latin typeface="Times New Roman" pitchFamily="18" charset="0"/>
            </a:endParaRPr>
          </a:p>
        </p:txBody>
      </p:sp>
      <p:grpSp>
        <p:nvGrpSpPr>
          <p:cNvPr id="9221" name="Group 4"/>
          <p:cNvGrpSpPr>
            <a:grpSpLocks noChangeAspect="1"/>
          </p:cNvGrpSpPr>
          <p:nvPr/>
        </p:nvGrpSpPr>
        <p:grpSpPr bwMode="auto">
          <a:xfrm>
            <a:off x="842963" y="1196975"/>
            <a:ext cx="6985000" cy="5256213"/>
            <a:chOff x="3942" y="1513"/>
            <a:chExt cx="4191" cy="2845"/>
          </a:xfrm>
        </p:grpSpPr>
        <p:sp>
          <p:nvSpPr>
            <p:cNvPr id="9225" name="AutoShape 5"/>
            <p:cNvSpPr>
              <a:spLocks noChangeAspect="1" noChangeArrowheads="1"/>
            </p:cNvSpPr>
            <p:nvPr/>
          </p:nvSpPr>
          <p:spPr bwMode="auto">
            <a:xfrm>
              <a:off x="3942" y="1901"/>
              <a:ext cx="4191" cy="2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9226" name="Text Box 6"/>
            <p:cNvSpPr txBox="1">
              <a:spLocks noChangeArrowheads="1"/>
            </p:cNvSpPr>
            <p:nvPr/>
          </p:nvSpPr>
          <p:spPr bwMode="auto">
            <a:xfrm>
              <a:off x="5896" y="2028"/>
              <a:ext cx="289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endParaRPr lang="ru-RU" altLang="en-US" sz="2400" i="1">
                <a:latin typeface="Times New Roman" pitchFamily="18" charset="0"/>
              </a:endParaRPr>
            </a:p>
          </p:txBody>
        </p:sp>
        <p:sp>
          <p:nvSpPr>
            <p:cNvPr id="9227" name="Text Box 8"/>
            <p:cNvSpPr txBox="1">
              <a:spLocks noChangeArrowheads="1"/>
            </p:cNvSpPr>
            <p:nvPr/>
          </p:nvSpPr>
          <p:spPr bwMode="auto">
            <a:xfrm>
              <a:off x="5896" y="2537"/>
              <a:ext cx="249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itchFamily="18" charset="0"/>
                </a:rPr>
                <a:t>+</a:t>
              </a:r>
              <a:endParaRPr lang="ru-RU" altLang="en-US" sz="2400">
                <a:latin typeface="Times New Roman" pitchFamily="18" charset="0"/>
              </a:endParaRPr>
            </a:p>
          </p:txBody>
        </p:sp>
        <p:sp>
          <p:nvSpPr>
            <p:cNvPr id="9228" name="Text Box 9"/>
            <p:cNvSpPr txBox="1">
              <a:spLocks noChangeArrowheads="1"/>
            </p:cNvSpPr>
            <p:nvPr/>
          </p:nvSpPr>
          <p:spPr bwMode="auto">
            <a:xfrm>
              <a:off x="6539" y="2537"/>
              <a:ext cx="320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T</a:t>
              </a:r>
              <a:endParaRPr lang="ru-RU" altLang="en-US" sz="2400" i="1">
                <a:latin typeface="Times New Roman" pitchFamily="18" charset="0"/>
              </a:endParaRPr>
            </a:p>
          </p:txBody>
        </p:sp>
        <p:sp>
          <p:nvSpPr>
            <p:cNvPr id="9229" name="Text Box 10"/>
            <p:cNvSpPr txBox="1">
              <a:spLocks noChangeArrowheads="1"/>
            </p:cNvSpPr>
            <p:nvPr/>
          </p:nvSpPr>
          <p:spPr bwMode="auto">
            <a:xfrm>
              <a:off x="5312" y="2554"/>
              <a:ext cx="320" cy="2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T</a:t>
              </a:r>
              <a:endParaRPr lang="ru-RU" altLang="en-US" sz="2400" i="1">
                <a:latin typeface="Times New Roman" pitchFamily="18" charset="0"/>
              </a:endParaRPr>
            </a:p>
          </p:txBody>
        </p:sp>
        <p:sp>
          <p:nvSpPr>
            <p:cNvPr id="9230" name="Text Box 11"/>
            <p:cNvSpPr txBox="1">
              <a:spLocks noChangeArrowheads="1"/>
            </p:cNvSpPr>
            <p:nvPr/>
          </p:nvSpPr>
          <p:spPr bwMode="auto">
            <a:xfrm>
              <a:off x="4992" y="3122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F</a:t>
              </a:r>
              <a:endParaRPr lang="ru-RU" altLang="en-US" sz="2400" i="1">
                <a:latin typeface="Times New Roman" pitchFamily="18" charset="0"/>
              </a:endParaRPr>
            </a:p>
          </p:txBody>
        </p:sp>
        <p:sp>
          <p:nvSpPr>
            <p:cNvPr id="9231" name="Text Box 12"/>
            <p:cNvSpPr txBox="1">
              <a:spLocks noChangeArrowheads="1"/>
            </p:cNvSpPr>
            <p:nvPr/>
          </p:nvSpPr>
          <p:spPr bwMode="auto">
            <a:xfrm>
              <a:off x="4792" y="3659"/>
              <a:ext cx="288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a</a:t>
              </a:r>
              <a:endParaRPr lang="ru-RU" altLang="en-US" sz="2400">
                <a:latin typeface="Times New Roman" pitchFamily="18" charset="0"/>
              </a:endParaRPr>
            </a:p>
          </p:txBody>
        </p:sp>
        <p:sp>
          <p:nvSpPr>
            <p:cNvPr id="9232" name="Text Box 14"/>
            <p:cNvSpPr txBox="1">
              <a:spLocks noChangeArrowheads="1"/>
            </p:cNvSpPr>
            <p:nvPr/>
          </p:nvSpPr>
          <p:spPr bwMode="auto">
            <a:xfrm>
              <a:off x="6304" y="3042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F</a:t>
              </a:r>
              <a:endParaRPr lang="ru-RU" altLang="en-US" sz="2400" i="1">
                <a:latin typeface="Times New Roman" pitchFamily="18" charset="0"/>
              </a:endParaRPr>
            </a:p>
          </p:txBody>
        </p:sp>
        <p:sp>
          <p:nvSpPr>
            <p:cNvPr id="9233" name="Text Box 15"/>
            <p:cNvSpPr txBox="1">
              <a:spLocks noChangeArrowheads="1"/>
            </p:cNvSpPr>
            <p:nvPr/>
          </p:nvSpPr>
          <p:spPr bwMode="auto">
            <a:xfrm>
              <a:off x="7439" y="3045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F</a:t>
              </a:r>
              <a:endParaRPr lang="ru-RU" altLang="en-US" sz="2400" i="1">
                <a:latin typeface="Times New Roman" pitchFamily="18" charset="0"/>
              </a:endParaRPr>
            </a:p>
          </p:txBody>
        </p:sp>
        <p:sp>
          <p:nvSpPr>
            <p:cNvPr id="9234" name="Text Box 16"/>
            <p:cNvSpPr txBox="1">
              <a:spLocks noChangeArrowheads="1"/>
            </p:cNvSpPr>
            <p:nvPr/>
          </p:nvSpPr>
          <p:spPr bwMode="auto">
            <a:xfrm>
              <a:off x="6925" y="3045"/>
              <a:ext cx="258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itchFamily="18" charset="0"/>
                </a:rPr>
                <a:t>*</a:t>
              </a:r>
              <a:endParaRPr lang="ru-RU" altLang="en-US" sz="2400">
                <a:latin typeface="Times New Roman" pitchFamily="18" charset="0"/>
              </a:endParaRPr>
            </a:p>
          </p:txBody>
        </p:sp>
        <p:sp>
          <p:nvSpPr>
            <p:cNvPr id="9235" name="Text Box 17"/>
            <p:cNvSpPr txBox="1">
              <a:spLocks noChangeArrowheads="1"/>
            </p:cNvSpPr>
            <p:nvPr/>
          </p:nvSpPr>
          <p:spPr bwMode="auto">
            <a:xfrm>
              <a:off x="6175" y="3582"/>
              <a:ext cx="257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a</a:t>
              </a:r>
              <a:endParaRPr lang="ru-RU" altLang="en-US" sz="2400">
                <a:latin typeface="Times New Roman" pitchFamily="18" charset="0"/>
              </a:endParaRPr>
            </a:p>
          </p:txBody>
        </p:sp>
        <p:sp>
          <p:nvSpPr>
            <p:cNvPr id="9236" name="Text Box 18"/>
            <p:cNvSpPr txBox="1">
              <a:spLocks noChangeArrowheads="1"/>
            </p:cNvSpPr>
            <p:nvPr/>
          </p:nvSpPr>
          <p:spPr bwMode="auto">
            <a:xfrm>
              <a:off x="7439" y="3553"/>
              <a:ext cx="262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a</a:t>
              </a:r>
              <a:endParaRPr lang="ru-RU" altLang="en-US" sz="2400">
                <a:latin typeface="Times New Roman" pitchFamily="18" charset="0"/>
              </a:endParaRPr>
            </a:p>
          </p:txBody>
        </p:sp>
        <p:sp>
          <p:nvSpPr>
            <p:cNvPr id="9237" name="Line 19"/>
            <p:cNvSpPr>
              <a:spLocks noChangeShapeType="1"/>
            </p:cNvSpPr>
            <p:nvPr/>
          </p:nvSpPr>
          <p:spPr bwMode="auto">
            <a:xfrm flipH="1">
              <a:off x="5511" y="2283"/>
              <a:ext cx="385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38" name="Line 20"/>
            <p:cNvSpPr>
              <a:spLocks noChangeShapeType="1"/>
            </p:cNvSpPr>
            <p:nvPr/>
          </p:nvSpPr>
          <p:spPr bwMode="auto">
            <a:xfrm>
              <a:off x="6030" y="2325"/>
              <a:ext cx="7" cy="2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39" name="Line 21"/>
            <p:cNvSpPr>
              <a:spLocks noChangeShapeType="1"/>
            </p:cNvSpPr>
            <p:nvPr/>
          </p:nvSpPr>
          <p:spPr bwMode="auto">
            <a:xfrm>
              <a:off x="6185" y="2240"/>
              <a:ext cx="393" cy="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40" name="Line 23"/>
            <p:cNvSpPr>
              <a:spLocks noChangeShapeType="1"/>
            </p:cNvSpPr>
            <p:nvPr/>
          </p:nvSpPr>
          <p:spPr bwMode="auto">
            <a:xfrm flipH="1">
              <a:off x="5212" y="2791"/>
              <a:ext cx="199" cy="3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41" name="Line 24"/>
            <p:cNvSpPr>
              <a:spLocks noChangeShapeType="1"/>
            </p:cNvSpPr>
            <p:nvPr/>
          </p:nvSpPr>
          <p:spPr bwMode="auto">
            <a:xfrm flipH="1">
              <a:off x="4992" y="3419"/>
              <a:ext cx="117" cy="2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42" name="Line 25"/>
            <p:cNvSpPr>
              <a:spLocks noChangeShapeType="1"/>
            </p:cNvSpPr>
            <p:nvPr/>
          </p:nvSpPr>
          <p:spPr bwMode="auto">
            <a:xfrm flipH="1">
              <a:off x="6527" y="2791"/>
              <a:ext cx="141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43" name="Line 26"/>
            <p:cNvSpPr>
              <a:spLocks noChangeShapeType="1"/>
            </p:cNvSpPr>
            <p:nvPr/>
          </p:nvSpPr>
          <p:spPr bwMode="auto">
            <a:xfrm>
              <a:off x="6701" y="2803"/>
              <a:ext cx="315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44" name="Line 27"/>
            <p:cNvSpPr>
              <a:spLocks noChangeShapeType="1"/>
            </p:cNvSpPr>
            <p:nvPr/>
          </p:nvSpPr>
          <p:spPr bwMode="auto">
            <a:xfrm>
              <a:off x="6796" y="2791"/>
              <a:ext cx="643" cy="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45" name="Line 29"/>
            <p:cNvSpPr>
              <a:spLocks noChangeShapeType="1"/>
            </p:cNvSpPr>
            <p:nvPr/>
          </p:nvSpPr>
          <p:spPr bwMode="auto">
            <a:xfrm flipH="1">
              <a:off x="6325" y="3333"/>
              <a:ext cx="102" cy="2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46" name="Line 30"/>
            <p:cNvSpPr>
              <a:spLocks noChangeShapeType="1"/>
            </p:cNvSpPr>
            <p:nvPr/>
          </p:nvSpPr>
          <p:spPr bwMode="auto">
            <a:xfrm flipH="1">
              <a:off x="7568" y="3325"/>
              <a:ext cx="12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47" name="Text Box 6"/>
            <p:cNvSpPr txBox="1">
              <a:spLocks noChangeArrowheads="1"/>
            </p:cNvSpPr>
            <p:nvPr/>
          </p:nvSpPr>
          <p:spPr bwMode="auto">
            <a:xfrm>
              <a:off x="6028" y="1513"/>
              <a:ext cx="337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r>
                <a:rPr lang="en-US" altLang="en-US" sz="2400" baseline="-25000">
                  <a:latin typeface="Times New Roman" pitchFamily="18" charset="0"/>
                </a:rPr>
                <a:t>0</a:t>
              </a:r>
              <a:endParaRPr lang="ru-RU" altLang="en-US" sz="2400" baseline="-25000">
                <a:latin typeface="Times New Roman" pitchFamily="18" charset="0"/>
              </a:endParaRPr>
            </a:p>
          </p:txBody>
        </p:sp>
      </p:grpSp>
      <p:sp>
        <p:nvSpPr>
          <p:cNvPr id="9222" name="Line 24"/>
          <p:cNvSpPr>
            <a:spLocks noChangeShapeType="1"/>
          </p:cNvSpPr>
          <p:nvPr/>
        </p:nvSpPr>
        <p:spPr bwMode="auto">
          <a:xfrm flipH="1">
            <a:off x="4316413" y="1724025"/>
            <a:ext cx="195262" cy="452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223" name="Line 26"/>
          <p:cNvSpPr>
            <a:spLocks noChangeShapeType="1"/>
          </p:cNvSpPr>
          <p:nvPr/>
        </p:nvSpPr>
        <p:spPr bwMode="auto">
          <a:xfrm>
            <a:off x="4846638" y="1712913"/>
            <a:ext cx="525462" cy="434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224" name="Text Box 16"/>
          <p:cNvSpPr txBox="1">
            <a:spLocks noChangeArrowheads="1"/>
          </p:cNvSpPr>
          <p:nvPr/>
        </p:nvSpPr>
        <p:spPr bwMode="auto">
          <a:xfrm>
            <a:off x="5300663" y="2154238"/>
            <a:ext cx="384175" cy="5381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baseline="-25000">
                <a:latin typeface="Courier New" pitchFamily="49" charset="0"/>
                <a:cs typeface="Courier New" pitchFamily="49" charset="0"/>
              </a:rPr>
              <a:t>┴</a:t>
            </a:r>
            <a:endParaRPr lang="ru-RU" altLang="en-US" sz="2800" baseline="-25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800" b="1" smtClean="0"/>
              <a:t>Пример. </a:t>
            </a:r>
            <a:r>
              <a:rPr lang="ru-RU" altLang="ru-RU" sz="2800" smtClean="0"/>
              <a:t>Грамматика простых арифметических выражений с устраненной левой рекурсией,</a:t>
            </a:r>
            <a:endParaRPr lang="pt-BR" altLang="ru-RU" sz="2800" i="1" smtClean="0"/>
          </a:p>
          <a:p>
            <a:pPr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</a:t>
            </a:r>
            <a:r>
              <a:rPr lang="ru-RU" altLang="ru-RU" sz="2800" smtClean="0"/>
              <a:t>после преобразования к нестрогой нормальной форме Грейбах и дополнения грамматики начальным правилом:</a:t>
            </a:r>
          </a:p>
          <a:p>
            <a:pPr>
              <a:buFontTx/>
              <a:buNone/>
            </a:pPr>
            <a:r>
              <a:rPr lang="ru-RU" altLang="ru-RU" sz="2800" smtClean="0"/>
              <a:t>      		 </a:t>
            </a:r>
            <a:r>
              <a:rPr lang="ru-RU" altLang="ru-RU" sz="2800" i="1" smtClean="0">
                <a:latin typeface="Times New Roman" pitchFamily="18" charset="0"/>
              </a:rPr>
              <a:t>	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ru-RU" altLang="ru-RU" sz="2800" baseline="-25000" smtClean="0">
                <a:latin typeface="Times New Roman" pitchFamily="18" charset="0"/>
              </a:rPr>
              <a:t>0</a:t>
            </a:r>
            <a:r>
              <a:rPr lang="ru-RU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ru-RU" altLang="ru-RU" sz="2800" baseline="-25000" smtClean="0"/>
              <a:t> ┴</a:t>
            </a:r>
            <a:endParaRPr lang="pt-BR" altLang="ru-RU" sz="2800" i="1" smtClean="0"/>
          </a:p>
          <a:p>
            <a:pPr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pt-BR" altLang="ru-RU" sz="2800" i="1" smtClean="0">
                <a:latin typeface="Times New Roman" pitchFamily="18" charset="0"/>
              </a:rPr>
              <a:t>S</a:t>
            </a:r>
            <a:r>
              <a:rPr lang="pt-BR" altLang="ru-RU" sz="2800" smtClean="0">
                <a:latin typeface="Times New Roman" pitchFamily="18" charset="0"/>
              </a:rPr>
              <a:t> → </a:t>
            </a: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</a:rPr>
              <a:t>)</a:t>
            </a:r>
            <a:r>
              <a:rPr lang="en-US" altLang="ru-RU" sz="2800" i="1" smtClean="0">
                <a:latin typeface="Times New Roman" pitchFamily="18" charset="0"/>
              </a:rPr>
              <a:t>V</a:t>
            </a:r>
            <a:r>
              <a:rPr lang="pt-BR" altLang="ru-RU" sz="2800" i="1" smtClean="0">
                <a:latin typeface="Times New Roman" pitchFamily="18" charset="0"/>
              </a:rPr>
              <a:t>U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|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aV</a:t>
            </a:r>
            <a:r>
              <a:rPr lang="pt-BR" altLang="ru-RU" sz="2800" i="1" smtClean="0">
                <a:latin typeface="Times New Roman" pitchFamily="18" charset="0"/>
              </a:rPr>
              <a:t>U</a:t>
            </a:r>
          </a:p>
          <a:p>
            <a:pPr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pt-BR" altLang="ru-RU" sz="2800" i="1" smtClean="0">
                <a:latin typeface="Times New Roman" pitchFamily="18" charset="0"/>
              </a:rPr>
              <a:t>U</a:t>
            </a:r>
            <a:r>
              <a:rPr lang="pt-BR" altLang="ru-RU" sz="2800" smtClean="0">
                <a:latin typeface="Times New Roman" pitchFamily="18" charset="0"/>
              </a:rPr>
              <a:t> → + </a:t>
            </a:r>
            <a:r>
              <a:rPr lang="pt-BR" altLang="ru-RU" sz="2800" i="1" smtClean="0">
                <a:latin typeface="Times New Roman" pitchFamily="18" charset="0"/>
              </a:rPr>
              <a:t>TU</a:t>
            </a:r>
            <a:r>
              <a:rPr lang="pt-BR" altLang="ru-RU" sz="2800" smtClean="0">
                <a:latin typeface="Times New Roman" pitchFamily="18" charset="0"/>
              </a:rPr>
              <a:t> | </a:t>
            </a:r>
            <a:r>
              <a:rPr lang="en-US" altLang="ru-RU" sz="2800" smtClean="0">
                <a:latin typeface="Times New Roman" pitchFamily="18" charset="0"/>
              </a:rPr>
              <a:t>λ</a:t>
            </a:r>
            <a:endParaRPr lang="pt-BR" altLang="ru-RU" sz="2800" i="1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pt-BR" altLang="ru-RU" sz="2800" i="1" smtClean="0">
                <a:latin typeface="Times New Roman" pitchFamily="18" charset="0"/>
              </a:rPr>
              <a:t>T</a:t>
            </a:r>
            <a:r>
              <a:rPr lang="pt-BR" altLang="ru-RU" sz="2800" smtClean="0">
                <a:latin typeface="Times New Roman" pitchFamily="18" charset="0"/>
              </a:rPr>
              <a:t> → (</a:t>
            </a:r>
            <a:r>
              <a:rPr lang="pt-BR" altLang="ru-RU" sz="2800" i="1" smtClean="0">
                <a:latin typeface="Times New Roman" pitchFamily="18" charset="0"/>
              </a:rPr>
              <a:t>S</a:t>
            </a:r>
            <a:r>
              <a:rPr lang="pt-BR" altLang="ru-RU" sz="2800" smtClean="0">
                <a:latin typeface="Times New Roman" pitchFamily="18" charset="0"/>
              </a:rPr>
              <a:t>)</a:t>
            </a:r>
            <a:r>
              <a:rPr lang="pt-BR" altLang="ru-RU" sz="2800" i="1" smtClean="0">
                <a:latin typeface="Times New Roman" pitchFamily="18" charset="0"/>
              </a:rPr>
              <a:t>V</a:t>
            </a:r>
            <a:r>
              <a:rPr lang="pt-BR" altLang="ru-RU" sz="2800" smtClean="0">
                <a:latin typeface="Times New Roman" pitchFamily="18" charset="0"/>
              </a:rPr>
              <a:t> | </a:t>
            </a:r>
            <a:r>
              <a:rPr lang="pt-BR" altLang="ru-RU" sz="2800" i="1" smtClean="0">
                <a:latin typeface="Times New Roman" pitchFamily="18" charset="0"/>
              </a:rPr>
              <a:t>aV </a:t>
            </a:r>
          </a:p>
          <a:p>
            <a:pPr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pt-BR" altLang="ru-RU" sz="2800" i="1" smtClean="0">
                <a:latin typeface="Times New Roman" pitchFamily="18" charset="0"/>
              </a:rPr>
              <a:t>V</a:t>
            </a:r>
            <a:r>
              <a:rPr lang="pt-BR" altLang="ru-RU" sz="2800" smtClean="0">
                <a:latin typeface="Times New Roman" pitchFamily="18" charset="0"/>
              </a:rPr>
              <a:t> → * </a:t>
            </a:r>
            <a:r>
              <a:rPr lang="pt-BR" altLang="ru-RU" sz="2800" i="1" smtClean="0">
                <a:latin typeface="Times New Roman" pitchFamily="18" charset="0"/>
              </a:rPr>
              <a:t>FV</a:t>
            </a:r>
            <a:r>
              <a:rPr lang="pt-BR" altLang="ru-RU" sz="2800" smtClean="0">
                <a:latin typeface="Times New Roman" pitchFamily="18" charset="0"/>
              </a:rPr>
              <a:t> | λ</a:t>
            </a:r>
            <a:endParaRPr lang="pt-BR" altLang="ru-RU" sz="2800" i="1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pt-BR" altLang="ru-RU" sz="2800" i="1" smtClean="0">
                <a:latin typeface="Times New Roman" pitchFamily="18" charset="0"/>
              </a:rPr>
              <a:t>F</a:t>
            </a:r>
            <a:r>
              <a:rPr lang="pt-BR" altLang="ru-RU" sz="2800" smtClean="0">
                <a:latin typeface="Times New Roman" pitchFamily="18" charset="0"/>
              </a:rPr>
              <a:t> → (</a:t>
            </a:r>
            <a:r>
              <a:rPr lang="pt-BR" altLang="ru-RU" sz="2800" i="1" smtClean="0">
                <a:latin typeface="Times New Roman" pitchFamily="18" charset="0"/>
              </a:rPr>
              <a:t>S</a:t>
            </a:r>
            <a:r>
              <a:rPr lang="pt-BR" altLang="ru-RU" sz="2800" smtClean="0">
                <a:latin typeface="Times New Roman" pitchFamily="18" charset="0"/>
              </a:rPr>
              <a:t>) | 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  <a:endParaRPr lang="ru-RU" altLang="ru-RU" sz="2800" i="1" smtClean="0">
              <a:latin typeface="Times New Roman" pitchFamily="18" charset="0"/>
            </a:endParaRPr>
          </a:p>
        </p:txBody>
      </p:sp>
      <p:sp>
        <p:nvSpPr>
          <p:cNvPr id="10244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2FBB1B1-FEE2-425A-B1D5-47664D8ECCFA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F1D162A-B214-4767-A774-CE8E9F98E88E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400"/>
          </a:p>
        </p:txBody>
      </p:sp>
      <p:sp>
        <p:nvSpPr>
          <p:cNvPr id="11267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144462"/>
          </a:xfrm>
        </p:spPr>
        <p:txBody>
          <a:bodyPr/>
          <a:lstStyle/>
          <a:p>
            <a:pPr algn="l" eaLnBrk="1" hangingPunct="1"/>
            <a:endParaRPr lang="ru-RU" altLang="en-US" sz="3200" smtClean="0"/>
          </a:p>
        </p:txBody>
      </p:sp>
      <p:sp>
        <p:nvSpPr>
          <p:cNvPr id="11268" name="Объект 2"/>
          <p:cNvSpPr>
            <a:spLocks noGrp="1"/>
          </p:cNvSpPr>
          <p:nvPr>
            <p:ph idx="4294967295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function S:boolean;</a:t>
            </a:r>
          </a:p>
          <a:p>
            <a:pPr marL="0" indent="0" eaLnBrk="1" hangingPunct="1">
              <a:buFontTx/>
              <a:buNone/>
            </a:pPr>
            <a:r>
              <a:rPr lang="ru-RU" altLang="en-US" sz="2400" b="1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var b:boolean; </a:t>
            </a: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if C[i]=’(’ then begin i:=i+1;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if S and (C[i]=’)’) then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  begin i:=i+1; b:=true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else b:=false;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else if C[i]=’a’ then</a:t>
            </a: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altLang="en-US" sz="2400" b="1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i:=i+1; b:=true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else b:=false;</a:t>
            </a: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r>
              <a:rPr lang="ru-RU" altLang="en-US" sz="2400" b="1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if b then b:=V;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altLang="en-US" sz="2400" b="1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if b then b:=U;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S:=b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end;</a:t>
            </a: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0E573F2-4BE8-442B-83FF-34AA46EF1FC8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400"/>
          </a:p>
        </p:txBody>
      </p:sp>
      <p:sp>
        <p:nvSpPr>
          <p:cNvPr id="12291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144462"/>
          </a:xfrm>
        </p:spPr>
        <p:txBody>
          <a:bodyPr/>
          <a:lstStyle/>
          <a:p>
            <a:pPr algn="l" eaLnBrk="1" hangingPunct="1"/>
            <a:endParaRPr lang="ru-RU" altLang="en-US" sz="3200" smtClean="0"/>
          </a:p>
        </p:txBody>
      </p:sp>
      <p:sp>
        <p:nvSpPr>
          <p:cNvPr id="12292" name="Объект 2"/>
          <p:cNvSpPr>
            <a:spLocks noGrp="1"/>
          </p:cNvSpPr>
          <p:nvPr>
            <p:ph idx="4294967295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function T:boolean;</a:t>
            </a:r>
          </a:p>
          <a:p>
            <a:pPr marL="0" indent="0" eaLnBrk="1" hangingPunct="1">
              <a:buFontTx/>
              <a:buNone/>
            </a:pPr>
            <a:r>
              <a:rPr lang="ru-RU" altLang="en-US" sz="2400" b="1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var b:boolean; </a:t>
            </a: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if C[i]=’(’ then begin i:=i+1;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if S and (C[i]=’)’) then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  begin i:=i+1; b:=true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else b:=false;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else if C[i]=’a’ then</a:t>
            </a: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altLang="en-US" sz="2400" b="1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i:=i+1; b:=true end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else b:=false;</a:t>
            </a: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r>
              <a:rPr lang="ru-RU" altLang="en-US" sz="2400" b="1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if b then b:=V;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T:=b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end;</a:t>
            </a: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EA8CA5B-9999-4DD9-AC7F-27E6F9D3D31E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400"/>
          </a:p>
        </p:txBody>
      </p:sp>
      <p:sp>
        <p:nvSpPr>
          <p:cNvPr id="13315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217487"/>
          </a:xfrm>
        </p:spPr>
        <p:txBody>
          <a:bodyPr/>
          <a:lstStyle/>
          <a:p>
            <a:pPr algn="l" eaLnBrk="1" hangingPunct="1"/>
            <a:endParaRPr lang="en-US" altLang="en-US" sz="3200" smtClean="0"/>
          </a:p>
        </p:txBody>
      </p:sp>
      <p:sp>
        <p:nvSpPr>
          <p:cNvPr id="13316" name="Объект 2"/>
          <p:cNvSpPr>
            <a:spLocks noGrp="1"/>
          </p:cNvSpPr>
          <p:nvPr>
            <p:ph idx="4294967295"/>
          </p:nvPr>
        </p:nvSpPr>
        <p:spPr>
          <a:xfrm>
            <a:off x="457200" y="549275"/>
            <a:ext cx="8229600" cy="604837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function U:boolean;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var b:boolean;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b:=true;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if C[i]=’+’ do begin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i:=i+1; b:=T;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if b then b:=U;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end; 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U:=b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end;</a:t>
            </a:r>
            <a:endParaRPr lang="en-US" altLang="en-US" sz="10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endParaRPr lang="en-US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96C3F93-F5AC-4906-87A7-3418E37BC42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ru-RU" altLang="ru-RU" sz="1400"/>
          </a:p>
        </p:txBody>
      </p:sp>
      <p:sp>
        <p:nvSpPr>
          <p:cNvPr id="14339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217487"/>
          </a:xfrm>
        </p:spPr>
        <p:txBody>
          <a:bodyPr/>
          <a:lstStyle/>
          <a:p>
            <a:pPr algn="l" eaLnBrk="1" hangingPunct="1"/>
            <a:endParaRPr lang="en-US" altLang="en-US" sz="3200" smtClean="0"/>
          </a:p>
        </p:txBody>
      </p:sp>
      <p:sp>
        <p:nvSpPr>
          <p:cNvPr id="14340" name="Объект 2"/>
          <p:cNvSpPr>
            <a:spLocks noGrp="1"/>
          </p:cNvSpPr>
          <p:nvPr>
            <p:ph idx="4294967295"/>
          </p:nvPr>
        </p:nvSpPr>
        <p:spPr>
          <a:xfrm>
            <a:off x="457200" y="549275"/>
            <a:ext cx="8229600" cy="604837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function V:boolean;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var b:boolean;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begin b:=true;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if C[i]=’*’ do begin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i:=i+1; b:=F;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  if b then b:=V;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end; 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  V:=b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b="1" smtClean="0">
                <a:latin typeface="Courier New" pitchFamily="49" charset="0"/>
                <a:cs typeface="Courier New" pitchFamily="49" charset="0"/>
              </a:rPr>
              <a:t>end;</a:t>
            </a:r>
            <a:endParaRPr lang="en-US" altLang="en-US" sz="10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endParaRPr lang="en-US" altLang="en-US" sz="2400" b="1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Tx/>
              <a:buNone/>
            </a:pPr>
            <a:endParaRPr lang="ru-RU" altLang="en-US" sz="2400" b="1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9461021-227C-4C24-817E-C6C80B9642C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en-US" altLang="en-US" sz="4000" smtClean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4663" y="149225"/>
            <a:ext cx="8220075" cy="64484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en-US" sz="2400" smtClean="0">
                <a:latin typeface="Times New Roman" pitchFamily="18" charset="0"/>
              </a:rPr>
              <a:t>На рисунке изображено неявно строящееся при разборе дерево порождения  цепочки: </a:t>
            </a:r>
            <a:r>
              <a:rPr lang="en-US" altLang="en-US" sz="2400" i="1" smtClean="0">
                <a:latin typeface="Times New Roman" pitchFamily="18" charset="0"/>
              </a:rPr>
              <a:t>a</a:t>
            </a:r>
            <a:r>
              <a:rPr lang="en-US" altLang="en-US" sz="2400" smtClean="0">
                <a:latin typeface="Times New Roman" pitchFamily="18" charset="0"/>
              </a:rPr>
              <a:t> </a:t>
            </a:r>
            <a:r>
              <a:rPr lang="ru-RU" altLang="en-US" sz="2400" smtClean="0">
                <a:latin typeface="Times New Roman" pitchFamily="18" charset="0"/>
              </a:rPr>
              <a:t>+</a:t>
            </a:r>
            <a:r>
              <a:rPr lang="en-US" altLang="en-US" sz="2400" smtClean="0">
                <a:latin typeface="Times New Roman" pitchFamily="18" charset="0"/>
              </a:rPr>
              <a:t> </a:t>
            </a:r>
            <a:r>
              <a:rPr lang="en-US" altLang="en-US" sz="2400" i="1" smtClean="0">
                <a:latin typeface="Times New Roman" pitchFamily="18" charset="0"/>
              </a:rPr>
              <a:t>a * a </a:t>
            </a:r>
            <a:r>
              <a:rPr lang="en-US" altLang="en-US" sz="2400" b="1" baseline="-25000" smtClean="0">
                <a:latin typeface="Courier New" pitchFamily="49" charset="0"/>
                <a:cs typeface="Courier New" pitchFamily="49" charset="0"/>
              </a:rPr>
              <a:t>┴</a:t>
            </a:r>
            <a:endParaRPr lang="ru-RU" altLang="en-US" sz="2400" smtClean="0">
              <a:latin typeface="Times New Roman" pitchFamily="18" charset="0"/>
            </a:endParaRPr>
          </a:p>
        </p:txBody>
      </p:sp>
      <p:sp>
        <p:nvSpPr>
          <p:cNvPr id="15365" name="AutoShape 5"/>
          <p:cNvSpPr>
            <a:spLocks noChangeAspect="1" noChangeArrowheads="1"/>
          </p:cNvSpPr>
          <p:nvPr/>
        </p:nvSpPr>
        <p:spPr bwMode="auto">
          <a:xfrm>
            <a:off x="842963" y="1914525"/>
            <a:ext cx="6985000" cy="453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3341688" y="2073275"/>
            <a:ext cx="398462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endParaRPr lang="ru-RU" altLang="en-US" sz="2400" i="1">
              <a:latin typeface="Times New Roman" pitchFamily="18" charset="0"/>
            </a:endParaRPr>
          </a:p>
        </p:txBody>
      </p:sp>
      <p:sp>
        <p:nvSpPr>
          <p:cNvPr id="15367" name="Text Box 8"/>
          <p:cNvSpPr txBox="1">
            <a:spLocks noChangeArrowheads="1"/>
          </p:cNvSpPr>
          <p:nvPr/>
        </p:nvSpPr>
        <p:spPr bwMode="auto">
          <a:xfrm>
            <a:off x="3276600" y="2997200"/>
            <a:ext cx="415925" cy="4111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V</a:t>
            </a:r>
            <a:endParaRPr lang="ru-RU" altLang="en-US" sz="2400" i="1">
              <a:latin typeface="Times New Roman" pitchFamily="18" charset="0"/>
            </a:endParaRPr>
          </a:p>
        </p:txBody>
      </p:sp>
      <p:sp>
        <p:nvSpPr>
          <p:cNvPr id="15368" name="Text Box 9"/>
          <p:cNvSpPr txBox="1">
            <a:spLocks noChangeArrowheads="1"/>
          </p:cNvSpPr>
          <p:nvPr/>
        </p:nvSpPr>
        <p:spPr bwMode="auto">
          <a:xfrm>
            <a:off x="3995738" y="2997200"/>
            <a:ext cx="4318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U</a:t>
            </a:r>
            <a:endParaRPr lang="ru-RU" altLang="en-US" sz="2400" i="1">
              <a:latin typeface="Times New Roman" pitchFamily="18" charset="0"/>
            </a:endParaRPr>
          </a:p>
        </p:txBody>
      </p:sp>
      <p:sp>
        <p:nvSpPr>
          <p:cNvPr id="15369" name="Text Box 10"/>
          <p:cNvSpPr txBox="1">
            <a:spLocks noChangeArrowheads="1"/>
          </p:cNvSpPr>
          <p:nvPr/>
        </p:nvSpPr>
        <p:spPr bwMode="auto">
          <a:xfrm>
            <a:off x="2339975" y="2997200"/>
            <a:ext cx="438150" cy="4365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a</a:t>
            </a:r>
            <a:endParaRPr lang="ru-RU" altLang="en-US" sz="2400" i="1">
              <a:latin typeface="Times New Roman" pitchFamily="18" charset="0"/>
            </a:endParaRPr>
          </a:p>
        </p:txBody>
      </p:sp>
      <p:sp>
        <p:nvSpPr>
          <p:cNvPr id="15370" name="Text Box 14"/>
          <p:cNvSpPr txBox="1">
            <a:spLocks noChangeArrowheads="1"/>
          </p:cNvSpPr>
          <p:nvPr/>
        </p:nvSpPr>
        <p:spPr bwMode="auto">
          <a:xfrm>
            <a:off x="3492500" y="3860800"/>
            <a:ext cx="368300" cy="4159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+</a:t>
            </a:r>
            <a:endParaRPr lang="ru-RU" altLang="en-US" sz="2400">
              <a:latin typeface="Times New Roman" pitchFamily="18" charset="0"/>
            </a:endParaRPr>
          </a:p>
        </p:txBody>
      </p:sp>
      <p:sp>
        <p:nvSpPr>
          <p:cNvPr id="15371" name="Text Box 15"/>
          <p:cNvSpPr txBox="1">
            <a:spLocks noChangeArrowheads="1"/>
          </p:cNvSpPr>
          <p:nvPr/>
        </p:nvSpPr>
        <p:spPr bwMode="auto">
          <a:xfrm>
            <a:off x="5508625" y="3860800"/>
            <a:ext cx="3937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U</a:t>
            </a:r>
            <a:endParaRPr lang="ru-RU" altLang="en-US" sz="2400" i="1">
              <a:latin typeface="Times New Roman" pitchFamily="18" charset="0"/>
            </a:endParaRPr>
          </a:p>
        </p:txBody>
      </p:sp>
      <p:sp>
        <p:nvSpPr>
          <p:cNvPr id="15372" name="Text Box 16"/>
          <p:cNvSpPr txBox="1">
            <a:spLocks noChangeArrowheads="1"/>
          </p:cNvSpPr>
          <p:nvPr/>
        </p:nvSpPr>
        <p:spPr bwMode="auto">
          <a:xfrm>
            <a:off x="4500563" y="3860800"/>
            <a:ext cx="38735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T</a:t>
            </a:r>
            <a:endParaRPr lang="ru-RU" altLang="en-US" sz="2400" i="1">
              <a:latin typeface="Times New Roman" pitchFamily="18" charset="0"/>
            </a:endParaRPr>
          </a:p>
        </p:txBody>
      </p:sp>
      <p:sp>
        <p:nvSpPr>
          <p:cNvPr id="15373" name="Text Box 18"/>
          <p:cNvSpPr txBox="1">
            <a:spLocks noChangeArrowheads="1"/>
          </p:cNvSpPr>
          <p:nvPr/>
        </p:nvSpPr>
        <p:spPr bwMode="auto">
          <a:xfrm>
            <a:off x="4067175" y="4508500"/>
            <a:ext cx="3873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a</a:t>
            </a:r>
            <a:endParaRPr lang="ru-RU" altLang="en-US" sz="2400">
              <a:latin typeface="Times New Roman" pitchFamily="18" charset="0"/>
            </a:endParaRPr>
          </a:p>
        </p:txBody>
      </p:sp>
      <p:sp>
        <p:nvSpPr>
          <p:cNvPr id="15374" name="Line 19"/>
          <p:cNvSpPr>
            <a:spLocks noChangeShapeType="1"/>
          </p:cNvSpPr>
          <p:nvPr/>
        </p:nvSpPr>
        <p:spPr bwMode="auto">
          <a:xfrm flipH="1">
            <a:off x="2771775" y="2565400"/>
            <a:ext cx="641350" cy="469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75" name="Line 20"/>
          <p:cNvSpPr>
            <a:spLocks noChangeShapeType="1"/>
          </p:cNvSpPr>
          <p:nvPr/>
        </p:nvSpPr>
        <p:spPr bwMode="auto">
          <a:xfrm>
            <a:off x="3492500" y="2565400"/>
            <a:ext cx="11113" cy="425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76" name="Line 25"/>
          <p:cNvSpPr>
            <a:spLocks noChangeShapeType="1"/>
          </p:cNvSpPr>
          <p:nvPr/>
        </p:nvSpPr>
        <p:spPr bwMode="auto">
          <a:xfrm flipH="1">
            <a:off x="3779838" y="3429000"/>
            <a:ext cx="234950" cy="441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77" name="Line 26"/>
          <p:cNvSpPr>
            <a:spLocks noChangeShapeType="1"/>
          </p:cNvSpPr>
          <p:nvPr/>
        </p:nvSpPr>
        <p:spPr bwMode="auto">
          <a:xfrm>
            <a:off x="4211638" y="3429000"/>
            <a:ext cx="523875" cy="441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78" name="Line 27"/>
          <p:cNvSpPr>
            <a:spLocks noChangeShapeType="1"/>
          </p:cNvSpPr>
          <p:nvPr/>
        </p:nvSpPr>
        <p:spPr bwMode="auto">
          <a:xfrm>
            <a:off x="4427538" y="3357563"/>
            <a:ext cx="1071562" cy="549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79" name="Text Box 6"/>
          <p:cNvSpPr txBox="1">
            <a:spLocks noChangeArrowheads="1"/>
          </p:cNvSpPr>
          <p:nvPr/>
        </p:nvSpPr>
        <p:spPr bwMode="auto">
          <a:xfrm>
            <a:off x="3856038" y="1196975"/>
            <a:ext cx="504825" cy="5032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US" altLang="en-US" sz="2400" baseline="-25000">
                <a:latin typeface="Times New Roman" pitchFamily="18" charset="0"/>
              </a:rPr>
              <a:t>0</a:t>
            </a:r>
            <a:endParaRPr lang="ru-RU" altLang="en-US" sz="2400" baseline="-25000">
              <a:latin typeface="Times New Roman" pitchFamily="18" charset="0"/>
            </a:endParaRPr>
          </a:p>
        </p:txBody>
      </p:sp>
      <p:sp>
        <p:nvSpPr>
          <p:cNvPr id="15380" name="Line 24"/>
          <p:cNvSpPr>
            <a:spLocks noChangeShapeType="1"/>
          </p:cNvSpPr>
          <p:nvPr/>
        </p:nvSpPr>
        <p:spPr bwMode="auto">
          <a:xfrm flipH="1">
            <a:off x="3741738" y="1706563"/>
            <a:ext cx="195262" cy="4524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81" name="Line 26"/>
          <p:cNvSpPr>
            <a:spLocks noChangeShapeType="1"/>
          </p:cNvSpPr>
          <p:nvPr/>
        </p:nvSpPr>
        <p:spPr bwMode="auto">
          <a:xfrm>
            <a:off x="4211638" y="1700213"/>
            <a:ext cx="525462" cy="434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82" name="Text Box 16"/>
          <p:cNvSpPr txBox="1">
            <a:spLocks noChangeArrowheads="1"/>
          </p:cNvSpPr>
          <p:nvPr/>
        </p:nvSpPr>
        <p:spPr bwMode="auto">
          <a:xfrm>
            <a:off x="4732338" y="2078038"/>
            <a:ext cx="347662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baseline="-25000">
                <a:latin typeface="Courier New" pitchFamily="49" charset="0"/>
                <a:cs typeface="Courier New" pitchFamily="49" charset="0"/>
              </a:rPr>
              <a:t>┴</a:t>
            </a:r>
            <a:endParaRPr lang="ru-RU" altLang="en-US" sz="2800" baseline="-25000">
              <a:latin typeface="Times New Roman" pitchFamily="18" charset="0"/>
            </a:endParaRPr>
          </a:p>
        </p:txBody>
      </p:sp>
      <p:sp>
        <p:nvSpPr>
          <p:cNvPr id="15383" name="Text Box 8"/>
          <p:cNvSpPr txBox="1">
            <a:spLocks noChangeArrowheads="1"/>
          </p:cNvSpPr>
          <p:nvPr/>
        </p:nvSpPr>
        <p:spPr bwMode="auto">
          <a:xfrm>
            <a:off x="4787900" y="4508500"/>
            <a:ext cx="415925" cy="4175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V</a:t>
            </a:r>
            <a:endParaRPr lang="ru-RU" altLang="en-US" sz="2400" i="1">
              <a:latin typeface="Times New Roman" pitchFamily="18" charset="0"/>
            </a:endParaRPr>
          </a:p>
        </p:txBody>
      </p:sp>
      <p:sp>
        <p:nvSpPr>
          <p:cNvPr id="15384" name="Line 33"/>
          <p:cNvSpPr>
            <a:spLocks noChangeShapeType="1"/>
          </p:cNvSpPr>
          <p:nvPr/>
        </p:nvSpPr>
        <p:spPr bwMode="auto">
          <a:xfrm>
            <a:off x="3635375" y="2565400"/>
            <a:ext cx="5048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85" name="Line 34"/>
          <p:cNvSpPr>
            <a:spLocks noChangeShapeType="1"/>
          </p:cNvSpPr>
          <p:nvPr/>
        </p:nvSpPr>
        <p:spPr bwMode="auto">
          <a:xfrm flipH="1">
            <a:off x="4356100" y="4292600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86" name="Line 35"/>
          <p:cNvSpPr>
            <a:spLocks noChangeShapeType="1"/>
          </p:cNvSpPr>
          <p:nvPr/>
        </p:nvSpPr>
        <p:spPr bwMode="auto">
          <a:xfrm>
            <a:off x="4787900" y="4292600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87" name="Text Box 14"/>
          <p:cNvSpPr txBox="1">
            <a:spLocks noChangeArrowheads="1"/>
          </p:cNvSpPr>
          <p:nvPr/>
        </p:nvSpPr>
        <p:spPr bwMode="auto">
          <a:xfrm>
            <a:off x="4500563" y="5229225"/>
            <a:ext cx="368300" cy="403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*</a:t>
            </a:r>
            <a:endParaRPr lang="ru-RU" altLang="en-US" sz="2400">
              <a:latin typeface="Times New Roman" pitchFamily="18" charset="0"/>
            </a:endParaRPr>
          </a:p>
        </p:txBody>
      </p:sp>
      <p:sp>
        <p:nvSpPr>
          <p:cNvPr id="15388" name="Text Box 14"/>
          <p:cNvSpPr txBox="1">
            <a:spLocks noChangeArrowheads="1"/>
          </p:cNvSpPr>
          <p:nvPr/>
        </p:nvSpPr>
        <p:spPr bwMode="auto">
          <a:xfrm>
            <a:off x="5076825" y="5229225"/>
            <a:ext cx="368300" cy="3905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F</a:t>
            </a:r>
            <a:endParaRPr lang="ru-RU" altLang="en-US" sz="2400" i="1">
              <a:latin typeface="Times New Roman" pitchFamily="18" charset="0"/>
            </a:endParaRPr>
          </a:p>
        </p:txBody>
      </p:sp>
      <p:sp>
        <p:nvSpPr>
          <p:cNvPr id="15389" name="Text Box 14"/>
          <p:cNvSpPr txBox="1">
            <a:spLocks noChangeArrowheads="1"/>
          </p:cNvSpPr>
          <p:nvPr/>
        </p:nvSpPr>
        <p:spPr bwMode="auto">
          <a:xfrm>
            <a:off x="5651500" y="5229225"/>
            <a:ext cx="368300" cy="3905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V</a:t>
            </a:r>
            <a:endParaRPr lang="ru-RU" altLang="en-US" sz="2400" i="1">
              <a:latin typeface="Times New Roman" pitchFamily="18" charset="0"/>
            </a:endParaRPr>
          </a:p>
        </p:txBody>
      </p:sp>
      <p:sp>
        <p:nvSpPr>
          <p:cNvPr id="15390" name="Text Box 18"/>
          <p:cNvSpPr txBox="1">
            <a:spLocks noChangeArrowheads="1"/>
          </p:cNvSpPr>
          <p:nvPr/>
        </p:nvSpPr>
        <p:spPr bwMode="auto">
          <a:xfrm>
            <a:off x="5076825" y="5876925"/>
            <a:ext cx="3873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a</a:t>
            </a:r>
            <a:endParaRPr lang="ru-RU" altLang="en-US" sz="2400">
              <a:latin typeface="Times New Roman" pitchFamily="18" charset="0"/>
            </a:endParaRPr>
          </a:p>
        </p:txBody>
      </p:sp>
      <p:sp>
        <p:nvSpPr>
          <p:cNvPr id="15391" name="Line 41"/>
          <p:cNvSpPr>
            <a:spLocks noChangeShapeType="1"/>
          </p:cNvSpPr>
          <p:nvPr/>
        </p:nvSpPr>
        <p:spPr bwMode="auto">
          <a:xfrm flipH="1">
            <a:off x="4716463" y="4941888"/>
            <a:ext cx="142875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92" name="Line 42"/>
          <p:cNvSpPr>
            <a:spLocks noChangeShapeType="1"/>
          </p:cNvSpPr>
          <p:nvPr/>
        </p:nvSpPr>
        <p:spPr bwMode="auto">
          <a:xfrm>
            <a:off x="5003800" y="4941888"/>
            <a:ext cx="2159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93" name="Line 43"/>
          <p:cNvSpPr>
            <a:spLocks noChangeShapeType="1"/>
          </p:cNvSpPr>
          <p:nvPr/>
        </p:nvSpPr>
        <p:spPr bwMode="auto">
          <a:xfrm>
            <a:off x="5148263" y="4941888"/>
            <a:ext cx="6477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94" name="Line 47"/>
          <p:cNvSpPr>
            <a:spLocks noChangeShapeType="1"/>
          </p:cNvSpPr>
          <p:nvPr/>
        </p:nvSpPr>
        <p:spPr bwMode="auto">
          <a:xfrm flipH="1">
            <a:off x="5260975" y="5619750"/>
            <a:ext cx="3175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92F2103-3C31-4162-BA16-B811A0909EC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400" smtClean="0"/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59E8C5F-5934-4F49-850C-A03868B9CC6E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400"/>
          </a:p>
        </p:txBody>
      </p:sp>
      <p:sp>
        <p:nvSpPr>
          <p:cNvPr id="16388" name="Rectangle 1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08050"/>
          </a:xfrm>
        </p:spPr>
        <p:txBody>
          <a:bodyPr/>
          <a:lstStyle/>
          <a:p>
            <a:pPr eaLnBrk="1" hangingPunct="1"/>
            <a:r>
              <a:rPr lang="ru-RU" altLang="ru-RU" sz="3200" smtClean="0"/>
              <a:t>СИНТАКСИЧЕСКИЙ АНАЛИЗ</a:t>
            </a:r>
            <a:r>
              <a:rPr lang="en-US" altLang="ru-RU" sz="3200" smtClean="0"/>
              <a:t> </a:t>
            </a:r>
            <a:r>
              <a:rPr lang="ru-RU" altLang="ru-RU" sz="3200" smtClean="0"/>
              <a:t>СНИЗУ-ВВЕРХ </a:t>
            </a:r>
          </a:p>
        </p:txBody>
      </p:sp>
      <p:sp>
        <p:nvSpPr>
          <p:cNvPr id="16389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712200" cy="54721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i="1" smtClean="0"/>
              <a:t>Дерево порождения для КС-грамматики</a:t>
            </a:r>
          </a:p>
          <a:p>
            <a:pPr eaLnBrk="1" hangingPunct="1"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Все порождающие правила имеют вид:    </a:t>
            </a:r>
            <a:r>
              <a:rPr lang="en-US" altLang="ru-RU" sz="2000" i="1" smtClean="0">
                <a:latin typeface="Times New Roman" pitchFamily="18" charset="0"/>
              </a:rPr>
              <a:t>A</a:t>
            </a:r>
            <a:r>
              <a:rPr lang="ru-RU" altLang="ru-RU" sz="2000" smtClean="0">
                <a:latin typeface="Times New Roman" pitchFamily="18" charset="0"/>
              </a:rPr>
              <a:t> → γ,</a:t>
            </a:r>
          </a:p>
          <a:p>
            <a:pPr eaLnBrk="1" hangingPunct="1"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где </a:t>
            </a:r>
            <a:r>
              <a:rPr lang="en-US" altLang="ru-RU" sz="2000" i="1" smtClean="0">
                <a:latin typeface="Times New Roman" pitchFamily="18" charset="0"/>
              </a:rPr>
              <a:t>A</a:t>
            </a:r>
            <a:r>
              <a:rPr lang="ru-RU" altLang="ru-RU" sz="2000" smtClean="0">
                <a:latin typeface="Times New Roman" pitchFamily="18" charset="0"/>
              </a:rPr>
              <a:t> – нетерминальный символ,  γ – цепочка из терминальных и нетерминальных символов.</a:t>
            </a:r>
            <a:r>
              <a:rPr lang="ru-RU" altLang="ru-RU" sz="2000" smtClean="0"/>
              <a:t> </a:t>
            </a:r>
          </a:p>
          <a:p>
            <a:pPr eaLnBrk="1" hangingPunct="1"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Процесс порождения в КС-грамматике – построение дерева порождения.</a:t>
            </a:r>
          </a:p>
          <a:p>
            <a:pPr eaLnBrk="1" hangingPunct="1"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Вершины дерева – терминальные и нетерминальные символы. </a:t>
            </a:r>
          </a:p>
          <a:p>
            <a:pPr eaLnBrk="1" hangingPunct="1"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Корень дерева – начальный нетерминал, вниз от него идут ребра, в концах которых размещаются символы правой части порождающего правила. </a:t>
            </a:r>
          </a:p>
          <a:p>
            <a:pPr eaLnBrk="1" hangingPunct="1"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От каждой вершины – нетерминала достраиваются вниз ребра с вершинами – символами в правой части примененного порождающего правила. </a:t>
            </a:r>
          </a:p>
          <a:p>
            <a:pPr eaLnBrk="1" hangingPunct="1"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Процесс продолжается до тех пор, пока среди висячих вершин дерева не останется ни одного нетерминала. </a:t>
            </a:r>
          </a:p>
          <a:p>
            <a:pPr eaLnBrk="1" hangingPunct="1"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Обход дерева слева направо по висячим вершинам дерева будет цепочкой языка, получившейся в процессе порождения.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A4D21DC-B3B3-4D4A-832C-3E22190FF2A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400" smtClean="0"/>
          </a:p>
        </p:txBody>
      </p:sp>
      <p:sp>
        <p:nvSpPr>
          <p:cNvPr id="17411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76DCECF-876F-41B9-8F00-A0FAD3459774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4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333375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229600" cy="61912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Правое каноническое порождение </a:t>
            </a:r>
            <a:r>
              <a:rPr lang="ru-RU" altLang="ru-RU" sz="2400" smtClean="0"/>
              <a:t>– если на каждом очередном шаге порождения дерево достраивается от самой правой висячей вершины – нетерминала.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i="1" smtClean="0"/>
              <a:t>Каждому построенному дереву порождения однозначно соответствует некоторое правое каноническое порождение.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i="1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/>
              <a:t>Дерево порождения можно строить от висячих вершин к корню – снизу-вверх. На очередном шаге построения к нескольким самым левым корневым вершинам поддеревьев достраиваются ребра и объединяющая их корневая вершина следующего уровня.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/>
              <a:t>Каждому частично построенному дереву способом снизу-вверх соответствует недостроенная до полного дерева часть. Эта часть дерева строится правым каноническим порождением.</a:t>
            </a:r>
            <a:endParaRPr lang="ru-RU" altLang="ru-RU" sz="2000" i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E522FA0-A5A9-4982-81B8-F050162C3AD9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ru-RU" altLang="ru-RU" sz="1400" smtClean="0"/>
          </a:p>
        </p:txBody>
      </p:sp>
      <p:sp>
        <p:nvSpPr>
          <p:cNvPr id="18435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3D017B6-A400-4C9D-ACF1-C6509D4226FC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ru-RU" altLang="ru-RU" sz="140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52513"/>
          </a:xfrm>
        </p:spPr>
        <p:txBody>
          <a:bodyPr/>
          <a:lstStyle/>
          <a:p>
            <a:pPr eaLnBrk="1" hangingPunct="1"/>
            <a:r>
              <a:rPr lang="ru-RU" altLang="ru-RU" sz="3600" i="1" smtClean="0"/>
              <a:t>Автомат с магазинной памятью</a:t>
            </a:r>
            <a:r>
              <a:rPr lang="ru-RU" altLang="ru-RU" sz="3600" smtClean="0"/>
              <a:t> (МПА)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507413" cy="55451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МПА задается семеркой множеств: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{</a:t>
            </a:r>
            <a:r>
              <a:rPr lang="en-US" altLang="ru-RU" sz="2400" smtClean="0">
                <a:latin typeface="Times New Roman" pitchFamily="18" charset="0"/>
              </a:rPr>
              <a:t>Σ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ru-RU" altLang="ru-RU" sz="2400" smtClean="0">
                <a:latin typeface="Times New Roman" pitchFamily="18" charset="0"/>
              </a:rPr>
              <a:t>, Γ, </a:t>
            </a:r>
            <a:r>
              <a:rPr lang="en-US" altLang="ru-RU" sz="2400" i="1" smtClean="0">
                <a:latin typeface="Times New Roman" pitchFamily="18" charset="0"/>
              </a:rPr>
              <a:t>Z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δ</a:t>
            </a:r>
            <a:r>
              <a:rPr lang="ru-RU" altLang="ru-RU" sz="2400" smtClean="0">
                <a:latin typeface="Times New Roman" pitchFamily="18" charset="0"/>
              </a:rPr>
              <a:t>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smtClean="0">
                <a:latin typeface="Times New Roman" pitchFamily="18" charset="0"/>
              </a:rPr>
              <a:t>Σ</a:t>
            </a:r>
            <a:r>
              <a:rPr lang="ru-RU" altLang="ru-RU" sz="2400" smtClean="0">
                <a:latin typeface="Times New Roman" pitchFamily="18" charset="0"/>
              </a:rPr>
              <a:t> – множество (алфавит) входных символов;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i="1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множество состояний МПА;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 – начальное состояние,               ; 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ru-RU" altLang="ru-RU" sz="2400" smtClean="0">
                <a:latin typeface="Times New Roman" pitchFamily="18" charset="0"/>
              </a:rPr>
              <a:t> – множество заключительных состояний,               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Γ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множество (алфавит) магазинных символов;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Z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 – начальный магазинный символ,              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δ</a:t>
            </a:r>
            <a:r>
              <a:rPr lang="ru-RU" altLang="ru-RU" sz="2400" smtClean="0">
                <a:latin typeface="Times New Roman" pitchFamily="18" charset="0"/>
              </a:rPr>
              <a:t> – множество правил перехода.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Действие в правиле перехода определяется входным символом, верхним символом магазина и текущим состоянием. Действие может содержать в различных сочетаниях такие шаги: а) удаление из магазина верхнего символа, б) запись в магазин нескольких символов, в) переход к чтению следующего входного символа, г) изменение текущего состояния. </a:t>
            </a:r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8439" name="Object 4"/>
          <p:cNvGraphicFramePr>
            <a:graphicFrameLocks noChangeAspect="1"/>
          </p:cNvGraphicFramePr>
          <p:nvPr/>
        </p:nvGraphicFramePr>
        <p:xfrm>
          <a:off x="6372225" y="3141663"/>
          <a:ext cx="9366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Формула" r:id="rId3" imgW="520700" imgH="228600" progId="Equation.3">
                  <p:embed/>
                </p:oleObj>
              </mc:Choice>
              <mc:Fallback>
                <p:oleObj name="Формула" r:id="rId3" imgW="5207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141663"/>
                        <a:ext cx="93662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8441" name="Object 6"/>
          <p:cNvGraphicFramePr>
            <a:graphicFrameLocks noChangeAspect="1"/>
          </p:cNvGraphicFramePr>
          <p:nvPr/>
        </p:nvGraphicFramePr>
        <p:xfrm>
          <a:off x="5364163" y="3860800"/>
          <a:ext cx="9350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Формула" r:id="rId5" imgW="558558" imgH="241195" progId="Equation.3">
                  <p:embed/>
                </p:oleObj>
              </mc:Choice>
              <mc:Fallback>
                <p:oleObj name="Формула" r:id="rId5" imgW="558558" imgH="2411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860800"/>
                        <a:ext cx="93503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8443" name="Object 8"/>
          <p:cNvGraphicFramePr>
            <a:graphicFrameLocks noChangeAspect="1"/>
          </p:cNvGraphicFramePr>
          <p:nvPr/>
        </p:nvGraphicFramePr>
        <p:xfrm>
          <a:off x="4067175" y="2708275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Формула" r:id="rId7" imgW="558558" imgH="241195" progId="Equation.3">
                  <p:embed/>
                </p:oleObj>
              </mc:Choice>
              <mc:Fallback>
                <p:oleObj name="Формула" r:id="rId7" imgW="558558" imgH="2411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708275"/>
                        <a:ext cx="863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3D866EF-952C-40C8-8140-E16D45123A8E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1400" smtClean="0"/>
          </a:p>
        </p:txBody>
      </p:sp>
      <p:sp>
        <p:nvSpPr>
          <p:cNvPr id="19459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04184B0-FE4C-49AD-9259-DD3672126367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1400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запись правила перехода в виде: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B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i</a:t>
            </a:r>
            <a:r>
              <a:rPr lang="ru-RU" altLang="ru-RU" sz="2800" smtClean="0">
                <a:latin typeface="Times New Roman" pitchFamily="18" charset="0"/>
              </a:rPr>
              <a:t>)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→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en-US" altLang="ru-RU" sz="2800" smtClean="0">
                <a:latin typeface="Times New Roman" pitchFamily="18" charset="0"/>
              </a:rPr>
              <a:t>λ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en-US" altLang="ru-RU" sz="2800" i="1" smtClean="0">
                <a:latin typeface="Times New Roman" pitchFamily="18" charset="0"/>
              </a:rPr>
              <a:t>B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j</a:t>
            </a:r>
            <a:r>
              <a:rPr lang="ru-RU" altLang="ru-RU" sz="2800" smtClean="0">
                <a:latin typeface="Times New Roman" pitchFamily="18" charset="0"/>
              </a:rPr>
              <a:t>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где                                      , символ</a:t>
            </a:r>
            <a:r>
              <a:rPr lang="ru-RU" altLang="ru-RU" sz="2800" i="1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B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и символы из цепочки </a:t>
            </a:r>
            <a:r>
              <a:rPr lang="en-US" altLang="ru-RU" sz="2800" smtClean="0">
                <a:latin typeface="Times New Roman" pitchFamily="18" charset="0"/>
              </a:rPr>
              <a:t>γ </a:t>
            </a:r>
            <a:r>
              <a:rPr lang="ru-RU" altLang="ru-RU" sz="2800" smtClean="0">
                <a:latin typeface="Times New Roman" pitchFamily="18" charset="0"/>
              </a:rPr>
              <a:t>все принадлежат алфавиту Γ, означает, что в магазин, содержащий верхний символ </a:t>
            </a:r>
            <a:r>
              <a:rPr lang="pt-BR" altLang="ru-RU" sz="2800" i="1" smtClean="0">
                <a:latin typeface="Times New Roman" pitchFamily="18" charset="0"/>
              </a:rPr>
              <a:t>B</a:t>
            </a:r>
            <a:r>
              <a:rPr lang="ru-RU" altLang="ru-RU" sz="2800" smtClean="0">
                <a:latin typeface="Times New Roman" pitchFamily="18" charset="0"/>
              </a:rPr>
              <a:t>, записывается цепочка символов 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ru-RU" altLang="ru-RU" sz="2800" smtClean="0">
                <a:latin typeface="Times New Roman" pitchFamily="18" charset="0"/>
              </a:rPr>
              <a:t>, текущее состояние становится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j</a:t>
            </a:r>
            <a:r>
              <a:rPr lang="ru-RU" altLang="ru-RU" sz="2800" i="1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, после чего делается переход к чтению следующего входного символа. Правило: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pt-BR" altLang="ru-RU" sz="2800" i="1" smtClean="0">
                <a:latin typeface="Times New Roman" pitchFamily="18" charset="0"/>
              </a:rPr>
              <a:t>B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i</a:t>
            </a:r>
            <a:r>
              <a:rPr lang="ru-RU" altLang="ru-RU" sz="2800" smtClean="0">
                <a:latin typeface="Times New Roman" pitchFamily="18" charset="0"/>
              </a:rPr>
              <a:t>)</a:t>
            </a:r>
            <a:r>
              <a:rPr lang="pt-BR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→</a:t>
            </a:r>
            <a:r>
              <a:rPr lang="pt-BR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smtClean="0">
                <a:latin typeface="Times New Roman" pitchFamily="18" charset="0"/>
              </a:rPr>
              <a:t>λ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j</a:t>
            </a:r>
            <a:r>
              <a:rPr lang="ru-RU" altLang="ru-RU" sz="2800" smtClean="0">
                <a:latin typeface="Times New Roman" pitchFamily="18" charset="0"/>
              </a:rPr>
              <a:t>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означает, что из магазина удаляется верхний символ </a:t>
            </a:r>
            <a:r>
              <a:rPr lang="pt-BR" altLang="ru-RU" sz="2800" i="1" smtClean="0">
                <a:latin typeface="Times New Roman" pitchFamily="18" charset="0"/>
              </a:rPr>
              <a:t>B</a:t>
            </a:r>
            <a:r>
              <a:rPr lang="ru-RU" altLang="ru-RU" sz="2800" smtClean="0">
                <a:latin typeface="Times New Roman" pitchFamily="18" charset="0"/>
              </a:rPr>
              <a:t>, текущее состояние становится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j</a:t>
            </a:r>
            <a:r>
              <a:rPr lang="ru-RU" altLang="ru-RU" sz="2800" i="1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, переход к чтению следующего входного символа не производится.</a:t>
            </a:r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63" name="Object 4"/>
          <p:cNvGraphicFramePr>
            <a:graphicFrameLocks noChangeAspect="1"/>
          </p:cNvGraphicFramePr>
          <p:nvPr/>
        </p:nvGraphicFramePr>
        <p:xfrm>
          <a:off x="1331913" y="1341438"/>
          <a:ext cx="30956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Формула" r:id="rId3" imgW="1701800" imgH="266700" progId="Equation.3">
                  <p:embed/>
                </p:oleObj>
              </mc:Choice>
              <mc:Fallback>
                <p:oleObj name="Формула" r:id="rId3" imgW="1701800" imgH="266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341438"/>
                        <a:ext cx="30956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C4EF9C-1E93-4E70-9AFC-D6F8004B7B44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ru-RU" altLang="ru-RU" sz="1400" smtClean="0"/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72C9746-6293-48DE-A2BD-FF3B19AF17C3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ru-RU" altLang="ru-RU" sz="140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507413" cy="61928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До начала функционирования МПА в магазине имеется начальный магазинный символ, МПА находится в начальном состоянии.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На каждом шаге работы читается очередной символ входной цепочки, начиная с первого, читается верхний символ магазина, и выполняются действия по такому правилу перехода, которое соответствует этим символам и текущему состоянию.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Работа МПА заканчивается, когда не будет ни одного подходящего правила, чтобы можно было продолжать работу.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при этом выполнены три условия: цепочка прочитана вся, магазин пуст, МПА находится в заключительном состоянии, то цепочка считается распознанной.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же хотя бы одно из этих условий нарушено, цепочка считается нераспознанной. Цепочка считается нераспознанной и в том случае, если МПА никак не может остановиться, т.е. когда он зациклил, и нет продвижения по входной цепочке.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362586-4704-4AEB-9B1B-D1F9B0EA5E6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ru-RU" altLang="ru-RU" sz="1400" smtClean="0"/>
          </a:p>
        </p:txBody>
      </p:sp>
      <p:sp>
        <p:nvSpPr>
          <p:cNvPr id="21507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FE24E13-52B2-47BD-9889-B209CB730CD3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ru-RU" altLang="ru-RU" sz="1400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61198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smtClean="0"/>
              <a:t>МПА будет детерминированным (ДМПА), если на каждом шаге возможно применение не более одного правила перехода. </a:t>
            </a:r>
          </a:p>
          <a:p>
            <a:pPr eaLnBrk="1" hangingPunct="1">
              <a:buFontTx/>
              <a:buNone/>
            </a:pPr>
            <a:r>
              <a:rPr lang="ru-RU" altLang="ru-RU" sz="2400" smtClean="0"/>
              <a:t>Если же на каком-либо шаге можно выполнить действия по двум или более правилам перехода, то МПА будет недетерминированным (НМПА), тогда он должен выполнять действия в соответствии со всеми этими правилами параллельно и независимо, создавая собственные копии. </a:t>
            </a:r>
          </a:p>
          <a:p>
            <a:pPr eaLnBrk="1" hangingPunct="1">
              <a:buFontTx/>
              <a:buNone/>
            </a:pPr>
            <a:endParaRPr lang="ru-RU" altLang="ru-RU" sz="1000" smtClean="0"/>
          </a:p>
          <a:p>
            <a:pPr eaLnBrk="1" hangingPunct="1">
              <a:buFontTx/>
              <a:buNone/>
            </a:pPr>
            <a:r>
              <a:rPr lang="ru-RU" altLang="ru-RU" sz="2400" smtClean="0"/>
              <a:t>Если хотя бы одна из копий НМПА </a:t>
            </a:r>
            <a:r>
              <a:rPr lang="ru-RU" altLang="ru-RU" sz="2400" b="1" i="1" smtClean="0"/>
              <a:t>распознает</a:t>
            </a:r>
            <a:r>
              <a:rPr lang="ru-RU" altLang="ru-RU" sz="2400" smtClean="0"/>
              <a:t> входную цепочку, то считается, что входная цепочка </a:t>
            </a:r>
            <a:r>
              <a:rPr lang="ru-RU" altLang="ru-RU" sz="2400" b="1" i="1" smtClean="0"/>
              <a:t>распознана </a:t>
            </a:r>
            <a:r>
              <a:rPr lang="ru-RU" altLang="ru-RU" sz="2400" smtClean="0"/>
              <a:t>недетерминированным МПА. </a:t>
            </a:r>
          </a:p>
          <a:p>
            <a:pPr eaLnBrk="1" hangingPunct="1">
              <a:buFontTx/>
              <a:buNone/>
            </a:pPr>
            <a:endParaRPr lang="ru-RU" altLang="ru-RU" sz="1000" smtClean="0"/>
          </a:p>
          <a:p>
            <a:pPr eaLnBrk="1" hangingPunct="1">
              <a:buFontTx/>
              <a:buNone/>
            </a:pPr>
            <a:r>
              <a:rPr lang="ru-RU" altLang="ru-RU" sz="2400" smtClean="0"/>
              <a:t>Входная цепочка считается </a:t>
            </a:r>
            <a:r>
              <a:rPr lang="ru-RU" altLang="ru-RU" sz="2400" b="1" i="1" smtClean="0"/>
              <a:t>нераспознанной</a:t>
            </a:r>
            <a:r>
              <a:rPr lang="ru-RU" altLang="ru-RU" sz="2400" smtClean="0"/>
              <a:t>, если ни одна из копий МПА </a:t>
            </a:r>
            <a:r>
              <a:rPr lang="ru-RU" altLang="ru-RU" sz="2400" b="1" i="1" smtClean="0"/>
              <a:t>не распознала</a:t>
            </a:r>
            <a:r>
              <a:rPr lang="ru-RU" altLang="ru-RU" sz="2400" smtClean="0"/>
              <a:t> цепочку.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0867FE9-90FB-4D12-BA04-2EBDFC10CCF8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ru-RU" altLang="ru-RU" sz="1400" smtClean="0"/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D7CB11A-30CD-4E10-9414-C89030EF07A5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ru-RU" altLang="ru-RU" sz="1400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eaLnBrk="1" hangingPunct="1"/>
            <a:r>
              <a:rPr lang="en-US" altLang="ru-RU" sz="3200" b="1" smtClean="0"/>
              <a:t>LR</a:t>
            </a:r>
            <a:r>
              <a:rPr lang="ru-RU" altLang="ru-RU" sz="3200" b="1" smtClean="0"/>
              <a:t>-разбор КС-грамматики автоматом с магазинной памятью</a:t>
            </a:r>
            <a:r>
              <a:rPr lang="ru-RU" altLang="ru-RU" sz="4000" smtClean="0"/>
              <a:t> 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LR</a:t>
            </a:r>
            <a:r>
              <a:rPr lang="ru-RU" altLang="ru-RU" sz="2400" smtClean="0">
                <a:latin typeface="Times New Roman" pitchFamily="18" charset="0"/>
              </a:rPr>
              <a:t>-разбор – цепочка символов читается слева направо, дерево строится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снизу-вверх, </a:t>
            </a:r>
            <a:r>
              <a:rPr lang="ru-RU" altLang="ru-RU" sz="2400" b="1" i="1" smtClean="0">
                <a:latin typeface="Times New Roman" pitchFamily="18" charset="0"/>
              </a:rPr>
              <a:t>дополняя</a:t>
            </a:r>
            <a:r>
              <a:rPr lang="ru-RU" altLang="ru-RU" sz="2400" smtClean="0">
                <a:latin typeface="Times New Roman" pitchFamily="18" charset="0"/>
              </a:rPr>
              <a:t> правое каноническое порождение.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задана КС-грамматика. Построим по ней МПА, выполняющий грамматический </a:t>
            </a:r>
            <a:r>
              <a:rPr lang="en-US" altLang="ru-RU" sz="2400" smtClean="0">
                <a:latin typeface="Times New Roman" pitchFamily="18" charset="0"/>
              </a:rPr>
              <a:t>LR</a:t>
            </a:r>
            <a:r>
              <a:rPr lang="ru-RU" altLang="ru-RU" sz="2400" smtClean="0">
                <a:latin typeface="Times New Roman" pitchFamily="18" charset="0"/>
              </a:rPr>
              <a:t>-разбор.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Множество входных символов Σ в МПА будет совпадать с множеством терминальных символов грамматики.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Множество состояний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smtClean="0">
                <a:latin typeface="Times New Roman" pitchFamily="18" charset="0"/>
              </a:rPr>
              <a:t> будет состоять из начального состояния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 и заключительного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Множество магазинных символов Γ будет содержать все терминальные и нетерминальные символы грамматики и особый начальный магазинный символ </a:t>
            </a:r>
            <a:r>
              <a:rPr lang="ru-RU" altLang="ru-RU" sz="2800" baseline="-25000" smtClean="0"/>
              <a:t>┴</a:t>
            </a:r>
            <a:r>
              <a:rPr lang="ru-RU" altLang="ru-RU" sz="2400" smtClean="0">
                <a:latin typeface="Times New Roman" pitchFamily="18" charset="0"/>
              </a:rPr>
              <a:t>: 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ru-RU" altLang="ru-RU" sz="2400" smtClean="0">
                <a:latin typeface="Times New Roman" pitchFamily="18" charset="0"/>
              </a:rPr>
              <a:t>Γ = Σ </a:t>
            </a:r>
            <a:r>
              <a:rPr lang="ru-RU" altLang="ru-RU" sz="2400" smtClean="0"/>
              <a:t>U</a:t>
            </a:r>
            <a:r>
              <a:rPr lang="ru-RU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/>
              <a:t>U </a:t>
            </a:r>
            <a:r>
              <a:rPr lang="en-US" altLang="ru-RU" sz="2400" smtClean="0"/>
              <a:t>{</a:t>
            </a:r>
            <a:r>
              <a:rPr lang="ru-RU" altLang="ru-RU" sz="2800" baseline="-25000" smtClean="0"/>
              <a:t>┴</a:t>
            </a:r>
            <a:r>
              <a:rPr lang="en-US" altLang="ru-RU" sz="2400" smtClean="0">
                <a:latin typeface="Times New Roman" pitchFamily="18" charset="0"/>
              </a:rPr>
              <a:t>}.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071D5A-49E8-456E-B59D-7590ABE08304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ru-RU" altLang="ru-RU" sz="1400" smtClean="0"/>
          </a:p>
        </p:txBody>
      </p:sp>
      <p:sp>
        <p:nvSpPr>
          <p:cNvPr id="23555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8EA5047-D2CE-49F3-93CF-9EEEA24B57F5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ru-RU" altLang="ru-RU" sz="1400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725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404813"/>
            <a:ext cx="8362950" cy="64531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Правила перехода δ для МПА, моделирующего разбор снизу-вверх, будем строить следующим образом.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Для каждого порождающего правила вида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→ γ будет правило перехода: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(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γ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),			(*)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здесь </a:t>
            </a:r>
            <a:r>
              <a:rPr lang="ru-RU" altLang="ru-RU" sz="2400" b="1" i="1" smtClean="0">
                <a:latin typeface="Times New Roman" pitchFamily="18" charset="0"/>
              </a:rPr>
              <a:t>основа</a:t>
            </a:r>
            <a:r>
              <a:rPr lang="ru-RU" altLang="ru-RU" sz="2400" smtClean="0">
                <a:latin typeface="Times New Roman" pitchFamily="18" charset="0"/>
              </a:rPr>
              <a:t> (правая часть правила) γ, записанная в магазине, заменяется (сворачивается) на нетерминал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Для каждого терминального символа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правило перехода: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(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</a:rPr>
              <a:t> 			(**)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здесь очередной входной символ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 переносится в магазин.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Особое правило (завершающее):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 (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ru-RU" altLang="ru-RU" sz="2800" baseline="-25000" smtClean="0"/>
              <a:t>┴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en-US" altLang="ru-RU" sz="2400" baseline="-25000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),		(***)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 – начальный нетерминал.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endParaRPr lang="en-US" altLang="ru-RU" sz="2400" smtClean="0">
              <a:latin typeface="Times New Roman" pitchFamily="18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/>
              <a:t>Такой алгоритм называют алгоритмом 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/>
              <a:t>«перенос – свертка».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304B70A-4ABA-495B-B597-6D52B9CCC9F7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ru-RU" altLang="ru-RU" sz="1400" smtClean="0"/>
          </a:p>
        </p:txBody>
      </p:sp>
      <p:sp>
        <p:nvSpPr>
          <p:cNvPr id="24579" name="Заголовок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8229600" cy="287337"/>
          </a:xfrm>
        </p:spPr>
        <p:txBody>
          <a:bodyPr/>
          <a:lstStyle/>
          <a:p>
            <a:pPr algn="l"/>
            <a:endParaRPr lang="ru-RU" altLang="ru-RU" sz="3600" smtClean="0"/>
          </a:p>
        </p:txBody>
      </p:sp>
      <p:sp>
        <p:nvSpPr>
          <p:cNvPr id="24580" name="Объект 2"/>
          <p:cNvSpPr>
            <a:spLocks noGrp="1"/>
          </p:cNvSpPr>
          <p:nvPr>
            <p:ph idx="1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общем случае такой МПА будет недетерминированным, и будет пытаться строить все варианты сворачивания самой левой правой части какого-либо правила, сформированного в магазине.</a:t>
            </a:r>
          </a:p>
          <a:p>
            <a:pPr marL="0" indent="0">
              <a:buFontTx/>
              <a:buNone/>
            </a:pPr>
            <a:endParaRPr lang="en-US" altLang="ru-RU" sz="2400" smtClean="0"/>
          </a:p>
          <a:p>
            <a:pPr marL="0" indent="0">
              <a:buFontTx/>
              <a:buNone/>
            </a:pPr>
            <a:r>
              <a:rPr lang="ru-RU" altLang="ru-RU" sz="2800" b="1" smtClean="0"/>
              <a:t>Теорема.</a:t>
            </a:r>
            <a:endParaRPr lang="en-US" altLang="ru-RU" sz="2800" b="1" smtClean="0"/>
          </a:p>
          <a:p>
            <a:pPr marL="0" indent="0">
              <a:buFontTx/>
              <a:buNone/>
            </a:pPr>
            <a:r>
              <a:rPr lang="ru-RU" altLang="ru-RU" sz="2400" smtClean="0"/>
              <a:t>НМПА, реализующий </a:t>
            </a:r>
            <a:r>
              <a:rPr lang="en-US" altLang="ru-RU" sz="2400" smtClean="0"/>
              <a:t>LR</a:t>
            </a:r>
            <a:r>
              <a:rPr lang="ru-RU" altLang="ru-RU" sz="2400" smtClean="0"/>
              <a:t>-разбор некоторой КС-грамматики, допускает входную цепочку тогда и только тогда, когда цепочка порождается этой КС-грамматикой.</a:t>
            </a:r>
          </a:p>
          <a:p>
            <a:pPr marL="0" indent="0">
              <a:buFontTx/>
              <a:buNone/>
            </a:pPr>
            <a:endParaRPr lang="ru-RU" altLang="ru-RU" sz="2400" smtClean="0"/>
          </a:p>
          <a:p>
            <a:pPr marL="0" indent="0">
              <a:buFontTx/>
              <a:buNone/>
            </a:pPr>
            <a:r>
              <a:rPr lang="ru-RU" altLang="ru-RU" sz="2400" b="1" i="1" smtClean="0"/>
              <a:t>Доказательство – методом от «противного»</a:t>
            </a:r>
            <a:r>
              <a:rPr lang="ru-RU" altLang="ru-RU" sz="2400" i="1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A8344B1-82E8-46D8-9451-1D0C76716F3E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ru-RU" altLang="ru-RU" sz="1400" smtClean="0"/>
          </a:p>
        </p:txBody>
      </p:sp>
      <p:sp>
        <p:nvSpPr>
          <p:cNvPr id="25603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C71B91B-AA72-4F1C-BA73-EA9855F198D0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ru-RU" altLang="ru-RU" sz="140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b="1" smtClean="0">
                <a:latin typeface="Times New Roman" pitchFamily="18" charset="0"/>
              </a:rPr>
              <a:t>Пример. </a:t>
            </a:r>
            <a:r>
              <a:rPr lang="ru-RU" altLang="ru-RU" sz="2800" smtClean="0">
                <a:latin typeface="Times New Roman" pitchFamily="18" charset="0"/>
              </a:rPr>
              <a:t>Грамматика простых арифметических выражений:</a:t>
            </a:r>
            <a:endParaRPr lang="en-US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ru-RU" sz="2800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S </a:t>
            </a:r>
            <a:r>
              <a:rPr lang="ru-RU" altLang="ru-RU" sz="2800" smtClean="0">
                <a:latin typeface="Times New Roman" pitchFamily="18" charset="0"/>
              </a:rPr>
              <a:t>+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|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T </a:t>
            </a:r>
            <a:r>
              <a:rPr lang="en-US" altLang="ru-RU" sz="2800" smtClean="0">
                <a:latin typeface="Times New Roman" pitchFamily="18" charset="0"/>
              </a:rPr>
              <a:t>* 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  <a:r>
              <a:rPr lang="en-US" altLang="ru-RU" sz="2800" smtClean="0">
                <a:latin typeface="Times New Roman" pitchFamily="18" charset="0"/>
              </a:rPr>
              <a:t> | 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  <a:r>
              <a:rPr lang="en-US" altLang="ru-RU" sz="2800" smtClean="0">
                <a:latin typeface="Times New Roman" pitchFamily="18" charset="0"/>
              </a:rPr>
              <a:t> → (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</a:rPr>
              <a:t>) | 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endParaRPr lang="ru-RU" altLang="ru-RU" sz="2800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Пусть цепочка на входе: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+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a * a</a:t>
            </a:r>
            <a:r>
              <a:rPr lang="ru-RU" altLang="ru-RU" sz="2800" smtClean="0">
                <a:latin typeface="Times New Roman" pitchFamily="18" charset="0"/>
              </a:rPr>
              <a:t>. </a:t>
            </a:r>
            <a:endParaRPr lang="en-US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В таблице представлен тот вариант шагов </a:t>
            </a:r>
            <a:r>
              <a:rPr lang="en-US" altLang="ru-RU" sz="2800" smtClean="0">
                <a:latin typeface="Times New Roman" pitchFamily="18" charset="0"/>
              </a:rPr>
              <a:t>LR</a:t>
            </a:r>
            <a:r>
              <a:rPr lang="ru-RU" altLang="ru-RU" sz="2800" smtClean="0">
                <a:latin typeface="Times New Roman" pitchFamily="18" charset="0"/>
              </a:rPr>
              <a:t>-разбора, который приводит к успешному распознаванию.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Всех вариантов – бесконечно много!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4703ACF-DA91-4FFF-9459-7E8F03BAB77C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ru-RU" altLang="ru-RU" sz="1400" smtClean="0"/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B23B7B9-B637-4BD4-B3CD-56C008233E89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ru-RU" altLang="ru-RU" sz="1400"/>
          </a:p>
        </p:txBody>
      </p:sp>
      <p:sp>
        <p:nvSpPr>
          <p:cNvPr id="26628" name="Rectangle 87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graphicFrame>
        <p:nvGraphicFramePr>
          <p:cNvPr id="11393" name="Group 129"/>
          <p:cNvGraphicFramePr>
            <a:graphicFrameLocks noGrp="1"/>
          </p:cNvGraphicFramePr>
          <p:nvPr>
            <p:ph idx="1"/>
          </p:nvPr>
        </p:nvGraphicFramePr>
        <p:xfrm>
          <a:off x="900113" y="260350"/>
          <a:ext cx="7343775" cy="6438900"/>
        </p:xfrm>
        <a:graphic>
          <a:graphicData uri="http://schemas.openxmlformats.org/drawingml/2006/table">
            <a:tbl>
              <a:tblPr/>
              <a:tblGrid>
                <a:gridCol w="1152174"/>
                <a:gridCol w="1367912"/>
                <a:gridCol w="1583898"/>
                <a:gridCol w="1655893"/>
                <a:gridCol w="1583898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шага 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Вход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 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Правило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Состояние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 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F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 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 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L="91424" marR="91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2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B7F8F14-5972-450B-8341-27B02226DF4C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ru-RU" altLang="ru-RU" sz="1400" smtClean="0"/>
          </a:p>
        </p:txBody>
      </p:sp>
      <p:sp>
        <p:nvSpPr>
          <p:cNvPr id="27651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68EC7A7-5762-4F68-8B3C-DC0AC780DED9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ru-RU" altLang="ru-RU" sz="140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850" y="260350"/>
            <a:ext cx="8229600" cy="64087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На рисунке изображено неявно строящееся при </a:t>
            </a:r>
            <a:r>
              <a:rPr lang="en-US" altLang="ru-RU" sz="2400" smtClean="0">
                <a:latin typeface="Times New Roman" pitchFamily="18" charset="0"/>
              </a:rPr>
              <a:t>LR-</a:t>
            </a:r>
            <a:r>
              <a:rPr lang="ru-RU" altLang="ru-RU" sz="2400" smtClean="0">
                <a:latin typeface="Times New Roman" pitchFamily="18" charset="0"/>
              </a:rPr>
              <a:t>разборе дерево порождения  цепочки: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 * a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Кривая линия отделяет частично построенное дерево         </a:t>
            </a:r>
            <a:r>
              <a:rPr lang="en-US" altLang="ru-RU" sz="2400" smtClean="0">
                <a:latin typeface="Times New Roman" pitchFamily="18" charset="0"/>
              </a:rPr>
              <a:t>LR-</a:t>
            </a:r>
            <a:r>
              <a:rPr lang="ru-RU" altLang="ru-RU" sz="2400" smtClean="0">
                <a:latin typeface="Times New Roman" pitchFamily="18" charset="0"/>
              </a:rPr>
              <a:t>разбором от соответствующего правого канонического порождения.</a:t>
            </a:r>
          </a:p>
        </p:txBody>
      </p:sp>
      <p:grpSp>
        <p:nvGrpSpPr>
          <p:cNvPr id="27654" name="Group 4"/>
          <p:cNvGrpSpPr>
            <a:grpSpLocks noChangeAspect="1"/>
          </p:cNvGrpSpPr>
          <p:nvPr/>
        </p:nvGrpSpPr>
        <p:grpSpPr bwMode="auto">
          <a:xfrm>
            <a:off x="849313" y="1201738"/>
            <a:ext cx="6985000" cy="4286250"/>
            <a:chOff x="3942" y="1901"/>
            <a:chExt cx="4191" cy="2542"/>
          </a:xfrm>
        </p:grpSpPr>
        <p:sp>
          <p:nvSpPr>
            <p:cNvPr id="27656" name="AutoShape 5"/>
            <p:cNvSpPr>
              <a:spLocks noChangeAspect="1" noChangeArrowheads="1"/>
            </p:cNvSpPr>
            <p:nvPr/>
          </p:nvSpPr>
          <p:spPr bwMode="auto">
            <a:xfrm>
              <a:off x="3942" y="1901"/>
              <a:ext cx="4191" cy="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27657" name="Text Box 6"/>
            <p:cNvSpPr txBox="1">
              <a:spLocks noChangeArrowheads="1"/>
            </p:cNvSpPr>
            <p:nvPr/>
          </p:nvSpPr>
          <p:spPr bwMode="auto">
            <a:xfrm>
              <a:off x="5896" y="2028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58" name="Text Box 7"/>
            <p:cNvSpPr txBox="1">
              <a:spLocks noChangeArrowheads="1"/>
            </p:cNvSpPr>
            <p:nvPr/>
          </p:nvSpPr>
          <p:spPr bwMode="auto">
            <a:xfrm>
              <a:off x="5253" y="2537"/>
              <a:ext cx="320" cy="30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59" name="Text Box 8"/>
            <p:cNvSpPr txBox="1">
              <a:spLocks noChangeArrowheads="1"/>
            </p:cNvSpPr>
            <p:nvPr/>
          </p:nvSpPr>
          <p:spPr bwMode="auto">
            <a:xfrm>
              <a:off x="5877" y="2537"/>
              <a:ext cx="320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>
                  <a:latin typeface="Times New Roman" pitchFamily="18" charset="0"/>
                </a:rPr>
                <a:t> </a:t>
              </a:r>
              <a:r>
                <a:rPr lang="en-US" altLang="ru-RU" sz="2400">
                  <a:latin typeface="Times New Roman" pitchFamily="18" charset="0"/>
                </a:rPr>
                <a:t>+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60" name="Text Box 9"/>
            <p:cNvSpPr txBox="1">
              <a:spLocks noChangeArrowheads="1"/>
            </p:cNvSpPr>
            <p:nvPr/>
          </p:nvSpPr>
          <p:spPr bwMode="auto">
            <a:xfrm>
              <a:off x="6539" y="2537"/>
              <a:ext cx="320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T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61" name="Text Box 10"/>
            <p:cNvSpPr txBox="1">
              <a:spLocks noChangeArrowheads="1"/>
            </p:cNvSpPr>
            <p:nvPr/>
          </p:nvSpPr>
          <p:spPr bwMode="auto">
            <a:xfrm>
              <a:off x="4996" y="3045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T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62" name="Text Box 11"/>
            <p:cNvSpPr txBox="1">
              <a:spLocks noChangeArrowheads="1"/>
            </p:cNvSpPr>
            <p:nvPr/>
          </p:nvSpPr>
          <p:spPr bwMode="auto">
            <a:xfrm>
              <a:off x="4739" y="3553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63" name="Text Box 12"/>
            <p:cNvSpPr txBox="1">
              <a:spLocks noChangeArrowheads="1"/>
            </p:cNvSpPr>
            <p:nvPr/>
          </p:nvSpPr>
          <p:spPr bwMode="auto">
            <a:xfrm>
              <a:off x="4611" y="4061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64" name="Text Box 13"/>
            <p:cNvSpPr txBox="1">
              <a:spLocks noChangeArrowheads="1"/>
            </p:cNvSpPr>
            <p:nvPr/>
          </p:nvSpPr>
          <p:spPr bwMode="auto">
            <a:xfrm>
              <a:off x="6411" y="3045"/>
              <a:ext cx="320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T</a:t>
              </a:r>
              <a:endParaRPr lang="ru-RU" altLang="ru-RU" sz="2400" i="1">
                <a:latin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65" name="Text Box 14"/>
            <p:cNvSpPr txBox="1">
              <a:spLocks noChangeArrowheads="1"/>
            </p:cNvSpPr>
            <p:nvPr/>
          </p:nvSpPr>
          <p:spPr bwMode="auto">
            <a:xfrm>
              <a:off x="6025" y="3553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66" name="Text Box 15"/>
            <p:cNvSpPr txBox="1">
              <a:spLocks noChangeArrowheads="1"/>
            </p:cNvSpPr>
            <p:nvPr/>
          </p:nvSpPr>
          <p:spPr bwMode="auto">
            <a:xfrm>
              <a:off x="7439" y="3045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67" name="Text Box 16"/>
            <p:cNvSpPr txBox="1">
              <a:spLocks noChangeArrowheads="1"/>
            </p:cNvSpPr>
            <p:nvPr/>
          </p:nvSpPr>
          <p:spPr bwMode="auto">
            <a:xfrm>
              <a:off x="6925" y="3045"/>
              <a:ext cx="320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>
                  <a:latin typeface="Times New Roman" pitchFamily="18" charset="0"/>
                </a:rPr>
                <a:t> </a:t>
              </a:r>
              <a:r>
                <a:rPr lang="en-US" altLang="ru-RU" sz="2400">
                  <a:latin typeface="Times New Roman" pitchFamily="18" charset="0"/>
                </a:rPr>
                <a:t>*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68" name="Text Box 17"/>
            <p:cNvSpPr txBox="1">
              <a:spLocks noChangeArrowheads="1"/>
            </p:cNvSpPr>
            <p:nvPr/>
          </p:nvSpPr>
          <p:spPr bwMode="auto">
            <a:xfrm>
              <a:off x="5896" y="4061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69" name="Text Box 18"/>
            <p:cNvSpPr txBox="1">
              <a:spLocks noChangeArrowheads="1"/>
            </p:cNvSpPr>
            <p:nvPr/>
          </p:nvSpPr>
          <p:spPr bwMode="auto">
            <a:xfrm>
              <a:off x="7439" y="3553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70" name="Line 19"/>
            <p:cNvSpPr>
              <a:spLocks noChangeShapeType="1"/>
            </p:cNvSpPr>
            <p:nvPr/>
          </p:nvSpPr>
          <p:spPr bwMode="auto">
            <a:xfrm flipH="1">
              <a:off x="5511" y="2283"/>
              <a:ext cx="385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1" name="Line 20"/>
            <p:cNvSpPr>
              <a:spLocks noChangeShapeType="1"/>
            </p:cNvSpPr>
            <p:nvPr/>
          </p:nvSpPr>
          <p:spPr bwMode="auto">
            <a:xfrm>
              <a:off x="6025" y="2283"/>
              <a:ext cx="7" cy="2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2" name="Line 21"/>
            <p:cNvSpPr>
              <a:spLocks noChangeShapeType="1"/>
            </p:cNvSpPr>
            <p:nvPr/>
          </p:nvSpPr>
          <p:spPr bwMode="auto">
            <a:xfrm>
              <a:off x="6153" y="2283"/>
              <a:ext cx="393" cy="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3" name="Line 22"/>
            <p:cNvSpPr>
              <a:spLocks noChangeShapeType="1"/>
            </p:cNvSpPr>
            <p:nvPr/>
          </p:nvSpPr>
          <p:spPr bwMode="auto">
            <a:xfrm flipH="1">
              <a:off x="5178" y="2791"/>
              <a:ext cx="204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4" name="Line 23"/>
            <p:cNvSpPr>
              <a:spLocks noChangeShapeType="1"/>
            </p:cNvSpPr>
            <p:nvPr/>
          </p:nvSpPr>
          <p:spPr bwMode="auto">
            <a:xfrm flipH="1">
              <a:off x="4926" y="3299"/>
              <a:ext cx="199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5" name="Line 24"/>
            <p:cNvSpPr>
              <a:spLocks noChangeShapeType="1"/>
            </p:cNvSpPr>
            <p:nvPr/>
          </p:nvSpPr>
          <p:spPr bwMode="auto">
            <a:xfrm flipH="1">
              <a:off x="4751" y="3807"/>
              <a:ext cx="117" cy="2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6" name="Line 25"/>
            <p:cNvSpPr>
              <a:spLocks noChangeShapeType="1"/>
            </p:cNvSpPr>
            <p:nvPr/>
          </p:nvSpPr>
          <p:spPr bwMode="auto">
            <a:xfrm flipH="1">
              <a:off x="6527" y="2791"/>
              <a:ext cx="141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7" name="Line 26"/>
            <p:cNvSpPr>
              <a:spLocks noChangeShapeType="1"/>
            </p:cNvSpPr>
            <p:nvPr/>
          </p:nvSpPr>
          <p:spPr bwMode="auto">
            <a:xfrm>
              <a:off x="6668" y="2791"/>
              <a:ext cx="315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8" name="Line 27"/>
            <p:cNvSpPr>
              <a:spLocks noChangeShapeType="1"/>
            </p:cNvSpPr>
            <p:nvPr/>
          </p:nvSpPr>
          <p:spPr bwMode="auto">
            <a:xfrm>
              <a:off x="6796" y="2791"/>
              <a:ext cx="643" cy="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9" name="Line 28"/>
            <p:cNvSpPr>
              <a:spLocks noChangeShapeType="1"/>
            </p:cNvSpPr>
            <p:nvPr/>
          </p:nvSpPr>
          <p:spPr bwMode="auto">
            <a:xfrm flipH="1">
              <a:off x="6213" y="3319"/>
              <a:ext cx="371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80" name="Line 29"/>
            <p:cNvSpPr>
              <a:spLocks noChangeShapeType="1"/>
            </p:cNvSpPr>
            <p:nvPr/>
          </p:nvSpPr>
          <p:spPr bwMode="auto">
            <a:xfrm flipH="1">
              <a:off x="6051" y="3807"/>
              <a:ext cx="102" cy="2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81" name="Line 30"/>
            <p:cNvSpPr>
              <a:spLocks noChangeShapeType="1"/>
            </p:cNvSpPr>
            <p:nvPr/>
          </p:nvSpPr>
          <p:spPr bwMode="auto">
            <a:xfrm flipH="1">
              <a:off x="7556" y="3299"/>
              <a:ext cx="12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Полилиния 1"/>
          <p:cNvSpPr/>
          <p:nvPr/>
        </p:nvSpPr>
        <p:spPr>
          <a:xfrm>
            <a:off x="3313113" y="1666875"/>
            <a:ext cx="4081462" cy="3328988"/>
          </a:xfrm>
          <a:custGeom>
            <a:avLst/>
            <a:gdLst>
              <a:gd name="connsiteX0" fmla="*/ 51759 w 4080295"/>
              <a:gd name="connsiteY0" fmla="*/ 25879 h 3329796"/>
              <a:gd name="connsiteX1" fmla="*/ 0 w 4080295"/>
              <a:gd name="connsiteY1" fmla="*/ 0 h 3329796"/>
              <a:gd name="connsiteX2" fmla="*/ 0 w 4080295"/>
              <a:gd name="connsiteY2" fmla="*/ 0 h 3329796"/>
              <a:gd name="connsiteX3" fmla="*/ 1216325 w 4080295"/>
              <a:gd name="connsiteY3" fmla="*/ 422694 h 3329796"/>
              <a:gd name="connsiteX4" fmla="*/ 1483744 w 4080295"/>
              <a:gd name="connsiteY4" fmla="*/ 854015 h 3329796"/>
              <a:gd name="connsiteX5" fmla="*/ 1457864 w 4080295"/>
              <a:gd name="connsiteY5" fmla="*/ 1423358 h 3329796"/>
              <a:gd name="connsiteX6" fmla="*/ 1509623 w 4080295"/>
              <a:gd name="connsiteY6" fmla="*/ 1915064 h 3329796"/>
              <a:gd name="connsiteX7" fmla="*/ 2018581 w 4080295"/>
              <a:gd name="connsiteY7" fmla="*/ 2467154 h 3329796"/>
              <a:gd name="connsiteX8" fmla="*/ 3510951 w 4080295"/>
              <a:gd name="connsiteY8" fmla="*/ 3209026 h 3329796"/>
              <a:gd name="connsiteX9" fmla="*/ 4080295 w 4080295"/>
              <a:gd name="connsiteY9" fmla="*/ 3329796 h 332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80295" h="3329796">
                <a:moveTo>
                  <a:pt x="51759" y="25879"/>
                </a:moveTo>
                <a:lnTo>
                  <a:pt x="0" y="0"/>
                </a:lnTo>
                <a:lnTo>
                  <a:pt x="0" y="0"/>
                </a:lnTo>
                <a:cubicBezTo>
                  <a:pt x="202721" y="70449"/>
                  <a:pt x="969034" y="280358"/>
                  <a:pt x="1216325" y="422694"/>
                </a:cubicBezTo>
                <a:cubicBezTo>
                  <a:pt x="1463616" y="565030"/>
                  <a:pt x="1443488" y="687238"/>
                  <a:pt x="1483744" y="854015"/>
                </a:cubicBezTo>
                <a:cubicBezTo>
                  <a:pt x="1524000" y="1020792"/>
                  <a:pt x="1453551" y="1246517"/>
                  <a:pt x="1457864" y="1423358"/>
                </a:cubicBezTo>
                <a:cubicBezTo>
                  <a:pt x="1462177" y="1600199"/>
                  <a:pt x="1416170" y="1741098"/>
                  <a:pt x="1509623" y="1915064"/>
                </a:cubicBezTo>
                <a:cubicBezTo>
                  <a:pt x="1603076" y="2089030"/>
                  <a:pt x="1685026" y="2251494"/>
                  <a:pt x="2018581" y="2467154"/>
                </a:cubicBezTo>
                <a:cubicBezTo>
                  <a:pt x="2352136" y="2682814"/>
                  <a:pt x="3167332" y="3065252"/>
                  <a:pt x="3510951" y="3209026"/>
                </a:cubicBezTo>
                <a:cubicBezTo>
                  <a:pt x="3854570" y="3352800"/>
                  <a:pt x="3994031" y="3309668"/>
                  <a:pt x="4080295" y="3329796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0DA7695-85C6-4061-BEB7-DFBB845BA24A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ru-RU" altLang="ru-RU" sz="1400" smtClean="0"/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0B31DCC-AE19-4C4A-9985-B9AC5E107ADE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ru-RU" altLang="ru-RU" sz="140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6613"/>
          </a:xfrm>
        </p:spPr>
        <p:txBody>
          <a:bodyPr/>
          <a:lstStyle/>
          <a:p>
            <a:pPr eaLnBrk="1" hangingPunct="1"/>
            <a:r>
              <a:rPr lang="ru-RU" altLang="ru-RU" sz="3200" b="1" smtClean="0"/>
              <a:t>Детерминированный </a:t>
            </a:r>
            <a:r>
              <a:rPr lang="en-US" altLang="ru-RU" sz="3200" b="1" smtClean="0"/>
              <a:t>LR</a:t>
            </a:r>
            <a:r>
              <a:rPr lang="ru-RU" altLang="ru-RU" sz="3200" b="1" smtClean="0"/>
              <a:t>-анализ</a:t>
            </a:r>
            <a:r>
              <a:rPr lang="ru-RU" altLang="ru-RU" sz="4000" b="1" smtClean="0"/>
              <a:t> 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56880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i="1" smtClean="0">
                <a:solidFill>
                  <a:schemeClr val="accent2"/>
                </a:solidFill>
              </a:rPr>
              <a:t>Отношения простого предшествования</a:t>
            </a:r>
            <a:r>
              <a:rPr lang="ru-RU" altLang="ru-RU" smtClean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Определены для каждой пары (обозначенных как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и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) терминальных и нетерминальных символов грамматики.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1200" smtClean="0">
                <a:latin typeface="Times New Roman" pitchFamily="18" charset="0"/>
                <a:cs typeface="Times New Roman" pitchFamily="18" charset="0"/>
              </a:rPr>
              <a:t>______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 Отношение </a:t>
            </a:r>
            <a:r>
              <a:rPr lang="ru-RU" altLang="ru-RU" sz="2400" b="1" i="1" smtClean="0">
                <a:latin typeface="Times New Roman" pitchFamily="18" charset="0"/>
              </a:rPr>
              <a:t>типа равно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en-US" altLang="ru-RU" sz="2400" i="1" smtClean="0">
                <a:latin typeface="Times New Roman" pitchFamily="18" charset="0"/>
              </a:rPr>
              <a:t>  </a:t>
            </a:r>
            <a:r>
              <a:rPr lang="en-US" altLang="ru-RU" i="1" baseline="300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i="1" smtClean="0">
                <a:latin typeface="Times New Roman" pitchFamily="18" charset="0"/>
              </a:rPr>
              <a:t> 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 выполняется тогда и только тогда, когда существует порождающее правило: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– некоторый нетерминал. 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2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 Отношение </a:t>
            </a:r>
            <a:r>
              <a:rPr lang="ru-RU" altLang="ru-RU" sz="2400" b="1" i="1" smtClean="0">
                <a:latin typeface="Times New Roman" pitchFamily="18" charset="0"/>
              </a:rPr>
              <a:t>типа меньше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&lt;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 выполняется тогда и только тогда, когда существует порождающее правило: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ru-RU" altLang="ru-RU" sz="2400" smtClean="0">
                <a:latin typeface="Times New Roman" pitchFamily="18" charset="0"/>
              </a:rPr>
              <a:t>– некоторые нетерминалы, а из нетерминала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ru-RU" altLang="ru-RU" sz="2400" smtClean="0">
                <a:latin typeface="Times New Roman" pitchFamily="18" charset="0"/>
              </a:rPr>
              <a:t> за один или несколько шагов выводится цепочка символов, </a:t>
            </a:r>
            <a:r>
              <a:rPr lang="ru-RU" altLang="ru-RU" sz="2400" b="1" i="1" smtClean="0">
                <a:latin typeface="Times New Roman" pitchFamily="18" charset="0"/>
              </a:rPr>
              <a:t>начинающаяся</a:t>
            </a:r>
            <a:r>
              <a:rPr lang="ru-RU" altLang="ru-RU" sz="2400" smtClean="0">
                <a:latin typeface="Times New Roman" pitchFamily="18" charset="0"/>
              </a:rPr>
              <a:t> с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en-US" altLang="ru-RU" sz="2400" smtClean="0">
                <a:latin typeface="Times New Roman" pitchFamily="18" charset="0"/>
              </a:rPr>
              <a:t> =&gt;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  <a:endParaRPr lang="ru-RU" altLang="ru-RU" sz="2400" smtClean="0">
              <a:latin typeface="Times New Roman" pitchFamily="18" charset="0"/>
            </a:endParaRPr>
          </a:p>
        </p:txBody>
      </p:sp>
      <p:grpSp>
        <p:nvGrpSpPr>
          <p:cNvPr id="28678" name="Group 7"/>
          <p:cNvGrpSpPr>
            <a:grpSpLocks/>
          </p:cNvGrpSpPr>
          <p:nvPr/>
        </p:nvGrpSpPr>
        <p:grpSpPr bwMode="auto">
          <a:xfrm>
            <a:off x="4335463" y="2298700"/>
            <a:ext cx="142875" cy="69850"/>
            <a:chOff x="-548" y="-898"/>
            <a:chExt cx="88" cy="44"/>
          </a:xfrm>
        </p:grpSpPr>
        <p:sp>
          <p:nvSpPr>
            <p:cNvPr id="28679" name="Line 8"/>
            <p:cNvSpPr>
              <a:spLocks noChangeShapeType="1"/>
            </p:cNvSpPr>
            <p:nvPr/>
          </p:nvSpPr>
          <p:spPr bwMode="auto">
            <a:xfrm>
              <a:off x="-548" y="-898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8680" name="Line 9"/>
            <p:cNvSpPr>
              <a:spLocks noChangeShapeType="1"/>
            </p:cNvSpPr>
            <p:nvPr/>
          </p:nvSpPr>
          <p:spPr bwMode="auto">
            <a:xfrm>
              <a:off x="-548" y="-854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E9447DA-1B4D-4BB8-9910-92184A00114F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ru-RU" altLang="ru-RU" sz="1400" smtClean="0"/>
          </a:p>
        </p:txBody>
      </p:sp>
      <p:sp>
        <p:nvSpPr>
          <p:cNvPr id="29699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62F5B5B-C25F-4C6D-BB3F-903407A904D6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ru-RU" altLang="ru-RU" sz="140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29600" cy="52181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 Отношение </a:t>
            </a:r>
            <a:r>
              <a:rPr lang="ru-RU" altLang="ru-RU" sz="2400" b="1" i="1" smtClean="0">
                <a:latin typeface="Times New Roman" pitchFamily="18" charset="0"/>
              </a:rPr>
              <a:t>типа больше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∙&gt;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 выполняется тогда и только тогда, когда существует порождающее правило: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V W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ru-RU" altLang="ru-RU" sz="2400" smtClean="0">
                <a:latin typeface="Times New Roman" pitchFamily="18" charset="0"/>
              </a:rPr>
              <a:t>– некоторые нетерминалы,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из нетерминала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ru-RU" altLang="ru-RU" sz="2400" smtClean="0">
                <a:latin typeface="Times New Roman" pitchFamily="18" charset="0"/>
              </a:rPr>
              <a:t> за один или несколько шагов выводится цепочка символов, </a:t>
            </a:r>
            <a:r>
              <a:rPr lang="ru-RU" altLang="ru-RU" sz="2400" b="1" i="1" smtClean="0">
                <a:latin typeface="Times New Roman" pitchFamily="18" charset="0"/>
              </a:rPr>
              <a:t>заканчивающаяся</a:t>
            </a:r>
            <a:r>
              <a:rPr lang="ru-RU" altLang="ru-RU" sz="2400" smtClean="0">
                <a:latin typeface="Times New Roman" pitchFamily="18" charset="0"/>
              </a:rPr>
              <a:t> на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en-US" altLang="ru-RU" sz="2400" smtClean="0">
                <a:latin typeface="Times New Roman" pitchFamily="18" charset="0"/>
              </a:rPr>
              <a:t> =&gt; . . .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В </a:t>
            </a:r>
            <a:r>
              <a:rPr lang="en-US" altLang="ru-RU" sz="2400" smtClean="0">
                <a:latin typeface="Times New Roman" pitchFamily="18" charset="0"/>
              </a:rPr>
              <a:t>– </a:t>
            </a:r>
            <a:r>
              <a:rPr lang="ru-RU" altLang="ru-RU" sz="2400" smtClean="0">
                <a:latin typeface="Times New Roman" pitchFamily="18" charset="0"/>
              </a:rPr>
              <a:t>терминальный символ,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W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либо есть В, либо из нетерминала </a:t>
            </a:r>
            <a:r>
              <a:rPr lang="en-US" altLang="ru-RU" sz="2400" i="1" smtClean="0">
                <a:latin typeface="Times New Roman" pitchFamily="18" charset="0"/>
              </a:rPr>
              <a:t>W</a:t>
            </a:r>
            <a:r>
              <a:rPr lang="ru-RU" altLang="ru-RU" sz="2400" smtClean="0">
                <a:latin typeface="Times New Roman" pitchFamily="18" charset="0"/>
              </a:rPr>
              <a:t> за один или несколько шагов выводится цепочка символов, </a:t>
            </a:r>
            <a:r>
              <a:rPr lang="ru-RU" altLang="ru-RU" sz="2400" b="1" i="1" smtClean="0">
                <a:latin typeface="Times New Roman" pitchFamily="18" charset="0"/>
              </a:rPr>
              <a:t>начинающаяся</a:t>
            </a:r>
            <a:r>
              <a:rPr lang="ru-RU" altLang="ru-RU" sz="2400" smtClean="0">
                <a:latin typeface="Times New Roman" pitchFamily="18" charset="0"/>
              </a:rPr>
              <a:t> с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 </a:t>
            </a:r>
            <a:r>
              <a:rPr lang="en-US" altLang="ru-RU" sz="2400" i="1" smtClean="0">
                <a:latin typeface="Times New Roman" pitchFamily="18" charset="0"/>
              </a:rPr>
              <a:t>W</a:t>
            </a:r>
            <a:r>
              <a:rPr lang="en-US" altLang="ru-RU" sz="2400" smtClean="0">
                <a:latin typeface="Times New Roman" pitchFamily="18" charset="0"/>
              </a:rPr>
              <a:t> =&gt;*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FA07E99-7901-4916-A63D-F29FE64E8C8C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ru-RU" altLang="ru-RU" sz="1400" smtClean="0"/>
          </a:p>
        </p:txBody>
      </p:sp>
      <p:sp>
        <p:nvSpPr>
          <p:cNvPr id="30723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FFE4617-ED64-4CBB-A76D-3ECCEA91E5F6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ru-RU" altLang="ru-RU" sz="140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274638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5888"/>
            <a:ext cx="8642350" cy="6626225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ru-RU" altLang="ru-RU" sz="2800" smtClean="0">
                <a:solidFill>
                  <a:schemeClr val="accent2"/>
                </a:solidFill>
              </a:rPr>
              <a:t>Функционирование анализатора, использующего </a:t>
            </a:r>
            <a:r>
              <a:rPr lang="ru-RU" altLang="ru-RU" sz="2800" i="1" smtClean="0">
                <a:solidFill>
                  <a:schemeClr val="accent2"/>
                </a:solidFill>
              </a:rPr>
              <a:t>отношения простого предшествования</a:t>
            </a:r>
            <a:r>
              <a:rPr lang="ru-RU" altLang="ru-RU" sz="2800" smtClean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12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 До начала работы в магазине имеется символ </a:t>
            </a:r>
            <a:r>
              <a:rPr lang="ru-RU" altLang="ru-RU" sz="2800" baseline="-25000" smtClean="0"/>
              <a:t>┴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 Анализируемая цепочка заканчивается символом </a:t>
            </a:r>
            <a:r>
              <a:rPr lang="ru-RU" altLang="ru-RU" sz="2800" baseline="-25000" smtClean="0"/>
              <a:t>┴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3. Для любого символа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(терминала или нетерминала грамматики) выполняются отношения предшествования: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baseline="-25000" smtClean="0"/>
              <a:t>			┴</a:t>
            </a:r>
            <a:r>
              <a:rPr lang="ru-RU" altLang="ru-RU" sz="2400" baseline="-25000" smtClean="0"/>
              <a:t> </a:t>
            </a:r>
            <a:r>
              <a:rPr lang="en-US" altLang="ru-RU" sz="2400" smtClean="0">
                <a:latin typeface="Times New Roman" pitchFamily="18" charset="0"/>
              </a:rPr>
              <a:t>&lt;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baseline="-25000" smtClean="0"/>
              <a:t>    	</a:t>
            </a:r>
            <a:r>
              <a:rPr lang="ru-RU" altLang="ru-RU" sz="2400" smtClean="0">
                <a:latin typeface="Times New Roman" pitchFamily="18" charset="0"/>
              </a:rPr>
              <a:t>и  </a:t>
            </a:r>
            <a:r>
              <a:rPr lang="ru-RU" altLang="ru-RU" sz="2400" baseline="-25000" smtClean="0"/>
              <a:t>	     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baseline="-25000" smtClean="0"/>
              <a:t>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∙&gt;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800" baseline="-25000" smtClean="0"/>
              <a:t>┴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4. На очередном шаге работы проверяется отношение между верхним символом в магазине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и входным символом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- если 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&lt;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  или 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 </a:t>
            </a:r>
            <a:r>
              <a:rPr lang="en-US" altLang="ru-RU" i="1" baseline="300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i="1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, то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 записывается в магазин;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- если 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∙&gt;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В</a:t>
            </a:r>
            <a:r>
              <a:rPr lang="ru-RU" altLang="ru-RU" sz="2400" smtClean="0">
                <a:latin typeface="Times New Roman" pitchFamily="18" charset="0"/>
              </a:rPr>
              <a:t>  то верхние символы в магазине, образующие основу с символом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в конце, сворачиваются, т.е. заменяются на нетерминал.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5. Если вся анализируемая цепочка может быть свернута к начальному нетерминалу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, то на последнем шаге работы в магазине будут символы: </a:t>
            </a:r>
            <a:r>
              <a:rPr lang="ru-RU" altLang="ru-RU" sz="2800" baseline="-25000" smtClean="0"/>
              <a:t>┴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ru-RU" altLang="ru-RU" sz="2400" smtClean="0">
                <a:latin typeface="Times New Roman" pitchFamily="18" charset="0"/>
              </a:rPr>
              <a:t>а на входе – символ </a:t>
            </a:r>
            <a:r>
              <a:rPr lang="ru-RU" altLang="ru-RU" sz="2800" baseline="-25000" smtClean="0"/>
              <a:t>┴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</p:txBody>
      </p:sp>
      <p:grpSp>
        <p:nvGrpSpPr>
          <p:cNvPr id="30726" name="Group 7"/>
          <p:cNvGrpSpPr>
            <a:grpSpLocks/>
          </p:cNvGrpSpPr>
          <p:nvPr/>
        </p:nvGrpSpPr>
        <p:grpSpPr bwMode="auto">
          <a:xfrm>
            <a:off x="3419475" y="4005263"/>
            <a:ext cx="142875" cy="69850"/>
            <a:chOff x="-548" y="-898"/>
            <a:chExt cx="88" cy="44"/>
          </a:xfrm>
        </p:grpSpPr>
        <p:sp>
          <p:nvSpPr>
            <p:cNvPr id="30727" name="Line 8"/>
            <p:cNvSpPr>
              <a:spLocks noChangeShapeType="1"/>
            </p:cNvSpPr>
            <p:nvPr/>
          </p:nvSpPr>
          <p:spPr bwMode="auto">
            <a:xfrm>
              <a:off x="-548" y="-898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0728" name="Line 9"/>
            <p:cNvSpPr>
              <a:spLocks noChangeShapeType="1"/>
            </p:cNvSpPr>
            <p:nvPr/>
          </p:nvSpPr>
          <p:spPr bwMode="auto">
            <a:xfrm>
              <a:off x="-548" y="-854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E74CDC8-3287-4D94-ACB7-9CE1C2906864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ru-RU" altLang="ru-RU" sz="1400" smtClean="0"/>
          </a:p>
        </p:txBody>
      </p:sp>
      <p:sp>
        <p:nvSpPr>
          <p:cNvPr id="31747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3469F-E18D-49BF-8749-6B4CB174445C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ru-RU" altLang="ru-RU" sz="140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217487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229600" cy="6264275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mtClean="0"/>
              <a:t>Грамматика простого предшествования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КС- грамматика, в которой: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 Для каждой пары терминальных и нетерминальных символов грамматики существует </a:t>
            </a:r>
            <a:r>
              <a:rPr lang="ru-RU" altLang="ru-RU" sz="2400" b="1" i="1" smtClean="0">
                <a:latin typeface="Times New Roman" pitchFamily="18" charset="0"/>
              </a:rPr>
              <a:t>не более одного</a:t>
            </a:r>
            <a:r>
              <a:rPr lang="ru-RU" altLang="ru-RU" sz="2400" smtClean="0">
                <a:latin typeface="Times New Roman" pitchFamily="18" charset="0"/>
              </a:rPr>
              <a:t> из трех возможных отношений предшествования.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 Грамматика </a:t>
            </a:r>
            <a:r>
              <a:rPr lang="ru-RU" altLang="ru-RU" sz="2400" b="1" i="1" smtClean="0">
                <a:latin typeface="Times New Roman" pitchFamily="18" charset="0"/>
              </a:rPr>
              <a:t>обратима</a:t>
            </a:r>
            <a:r>
              <a:rPr lang="ru-RU" altLang="ru-RU" sz="2400" smtClean="0">
                <a:latin typeface="Times New Roman" pitchFamily="18" charset="0"/>
              </a:rPr>
              <a:t>, т.е. среди всех порождающих правил нет никаких двух одинаковых правых частей.</a:t>
            </a:r>
          </a:p>
          <a:p>
            <a:pPr>
              <a:buFontTx/>
              <a:buNone/>
            </a:pPr>
            <a:endParaRPr lang="ru-RU" altLang="ru-RU" sz="1200" b="1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Грамматика простого предшествования однозначна, </a:t>
            </a:r>
            <a:r>
              <a:rPr lang="ru-RU" altLang="ru-RU" sz="2400" smtClean="0">
                <a:latin typeface="Times New Roman" pitchFamily="18" charset="0"/>
              </a:rPr>
              <a:t>так как анализатор работает детерминированно.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верхние символы магазина: 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-1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+1 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j</a:t>
            </a:r>
            <a:r>
              <a:rPr lang="ru-RU" altLang="ru-RU" sz="2400" i="1" baseline="-250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входной символ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j+</a:t>
            </a:r>
            <a:r>
              <a:rPr lang="en-US" altLang="ru-RU" sz="2400" baseline="-25000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, между которыми выполняются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отношения: 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-1 </a:t>
            </a:r>
            <a:r>
              <a:rPr lang="en-US" altLang="ru-RU" sz="2400" smtClean="0">
                <a:latin typeface="Times New Roman" pitchFamily="18" charset="0"/>
              </a:rPr>
              <a:t>&lt;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=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+1 </a:t>
            </a:r>
            <a:r>
              <a:rPr lang="en-US" altLang="ru-RU" sz="2400" smtClean="0">
                <a:latin typeface="Times New Roman" pitchFamily="18" charset="0"/>
              </a:rPr>
              <a:t>= . . . =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j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j+</a:t>
            </a:r>
            <a:r>
              <a:rPr lang="en-US" altLang="ru-RU" sz="2400" baseline="-25000" smtClean="0">
                <a:latin typeface="Times New Roman" pitchFamily="18" charset="0"/>
              </a:rPr>
              <a:t>1 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Тогда сворачиваются символы основы: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+1 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j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endParaRPr lang="ru-RU" altLang="ru-RU" sz="2400" baseline="-250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5F5D511-81B7-48D9-BD9A-48B7443FDC7D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ru-RU" altLang="ru-RU" sz="1400" smtClean="0"/>
          </a:p>
        </p:txBody>
      </p:sp>
      <p:sp>
        <p:nvSpPr>
          <p:cNvPr id="32771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E8B6884-5126-4623-8CCB-64E9D28B7203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ru-RU" altLang="ru-RU" sz="14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4087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Пример. </a:t>
            </a:r>
            <a:r>
              <a:rPr lang="ru-RU" altLang="ru-RU" sz="2400" smtClean="0">
                <a:latin typeface="Times New Roman" pitchFamily="18" charset="0"/>
              </a:rPr>
              <a:t>Грамматика простых арифметических выражений:</a:t>
            </a:r>
            <a:endParaRPr lang="en-US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S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T </a:t>
            </a:r>
            <a:r>
              <a:rPr lang="en-US" altLang="ru-RU" sz="2400" smtClean="0">
                <a:latin typeface="Times New Roman" pitchFamily="18" charset="0"/>
              </a:rPr>
              <a:t>* 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| 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→ 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) | 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 Отношение типа равно для пар: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   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 +         +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         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 *        * 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          (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         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 )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2.</a:t>
            </a:r>
            <a:r>
              <a:rPr lang="ru-RU" altLang="ru-RU" sz="2400" b="1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Отношение типа меньше для пар:</a:t>
            </a:r>
            <a:r>
              <a:rPr lang="ru-RU" altLang="ru-RU" sz="2400" b="1" i="1" smtClean="0">
                <a:latin typeface="Times New Roman" pitchFamily="18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+ и символ, порождаемый первым из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* и символ, порождаемый первым из 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 (</a:t>
            </a:r>
            <a:r>
              <a:rPr lang="ru-RU" altLang="ru-RU" sz="2400" smtClean="0">
                <a:latin typeface="Times New Roman" pitchFamily="18" charset="0"/>
              </a:rPr>
              <a:t> и символ, порождаемый первым из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3.</a:t>
            </a:r>
            <a:r>
              <a:rPr lang="ru-RU" altLang="ru-RU" sz="2400" b="1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Отношение типа больше для пар:</a:t>
            </a:r>
            <a:r>
              <a:rPr lang="ru-RU" altLang="ru-RU" sz="2400" b="1" i="1" smtClean="0">
                <a:latin typeface="Times New Roman" pitchFamily="18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символ, порождаемый последним из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 </a:t>
            </a:r>
            <a:r>
              <a:rPr lang="en-US" altLang="ru-RU" sz="2400" smtClean="0">
                <a:latin typeface="Times New Roman" pitchFamily="18" charset="0"/>
              </a:rPr>
              <a:t>+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символ, порождаемый последним из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 *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символ, порождаемый последним из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 </a:t>
            </a:r>
            <a:r>
              <a:rPr lang="en-US" altLang="ru-RU" sz="2400" smtClean="0">
                <a:latin typeface="Times New Roman" pitchFamily="18" charset="0"/>
              </a:rPr>
              <a:t>)</a:t>
            </a:r>
            <a:endParaRPr lang="ru-RU" altLang="ru-RU" sz="2400" i="1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318F48F-2159-4A69-AE2A-69E0DD7B305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ru-RU" altLang="ru-RU" sz="1400" smtClean="0"/>
          </a:p>
        </p:txBody>
      </p:sp>
      <p:sp>
        <p:nvSpPr>
          <p:cNvPr id="33795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241E350-1294-4B68-A077-182BAB419CA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ru-RU" altLang="ru-RU" sz="140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33375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88913"/>
            <a:ext cx="8435975" cy="6911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smtClean="0"/>
              <a:t>Таблица отношений простого предшествования</a:t>
            </a:r>
            <a:endParaRPr lang="ru-RU" altLang="ru-RU" sz="2800" b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8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b="1" i="1" smtClean="0">
                <a:latin typeface="Times New Roman" pitchFamily="18" charset="0"/>
              </a:rPr>
              <a:t>Если для некоторых пар символов одновременно существуют отношения </a:t>
            </a:r>
            <a:r>
              <a:rPr lang="en-US" altLang="ru-RU" sz="2400" b="1" i="1" smtClean="0">
                <a:latin typeface="Times New Roman" pitchFamily="18" charset="0"/>
              </a:rPr>
              <a:t>&lt; </a:t>
            </a:r>
            <a:r>
              <a:rPr lang="ru-RU" altLang="ru-RU" sz="2400" b="1" i="1" smtClean="0">
                <a:latin typeface="Times New Roman" pitchFamily="18" charset="0"/>
              </a:rPr>
              <a:t>и =, то такая грамматика называется грамматикой нестрогого предшествования.</a:t>
            </a:r>
          </a:p>
        </p:txBody>
      </p:sp>
      <p:graphicFrame>
        <p:nvGraphicFramePr>
          <p:cNvPr id="16933" name="Group 549"/>
          <p:cNvGraphicFramePr>
            <a:graphicFrameLocks noGrp="1"/>
          </p:cNvGraphicFramePr>
          <p:nvPr/>
        </p:nvGraphicFramePr>
        <p:xfrm>
          <a:off x="1476375" y="908050"/>
          <a:ext cx="6096000" cy="4664075"/>
        </p:xfrm>
        <a:graphic>
          <a:graphicData uri="http://schemas.openxmlformats.org/drawingml/2006/table">
            <a:tbl>
              <a:tblPr/>
              <a:tblGrid>
                <a:gridCol w="677863"/>
                <a:gridCol w="676275"/>
                <a:gridCol w="677862"/>
                <a:gridCol w="677863"/>
                <a:gridCol w="676275"/>
                <a:gridCol w="677862"/>
                <a:gridCol w="677863"/>
                <a:gridCol w="676275"/>
                <a:gridCol w="677862"/>
              </a:tblGrid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&lt;,=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&lt;,=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92E015-F272-4A71-8763-741F87AA600F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ru-RU" altLang="ru-RU" sz="1400" smtClean="0"/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57D3025-657F-4CA6-BD60-5E2AC320E5F9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ru-RU" altLang="ru-RU" sz="140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08050"/>
            <a:ext cx="8229600" cy="57610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b="1" smtClean="0">
                <a:latin typeface="Times New Roman" pitchFamily="18" charset="0"/>
              </a:rPr>
              <a:t>Пример. </a:t>
            </a:r>
            <a:r>
              <a:rPr lang="ru-RU" altLang="ru-RU" sz="2800" smtClean="0">
                <a:latin typeface="Times New Roman" pitchFamily="18" charset="0"/>
              </a:rPr>
              <a:t>Грамматика после преобразования - стратификации:</a:t>
            </a:r>
          </a:p>
          <a:p>
            <a:pPr eaLnBrk="1" hangingPunct="1">
              <a:buFontTx/>
              <a:buNone/>
            </a:pPr>
            <a:endParaRPr lang="en-US" altLang="ru-RU" sz="28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S </a:t>
            </a:r>
            <a:r>
              <a:rPr lang="ru-RU" altLang="ru-RU" sz="2800" smtClean="0">
                <a:latin typeface="Times New Roman" pitchFamily="18" charset="0"/>
              </a:rPr>
              <a:t>+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|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</a:p>
          <a:p>
            <a:pPr eaLnBrk="1" hangingPunct="1"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  <a:r>
              <a:rPr lang="en-US" altLang="ru-RU" sz="2800" baseline="-25000" smtClean="0">
                <a:latin typeface="Times New Roman" pitchFamily="18" charset="0"/>
              </a:rPr>
              <a:t>1</a:t>
            </a:r>
          </a:p>
          <a:p>
            <a:pPr eaLnBrk="1" hangingPunct="1"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  <a:r>
              <a:rPr lang="en-US" altLang="ru-RU" sz="2800" baseline="-25000" smtClean="0">
                <a:latin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</a:rPr>
              <a:t>→ 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  <a:r>
              <a:rPr lang="en-US" altLang="ru-RU" sz="2800" baseline="-25000" smtClean="0">
                <a:latin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</a:rPr>
              <a:t>* 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  <a:r>
              <a:rPr lang="en-US" altLang="ru-RU" sz="2800" smtClean="0">
                <a:latin typeface="Times New Roman" pitchFamily="18" charset="0"/>
              </a:rPr>
              <a:t> | 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</a:p>
          <a:p>
            <a:pPr eaLnBrk="1" hangingPunct="1"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  <a:r>
              <a:rPr lang="en-US" altLang="ru-RU" sz="2800" smtClean="0">
                <a:latin typeface="Times New Roman" pitchFamily="18" charset="0"/>
              </a:rPr>
              <a:t> → (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en-US" altLang="ru-RU" sz="2800" baseline="-25000" smtClean="0">
                <a:latin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</a:rPr>
              <a:t>) | 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</a:p>
          <a:p>
            <a:pPr eaLnBrk="1" hangingPunct="1"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				S</a:t>
            </a:r>
            <a:r>
              <a:rPr lang="en-US" altLang="ru-RU" sz="2800" baseline="-25000" smtClean="0">
                <a:latin typeface="Times New Roman" pitchFamily="18" charset="0"/>
              </a:rPr>
              <a:t>1</a:t>
            </a:r>
            <a:r>
              <a:rPr lang="ru-RU" altLang="ru-RU" sz="2800" smtClean="0">
                <a:latin typeface="Times New Roman" pitchFamily="18" charset="0"/>
              </a:rPr>
              <a:t>→ 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endParaRPr lang="ru-RU" altLang="ru-RU" sz="28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8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b="1" i="1" smtClean="0">
                <a:latin typeface="Times New Roman" pitchFamily="18" charset="0"/>
              </a:rPr>
              <a:t>         </a:t>
            </a:r>
            <a:endParaRPr lang="ru-RU" altLang="ru-RU" i="1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17AC1DE-A141-4307-A296-F8CF913A450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ru-RU" altLang="ru-RU" sz="1400" smtClean="0"/>
          </a:p>
        </p:txBody>
      </p:sp>
      <p:sp>
        <p:nvSpPr>
          <p:cNvPr id="35843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CED2451-AA76-4E68-AAB4-8823BE9C3B17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ru-RU" altLang="ru-RU" sz="140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eaLnBrk="1" hangingPunct="1"/>
            <a:r>
              <a:rPr lang="ru-RU" altLang="ru-RU" sz="2800" smtClean="0"/>
              <a:t>Таблица отношений преобразованной грамматики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692150"/>
            <a:ext cx="8435975" cy="64087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b="1" i="1" smtClean="0">
              <a:latin typeface="Times New Roman" pitchFamily="18" charset="0"/>
            </a:endParaRPr>
          </a:p>
        </p:txBody>
      </p:sp>
      <p:graphicFrame>
        <p:nvGraphicFramePr>
          <p:cNvPr id="41156" name="Group 196"/>
          <p:cNvGraphicFramePr>
            <a:graphicFrameLocks noGrp="1"/>
          </p:cNvGraphicFramePr>
          <p:nvPr/>
        </p:nvGraphicFramePr>
        <p:xfrm>
          <a:off x="827088" y="908050"/>
          <a:ext cx="7273925" cy="5699125"/>
        </p:xfrm>
        <a:graphic>
          <a:graphicData uri="http://schemas.openxmlformats.org/drawingml/2006/table">
            <a:tbl>
              <a:tblPr/>
              <a:tblGrid>
                <a:gridCol w="661987"/>
                <a:gridCol w="660400"/>
                <a:gridCol w="660400"/>
                <a:gridCol w="661988"/>
                <a:gridCol w="660400"/>
                <a:gridCol w="663575"/>
                <a:gridCol w="658812"/>
                <a:gridCol w="661988"/>
                <a:gridCol w="661987"/>
                <a:gridCol w="660400"/>
                <a:gridCol w="661988"/>
              </a:tblGrid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D213FEA-F356-412A-A942-64FD3F5BA44C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ru-RU" altLang="ru-RU" sz="1400" smtClean="0"/>
          </a:p>
        </p:txBody>
      </p:sp>
      <p:sp>
        <p:nvSpPr>
          <p:cNvPr id="36867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B6B60B3-9A10-4A1D-A388-AFB9145EF04E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ru-RU" altLang="ru-RU" sz="1400"/>
          </a:p>
        </p:txBody>
      </p:sp>
      <p:sp>
        <p:nvSpPr>
          <p:cNvPr id="36868" name="Rectangle 87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graphicFrame>
        <p:nvGraphicFramePr>
          <p:cNvPr id="43152" name="Group 144"/>
          <p:cNvGraphicFramePr>
            <a:graphicFrameLocks noGrp="1"/>
          </p:cNvGraphicFramePr>
          <p:nvPr>
            <p:ph idx="4294967295"/>
          </p:nvPr>
        </p:nvGraphicFramePr>
        <p:xfrm>
          <a:off x="684213" y="77788"/>
          <a:ext cx="7488237" cy="6797675"/>
        </p:xfrm>
        <a:graphic>
          <a:graphicData uri="http://schemas.openxmlformats.org/drawingml/2006/table">
            <a:tbl>
              <a:tblPr/>
              <a:tblGrid>
                <a:gridCol w="1152533"/>
                <a:gridCol w="1511310"/>
                <a:gridCol w="1657361"/>
                <a:gridCol w="1727212"/>
                <a:gridCol w="1439822"/>
              </a:tblGrid>
              <a:tr h="4572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шага 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Вход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 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Отношение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Правило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 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+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F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+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+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T 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+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 +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ru-RU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*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Выход</a:t>
                      </a:r>
                    </a:p>
                  </a:txBody>
                  <a:tcPr marL="91441" marR="9144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2AE75F0-FFDC-4805-B76F-C1E18BA2AD2A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ru-RU" altLang="ru-RU" sz="1400" smtClean="0"/>
          </a:p>
        </p:txBody>
      </p:sp>
      <p:sp>
        <p:nvSpPr>
          <p:cNvPr id="37891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30809C3-BD13-4F25-93B9-DA7BA84F4C89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ru-RU" altLang="ru-RU" sz="14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404813"/>
            <a:ext cx="8229600" cy="56784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На рисунке изображено неявно строящееся при разборе дерево порождения  цепочки: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 * a</a:t>
            </a:r>
            <a:r>
              <a:rPr lang="ru-RU" altLang="ru-RU" sz="2400" baseline="-25000" smtClean="0"/>
              <a:t> ┴</a:t>
            </a:r>
            <a:endParaRPr lang="ru-RU" altLang="ru-RU" sz="2400" smtClean="0">
              <a:latin typeface="Times New Roman" pitchFamily="18" charset="0"/>
            </a:endParaRPr>
          </a:p>
        </p:txBody>
      </p:sp>
      <p:sp>
        <p:nvSpPr>
          <p:cNvPr id="37894" name="Text Box 13"/>
          <p:cNvSpPr txBox="1">
            <a:spLocks noChangeArrowheads="1"/>
          </p:cNvSpPr>
          <p:nvPr/>
        </p:nvSpPr>
        <p:spPr bwMode="auto">
          <a:xfrm>
            <a:off x="4924425" y="2925763"/>
            <a:ext cx="519113" cy="5000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i="1">
                <a:latin typeface="Times New Roman" pitchFamily="18" charset="0"/>
              </a:rPr>
              <a:t>T</a:t>
            </a:r>
            <a:r>
              <a:rPr lang="ru-RU" altLang="ru-RU" sz="2400" baseline="-25000">
                <a:latin typeface="Times New Roman" pitchFamily="18" charset="0"/>
              </a:rPr>
              <a:t>1</a:t>
            </a:r>
            <a:endParaRPr lang="ru-RU" altLang="ru-RU" sz="2400" i="1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2400">
              <a:latin typeface="Times New Roman" pitchFamily="18" charset="0"/>
            </a:endParaRPr>
          </a:p>
        </p:txBody>
      </p:sp>
      <p:sp>
        <p:nvSpPr>
          <p:cNvPr id="37895" name="Line 23"/>
          <p:cNvSpPr>
            <a:spLocks noChangeShapeType="1"/>
          </p:cNvSpPr>
          <p:nvPr/>
        </p:nvSpPr>
        <p:spPr bwMode="auto">
          <a:xfrm flipH="1">
            <a:off x="4356100" y="4365625"/>
            <a:ext cx="331788" cy="436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37896" name="Группа 3"/>
          <p:cNvGrpSpPr>
            <a:grpSpLocks/>
          </p:cNvGrpSpPr>
          <p:nvPr/>
        </p:nvGrpSpPr>
        <p:grpSpPr bwMode="auto">
          <a:xfrm>
            <a:off x="936625" y="1609725"/>
            <a:ext cx="7280275" cy="4446588"/>
            <a:chOff x="649588" y="2151037"/>
            <a:chExt cx="7280000" cy="4446436"/>
          </a:xfrm>
        </p:grpSpPr>
        <p:sp>
          <p:nvSpPr>
            <p:cNvPr id="37897" name="AutoShape 5"/>
            <p:cNvSpPr>
              <a:spLocks noChangeAspect="1" noChangeArrowheads="1"/>
            </p:cNvSpPr>
            <p:nvPr/>
          </p:nvSpPr>
          <p:spPr bwMode="auto">
            <a:xfrm>
              <a:off x="944588" y="2311223"/>
              <a:ext cx="6985000" cy="428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37898" name="Text Box 6"/>
            <p:cNvSpPr txBox="1">
              <a:spLocks noChangeArrowheads="1"/>
            </p:cNvSpPr>
            <p:nvPr/>
          </p:nvSpPr>
          <p:spPr bwMode="auto">
            <a:xfrm>
              <a:off x="3501255" y="2151037"/>
              <a:ext cx="453333" cy="50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37899" name="Text Box 7"/>
            <p:cNvSpPr txBox="1">
              <a:spLocks noChangeArrowheads="1"/>
            </p:cNvSpPr>
            <p:nvPr/>
          </p:nvSpPr>
          <p:spPr bwMode="auto">
            <a:xfrm>
              <a:off x="2444588" y="2523681"/>
              <a:ext cx="430000" cy="5210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37900" name="Text Box 8"/>
            <p:cNvSpPr txBox="1">
              <a:spLocks noChangeArrowheads="1"/>
            </p:cNvSpPr>
            <p:nvPr/>
          </p:nvSpPr>
          <p:spPr bwMode="auto">
            <a:xfrm>
              <a:off x="3501255" y="3009299"/>
              <a:ext cx="428333" cy="4991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Times New Roman" pitchFamily="18" charset="0"/>
                </a:rPr>
                <a:t>+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37901" name="Text Box 9"/>
            <p:cNvSpPr txBox="1">
              <a:spLocks noChangeArrowheads="1"/>
            </p:cNvSpPr>
            <p:nvPr/>
          </p:nvSpPr>
          <p:spPr bwMode="auto">
            <a:xfrm>
              <a:off x="4597921" y="2562463"/>
              <a:ext cx="428333" cy="4991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T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37902" name="Text Box 10"/>
            <p:cNvSpPr txBox="1">
              <a:spLocks noChangeArrowheads="1"/>
            </p:cNvSpPr>
            <p:nvPr/>
          </p:nvSpPr>
          <p:spPr bwMode="auto">
            <a:xfrm>
              <a:off x="1662921" y="3425783"/>
              <a:ext cx="443333" cy="50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T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37903" name="Text Box 11"/>
            <p:cNvSpPr txBox="1">
              <a:spLocks noChangeArrowheads="1"/>
            </p:cNvSpPr>
            <p:nvPr/>
          </p:nvSpPr>
          <p:spPr bwMode="auto">
            <a:xfrm>
              <a:off x="837921" y="5002354"/>
              <a:ext cx="415000" cy="50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37904" name="Text Box 12"/>
            <p:cNvSpPr txBox="1">
              <a:spLocks noChangeArrowheads="1"/>
            </p:cNvSpPr>
            <p:nvPr/>
          </p:nvSpPr>
          <p:spPr bwMode="auto">
            <a:xfrm>
              <a:off x="649588" y="5919632"/>
              <a:ext cx="426667" cy="50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37905" name="Text Box 13"/>
            <p:cNvSpPr txBox="1">
              <a:spLocks noChangeArrowheads="1"/>
            </p:cNvSpPr>
            <p:nvPr/>
          </p:nvSpPr>
          <p:spPr bwMode="auto">
            <a:xfrm>
              <a:off x="4397921" y="4385215"/>
              <a:ext cx="493333" cy="4991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T</a:t>
              </a:r>
              <a:r>
                <a:rPr lang="ru-RU" altLang="ru-RU" sz="2400" baseline="-25000">
                  <a:latin typeface="Times New Roman" pitchFamily="18" charset="0"/>
                </a:rPr>
                <a:t>1</a:t>
              </a:r>
              <a:endParaRPr lang="ru-RU" altLang="ru-RU" sz="2400" i="1">
                <a:latin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37906" name="Text Box 14"/>
            <p:cNvSpPr txBox="1">
              <a:spLocks noChangeArrowheads="1"/>
            </p:cNvSpPr>
            <p:nvPr/>
          </p:nvSpPr>
          <p:spPr bwMode="auto">
            <a:xfrm>
              <a:off x="3652921" y="5034391"/>
              <a:ext cx="416667" cy="50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37907" name="Text Box 15"/>
            <p:cNvSpPr txBox="1">
              <a:spLocks noChangeArrowheads="1"/>
            </p:cNvSpPr>
            <p:nvPr/>
          </p:nvSpPr>
          <p:spPr bwMode="auto">
            <a:xfrm>
              <a:off x="5991255" y="4395332"/>
              <a:ext cx="436667" cy="50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37908" name="Text Box 16"/>
            <p:cNvSpPr txBox="1">
              <a:spLocks noChangeArrowheads="1"/>
            </p:cNvSpPr>
            <p:nvPr/>
          </p:nvSpPr>
          <p:spPr bwMode="auto">
            <a:xfrm>
              <a:off x="5199588" y="4393646"/>
              <a:ext cx="430000" cy="4991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Times New Roman" pitchFamily="18" charset="0"/>
                </a:rPr>
                <a:t>*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37909" name="Text Box 17"/>
            <p:cNvSpPr txBox="1">
              <a:spLocks noChangeArrowheads="1"/>
            </p:cNvSpPr>
            <p:nvPr/>
          </p:nvSpPr>
          <p:spPr bwMode="auto">
            <a:xfrm>
              <a:off x="3496255" y="5960100"/>
              <a:ext cx="428333" cy="50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37910" name="Text Box 18"/>
            <p:cNvSpPr txBox="1">
              <a:spLocks noChangeArrowheads="1"/>
            </p:cNvSpPr>
            <p:nvPr/>
          </p:nvSpPr>
          <p:spPr bwMode="auto">
            <a:xfrm>
              <a:off x="6029588" y="5273828"/>
              <a:ext cx="436667" cy="50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37911" name="Line 19"/>
            <p:cNvSpPr>
              <a:spLocks noChangeShapeType="1"/>
            </p:cNvSpPr>
            <p:nvPr/>
          </p:nvSpPr>
          <p:spPr bwMode="auto">
            <a:xfrm flipH="1">
              <a:off x="2874588" y="2348319"/>
              <a:ext cx="641667" cy="428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12" name="Line 20"/>
            <p:cNvSpPr>
              <a:spLocks noChangeShapeType="1"/>
            </p:cNvSpPr>
            <p:nvPr/>
          </p:nvSpPr>
          <p:spPr bwMode="auto">
            <a:xfrm>
              <a:off x="3716255" y="2651830"/>
              <a:ext cx="11667" cy="387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13" name="Line 21"/>
            <p:cNvSpPr>
              <a:spLocks noChangeShapeType="1"/>
            </p:cNvSpPr>
            <p:nvPr/>
          </p:nvSpPr>
          <p:spPr bwMode="auto">
            <a:xfrm>
              <a:off x="3936255" y="2311223"/>
              <a:ext cx="655000" cy="5007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14" name="Line 22"/>
            <p:cNvSpPr>
              <a:spLocks noChangeShapeType="1"/>
            </p:cNvSpPr>
            <p:nvPr/>
          </p:nvSpPr>
          <p:spPr bwMode="auto">
            <a:xfrm flipH="1">
              <a:off x="2104588" y="2989065"/>
              <a:ext cx="340000" cy="4367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15" name="Line 23"/>
            <p:cNvSpPr>
              <a:spLocks noChangeShapeType="1"/>
            </p:cNvSpPr>
            <p:nvPr/>
          </p:nvSpPr>
          <p:spPr bwMode="auto">
            <a:xfrm flipH="1">
              <a:off x="1592921" y="3897911"/>
              <a:ext cx="331667" cy="4367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16" name="Line 24"/>
            <p:cNvSpPr>
              <a:spLocks noChangeShapeType="1"/>
            </p:cNvSpPr>
            <p:nvPr/>
          </p:nvSpPr>
          <p:spPr bwMode="auto">
            <a:xfrm flipH="1">
              <a:off x="1252921" y="4702215"/>
              <a:ext cx="195000" cy="4198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17" name="Line 25"/>
            <p:cNvSpPr>
              <a:spLocks noChangeShapeType="1"/>
            </p:cNvSpPr>
            <p:nvPr/>
          </p:nvSpPr>
          <p:spPr bwMode="auto">
            <a:xfrm flipH="1">
              <a:off x="4597921" y="3992337"/>
              <a:ext cx="235000" cy="4029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18" name="Line 26"/>
            <p:cNvSpPr>
              <a:spLocks noChangeShapeType="1"/>
            </p:cNvSpPr>
            <p:nvPr/>
          </p:nvSpPr>
          <p:spPr bwMode="auto">
            <a:xfrm>
              <a:off x="5044588" y="3982220"/>
              <a:ext cx="525000" cy="4029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19" name="Line 27"/>
            <p:cNvSpPr>
              <a:spLocks noChangeShapeType="1"/>
            </p:cNvSpPr>
            <p:nvPr/>
          </p:nvSpPr>
          <p:spPr bwMode="auto">
            <a:xfrm>
              <a:off x="5137921" y="3884422"/>
              <a:ext cx="1071667" cy="5007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20" name="Line 29"/>
            <p:cNvSpPr>
              <a:spLocks noChangeShapeType="1"/>
            </p:cNvSpPr>
            <p:nvPr/>
          </p:nvSpPr>
          <p:spPr bwMode="auto">
            <a:xfrm flipH="1">
              <a:off x="3652921" y="5540243"/>
              <a:ext cx="170000" cy="4198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21" name="Line 30"/>
            <p:cNvSpPr>
              <a:spLocks noChangeShapeType="1"/>
            </p:cNvSpPr>
            <p:nvPr/>
          </p:nvSpPr>
          <p:spPr bwMode="auto">
            <a:xfrm flipH="1">
              <a:off x="6227921" y="4906242"/>
              <a:ext cx="20000" cy="4029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22" name="Text Box 10"/>
            <p:cNvSpPr txBox="1">
              <a:spLocks noChangeArrowheads="1"/>
            </p:cNvSpPr>
            <p:nvPr/>
          </p:nvSpPr>
          <p:spPr bwMode="auto">
            <a:xfrm>
              <a:off x="1126255" y="4196364"/>
              <a:ext cx="466667" cy="50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T</a:t>
              </a:r>
              <a:r>
                <a:rPr lang="ru-RU" altLang="ru-RU" sz="2400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7923" name="Line 24"/>
            <p:cNvSpPr>
              <a:spLocks noChangeShapeType="1"/>
            </p:cNvSpPr>
            <p:nvPr/>
          </p:nvSpPr>
          <p:spPr bwMode="auto">
            <a:xfrm flipH="1">
              <a:off x="944588" y="5499775"/>
              <a:ext cx="195000" cy="4198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24" name="Line 20"/>
            <p:cNvSpPr>
              <a:spLocks noChangeShapeType="1"/>
            </p:cNvSpPr>
            <p:nvPr/>
          </p:nvSpPr>
          <p:spPr bwMode="auto">
            <a:xfrm>
              <a:off x="4883464" y="3062213"/>
              <a:ext cx="11667" cy="387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1DDBBC3-A817-40C5-A049-7FB060FBEC28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ru-RU" altLang="ru-RU" sz="1400" smtClean="0"/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9D61F09-404E-47C1-AE46-15E5B29697A0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ru-RU" altLang="ru-RU" sz="140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b="1" smtClean="0"/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260350"/>
            <a:ext cx="8280400" cy="6481763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mtClean="0">
                <a:solidFill>
                  <a:schemeClr val="accent2"/>
                </a:solidFill>
              </a:rPr>
              <a:t>Вычисление отношений простого предшествования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Отношение </a:t>
            </a:r>
            <a:r>
              <a:rPr lang="ru-RU" altLang="ru-RU" sz="2400" b="1" i="1" smtClean="0">
                <a:latin typeface="Times New Roman" pitchFamily="18" charset="0"/>
              </a:rPr>
              <a:t>типа равно </a:t>
            </a:r>
            <a:r>
              <a:rPr lang="ru-RU" altLang="ru-RU" sz="2400" smtClean="0">
                <a:latin typeface="Times New Roman" pitchFamily="18" charset="0"/>
              </a:rPr>
              <a:t>элементарное, вычисляется просмотром порождающих правил, при этом формируется булевская матрица.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Для вычисления отношения </a:t>
            </a:r>
            <a:r>
              <a:rPr lang="en-US" altLang="ru-RU" sz="2400" smtClean="0">
                <a:latin typeface="Times New Roman" pitchFamily="18" charset="0"/>
              </a:rPr>
              <a:t>&lt;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 определим еще одно элементарное отношение: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отношение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и символа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, если существует порождающее правило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Тогда, согласно определению, отношение </a:t>
            </a:r>
            <a:r>
              <a:rPr lang="en-US" altLang="ru-RU" sz="2400" smtClean="0">
                <a:latin typeface="Times New Roman" pitchFamily="18" charset="0"/>
              </a:rPr>
              <a:t>&lt;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 есть произведение отношений: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ru-RU" altLang="ru-RU" sz="2400" b="1" baseline="30000" smtClean="0">
                <a:latin typeface="Times New Roman" pitchFamily="18" charset="0"/>
              </a:rPr>
              <a:t>+</a:t>
            </a:r>
            <a:r>
              <a:rPr lang="ru-RU" altLang="ru-RU" sz="2400" smtClean="0">
                <a:latin typeface="Times New Roman" pitchFamily="18" charset="0"/>
              </a:rPr>
              <a:t>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где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ru-RU" altLang="ru-RU" sz="2400" b="1" baseline="30000" smtClean="0">
                <a:latin typeface="Times New Roman" pitchFamily="18" charset="0"/>
              </a:rPr>
              <a:t>+ </a:t>
            </a:r>
            <a:r>
              <a:rPr lang="ru-RU" altLang="ru-RU" sz="2400" smtClean="0">
                <a:latin typeface="Times New Roman" pitchFamily="18" charset="0"/>
              </a:rPr>
              <a:t>– </a:t>
            </a:r>
            <a:r>
              <a:rPr lang="ru-RU" altLang="ru-RU" sz="2400" b="1" i="1" smtClean="0">
                <a:latin typeface="Times New Roman" pitchFamily="18" charset="0"/>
              </a:rPr>
              <a:t>положительное</a:t>
            </a:r>
            <a:r>
              <a:rPr lang="ru-RU" altLang="ru-RU" sz="2400" smtClean="0">
                <a:latin typeface="Times New Roman" pitchFamily="18" charset="0"/>
              </a:rPr>
              <a:t> транзитивное замыкание отношения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</a:t>
            </a:r>
          </a:p>
        </p:txBody>
      </p:sp>
      <p:grpSp>
        <p:nvGrpSpPr>
          <p:cNvPr id="38918" name="Group 7"/>
          <p:cNvGrpSpPr>
            <a:grpSpLocks/>
          </p:cNvGrpSpPr>
          <p:nvPr/>
        </p:nvGrpSpPr>
        <p:grpSpPr bwMode="auto">
          <a:xfrm>
            <a:off x="3840163" y="1627188"/>
            <a:ext cx="142875" cy="69850"/>
            <a:chOff x="-548" y="-898"/>
            <a:chExt cx="88" cy="44"/>
          </a:xfrm>
        </p:grpSpPr>
        <p:sp>
          <p:nvSpPr>
            <p:cNvPr id="38922" name="Line 8"/>
            <p:cNvSpPr>
              <a:spLocks noChangeShapeType="1"/>
            </p:cNvSpPr>
            <p:nvPr/>
          </p:nvSpPr>
          <p:spPr bwMode="auto">
            <a:xfrm>
              <a:off x="-548" y="-898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923" name="Line 9"/>
            <p:cNvSpPr>
              <a:spLocks noChangeShapeType="1"/>
            </p:cNvSpPr>
            <p:nvPr/>
          </p:nvSpPr>
          <p:spPr bwMode="auto">
            <a:xfrm>
              <a:off x="-548" y="-854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8919" name="Group 10"/>
          <p:cNvGrpSpPr>
            <a:grpSpLocks/>
          </p:cNvGrpSpPr>
          <p:nvPr/>
        </p:nvGrpSpPr>
        <p:grpSpPr bwMode="auto">
          <a:xfrm>
            <a:off x="3421063" y="5106988"/>
            <a:ext cx="142875" cy="69850"/>
            <a:chOff x="-548" y="-898"/>
            <a:chExt cx="88" cy="44"/>
          </a:xfrm>
        </p:grpSpPr>
        <p:sp>
          <p:nvSpPr>
            <p:cNvPr id="38920" name="Line 11"/>
            <p:cNvSpPr>
              <a:spLocks noChangeShapeType="1"/>
            </p:cNvSpPr>
            <p:nvPr/>
          </p:nvSpPr>
          <p:spPr bwMode="auto">
            <a:xfrm>
              <a:off x="-548" y="-898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921" name="Line 12"/>
            <p:cNvSpPr>
              <a:spLocks noChangeShapeType="1"/>
            </p:cNvSpPr>
            <p:nvPr/>
          </p:nvSpPr>
          <p:spPr bwMode="auto">
            <a:xfrm>
              <a:off x="-548" y="-854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1956C39-757A-49D4-B9F8-7277B52077C2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38</a:t>
            </a:fld>
            <a:endParaRPr lang="ru-RU" altLang="ru-RU" sz="1400" smtClean="0"/>
          </a:p>
        </p:txBody>
      </p:sp>
      <p:sp>
        <p:nvSpPr>
          <p:cNvPr id="39939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CB1AB44-AC1C-4698-B29F-D9EFA139EF54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38</a:t>
            </a:fld>
            <a:endParaRPr lang="ru-RU" altLang="ru-RU" sz="140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b="1" smtClean="0"/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7950" y="333375"/>
            <a:ext cx="9036050" cy="597535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mtClean="0">
                <a:solidFill>
                  <a:schemeClr val="accent2"/>
                </a:solidFill>
              </a:rPr>
              <a:t>Вычисление отношений простого предшествования</a:t>
            </a:r>
            <a:r>
              <a:rPr lang="ru-RU" altLang="ru-RU" sz="2400" smtClean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Для вычисления отношения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∙&gt;</a:t>
            </a:r>
            <a:r>
              <a:rPr lang="ru-RU" altLang="ru-RU" sz="2400" smtClean="0">
                <a:latin typeface="Times New Roman" pitchFamily="18" charset="0"/>
              </a:rPr>
              <a:t> определим еще одно элементарное отношение: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отношение </a:t>
            </a:r>
            <a:r>
              <a:rPr lang="en-US" altLang="ru-RU" sz="2400" b="1" u="sng" smtClean="0">
                <a:latin typeface="Times New Roman" pitchFamily="18" charset="0"/>
              </a:rPr>
              <a:t>last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и символа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, если существует порождающее правило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Тогда, согласно определению, отношение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∙&gt;</a:t>
            </a:r>
            <a:r>
              <a:rPr lang="ru-RU" altLang="ru-RU" sz="2400" smtClean="0">
                <a:latin typeface="Times New Roman" pitchFamily="18" charset="0"/>
              </a:rPr>
              <a:t> есть произведение отношений: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b="1" u="sng" smtClean="0">
                <a:latin typeface="Times New Roman" pitchFamily="18" charset="0"/>
              </a:rPr>
              <a:t>last</a:t>
            </a:r>
            <a:r>
              <a:rPr lang="ru-RU" altLang="ru-RU" sz="2400" b="1" baseline="300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)</a:t>
            </a:r>
            <a:r>
              <a:rPr lang="en-US" altLang="ru-RU" sz="2400" baseline="30000" smtClean="0">
                <a:latin typeface="Times New Roman" pitchFamily="18" charset="0"/>
              </a:rPr>
              <a:t>-1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en-US" altLang="ru-RU" sz="2400" b="1" baseline="30000" smtClean="0">
                <a:latin typeface="Times New Roman" pitchFamily="18" charset="0"/>
              </a:rPr>
              <a:t>*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.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en-US" altLang="ru-RU" sz="2400" b="1" baseline="30000" smtClean="0">
                <a:latin typeface="Times New Roman" pitchFamily="18" charset="0"/>
              </a:rPr>
              <a:t>*</a:t>
            </a:r>
            <a:r>
              <a:rPr lang="ru-RU" altLang="ru-RU" sz="2400" smtClean="0">
                <a:latin typeface="Times New Roman" pitchFamily="18" charset="0"/>
              </a:rPr>
              <a:t> – </a:t>
            </a:r>
            <a:r>
              <a:rPr lang="ru-RU" altLang="ru-RU" sz="2400" b="1" i="1" smtClean="0">
                <a:latin typeface="Times New Roman" pitchFamily="18" charset="0"/>
              </a:rPr>
              <a:t>полное</a:t>
            </a:r>
            <a:r>
              <a:rPr lang="ru-RU" altLang="ru-RU" sz="2400" smtClean="0">
                <a:latin typeface="Times New Roman" pitchFamily="18" charset="0"/>
              </a:rPr>
              <a:t> транзитивное замыкание отношения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</a:t>
            </a:r>
            <a:r>
              <a:rPr lang="en-US" altLang="ru-RU" sz="2400" b="1" u="sng" smtClean="0">
                <a:latin typeface="Times New Roman" pitchFamily="18" charset="0"/>
              </a:rPr>
              <a:t>last</a:t>
            </a:r>
            <a:r>
              <a:rPr lang="ru-RU" altLang="ru-RU" sz="2400" b="1" baseline="30000" smtClean="0">
                <a:latin typeface="Times New Roman" pitchFamily="18" charset="0"/>
              </a:rPr>
              <a:t>+</a:t>
            </a:r>
            <a:r>
              <a:rPr lang="ru-RU" altLang="ru-RU" sz="2400" smtClean="0">
                <a:latin typeface="Times New Roman" pitchFamily="18" charset="0"/>
              </a:rPr>
              <a:t> – положительное транзитивное замыкание отношения </a:t>
            </a:r>
            <a:r>
              <a:rPr lang="en-US" altLang="ru-RU" sz="2400" b="1" u="sng" smtClean="0">
                <a:latin typeface="Times New Roman" pitchFamily="18" charset="0"/>
              </a:rPr>
              <a:t>last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возведение в степень –1 обозначает вычисление обратного   отношения, т.е. его транспонирование. </a:t>
            </a:r>
          </a:p>
        </p:txBody>
      </p:sp>
      <p:grpSp>
        <p:nvGrpSpPr>
          <p:cNvPr id="39942" name="Group 7"/>
          <p:cNvGrpSpPr>
            <a:grpSpLocks/>
          </p:cNvGrpSpPr>
          <p:nvPr/>
        </p:nvGrpSpPr>
        <p:grpSpPr bwMode="auto">
          <a:xfrm>
            <a:off x="4102100" y="4210050"/>
            <a:ext cx="142875" cy="69850"/>
            <a:chOff x="-548" y="-898"/>
            <a:chExt cx="88" cy="44"/>
          </a:xfrm>
        </p:grpSpPr>
        <p:sp>
          <p:nvSpPr>
            <p:cNvPr id="39943" name="Line 8"/>
            <p:cNvSpPr>
              <a:spLocks noChangeShapeType="1"/>
            </p:cNvSpPr>
            <p:nvPr/>
          </p:nvSpPr>
          <p:spPr bwMode="auto">
            <a:xfrm>
              <a:off x="-548" y="-898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944" name="Line 9"/>
            <p:cNvSpPr>
              <a:spLocks noChangeShapeType="1"/>
            </p:cNvSpPr>
            <p:nvPr/>
          </p:nvSpPr>
          <p:spPr bwMode="auto">
            <a:xfrm>
              <a:off x="-548" y="-854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9D692DD-EE23-44D1-A7C2-A95249546CB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ru-RU" altLang="ru-RU" sz="1400" smtClean="0"/>
          </a:p>
        </p:txBody>
      </p:sp>
      <p:sp>
        <p:nvSpPr>
          <p:cNvPr id="40963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18EA5F9-C98D-4929-90E1-D605F364013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ru-RU" altLang="ru-RU" sz="14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b="1" smtClean="0"/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333375"/>
            <a:ext cx="8497887" cy="6119813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/>
              <a:t>  </a:t>
            </a:r>
            <a:r>
              <a:rPr lang="ru-RU" altLang="ru-RU" smtClean="0">
                <a:solidFill>
                  <a:schemeClr val="accent2"/>
                </a:solidFill>
              </a:rPr>
              <a:t>Использование отношения </a:t>
            </a:r>
            <a:r>
              <a:rPr lang="en-US" altLang="ru-RU" b="1" u="sng" smtClean="0">
                <a:solidFill>
                  <a:schemeClr val="accent2"/>
                </a:solidFill>
                <a:latin typeface="Times New Roman" pitchFamily="18" charset="0"/>
              </a:rPr>
              <a:t>first</a:t>
            </a:r>
            <a:endParaRPr lang="ru-RU" altLang="ru-RU" b="1" u="sng" smtClean="0">
              <a:solidFill>
                <a:schemeClr val="accent2"/>
              </a:solidFill>
              <a:latin typeface="Times New Roman" pitchFamily="18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mtClean="0">
                <a:solidFill>
                  <a:schemeClr val="accent2"/>
                </a:solidFill>
              </a:rPr>
              <a:t> для построения анализатора сверху-вниз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600" smtClean="0">
              <a:solidFill>
                <a:schemeClr val="accent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600" smtClean="0">
              <a:solidFill>
                <a:schemeClr val="accent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Отношение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и символа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, если существует порождающее правило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нетерминал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b="1" i="1" smtClean="0">
                <a:latin typeface="Times New Roman" pitchFamily="18" charset="0"/>
              </a:rPr>
              <a:t>леворекурсивный</a:t>
            </a:r>
            <a:r>
              <a:rPr lang="ru-RU" altLang="ru-RU" sz="2400" smtClean="0">
                <a:latin typeface="Times New Roman" pitchFamily="18" charset="0"/>
              </a:rPr>
              <a:t>, то элемент главной диагонали матрицы отношения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будет равен 1.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Вычислим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ru-RU" altLang="ru-RU" sz="2400" b="1" u="sng" baseline="30000" smtClean="0">
                <a:latin typeface="Times New Roman" pitchFamily="18" charset="0"/>
              </a:rPr>
              <a:t>+</a:t>
            </a:r>
            <a:r>
              <a:rPr lang="ru-RU" altLang="ru-RU" sz="2400" b="1" baseline="300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– </a:t>
            </a:r>
            <a:r>
              <a:rPr lang="ru-RU" altLang="ru-RU" sz="2400" i="1" u="sng" smtClean="0">
                <a:latin typeface="Times New Roman" pitchFamily="18" charset="0"/>
              </a:rPr>
              <a:t>положительное</a:t>
            </a:r>
            <a:r>
              <a:rPr lang="ru-RU" altLang="ru-RU" sz="2400" smtClean="0">
                <a:latin typeface="Times New Roman" pitchFamily="18" charset="0"/>
              </a:rPr>
              <a:t> транзитивное замыкание отношения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Элемент главной диагонали матрицы отношения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ru-RU" altLang="ru-RU" sz="2400" b="1" u="sng" baseline="300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будет равен 1 тогда и только тогда, когда имеется прямая или косвенная </a:t>
            </a:r>
            <a:r>
              <a:rPr lang="ru-RU" altLang="ru-RU" sz="2400" b="1" i="1" smtClean="0">
                <a:latin typeface="Times New Roman" pitchFamily="18" charset="0"/>
              </a:rPr>
              <a:t>левая рекурсия</a:t>
            </a:r>
            <a:r>
              <a:rPr lang="ru-RU" altLang="ru-RU" sz="2400" smtClean="0">
                <a:latin typeface="Times New Roman" pitchFamily="18" charset="0"/>
              </a:rPr>
              <a:t> для нетерминала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  <a:r>
              <a:rPr lang="ru-RU" altLang="ru-RU" sz="1600" smtClean="0">
                <a:latin typeface="Times New Roman" pitchFamily="18" charset="0"/>
              </a:rPr>
              <a:t>		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F09CD56-4A21-4D1A-9227-4AA374E66EC3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ru-RU" altLang="ru-RU" sz="1400" smtClean="0"/>
          </a:p>
        </p:txBody>
      </p:sp>
      <p:sp>
        <p:nvSpPr>
          <p:cNvPr id="41987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C2A1946-7AF9-4B8A-A6C1-7631C8B0C797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ru-RU" altLang="ru-RU" sz="1400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5888"/>
          </a:xfrm>
        </p:spPr>
        <p:txBody>
          <a:bodyPr/>
          <a:lstStyle/>
          <a:p>
            <a:pPr eaLnBrk="1" hangingPunct="1"/>
            <a:endParaRPr lang="ru-RU" altLang="ru-RU" sz="4000" b="1" smtClean="0"/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260350"/>
            <a:ext cx="9144000" cy="62642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i="1" smtClean="0">
                <a:solidFill>
                  <a:schemeClr val="accent2"/>
                </a:solidFill>
              </a:rPr>
              <a:t>Отношения операторного предшествования</a:t>
            </a:r>
            <a:r>
              <a:rPr lang="ru-RU" altLang="ru-RU" sz="3600" smtClean="0"/>
              <a:t> </a:t>
            </a:r>
          </a:p>
          <a:p>
            <a:pPr eaLnBrk="1" hangingPunct="1">
              <a:buFontTx/>
              <a:buNone/>
            </a:pPr>
            <a:endParaRPr lang="en-US" altLang="ru-RU" sz="28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    </a:t>
            </a:r>
            <a:r>
              <a:rPr lang="ru-RU" altLang="ru-RU" sz="2400" smtClean="0">
                <a:latin typeface="Times New Roman" pitchFamily="18" charset="0"/>
              </a:rPr>
              <a:t>Определены для каждой пары (обозначенных как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и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) </a:t>
            </a:r>
            <a:r>
              <a:rPr lang="ru-RU" altLang="ru-RU" sz="2400" b="1" i="1" smtClean="0">
                <a:latin typeface="Times New Roman" pitchFamily="18" charset="0"/>
              </a:rPr>
              <a:t>терминальных</a:t>
            </a:r>
            <a:r>
              <a:rPr lang="ru-RU" altLang="ru-RU" sz="2400" smtClean="0">
                <a:latin typeface="Times New Roman" pitchFamily="18" charset="0"/>
              </a:rPr>
              <a:t> символов грамматики, преобразованной в </a:t>
            </a:r>
            <a:r>
              <a:rPr lang="ru-RU" altLang="ru-RU" sz="2400" b="1" i="1" smtClean="0">
                <a:latin typeface="Times New Roman" pitchFamily="18" charset="0"/>
              </a:rPr>
              <a:t>операторную форму</a:t>
            </a:r>
            <a:r>
              <a:rPr lang="ru-RU" altLang="ru-RU" sz="2400" smtClean="0">
                <a:latin typeface="Times New Roman" pitchFamily="18" charset="0"/>
              </a:rPr>
              <a:t>, такую, что в ней нет порождающих правил вида: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ru-RU" altLang="ru-RU" sz="2400" i="1" smtClean="0">
                <a:latin typeface="Times New Roman" pitchFamily="18" charset="0"/>
              </a:rPr>
              <a:t>АВ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где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i="1" smtClean="0">
                <a:latin typeface="Times New Roman" pitchFamily="18" charset="0"/>
              </a:rPr>
              <a:t>, А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  <a:r>
              <a:rPr lang="ru-RU" altLang="ru-RU" sz="2400" i="1" smtClean="0">
                <a:latin typeface="Times New Roman" pitchFamily="18" charset="0"/>
              </a:rPr>
              <a:t> В</a:t>
            </a:r>
            <a:r>
              <a:rPr lang="ru-RU" altLang="ru-RU" sz="2400" smtClean="0">
                <a:latin typeface="Times New Roman" pitchFamily="18" charset="0"/>
              </a:rPr>
              <a:t> – некоторые нетерминалы.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Отношение </a:t>
            </a:r>
            <a:r>
              <a:rPr lang="ru-RU" altLang="ru-RU" sz="2400" b="1" i="1" smtClean="0">
                <a:latin typeface="Times New Roman" pitchFamily="18" charset="0"/>
              </a:rPr>
              <a:t>типа равно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 выполняется тогда и только тогда, когда существуют порождающие правила: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ab</a:t>
            </a:r>
            <a:r>
              <a:rPr lang="en-US" altLang="ru-RU" sz="2400" smtClean="0">
                <a:latin typeface="Times New Roman" pitchFamily="18" charset="0"/>
              </a:rPr>
              <a:t>. . .  </a:t>
            </a:r>
            <a:r>
              <a:rPr lang="ru-RU" altLang="ru-RU" sz="2400" smtClean="0">
                <a:latin typeface="Times New Roman" pitchFamily="18" charset="0"/>
              </a:rPr>
              <a:t>или  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aWb</a:t>
            </a:r>
            <a:r>
              <a:rPr lang="en-US" altLang="ru-RU" sz="2400" smtClean="0">
                <a:latin typeface="Times New Roman" pitchFamily="18" charset="0"/>
              </a:rPr>
              <a:t>. . . 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где </a:t>
            </a:r>
            <a:r>
              <a:rPr lang="en-US" altLang="ru-RU" sz="2400" i="1" smtClean="0">
                <a:latin typeface="Times New Roman" pitchFamily="18" charset="0"/>
              </a:rPr>
              <a:t>W</a:t>
            </a:r>
            <a:r>
              <a:rPr lang="ru-RU" altLang="ru-RU" sz="2400" smtClean="0">
                <a:latin typeface="Times New Roman" pitchFamily="18" charset="0"/>
              </a:rPr>
              <a:t> – некоторый нетерминал. 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  <p:grpSp>
        <p:nvGrpSpPr>
          <p:cNvPr id="41990" name="Group 7"/>
          <p:cNvGrpSpPr>
            <a:grpSpLocks/>
          </p:cNvGrpSpPr>
          <p:nvPr/>
        </p:nvGrpSpPr>
        <p:grpSpPr bwMode="auto">
          <a:xfrm>
            <a:off x="3924300" y="4508500"/>
            <a:ext cx="147638" cy="125413"/>
            <a:chOff x="1701" y="1705"/>
            <a:chExt cx="114" cy="140"/>
          </a:xfrm>
        </p:grpSpPr>
        <p:sp>
          <p:nvSpPr>
            <p:cNvPr id="41991" name="Line 8"/>
            <p:cNvSpPr>
              <a:spLocks noChangeShapeType="1"/>
            </p:cNvSpPr>
            <p:nvPr/>
          </p:nvSpPr>
          <p:spPr bwMode="auto">
            <a:xfrm>
              <a:off x="1701" y="1787"/>
              <a:ext cx="1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992" name="Line 9"/>
            <p:cNvSpPr>
              <a:spLocks noChangeShapeType="1"/>
            </p:cNvSpPr>
            <p:nvPr/>
          </p:nvSpPr>
          <p:spPr bwMode="auto">
            <a:xfrm>
              <a:off x="1701" y="1845"/>
              <a:ext cx="1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993" name="Oval 10"/>
            <p:cNvSpPr>
              <a:spLocks noChangeArrowheads="1"/>
            </p:cNvSpPr>
            <p:nvPr/>
          </p:nvSpPr>
          <p:spPr bwMode="auto">
            <a:xfrm>
              <a:off x="1720" y="1705"/>
              <a:ext cx="56" cy="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ru-RU" alt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B7FCBC4-41AB-4279-9637-F201582F604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ru-RU" altLang="ru-RU" sz="1400" smtClean="0"/>
          </a:p>
        </p:txBody>
      </p:sp>
      <p:sp>
        <p:nvSpPr>
          <p:cNvPr id="43011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92F24FC-223B-4373-8245-AD086A0997DA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ru-RU" altLang="ru-RU" sz="140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5888"/>
          </a:xfrm>
        </p:spPr>
        <p:txBody>
          <a:bodyPr/>
          <a:lstStyle/>
          <a:p>
            <a:pPr eaLnBrk="1" hangingPunct="1"/>
            <a:endParaRPr lang="ru-RU" altLang="ru-RU" sz="4000" b="1" smtClean="0"/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60350"/>
            <a:ext cx="8229600" cy="65976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Отношение </a:t>
            </a:r>
            <a:r>
              <a:rPr lang="ru-RU" altLang="ru-RU" sz="2400" b="1" i="1" smtClean="0">
                <a:latin typeface="Times New Roman" pitchFamily="18" charset="0"/>
              </a:rPr>
              <a:t>типа меньше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&lt;</a:t>
            </a:r>
            <a:r>
              <a:rPr lang="en-US" altLang="ru-RU" sz="2400" smtClean="0"/>
              <a:t>◦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 выполняется тогда и только тогда, когда существует порождающее правило: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aV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где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ru-RU" altLang="ru-RU" sz="2400" smtClean="0">
                <a:latin typeface="Times New Roman" pitchFamily="18" charset="0"/>
              </a:rPr>
              <a:t>– некоторые нетерминалы, а из нетерминала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ru-RU" altLang="ru-RU" sz="2400" smtClean="0">
                <a:latin typeface="Times New Roman" pitchFamily="18" charset="0"/>
              </a:rPr>
              <a:t> за один или несколько шагов выводится цепочка символов, </a:t>
            </a:r>
            <a:r>
              <a:rPr lang="ru-RU" altLang="ru-RU" sz="2400" b="1" i="1" smtClean="0">
                <a:latin typeface="Times New Roman" pitchFamily="18" charset="0"/>
              </a:rPr>
              <a:t>начинающаяся</a:t>
            </a:r>
            <a:r>
              <a:rPr lang="ru-RU" altLang="ru-RU" sz="2400" smtClean="0">
                <a:latin typeface="Times New Roman" pitchFamily="18" charset="0"/>
              </a:rPr>
              <a:t> с </a:t>
            </a:r>
            <a:r>
              <a:rPr lang="en-US" altLang="ru-RU" sz="2400" i="1" smtClean="0">
                <a:latin typeface="Times New Roman" pitchFamily="18" charset="0"/>
              </a:rPr>
              <a:t>b </a:t>
            </a:r>
            <a:r>
              <a:rPr lang="ru-RU" altLang="ru-RU" sz="2400" smtClean="0">
                <a:latin typeface="Times New Roman" pitchFamily="18" charset="0"/>
              </a:rPr>
              <a:t>или нетерминала </a:t>
            </a:r>
            <a:r>
              <a:rPr lang="en-US" altLang="ru-RU" sz="2400" i="1" smtClean="0">
                <a:latin typeface="Times New Roman" pitchFamily="18" charset="0"/>
              </a:rPr>
              <a:t>W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 терминала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en-US" altLang="ru-RU" sz="2400" smtClean="0">
                <a:latin typeface="Times New Roman" pitchFamily="18" charset="0"/>
              </a:rPr>
              <a:t> =&gt;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en-US" altLang="ru-RU" sz="2400" smtClean="0">
                <a:latin typeface="Times New Roman" pitchFamily="18" charset="0"/>
              </a:rPr>
              <a:t>. . .       </a:t>
            </a:r>
            <a:r>
              <a:rPr lang="ru-RU" altLang="ru-RU" sz="2400" smtClean="0">
                <a:latin typeface="Times New Roman" pitchFamily="18" charset="0"/>
              </a:rPr>
              <a:t> или  </a:t>
            </a:r>
            <a:r>
              <a:rPr lang="en-US" altLang="ru-RU" sz="2400" smtClean="0">
                <a:latin typeface="Times New Roman" pitchFamily="18" charset="0"/>
              </a:rPr>
              <a:t>   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en-US" altLang="ru-RU" sz="2400" smtClean="0">
                <a:latin typeface="Times New Roman" pitchFamily="18" charset="0"/>
              </a:rPr>
              <a:t> =&gt; </a:t>
            </a:r>
            <a:r>
              <a:rPr lang="en-US" altLang="ru-RU" sz="2400" i="1" smtClean="0">
                <a:latin typeface="Times New Roman" pitchFamily="18" charset="0"/>
              </a:rPr>
              <a:t>Wb</a:t>
            </a:r>
            <a:r>
              <a:rPr lang="en-US" altLang="ru-RU" sz="2400" smtClean="0">
                <a:latin typeface="Times New Roman" pitchFamily="18" charset="0"/>
              </a:rPr>
              <a:t>. . . 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Отношение </a:t>
            </a:r>
            <a:r>
              <a:rPr lang="ru-RU" altLang="ru-RU" sz="2400" b="1" i="1" smtClean="0">
                <a:latin typeface="Times New Roman" pitchFamily="18" charset="0"/>
              </a:rPr>
              <a:t>типа больше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◦&gt;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 выполняется тогда и только тогда, когда существует порождающее правило: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V b</a:t>
            </a:r>
            <a:r>
              <a:rPr lang="en-US" altLang="ru-RU" sz="2400" smtClean="0">
                <a:latin typeface="Times New Roman" pitchFamily="18" charset="0"/>
              </a:rPr>
              <a:t>. . .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где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ru-RU" altLang="ru-RU" sz="2400" smtClean="0">
                <a:latin typeface="Times New Roman" pitchFamily="18" charset="0"/>
              </a:rPr>
              <a:t>– некоторые нетерминалы,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из нетерминала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ru-RU" altLang="ru-RU" sz="2400" smtClean="0">
                <a:latin typeface="Times New Roman" pitchFamily="18" charset="0"/>
              </a:rPr>
              <a:t> за один или несколько шагов выводится цепочка символов, </a:t>
            </a:r>
            <a:r>
              <a:rPr lang="ru-RU" altLang="ru-RU" sz="2400" b="1" i="1" smtClean="0">
                <a:latin typeface="Times New Roman" pitchFamily="18" charset="0"/>
              </a:rPr>
              <a:t>заканчивающаяся</a:t>
            </a:r>
            <a:r>
              <a:rPr lang="ru-RU" altLang="ru-RU" sz="2400" smtClean="0">
                <a:latin typeface="Times New Roman" pitchFamily="18" charset="0"/>
              </a:rPr>
              <a:t> на </a:t>
            </a:r>
            <a:r>
              <a:rPr lang="en-US" altLang="ru-RU" sz="2400" i="1" smtClean="0">
                <a:latin typeface="Times New Roman" pitchFamily="18" charset="0"/>
              </a:rPr>
              <a:t>a </a:t>
            </a:r>
            <a:r>
              <a:rPr lang="ru-RU" altLang="ru-RU" sz="2400" smtClean="0">
                <a:latin typeface="Times New Roman" pitchFamily="18" charset="0"/>
              </a:rPr>
              <a:t>или нетерминал </a:t>
            </a:r>
            <a:r>
              <a:rPr lang="en-US" altLang="ru-RU" sz="2400" i="1" smtClean="0">
                <a:latin typeface="Times New Roman" pitchFamily="18" charset="0"/>
              </a:rPr>
              <a:t>W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 терминал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en-US" altLang="ru-RU" sz="2400" smtClean="0">
                <a:latin typeface="Times New Roman" pitchFamily="18" charset="0"/>
              </a:rPr>
              <a:t> =&gt; . . .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 </a:t>
            </a:r>
            <a:r>
              <a:rPr lang="ru-RU" altLang="ru-RU" sz="2400" i="1" smtClean="0">
                <a:latin typeface="Times New Roman" pitchFamily="18" charset="0"/>
              </a:rPr>
              <a:t>    </a:t>
            </a:r>
            <a:r>
              <a:rPr lang="ru-RU" altLang="ru-RU" sz="2400" smtClean="0">
                <a:latin typeface="Times New Roman" pitchFamily="18" charset="0"/>
              </a:rPr>
              <a:t>или      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en-US" altLang="ru-RU" sz="2400" smtClean="0">
                <a:latin typeface="Times New Roman" pitchFamily="18" charset="0"/>
              </a:rPr>
              <a:t> =&gt; . . .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aW 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59F4853-9A6F-4512-A893-743C9FB8313A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42</a:t>
            </a:fld>
            <a:endParaRPr lang="ru-RU" altLang="ru-RU" sz="1400" smtClean="0"/>
          </a:p>
        </p:txBody>
      </p:sp>
      <p:sp>
        <p:nvSpPr>
          <p:cNvPr id="44035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3BD4545-19E7-44F6-8A57-479221887363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42</a:t>
            </a:fld>
            <a:endParaRPr lang="ru-RU" altLang="ru-RU" sz="1400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765175"/>
            <a:ext cx="8229600" cy="5759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smtClean="0"/>
              <a:t>Таким образом, нетерминальные символы </a:t>
            </a:r>
            <a:r>
              <a:rPr lang="ru-RU" altLang="ru-RU" sz="2800" b="1" smtClean="0"/>
              <a:t>«</a:t>
            </a:r>
            <a:r>
              <a:rPr lang="ru-RU" altLang="ru-RU" sz="2800" b="1" i="1" smtClean="0"/>
              <a:t>прозрачны»</a:t>
            </a:r>
            <a:r>
              <a:rPr lang="ru-RU" altLang="ru-RU" sz="2800" smtClean="0"/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smtClean="0"/>
              <a:t>для отношений операторного предшествования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b="1" smtClean="0">
                <a:latin typeface="Times New Roman" pitchFamily="18" charset="0"/>
              </a:rPr>
              <a:t>Замечание.</a:t>
            </a:r>
            <a:r>
              <a:rPr lang="ru-RU" altLang="ru-RU" sz="2800" smtClean="0">
                <a:latin typeface="Times New Roman" pitchFamily="18" charset="0"/>
              </a:rPr>
              <a:t> В операторной грамматике при любом сворачивании основ </a:t>
            </a:r>
            <a:r>
              <a:rPr lang="ru-RU" altLang="ru-RU" sz="2800" b="1" i="1" smtClean="0">
                <a:latin typeface="Times New Roman" pitchFamily="18" charset="0"/>
              </a:rPr>
              <a:t>никогда </a:t>
            </a:r>
            <a:r>
              <a:rPr lang="ru-RU" altLang="ru-RU" sz="2800" smtClean="0">
                <a:latin typeface="Times New Roman" pitchFamily="18" charset="0"/>
              </a:rPr>
              <a:t>не могут появиться два рядом стоящих нетерминала.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 </a:t>
            </a:r>
          </a:p>
        </p:txBody>
      </p:sp>
      <p:sp>
        <p:nvSpPr>
          <p:cNvPr id="44038" name="TextBox 1"/>
          <p:cNvSpPr txBox="1">
            <a:spLocks noChangeArrowheads="1"/>
          </p:cNvSpPr>
          <p:nvPr/>
        </p:nvSpPr>
        <p:spPr bwMode="auto">
          <a:xfrm>
            <a:off x="4114800" y="2933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D2148F8-B65C-4052-BB8D-6AE12F63266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43</a:t>
            </a:fld>
            <a:endParaRPr lang="ru-RU" altLang="ru-RU" sz="1400" smtClean="0"/>
          </a:p>
        </p:txBody>
      </p:sp>
      <p:sp>
        <p:nvSpPr>
          <p:cNvPr id="45059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9846E7D-6CCD-4AFF-ADAF-D106743FF232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43</a:t>
            </a:fld>
            <a:endParaRPr lang="ru-RU" altLang="ru-RU" sz="1400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274638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5888"/>
            <a:ext cx="8642350" cy="6626225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ru-RU" altLang="ru-RU" sz="2800" smtClean="0">
                <a:solidFill>
                  <a:schemeClr val="accent2"/>
                </a:solidFill>
              </a:rPr>
              <a:t>Функционирование анализатора, использующего </a:t>
            </a:r>
            <a:r>
              <a:rPr lang="ru-RU" altLang="ru-RU" sz="2800" i="1" smtClean="0">
                <a:solidFill>
                  <a:schemeClr val="accent2"/>
                </a:solidFill>
              </a:rPr>
              <a:t>отношения операторного предшествования</a:t>
            </a:r>
            <a:r>
              <a:rPr lang="ru-RU" altLang="ru-RU" sz="2800" smtClean="0">
                <a:solidFill>
                  <a:schemeClr val="accent2"/>
                </a:solidFill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1200" smtClean="0">
              <a:solidFill>
                <a:schemeClr val="accent2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1. До начала работы в магазине имеется символ </a:t>
            </a:r>
            <a:r>
              <a:rPr lang="ru-RU" altLang="ru-RU" sz="2200" baseline="-25000" smtClean="0"/>
              <a:t>┴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2. Анализируемая цепочка заканчивается символом </a:t>
            </a:r>
            <a:r>
              <a:rPr lang="ru-RU" altLang="ru-RU" sz="2200" baseline="-25000" smtClean="0"/>
              <a:t>┴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3. Для любого терминала </a:t>
            </a:r>
            <a:r>
              <a:rPr lang="ru-RU" altLang="ru-RU" sz="2200" i="1" smtClean="0">
                <a:latin typeface="Times New Roman" pitchFamily="18" charset="0"/>
              </a:rPr>
              <a:t>а</a:t>
            </a:r>
            <a:r>
              <a:rPr lang="ru-RU" altLang="ru-RU" sz="2200" smtClean="0">
                <a:latin typeface="Times New Roman" pitchFamily="18" charset="0"/>
              </a:rPr>
              <a:t> выполняются отношения операторного предшествования: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baseline="-25000" smtClean="0"/>
              <a:t>			┴ </a:t>
            </a:r>
            <a:r>
              <a:rPr lang="en-US" altLang="ru-RU" sz="2200" smtClean="0">
                <a:latin typeface="Times New Roman" pitchFamily="18" charset="0"/>
              </a:rPr>
              <a:t>&lt;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◦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ru-RU" altLang="ru-RU" sz="2200" i="1" smtClean="0">
                <a:latin typeface="Times New Roman" pitchFamily="18" charset="0"/>
              </a:rPr>
              <a:t>а</a:t>
            </a:r>
            <a:r>
              <a:rPr lang="ru-RU" altLang="ru-RU" sz="2200" baseline="-25000" smtClean="0"/>
              <a:t>    	</a:t>
            </a:r>
            <a:r>
              <a:rPr lang="ru-RU" altLang="ru-RU" sz="2200" smtClean="0">
                <a:latin typeface="Times New Roman" pitchFamily="18" charset="0"/>
              </a:rPr>
              <a:t>и  </a:t>
            </a:r>
            <a:r>
              <a:rPr lang="ru-RU" altLang="ru-RU" sz="2200" baseline="-25000" smtClean="0"/>
              <a:t>	      </a:t>
            </a:r>
            <a:r>
              <a:rPr lang="ru-RU" altLang="ru-RU" sz="2200" i="1" smtClean="0">
                <a:latin typeface="Times New Roman" pitchFamily="18" charset="0"/>
              </a:rPr>
              <a:t>а</a:t>
            </a:r>
            <a:r>
              <a:rPr lang="ru-RU" altLang="ru-RU" sz="2200" baseline="-25000" smtClean="0"/>
              <a:t>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◦&gt;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ru-RU" altLang="ru-RU" sz="2200" baseline="-25000" smtClean="0"/>
              <a:t>┴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4. На очередном шаге работы проверяется отношение между верхним терминалом в магазине </a:t>
            </a:r>
            <a:r>
              <a:rPr lang="ru-RU" altLang="ru-RU" sz="2200" i="1" smtClean="0">
                <a:latin typeface="Times New Roman" pitchFamily="18" charset="0"/>
              </a:rPr>
              <a:t>а</a:t>
            </a:r>
            <a:r>
              <a:rPr lang="ru-RU" altLang="ru-RU" sz="2200" smtClean="0">
                <a:latin typeface="Times New Roman" pitchFamily="18" charset="0"/>
              </a:rPr>
              <a:t> (игнорируя нетерминал, если он там есть) и входным символом </a:t>
            </a:r>
            <a:r>
              <a:rPr lang="en-US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- если  </a:t>
            </a:r>
            <a:r>
              <a:rPr lang="en-US" altLang="ru-RU" sz="2200" i="1" smtClean="0">
                <a:latin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en-US" altLang="ru-RU" sz="2200" smtClean="0">
                <a:latin typeface="Times New Roman" pitchFamily="18" charset="0"/>
              </a:rPr>
              <a:t>&lt;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◦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en-US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  или  </a:t>
            </a:r>
            <a:r>
              <a:rPr lang="en-US" altLang="ru-RU" sz="2200" i="1" smtClean="0">
                <a:latin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en-US" altLang="ru-RU" sz="2200" smtClean="0">
                <a:latin typeface="Times New Roman" pitchFamily="18" charset="0"/>
              </a:rPr>
              <a:t>   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en-US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, то </a:t>
            </a:r>
            <a:r>
              <a:rPr lang="en-US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 записывается в магазин;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- если  </a:t>
            </a:r>
            <a:r>
              <a:rPr lang="en-US" altLang="ru-RU" sz="2200" i="1" smtClean="0">
                <a:latin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◦&gt;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en-US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  то верхние символы в магазине, образующие основу с символом </a:t>
            </a:r>
            <a:r>
              <a:rPr lang="en-US" altLang="ru-RU" sz="2200" i="1" smtClean="0">
                <a:latin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</a:rPr>
              <a:t> в конце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или символом </a:t>
            </a:r>
            <a:r>
              <a:rPr lang="en-US" altLang="ru-RU" sz="2200" i="1" smtClean="0">
                <a:latin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</a:rPr>
              <a:t> и каким-либо нетерминалом , сворачиваются, т.е. заменяются на нетерминал, причем все </a:t>
            </a:r>
            <a:r>
              <a:rPr lang="ru-RU" altLang="ru-RU" sz="2200" b="1" i="1" smtClean="0">
                <a:latin typeface="Times New Roman" pitchFamily="18" charset="0"/>
              </a:rPr>
              <a:t>нетерминалы </a:t>
            </a:r>
            <a:r>
              <a:rPr lang="ru-RU" altLang="ru-RU" sz="2200" smtClean="0">
                <a:latin typeface="Times New Roman" pitchFamily="18" charset="0"/>
              </a:rPr>
              <a:t>считаются </a:t>
            </a:r>
            <a:r>
              <a:rPr lang="ru-RU" altLang="ru-RU" sz="2200" b="1" i="1" smtClean="0">
                <a:latin typeface="Times New Roman" pitchFamily="18" charset="0"/>
              </a:rPr>
              <a:t>неразличимыми</a:t>
            </a:r>
            <a:r>
              <a:rPr lang="ru-RU" altLang="ru-RU" sz="2200" smtClean="0">
                <a:latin typeface="Times New Roman" pitchFamily="18" charset="0"/>
              </a:rPr>
              <a:t>, обозначаемыми как </a:t>
            </a:r>
            <a:r>
              <a:rPr lang="en-US" altLang="ru-RU" sz="2200" i="1" smtClean="0">
                <a:latin typeface="Times New Roman" pitchFamily="18" charset="0"/>
              </a:rPr>
              <a:t>N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5. Если вся анализируемая цепочка может быть свернута к начальному нетерминалу, то на последнем шаге работы в магазине будут символы: </a:t>
            </a:r>
            <a:r>
              <a:rPr lang="ru-RU" altLang="ru-RU" sz="2200" baseline="-25000" smtClean="0"/>
              <a:t>┴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en-US" altLang="ru-RU" sz="2200" i="1" smtClean="0">
                <a:latin typeface="Times New Roman" pitchFamily="18" charset="0"/>
              </a:rPr>
              <a:t>N</a:t>
            </a:r>
            <a:r>
              <a:rPr lang="en-US" altLang="ru-RU" sz="2200" smtClean="0">
                <a:latin typeface="Times New Roman" pitchFamily="18" charset="0"/>
              </a:rPr>
              <a:t>, </a:t>
            </a:r>
            <a:r>
              <a:rPr lang="ru-RU" altLang="ru-RU" sz="2200" smtClean="0">
                <a:latin typeface="Times New Roman" pitchFamily="18" charset="0"/>
              </a:rPr>
              <a:t>а на входе – символ </a:t>
            </a:r>
            <a:r>
              <a:rPr lang="ru-RU" altLang="ru-RU" sz="2200" baseline="-25000" smtClean="0"/>
              <a:t>┴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</a:p>
        </p:txBody>
      </p:sp>
      <p:grpSp>
        <p:nvGrpSpPr>
          <p:cNvPr id="45062" name="Group 7"/>
          <p:cNvGrpSpPr>
            <a:grpSpLocks/>
          </p:cNvGrpSpPr>
          <p:nvPr/>
        </p:nvGrpSpPr>
        <p:grpSpPr bwMode="auto">
          <a:xfrm>
            <a:off x="3192463" y="4038600"/>
            <a:ext cx="184150" cy="168275"/>
            <a:chOff x="1701" y="1705"/>
            <a:chExt cx="114" cy="140"/>
          </a:xfrm>
        </p:grpSpPr>
        <p:sp>
          <p:nvSpPr>
            <p:cNvPr id="45063" name="Line 8"/>
            <p:cNvSpPr>
              <a:spLocks noChangeShapeType="1"/>
            </p:cNvSpPr>
            <p:nvPr/>
          </p:nvSpPr>
          <p:spPr bwMode="auto">
            <a:xfrm>
              <a:off x="1701" y="1787"/>
              <a:ext cx="1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064" name="Line 9"/>
            <p:cNvSpPr>
              <a:spLocks noChangeShapeType="1"/>
            </p:cNvSpPr>
            <p:nvPr/>
          </p:nvSpPr>
          <p:spPr bwMode="auto">
            <a:xfrm>
              <a:off x="1701" y="1845"/>
              <a:ext cx="1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065" name="Oval 10"/>
            <p:cNvSpPr>
              <a:spLocks noChangeArrowheads="1"/>
            </p:cNvSpPr>
            <p:nvPr/>
          </p:nvSpPr>
          <p:spPr bwMode="auto">
            <a:xfrm>
              <a:off x="1720" y="1705"/>
              <a:ext cx="56" cy="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ru-RU" alt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C0DDDE5-2794-4E85-B19F-2C1F3EF2A70B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44</a:t>
            </a:fld>
            <a:endParaRPr lang="ru-RU" altLang="ru-RU" sz="1400" smtClean="0"/>
          </a:p>
        </p:txBody>
      </p:sp>
      <p:sp>
        <p:nvSpPr>
          <p:cNvPr id="46083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41A8730-08BF-410E-8DB9-CA841586278D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44</a:t>
            </a:fld>
            <a:endParaRPr lang="ru-RU" altLang="ru-RU" sz="1400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217487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229600" cy="62642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/>
              <a:t>Грамматика операторного предшествования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КС- грамматика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в операторной форме, в которой: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 Для каждой пары терминальных символов грамматики существует </a:t>
            </a:r>
            <a:r>
              <a:rPr lang="ru-RU" altLang="ru-RU" sz="2400" b="1" i="1" smtClean="0">
                <a:latin typeface="Times New Roman" pitchFamily="18" charset="0"/>
              </a:rPr>
              <a:t>не более одного</a:t>
            </a:r>
            <a:r>
              <a:rPr lang="ru-RU" altLang="ru-RU" sz="2400" smtClean="0">
                <a:latin typeface="Times New Roman" pitchFamily="18" charset="0"/>
              </a:rPr>
              <a:t> из трех возможных отношений предшествования.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 Грамматика </a:t>
            </a:r>
            <a:r>
              <a:rPr lang="ru-RU" altLang="ru-RU" sz="2400" b="1" i="1" smtClean="0">
                <a:latin typeface="Times New Roman" pitchFamily="18" charset="0"/>
              </a:rPr>
              <a:t>обратима</a:t>
            </a:r>
            <a:r>
              <a:rPr lang="ru-RU" altLang="ru-RU" sz="2400" smtClean="0">
                <a:latin typeface="Times New Roman" pitchFamily="18" charset="0"/>
              </a:rPr>
              <a:t> с точностью до обозначений нетерминалов,  т.е. среди всех порождающих правил нет никаких двух одинаковых правых частей, если все нетерминалы обозначить одним и тем же символом.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1200" b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Грамматика операторного предшествования однозначна, </a:t>
            </a:r>
            <a:r>
              <a:rPr lang="ru-RU" altLang="ru-RU" sz="2400" smtClean="0">
                <a:latin typeface="Times New Roman" pitchFamily="18" charset="0"/>
              </a:rPr>
              <a:t>так как анализатор работает детерминированно.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верхние символы магазина: 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-1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+1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+1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j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j</a:t>
            </a:r>
            <a:r>
              <a:rPr lang="ru-RU" altLang="ru-RU" sz="2400" i="1" baseline="-250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j+</a:t>
            </a:r>
            <a:r>
              <a:rPr lang="en-US" altLang="ru-RU" sz="2400" baseline="-25000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ru-RU" altLang="ru-RU" sz="2400" i="1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терминалы 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i="1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нетерминалы,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j+</a:t>
            </a:r>
            <a:r>
              <a:rPr lang="en-US" altLang="ru-RU" sz="2400" baseline="-25000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 – входной символ, между которыми выполняются отношения: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-1</a:t>
            </a:r>
            <a:r>
              <a:rPr lang="en-US" altLang="ru-RU" sz="2400" i="1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&lt;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=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+1 </a:t>
            </a:r>
            <a:r>
              <a:rPr lang="en-US" altLang="ru-RU" sz="2400" smtClean="0">
                <a:latin typeface="Times New Roman" pitchFamily="18" charset="0"/>
              </a:rPr>
              <a:t>= . . . =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j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j+</a:t>
            </a:r>
            <a:r>
              <a:rPr lang="en-US" altLang="ru-RU" sz="2400" baseline="-25000" smtClean="0">
                <a:latin typeface="Times New Roman" pitchFamily="18" charset="0"/>
              </a:rPr>
              <a:t>1 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Тогда сворачиваются символы основы: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+1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i</a:t>
            </a:r>
            <a:r>
              <a:rPr lang="en-US" altLang="ru-RU" sz="2400" baseline="-25000" smtClean="0">
                <a:latin typeface="Times New Roman" pitchFamily="18" charset="0"/>
              </a:rPr>
              <a:t>+1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i="1" baseline="-25000" smtClean="0">
                <a:latin typeface="Times New Roman" pitchFamily="18" charset="0"/>
              </a:rPr>
              <a:t>j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i="1" baseline="-25000" smtClean="0">
                <a:latin typeface="Times New Roman" pitchFamily="18" charset="0"/>
              </a:rPr>
              <a:t>j</a:t>
            </a:r>
            <a:endParaRPr lang="ru-RU" altLang="ru-RU" sz="2400" i="1" baseline="-250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B827402-8B0B-4930-8E98-83C00006EDB8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ru-RU" altLang="ru-RU" sz="1400" smtClean="0"/>
          </a:p>
        </p:txBody>
      </p:sp>
      <p:sp>
        <p:nvSpPr>
          <p:cNvPr id="47107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448EF50-BAB7-4724-9D7C-032FDB3FF2C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ru-RU" altLang="ru-RU" sz="140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60350"/>
            <a:ext cx="8229600" cy="64087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Пример. </a:t>
            </a:r>
            <a:r>
              <a:rPr lang="ru-RU" altLang="ru-RU" sz="2400" smtClean="0">
                <a:latin typeface="Times New Roman" pitchFamily="18" charset="0"/>
              </a:rPr>
              <a:t>Грамматика простых арифметических выражений:</a:t>
            </a:r>
            <a:endParaRPr lang="en-US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S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T </a:t>
            </a:r>
            <a:r>
              <a:rPr lang="en-US" altLang="ru-RU" sz="2400" smtClean="0">
                <a:latin typeface="Times New Roman" pitchFamily="18" charset="0"/>
              </a:rPr>
              <a:t>* 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| 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→ 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) | 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 Отношение типа равно для пары скобок   (  и  ).</a:t>
            </a: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2.</a:t>
            </a:r>
            <a:r>
              <a:rPr lang="ru-RU" altLang="ru-RU" sz="2400" b="1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Отношение типа меньше для пар:</a:t>
            </a:r>
            <a:r>
              <a:rPr lang="ru-RU" altLang="ru-RU" sz="2400" b="1" i="1" smtClean="0">
                <a:latin typeface="Times New Roman" pitchFamily="18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+ и терминал, порождаемый первым из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* и терминал, порождаемый первым из 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 (</a:t>
            </a:r>
            <a:r>
              <a:rPr lang="ru-RU" altLang="ru-RU" sz="2400" smtClean="0">
                <a:latin typeface="Times New Roman" pitchFamily="18" charset="0"/>
              </a:rPr>
              <a:t> и терминал, порождаемый первым из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3.</a:t>
            </a:r>
            <a:r>
              <a:rPr lang="ru-RU" altLang="ru-RU" sz="2400" b="1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Отношение типа больше для пар:</a:t>
            </a:r>
            <a:r>
              <a:rPr lang="ru-RU" altLang="ru-RU" sz="2400" b="1" i="1" smtClean="0">
                <a:latin typeface="Times New Roman" pitchFamily="18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терминал, порождаемый последним из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 </a:t>
            </a:r>
            <a:r>
              <a:rPr lang="en-US" altLang="ru-RU" sz="2400" smtClean="0">
                <a:latin typeface="Times New Roman" pitchFamily="18" charset="0"/>
              </a:rPr>
              <a:t>+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терминал, порождаемый последним из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 *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терминал, порождаемый последним из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 </a:t>
            </a:r>
            <a:r>
              <a:rPr lang="en-US" altLang="ru-RU" sz="2400" smtClean="0">
                <a:latin typeface="Times New Roman" pitchFamily="18" charset="0"/>
              </a:rPr>
              <a:t>)</a:t>
            </a:r>
            <a:endParaRPr lang="ru-RU" altLang="ru-RU" sz="24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E2E296D-FA6C-4067-AD95-62507B350AE3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46</a:t>
            </a:fld>
            <a:endParaRPr lang="ru-RU" altLang="ru-RU" sz="1400" smtClean="0"/>
          </a:p>
        </p:txBody>
      </p:sp>
      <p:sp>
        <p:nvSpPr>
          <p:cNvPr id="48131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DA999A8-9B77-4218-A7AA-A7553D2E68BD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46</a:t>
            </a:fld>
            <a:endParaRPr lang="ru-RU" altLang="ru-RU" sz="1400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333375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7950" y="188913"/>
            <a:ext cx="9036050" cy="6911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smtClean="0"/>
              <a:t>Таблица отношений операторного предшествования</a:t>
            </a:r>
            <a:endParaRPr lang="ru-RU" altLang="ru-RU" sz="2800" b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3600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b="1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b="1" i="1" smtClean="0">
              <a:latin typeface="Times New Roman" pitchFamily="18" charset="0"/>
            </a:endParaRPr>
          </a:p>
        </p:txBody>
      </p:sp>
      <p:graphicFrame>
        <p:nvGraphicFramePr>
          <p:cNvPr id="56431" name="Group 111"/>
          <p:cNvGraphicFramePr>
            <a:graphicFrameLocks noGrp="1"/>
          </p:cNvGraphicFramePr>
          <p:nvPr/>
        </p:nvGraphicFramePr>
        <p:xfrm>
          <a:off x="2051050" y="1557338"/>
          <a:ext cx="4064000" cy="3108325"/>
        </p:xfrm>
        <a:graphic>
          <a:graphicData uri="http://schemas.openxmlformats.org/drawingml/2006/table">
            <a:tbl>
              <a:tblPr/>
              <a:tblGrid>
                <a:gridCol w="677863"/>
                <a:gridCol w="676275"/>
                <a:gridCol w="677862"/>
                <a:gridCol w="677863"/>
                <a:gridCol w="676275"/>
                <a:gridCol w="677862"/>
              </a:tblGrid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679" marB="456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&lt;◦</a:t>
                      </a:r>
                      <a:endParaRPr kumimoji="0" lang="ru-RU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&lt;◦</a:t>
                      </a:r>
                      <a:endParaRPr kumimoji="0" lang="ru-RU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</a:rPr>
                        <a:t>&lt;</a:t>
                      </a:r>
                      <a:r>
                        <a:rPr lang="en-US" sz="2800" dirty="0" smtClean="0"/>
                        <a:t>◦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</a:rPr>
                        <a:t>&lt;</a:t>
                      </a:r>
                      <a:r>
                        <a:rPr lang="en-US" sz="2800" dirty="0" smtClean="0"/>
                        <a:t>◦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</a:rPr>
                        <a:t>&lt;</a:t>
                      </a:r>
                      <a:r>
                        <a:rPr lang="en-US" sz="2800" dirty="0" smtClean="0"/>
                        <a:t>◦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&lt;◦</a:t>
                      </a:r>
                      <a:endParaRPr kumimoji="0" lang="ru-RU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marT="45679" marB="4567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&lt;◦</a:t>
                      </a:r>
                      <a:endParaRPr kumimoji="0" lang="ru-RU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</a:rPr>
                        <a:t>&lt;</a:t>
                      </a:r>
                      <a:r>
                        <a:rPr lang="en-US" sz="2800" dirty="0" smtClean="0"/>
                        <a:t>◦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</a:rPr>
                        <a:t>&lt;</a:t>
                      </a:r>
                      <a:r>
                        <a:rPr lang="en-US" sz="2800" dirty="0" smtClean="0"/>
                        <a:t>◦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◦&gt;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DFB849F-0529-4BE4-8141-A4DB902C6F0D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47</a:t>
            </a:fld>
            <a:endParaRPr lang="ru-RU" altLang="ru-RU" sz="1400" smtClean="0"/>
          </a:p>
        </p:txBody>
      </p:sp>
      <p:sp>
        <p:nvSpPr>
          <p:cNvPr id="49155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AA728F5-7637-49E2-9980-1FD31370F86C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47</a:t>
            </a:fld>
            <a:endParaRPr lang="ru-RU" altLang="ru-RU" sz="140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b="1" smtClean="0"/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15888"/>
            <a:ext cx="8964612" cy="66262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ru-RU" altLang="ru-RU" sz="3600" smtClean="0">
                <a:solidFill>
                  <a:schemeClr val="accent2"/>
                </a:solidFill>
              </a:rPr>
              <a:t>Вычисление отношений операторного предшествования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Кроме отношений</a:t>
            </a:r>
            <a:r>
              <a:rPr lang="ru-RU" altLang="ru-RU" sz="2400" b="1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(  ), (</a:t>
            </a:r>
            <a:r>
              <a:rPr lang="ru-RU" altLang="ru-RU" sz="2400" baseline="-25000" smtClean="0">
                <a:latin typeface="Times New Roman" pitchFamily="18" charset="0"/>
              </a:rPr>
              <a:t> </a:t>
            </a:r>
            <a:r>
              <a:rPr lang="ru-RU" altLang="ru-RU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),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ru-RU" altLang="ru-RU" sz="2400" smtClean="0">
                <a:latin typeface="Times New Roman" pitchFamily="18" charset="0"/>
              </a:rPr>
              <a:t> и </a:t>
            </a:r>
            <a:r>
              <a:rPr lang="en-US" altLang="ru-RU" sz="2400" b="1" u="sng" smtClean="0">
                <a:latin typeface="Times New Roman" pitchFamily="18" charset="0"/>
              </a:rPr>
              <a:t>last</a:t>
            </a:r>
            <a:r>
              <a:rPr lang="ru-RU" altLang="ru-RU" sz="2400" smtClean="0">
                <a:latin typeface="Times New Roman" pitchFamily="18" charset="0"/>
              </a:rPr>
              <a:t> определим еще два элементарных отношения: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1) отношение </a:t>
            </a:r>
            <a:r>
              <a:rPr lang="en-US" altLang="ru-RU" sz="2400" b="1" u="sng" smtClean="0">
                <a:latin typeface="Times New Roman" pitchFamily="18" charset="0"/>
              </a:rPr>
              <a:t>firstterm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и терминала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, если существует порождающее правило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</a:rPr>
              <a:t>. . .    </a:t>
            </a:r>
            <a:r>
              <a:rPr lang="ru-RU" altLang="ru-RU" sz="2400" smtClean="0">
                <a:latin typeface="Times New Roman" pitchFamily="18" charset="0"/>
              </a:rPr>
              <a:t>или </a:t>
            </a:r>
            <a:r>
              <a:rPr lang="en-US" altLang="ru-RU" sz="2400" smtClean="0">
                <a:latin typeface="Times New Roman" pitchFamily="18" charset="0"/>
              </a:rPr>
              <a:t>      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Wd</a:t>
            </a:r>
            <a:r>
              <a:rPr lang="en-US" altLang="ru-RU" sz="2400" smtClean="0">
                <a:latin typeface="Times New Roman" pitchFamily="18" charset="0"/>
              </a:rPr>
              <a:t>. . . </a:t>
            </a: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2) </a:t>
            </a:r>
            <a:r>
              <a:rPr lang="ru-RU" altLang="ru-RU" sz="2400" smtClean="0">
                <a:latin typeface="Times New Roman" pitchFamily="18" charset="0"/>
              </a:rPr>
              <a:t>отношение </a:t>
            </a:r>
            <a:r>
              <a:rPr lang="en-US" altLang="ru-RU" sz="2400" b="1" u="sng" smtClean="0">
                <a:latin typeface="Times New Roman" pitchFamily="18" charset="0"/>
              </a:rPr>
              <a:t>lastterm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ru-RU" altLang="ru-RU" sz="2400" smtClean="0">
                <a:latin typeface="Times New Roman" pitchFamily="18" charset="0"/>
              </a:rPr>
              <a:t> и терминала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, если существует порождающее правило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или </a:t>
            </a:r>
            <a:r>
              <a:rPr lang="en-US" altLang="ru-RU" sz="2400" smtClean="0">
                <a:latin typeface="Times New Roman" pitchFamily="18" charset="0"/>
              </a:rPr>
              <a:t>      </a:t>
            </a:r>
            <a:r>
              <a:rPr lang="en-US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 . . . </a:t>
            </a:r>
            <a:r>
              <a:rPr lang="en-US" altLang="ru-RU" sz="2400" i="1" smtClean="0">
                <a:latin typeface="Times New Roman" pitchFamily="18" charset="0"/>
              </a:rPr>
              <a:t>dW</a:t>
            </a:r>
          </a:p>
          <a:p>
            <a:pPr eaLnBrk="1" hangingPunct="1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  </a:t>
            </a: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i="1" smtClean="0">
                <a:latin typeface="Times New Roman" pitchFamily="18" charset="0"/>
              </a:rPr>
              <a:t>W</a:t>
            </a:r>
            <a:r>
              <a:rPr lang="ru-RU" altLang="ru-RU" sz="2400" smtClean="0">
                <a:latin typeface="Times New Roman" pitchFamily="18" charset="0"/>
              </a:rPr>
              <a:t> – некоторый нетерминал.</a:t>
            </a:r>
            <a:endParaRPr lang="en-US" altLang="ru-RU" sz="2400" smtClean="0">
              <a:latin typeface="Times New Roman" pitchFamily="18" charset="0"/>
            </a:endParaRPr>
          </a:p>
        </p:txBody>
      </p:sp>
      <p:grpSp>
        <p:nvGrpSpPr>
          <p:cNvPr id="49158" name="Group 7"/>
          <p:cNvGrpSpPr>
            <a:grpSpLocks/>
          </p:cNvGrpSpPr>
          <p:nvPr/>
        </p:nvGrpSpPr>
        <p:grpSpPr bwMode="auto">
          <a:xfrm>
            <a:off x="3103563" y="2032000"/>
            <a:ext cx="184150" cy="168275"/>
            <a:chOff x="1701" y="1705"/>
            <a:chExt cx="114" cy="140"/>
          </a:xfrm>
        </p:grpSpPr>
        <p:sp>
          <p:nvSpPr>
            <p:cNvPr id="49162" name="Line 8"/>
            <p:cNvSpPr>
              <a:spLocks noChangeShapeType="1"/>
            </p:cNvSpPr>
            <p:nvPr/>
          </p:nvSpPr>
          <p:spPr bwMode="auto">
            <a:xfrm>
              <a:off x="1701" y="1787"/>
              <a:ext cx="1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9163" name="Line 9"/>
            <p:cNvSpPr>
              <a:spLocks noChangeShapeType="1"/>
            </p:cNvSpPr>
            <p:nvPr/>
          </p:nvSpPr>
          <p:spPr bwMode="auto">
            <a:xfrm>
              <a:off x="1701" y="1845"/>
              <a:ext cx="1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9164" name="Oval 10"/>
            <p:cNvSpPr>
              <a:spLocks noChangeArrowheads="1"/>
            </p:cNvSpPr>
            <p:nvPr/>
          </p:nvSpPr>
          <p:spPr bwMode="auto">
            <a:xfrm>
              <a:off x="1720" y="1705"/>
              <a:ext cx="56" cy="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ru-RU" altLang="ru-RU"/>
            </a:p>
          </p:txBody>
        </p:sp>
      </p:grpSp>
      <p:grpSp>
        <p:nvGrpSpPr>
          <p:cNvPr id="49159" name="Group 11"/>
          <p:cNvGrpSpPr>
            <a:grpSpLocks/>
          </p:cNvGrpSpPr>
          <p:nvPr/>
        </p:nvGrpSpPr>
        <p:grpSpPr bwMode="auto">
          <a:xfrm>
            <a:off x="3635375" y="2085975"/>
            <a:ext cx="142875" cy="69850"/>
            <a:chOff x="-548" y="-898"/>
            <a:chExt cx="88" cy="44"/>
          </a:xfrm>
        </p:grpSpPr>
        <p:sp>
          <p:nvSpPr>
            <p:cNvPr id="49160" name="Line 12"/>
            <p:cNvSpPr>
              <a:spLocks noChangeShapeType="1"/>
            </p:cNvSpPr>
            <p:nvPr/>
          </p:nvSpPr>
          <p:spPr bwMode="auto">
            <a:xfrm>
              <a:off x="-548" y="-898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9161" name="Line 13"/>
            <p:cNvSpPr>
              <a:spLocks noChangeShapeType="1"/>
            </p:cNvSpPr>
            <p:nvPr/>
          </p:nvSpPr>
          <p:spPr bwMode="auto">
            <a:xfrm>
              <a:off x="-548" y="-854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363567F-D569-46D7-B1FB-F9F7ACD65E92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48</a:t>
            </a:fld>
            <a:endParaRPr lang="ru-RU" altLang="ru-RU" sz="1400" smtClean="0"/>
          </a:p>
        </p:txBody>
      </p:sp>
      <p:sp>
        <p:nvSpPr>
          <p:cNvPr id="50179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B5757F4-C15D-447E-8F14-AD9A1D9DDB8D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48</a:t>
            </a:fld>
            <a:endParaRPr lang="ru-RU" altLang="ru-RU" sz="1400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b="1" smtClean="0"/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15888"/>
            <a:ext cx="8893175" cy="6626225"/>
          </a:xfrm>
        </p:spPr>
        <p:txBody>
          <a:bodyPr/>
          <a:lstStyle/>
          <a:p>
            <a:pPr eaLnBrk="1" hangingPunct="1">
              <a:buFontTx/>
              <a:buNone/>
            </a:pPr>
            <a:endParaRPr lang="ru-RU" altLang="ru-RU" sz="3900" smtClean="0"/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Тогда, согласно определению, отношение </a:t>
            </a:r>
            <a:r>
              <a:rPr lang="en-US" altLang="ru-RU" sz="2400" smtClean="0">
                <a:latin typeface="Times New Roman" pitchFamily="18" charset="0"/>
              </a:rPr>
              <a:t>&lt;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◦</a:t>
            </a:r>
            <a:r>
              <a:rPr lang="ru-RU" altLang="ru-RU" sz="2400" smtClean="0">
                <a:latin typeface="Times New Roman" pitchFamily="18" charset="0"/>
              </a:rPr>
              <a:t> есть произведение отношений: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           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baseline="300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en-US" altLang="ru-RU" sz="2400" b="1" baseline="30000" smtClean="0">
                <a:latin typeface="Times New Roman" pitchFamily="18" charset="0"/>
              </a:rPr>
              <a:t>*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b="1" u="sng" smtClean="0">
                <a:latin typeface="Times New Roman" pitchFamily="18" charset="0"/>
              </a:rPr>
              <a:t>firstterm</a:t>
            </a:r>
            <a:r>
              <a:rPr lang="en-US" altLang="ru-RU" sz="2400" smtClean="0">
                <a:latin typeface="Times New Roman" pitchFamily="18" charset="0"/>
              </a:rPr>
              <a:t>)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а отношение </a:t>
            </a:r>
            <a:r>
              <a:rPr lang="ru-RU" altLang="ru-RU" sz="2400" smtClean="0"/>
              <a:t>◦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altLang="ru-RU" sz="2400" smtClean="0">
                <a:latin typeface="Times New Roman" pitchFamily="18" charset="0"/>
              </a:rPr>
              <a:t> есть произведение отношений: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</a:t>
            </a:r>
            <a:r>
              <a:rPr lang="en-US" altLang="ru-RU" sz="2400" smtClean="0">
                <a:latin typeface="Times New Roman" pitchFamily="18" charset="0"/>
              </a:rPr>
              <a:t>((</a:t>
            </a:r>
            <a:r>
              <a:rPr lang="en-US" altLang="ru-RU" sz="2400" b="1" u="sng" smtClean="0">
                <a:latin typeface="Times New Roman" pitchFamily="18" charset="0"/>
              </a:rPr>
              <a:t>last</a:t>
            </a:r>
            <a:r>
              <a:rPr lang="en-US" altLang="ru-RU" sz="2400" b="1" baseline="30000" smtClean="0">
                <a:latin typeface="Times New Roman" pitchFamily="18" charset="0"/>
              </a:rPr>
              <a:t>*</a:t>
            </a:r>
            <a:r>
              <a:rPr lang="en-US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b="1" u="sng" smtClean="0">
                <a:latin typeface="Times New Roman" pitchFamily="18" charset="0"/>
              </a:rPr>
              <a:t>lastterm</a:t>
            </a:r>
            <a:r>
              <a:rPr lang="en-US" altLang="ru-RU" sz="2400" smtClean="0">
                <a:latin typeface="Times New Roman" pitchFamily="18" charset="0"/>
              </a:rPr>
              <a:t>))</a:t>
            </a:r>
            <a:r>
              <a:rPr lang="en-US" altLang="ru-RU" sz="2400" baseline="30000" smtClean="0">
                <a:latin typeface="Times New Roman" pitchFamily="18" charset="0"/>
              </a:rPr>
              <a:t>-1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baseline="30000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.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en-US" altLang="ru-RU" sz="2400" b="1" baseline="30000" smtClean="0">
                <a:latin typeface="Times New Roman" pitchFamily="18" charset="0"/>
              </a:rPr>
              <a:t>*</a:t>
            </a:r>
            <a:r>
              <a:rPr lang="ru-RU" altLang="ru-RU" sz="2400" smtClean="0">
                <a:latin typeface="Times New Roman" pitchFamily="18" charset="0"/>
              </a:rPr>
              <a:t> – полное транзитивное замыкание отношения </a:t>
            </a:r>
            <a:r>
              <a:rPr lang="en-US" altLang="ru-RU" sz="2400" b="1" u="sng" smtClean="0">
                <a:latin typeface="Times New Roman" pitchFamily="18" charset="0"/>
              </a:rPr>
              <a:t>first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en-US" altLang="ru-RU" sz="2400" b="1" u="sng" smtClean="0">
                <a:latin typeface="Times New Roman" pitchFamily="18" charset="0"/>
              </a:rPr>
              <a:t>last</a:t>
            </a:r>
            <a:r>
              <a:rPr lang="en-US" altLang="ru-RU" sz="2400" b="1" baseline="30000" smtClean="0">
                <a:latin typeface="Times New Roman" pitchFamily="18" charset="0"/>
              </a:rPr>
              <a:t>*</a:t>
            </a:r>
            <a:r>
              <a:rPr lang="ru-RU" altLang="ru-RU" sz="2400" smtClean="0">
                <a:latin typeface="Times New Roman" pitchFamily="18" charset="0"/>
              </a:rPr>
              <a:t> – полное транзитивное замыкание отношения </a:t>
            </a:r>
            <a:r>
              <a:rPr lang="en-US" altLang="ru-RU" sz="2400" b="1" u="sng" smtClean="0">
                <a:latin typeface="Times New Roman" pitchFamily="18" charset="0"/>
              </a:rPr>
              <a:t>last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возведение в степень –1 обозначает вычисление обратного отношения, т.е. его транспонирование. </a:t>
            </a:r>
          </a:p>
        </p:txBody>
      </p:sp>
      <p:grpSp>
        <p:nvGrpSpPr>
          <p:cNvPr id="50182" name="Group 7"/>
          <p:cNvGrpSpPr>
            <a:grpSpLocks/>
          </p:cNvGrpSpPr>
          <p:nvPr/>
        </p:nvGrpSpPr>
        <p:grpSpPr bwMode="auto">
          <a:xfrm>
            <a:off x="3154363" y="1824038"/>
            <a:ext cx="144462" cy="107950"/>
            <a:chOff x="-548" y="-898"/>
            <a:chExt cx="88" cy="44"/>
          </a:xfrm>
        </p:grpSpPr>
        <p:sp>
          <p:nvSpPr>
            <p:cNvPr id="50186" name="Line 8"/>
            <p:cNvSpPr>
              <a:spLocks noChangeShapeType="1"/>
            </p:cNvSpPr>
            <p:nvPr/>
          </p:nvSpPr>
          <p:spPr bwMode="auto">
            <a:xfrm>
              <a:off x="-548" y="-898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0187" name="Line 9"/>
            <p:cNvSpPr>
              <a:spLocks noChangeShapeType="1"/>
            </p:cNvSpPr>
            <p:nvPr/>
          </p:nvSpPr>
          <p:spPr bwMode="auto">
            <a:xfrm>
              <a:off x="-548" y="-854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50183" name="Group 10"/>
          <p:cNvGrpSpPr>
            <a:grpSpLocks/>
          </p:cNvGrpSpPr>
          <p:nvPr/>
        </p:nvGrpSpPr>
        <p:grpSpPr bwMode="auto">
          <a:xfrm>
            <a:off x="5794375" y="2701925"/>
            <a:ext cx="144463" cy="107950"/>
            <a:chOff x="-548" y="-898"/>
            <a:chExt cx="88" cy="44"/>
          </a:xfrm>
        </p:grpSpPr>
        <p:sp>
          <p:nvSpPr>
            <p:cNvPr id="50184" name="Line 11"/>
            <p:cNvSpPr>
              <a:spLocks noChangeShapeType="1"/>
            </p:cNvSpPr>
            <p:nvPr/>
          </p:nvSpPr>
          <p:spPr bwMode="auto">
            <a:xfrm>
              <a:off x="-548" y="-898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0185" name="Line 12"/>
            <p:cNvSpPr>
              <a:spLocks noChangeShapeType="1"/>
            </p:cNvSpPr>
            <p:nvPr/>
          </p:nvSpPr>
          <p:spPr bwMode="auto">
            <a:xfrm>
              <a:off x="-548" y="-854"/>
              <a:ext cx="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7ED8EC0-869E-47A2-8E8C-23B912FBD13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49</a:t>
            </a:fld>
            <a:endParaRPr lang="ru-RU" altLang="ru-RU" sz="1400" smtClean="0"/>
          </a:p>
        </p:txBody>
      </p:sp>
      <p:sp>
        <p:nvSpPr>
          <p:cNvPr id="51203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2B4A8D4-3C8B-43BC-A078-E3242AA8286A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49</a:t>
            </a:fld>
            <a:endParaRPr lang="ru-RU" altLang="ru-RU" sz="1400"/>
          </a:p>
        </p:txBody>
      </p:sp>
      <p:sp>
        <p:nvSpPr>
          <p:cNvPr id="51204" name="Rectangle 87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0"/>
            <a:ext cx="8291512" cy="908050"/>
          </a:xfrm>
        </p:spPr>
        <p:txBody>
          <a:bodyPr/>
          <a:lstStyle/>
          <a:p>
            <a:pPr eaLnBrk="1" hangingPunct="1"/>
            <a:r>
              <a:rPr lang="ru-RU" altLang="ru-RU" sz="3200" smtClean="0">
                <a:latin typeface="Times New Roman" pitchFamily="18" charset="0"/>
              </a:rPr>
              <a:t>Пример. Анализ цепочки на входе: </a:t>
            </a:r>
            <a:r>
              <a:rPr lang="en-US" altLang="ru-RU" sz="3200" i="1" smtClean="0">
                <a:latin typeface="Times New Roman" pitchFamily="18" charset="0"/>
              </a:rPr>
              <a:t>a</a:t>
            </a:r>
            <a:r>
              <a:rPr lang="en-US" altLang="ru-RU" sz="3200" smtClean="0">
                <a:latin typeface="Times New Roman" pitchFamily="18" charset="0"/>
              </a:rPr>
              <a:t> </a:t>
            </a:r>
            <a:r>
              <a:rPr lang="ru-RU" altLang="ru-RU" sz="3200" smtClean="0">
                <a:latin typeface="Times New Roman" pitchFamily="18" charset="0"/>
              </a:rPr>
              <a:t>+</a:t>
            </a:r>
            <a:r>
              <a:rPr lang="en-US" altLang="ru-RU" sz="3200" smtClean="0">
                <a:latin typeface="Times New Roman" pitchFamily="18" charset="0"/>
              </a:rPr>
              <a:t> </a:t>
            </a:r>
            <a:r>
              <a:rPr lang="en-US" altLang="ru-RU" sz="3200" i="1" smtClean="0">
                <a:latin typeface="Times New Roman" pitchFamily="18" charset="0"/>
              </a:rPr>
              <a:t>a * a</a:t>
            </a:r>
            <a:r>
              <a:rPr lang="ru-RU" altLang="ru-RU" sz="3200" i="1" smtClean="0">
                <a:latin typeface="Times New Roman" pitchFamily="18" charset="0"/>
              </a:rPr>
              <a:t> </a:t>
            </a:r>
            <a:r>
              <a:rPr lang="ru-RU" altLang="ru-RU" sz="3200" baseline="-25000" smtClean="0">
                <a:solidFill>
                  <a:schemeClr val="tx1"/>
                </a:solidFill>
              </a:rPr>
              <a:t>┴</a:t>
            </a:r>
            <a:endParaRPr lang="ru-RU" altLang="ru-RU" sz="3200" smtClean="0">
              <a:latin typeface="Times New Roman" pitchFamily="18" charset="0"/>
            </a:endParaRPr>
          </a:p>
        </p:txBody>
      </p:sp>
      <p:graphicFrame>
        <p:nvGraphicFramePr>
          <p:cNvPr id="57459" name="Group 115"/>
          <p:cNvGraphicFramePr>
            <a:graphicFrameLocks noGrp="1"/>
          </p:cNvGraphicFramePr>
          <p:nvPr>
            <p:ph idx="4294967295"/>
          </p:nvPr>
        </p:nvGraphicFramePr>
        <p:xfrm>
          <a:off x="684213" y="1125538"/>
          <a:ext cx="7705725" cy="4816475"/>
        </p:xfrm>
        <a:graphic>
          <a:graphicData uri="http://schemas.openxmlformats.org/drawingml/2006/table">
            <a:tbl>
              <a:tblPr/>
              <a:tblGrid>
                <a:gridCol w="1152525"/>
                <a:gridCol w="1511300"/>
                <a:gridCol w="1657350"/>
                <a:gridCol w="1727200"/>
                <a:gridCol w="1657350"/>
              </a:tblGrid>
              <a:tr h="457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шага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Вход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Отношение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Правило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 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+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 &lt;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ru-RU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*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ru-RU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ru-RU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 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ru-RU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 </a:t>
                      </a: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 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 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Выход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065DC6B-D772-48D0-8D50-871E46753C5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50</a:t>
            </a:fld>
            <a:endParaRPr lang="ru-RU" altLang="ru-RU" sz="1400" smtClean="0"/>
          </a:p>
        </p:txBody>
      </p:sp>
      <p:sp>
        <p:nvSpPr>
          <p:cNvPr id="52227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D104E5D-799A-43D5-B355-C22400808AAA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50</a:t>
            </a:fld>
            <a:endParaRPr lang="ru-RU" altLang="ru-RU" sz="1400"/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На рисунке изображено неявно строящееся при разборе дерево порождения  цепочки: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 * a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baseline="-25000" smtClean="0"/>
              <a:t>┴</a:t>
            </a:r>
            <a:endParaRPr lang="ru-RU" altLang="ru-RU" sz="2400" smtClean="0">
              <a:latin typeface="Times New Roman" pitchFamily="18" charset="0"/>
            </a:endParaRPr>
          </a:p>
        </p:txBody>
      </p:sp>
      <p:grpSp>
        <p:nvGrpSpPr>
          <p:cNvPr id="52230" name="Group 4"/>
          <p:cNvGrpSpPr>
            <a:grpSpLocks noChangeAspect="1"/>
          </p:cNvGrpSpPr>
          <p:nvPr/>
        </p:nvGrpSpPr>
        <p:grpSpPr bwMode="auto">
          <a:xfrm>
            <a:off x="179388" y="1773238"/>
            <a:ext cx="7056437" cy="4337050"/>
            <a:chOff x="3942" y="1901"/>
            <a:chExt cx="4191" cy="2542"/>
          </a:xfrm>
        </p:grpSpPr>
        <p:sp>
          <p:nvSpPr>
            <p:cNvPr id="52232" name="AutoShape 5"/>
            <p:cNvSpPr>
              <a:spLocks noChangeAspect="1" noChangeArrowheads="1"/>
            </p:cNvSpPr>
            <p:nvPr/>
          </p:nvSpPr>
          <p:spPr bwMode="auto">
            <a:xfrm>
              <a:off x="3942" y="1901"/>
              <a:ext cx="4191" cy="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2233" name="Text Box 6"/>
            <p:cNvSpPr txBox="1">
              <a:spLocks noChangeArrowheads="1"/>
            </p:cNvSpPr>
            <p:nvPr/>
          </p:nvSpPr>
          <p:spPr bwMode="auto">
            <a:xfrm>
              <a:off x="5896" y="2028"/>
              <a:ext cx="257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N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2234" name="Text Box 7"/>
            <p:cNvSpPr txBox="1">
              <a:spLocks noChangeArrowheads="1"/>
            </p:cNvSpPr>
            <p:nvPr/>
          </p:nvSpPr>
          <p:spPr bwMode="auto">
            <a:xfrm>
              <a:off x="5253" y="2537"/>
              <a:ext cx="258" cy="30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N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2235" name="Text Box 8"/>
            <p:cNvSpPr txBox="1">
              <a:spLocks noChangeArrowheads="1"/>
            </p:cNvSpPr>
            <p:nvPr/>
          </p:nvSpPr>
          <p:spPr bwMode="auto">
            <a:xfrm>
              <a:off x="5896" y="2537"/>
              <a:ext cx="257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Times New Roman" pitchFamily="18" charset="0"/>
                </a:rPr>
                <a:t>+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2236" name="Text Box 9"/>
            <p:cNvSpPr txBox="1">
              <a:spLocks noChangeArrowheads="1"/>
            </p:cNvSpPr>
            <p:nvPr/>
          </p:nvSpPr>
          <p:spPr bwMode="auto">
            <a:xfrm>
              <a:off x="6539" y="2537"/>
              <a:ext cx="257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N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2237" name="Text Box 12"/>
            <p:cNvSpPr txBox="1">
              <a:spLocks noChangeArrowheads="1"/>
            </p:cNvSpPr>
            <p:nvPr/>
          </p:nvSpPr>
          <p:spPr bwMode="auto">
            <a:xfrm>
              <a:off x="5012" y="3050"/>
              <a:ext cx="257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2238" name="Text Box 13"/>
            <p:cNvSpPr txBox="1">
              <a:spLocks noChangeArrowheads="1"/>
            </p:cNvSpPr>
            <p:nvPr/>
          </p:nvSpPr>
          <p:spPr bwMode="auto">
            <a:xfrm>
              <a:off x="6330" y="3050"/>
              <a:ext cx="257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N</a:t>
              </a:r>
              <a:endParaRPr lang="ru-RU" altLang="ru-RU" sz="2400" i="1">
                <a:latin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2239" name="Text Box 15"/>
            <p:cNvSpPr txBox="1">
              <a:spLocks noChangeArrowheads="1"/>
            </p:cNvSpPr>
            <p:nvPr/>
          </p:nvSpPr>
          <p:spPr bwMode="auto">
            <a:xfrm>
              <a:off x="7439" y="3045"/>
              <a:ext cx="262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N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2240" name="Text Box 16"/>
            <p:cNvSpPr txBox="1">
              <a:spLocks noChangeArrowheads="1"/>
            </p:cNvSpPr>
            <p:nvPr/>
          </p:nvSpPr>
          <p:spPr bwMode="auto">
            <a:xfrm>
              <a:off x="6925" y="3045"/>
              <a:ext cx="258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Times New Roman" pitchFamily="18" charset="0"/>
                </a:rPr>
                <a:t>*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6289" y="3582"/>
              <a:ext cx="257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7439" y="3582"/>
              <a:ext cx="262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2243" name="Line 19"/>
            <p:cNvSpPr>
              <a:spLocks noChangeShapeType="1"/>
            </p:cNvSpPr>
            <p:nvPr/>
          </p:nvSpPr>
          <p:spPr bwMode="auto">
            <a:xfrm flipH="1">
              <a:off x="5511" y="2283"/>
              <a:ext cx="385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44" name="Line 20"/>
            <p:cNvSpPr>
              <a:spLocks noChangeShapeType="1"/>
            </p:cNvSpPr>
            <p:nvPr/>
          </p:nvSpPr>
          <p:spPr bwMode="auto">
            <a:xfrm>
              <a:off x="6021" y="2307"/>
              <a:ext cx="7" cy="2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45" name="Line 21"/>
            <p:cNvSpPr>
              <a:spLocks noChangeShapeType="1"/>
            </p:cNvSpPr>
            <p:nvPr/>
          </p:nvSpPr>
          <p:spPr bwMode="auto">
            <a:xfrm>
              <a:off x="6153" y="2283"/>
              <a:ext cx="393" cy="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46" name="Line 22"/>
            <p:cNvSpPr>
              <a:spLocks noChangeShapeType="1"/>
            </p:cNvSpPr>
            <p:nvPr/>
          </p:nvSpPr>
          <p:spPr bwMode="auto">
            <a:xfrm flipH="1">
              <a:off x="5178" y="2791"/>
              <a:ext cx="204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47" name="Line 25"/>
            <p:cNvSpPr>
              <a:spLocks noChangeShapeType="1"/>
            </p:cNvSpPr>
            <p:nvPr/>
          </p:nvSpPr>
          <p:spPr bwMode="auto">
            <a:xfrm flipH="1">
              <a:off x="6476" y="2811"/>
              <a:ext cx="141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48" name="Line 26"/>
            <p:cNvSpPr>
              <a:spLocks noChangeShapeType="1"/>
            </p:cNvSpPr>
            <p:nvPr/>
          </p:nvSpPr>
          <p:spPr bwMode="auto">
            <a:xfrm>
              <a:off x="6766" y="2811"/>
              <a:ext cx="315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49" name="Line 27"/>
            <p:cNvSpPr>
              <a:spLocks noChangeShapeType="1"/>
            </p:cNvSpPr>
            <p:nvPr/>
          </p:nvSpPr>
          <p:spPr bwMode="auto">
            <a:xfrm>
              <a:off x="6796" y="2791"/>
              <a:ext cx="643" cy="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50" name="Line 30"/>
            <p:cNvSpPr>
              <a:spLocks noChangeShapeType="1"/>
            </p:cNvSpPr>
            <p:nvPr/>
          </p:nvSpPr>
          <p:spPr bwMode="auto">
            <a:xfrm flipH="1">
              <a:off x="7551" y="3348"/>
              <a:ext cx="12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52231" name="Line 30"/>
          <p:cNvSpPr>
            <a:spLocks noChangeShapeType="1"/>
          </p:cNvSpPr>
          <p:nvPr/>
        </p:nvSpPr>
        <p:spPr bwMode="auto">
          <a:xfrm flipH="1">
            <a:off x="4397375" y="4241800"/>
            <a:ext cx="19050" cy="4079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889D6A-5072-45BB-951E-50EC6012E1DD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51</a:t>
            </a:fld>
            <a:endParaRPr lang="ru-RU" altLang="ru-RU" sz="1400" smtClean="0"/>
          </a:p>
        </p:txBody>
      </p:sp>
      <p:sp>
        <p:nvSpPr>
          <p:cNvPr id="53251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2CF6D9A-31F6-474E-8635-FDB3F6AB9105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51</a:t>
            </a:fld>
            <a:endParaRPr lang="ru-RU" altLang="ru-RU" sz="1400"/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6613"/>
          </a:xfrm>
        </p:spPr>
        <p:txBody>
          <a:bodyPr/>
          <a:lstStyle/>
          <a:p>
            <a:pPr eaLnBrk="1" hangingPunct="1"/>
            <a:r>
              <a:rPr lang="en-US" altLang="ru-RU" sz="3200" b="1" smtClean="0">
                <a:solidFill>
                  <a:schemeClr val="accent2"/>
                </a:solidFill>
              </a:rPr>
              <a:t>LR(</a:t>
            </a:r>
            <a:r>
              <a:rPr lang="en-US" altLang="ru-RU" sz="3200" b="1" i="1" smtClean="0">
                <a:solidFill>
                  <a:schemeClr val="accent2"/>
                </a:solidFill>
              </a:rPr>
              <a:t>k</a:t>
            </a:r>
            <a:r>
              <a:rPr lang="en-US" altLang="ru-RU" sz="3200" b="1" smtClean="0">
                <a:solidFill>
                  <a:schemeClr val="accent2"/>
                </a:solidFill>
              </a:rPr>
              <a:t>)</a:t>
            </a:r>
            <a:r>
              <a:rPr lang="ru-RU" altLang="ru-RU" sz="3200" b="1" smtClean="0">
                <a:solidFill>
                  <a:schemeClr val="accent2"/>
                </a:solidFill>
              </a:rPr>
              <a:t>-анализатор</a:t>
            </a:r>
            <a:r>
              <a:rPr lang="ru-RU" altLang="ru-RU" sz="4000" b="1" smtClean="0"/>
              <a:t> 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836613"/>
            <a:ext cx="8569325" cy="56880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Детерминированный анализ снизу-вверх, при котором на каждом шаге анализируется не более </a:t>
            </a:r>
            <a:r>
              <a:rPr lang="en-US" altLang="ru-RU" sz="2800" b="1" i="1" smtClean="0">
                <a:latin typeface="Times New Roman" pitchFamily="18" charset="0"/>
              </a:rPr>
              <a:t>k</a:t>
            </a:r>
            <a:r>
              <a:rPr lang="ru-RU" altLang="ru-RU" sz="2800" smtClean="0">
                <a:latin typeface="Times New Roman" pitchFamily="18" charset="0"/>
              </a:rPr>
              <a:t> очередных символов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во входной цепочке и такое количество верхних символов магазина, которое однозначно определяет действие – перенос или свертку.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smtClean="0"/>
              <a:t>LR(</a:t>
            </a:r>
            <a:r>
              <a:rPr lang="en-US" altLang="ru-RU" sz="2800" i="1" smtClean="0"/>
              <a:t>k</a:t>
            </a:r>
            <a:r>
              <a:rPr lang="en-US" altLang="ru-RU" sz="2800" smtClean="0"/>
              <a:t>)-</a:t>
            </a:r>
            <a:r>
              <a:rPr lang="ru-RU" altLang="ru-RU" sz="2800" smtClean="0"/>
              <a:t>грамматика: КС-грамматика, допускающая детерминированный </a:t>
            </a:r>
            <a:r>
              <a:rPr lang="en-US" altLang="ru-RU" sz="2800" smtClean="0"/>
              <a:t>LR(</a:t>
            </a:r>
            <a:r>
              <a:rPr lang="en-US" altLang="ru-RU" sz="2800" i="1" smtClean="0"/>
              <a:t>k</a:t>
            </a:r>
            <a:r>
              <a:rPr lang="en-US" altLang="ru-RU" sz="2800" smtClean="0"/>
              <a:t>)-</a:t>
            </a:r>
            <a:r>
              <a:rPr lang="ru-RU" altLang="ru-RU" sz="2800" smtClean="0"/>
              <a:t>анализ для некоторого </a:t>
            </a:r>
            <a:r>
              <a:rPr lang="en-US" altLang="ru-RU" sz="2800" i="1" smtClean="0"/>
              <a:t>k</a:t>
            </a:r>
            <a:r>
              <a:rPr lang="ru-RU" altLang="ru-RU" sz="2800" smtClean="0"/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Для </a:t>
            </a:r>
            <a:r>
              <a:rPr lang="en-US" altLang="ru-RU" sz="2800" smtClean="0">
                <a:latin typeface="Times New Roman" pitchFamily="18" charset="0"/>
              </a:rPr>
              <a:t>LR(</a:t>
            </a:r>
            <a:r>
              <a:rPr lang="ru-RU" altLang="ru-RU" sz="2800" smtClean="0">
                <a:latin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</a:rPr>
              <a:t>)-</a:t>
            </a:r>
            <a:r>
              <a:rPr lang="ru-RU" altLang="ru-RU" sz="2800" smtClean="0">
                <a:latin typeface="Times New Roman" pitchFamily="18" charset="0"/>
              </a:rPr>
              <a:t>анализатора строится таблица, в которой столбцы помечены терминалами (включая </a:t>
            </a:r>
            <a:r>
              <a:rPr lang="ru-RU" altLang="ru-RU" sz="2800" baseline="-25000" smtClean="0"/>
              <a:t>┴</a:t>
            </a:r>
            <a:r>
              <a:rPr lang="ru-RU" altLang="ru-RU" sz="2800" smtClean="0">
                <a:latin typeface="Times New Roman" pitchFamily="18" charset="0"/>
              </a:rPr>
              <a:t>), а строки – одним или большим количеством терминальных и нетерминальных символов, которые могут оказаться на вершине магазина.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E09B17D-6FF3-4BA3-8B91-03C285291918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52</a:t>
            </a:fld>
            <a:endParaRPr lang="ru-RU" altLang="ru-RU" sz="1400" smtClean="0"/>
          </a:p>
        </p:txBody>
      </p:sp>
      <p:sp>
        <p:nvSpPr>
          <p:cNvPr id="54275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 algn="l"/>
            <a:r>
              <a:rPr lang="ru-RU" altLang="ru-RU" sz="3200" smtClean="0"/>
              <a:t>Пример.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4824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dirty="0" smtClean="0">
                <a:latin typeface="Times New Roman" pitchFamily="18" charset="0"/>
              </a:rPr>
              <a:t>Построение таблицы </a:t>
            </a:r>
            <a:r>
              <a:rPr lang="en-US" sz="2800" dirty="0" smtClean="0">
                <a:latin typeface="Times New Roman" pitchFamily="18" charset="0"/>
              </a:rPr>
              <a:t>LR(</a:t>
            </a:r>
            <a:r>
              <a:rPr lang="ru-RU" sz="2800" dirty="0">
                <a:latin typeface="Times New Roman" pitchFamily="18" charset="0"/>
              </a:rPr>
              <a:t>1</a:t>
            </a:r>
            <a:r>
              <a:rPr lang="en-US" sz="2800" dirty="0">
                <a:latin typeface="Times New Roman" pitchFamily="18" charset="0"/>
              </a:rPr>
              <a:t>)-</a:t>
            </a:r>
            <a:r>
              <a:rPr lang="ru-RU" sz="2800" dirty="0">
                <a:latin typeface="Times New Roman" pitchFamily="18" charset="0"/>
              </a:rPr>
              <a:t>анализатора </a:t>
            </a:r>
            <a:r>
              <a:rPr lang="ru-RU" sz="2800" dirty="0" smtClean="0">
                <a:latin typeface="Times New Roman" pitchFamily="18" charset="0"/>
              </a:rPr>
              <a:t>для грамматики </a:t>
            </a:r>
            <a:r>
              <a:rPr lang="ru-RU" sz="2800" dirty="0">
                <a:latin typeface="Times New Roman" pitchFamily="18" charset="0"/>
              </a:rPr>
              <a:t>простых арифметических </a:t>
            </a:r>
            <a:r>
              <a:rPr lang="ru-RU" sz="2800" dirty="0" smtClean="0">
                <a:latin typeface="Times New Roman" pitchFamily="18" charset="0"/>
              </a:rPr>
              <a:t>выражений:</a:t>
            </a:r>
            <a:endParaRPr lang="en-US" sz="2800" i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>
                <a:latin typeface="Times New Roman" pitchFamily="18" charset="0"/>
              </a:rPr>
              <a:t>				</a:t>
            </a:r>
            <a:r>
              <a:rPr lang="en-US" sz="2800" i="1" dirty="0">
                <a:latin typeface="Times New Roman" pitchFamily="18" charset="0"/>
              </a:rPr>
              <a:t>S</a:t>
            </a:r>
            <a:r>
              <a:rPr lang="ru-RU" sz="2800" dirty="0">
                <a:latin typeface="Times New Roman" pitchFamily="18" charset="0"/>
              </a:rPr>
              <a:t> → </a:t>
            </a:r>
            <a:r>
              <a:rPr lang="en-US" sz="2800" i="1" dirty="0">
                <a:latin typeface="Times New Roman" pitchFamily="18" charset="0"/>
              </a:rPr>
              <a:t>S </a:t>
            </a:r>
            <a:r>
              <a:rPr lang="ru-RU" sz="2800" dirty="0">
                <a:latin typeface="Times New Roman" pitchFamily="18" charset="0"/>
              </a:rPr>
              <a:t>+</a:t>
            </a:r>
            <a:r>
              <a:rPr lang="en-US" sz="2800" dirty="0">
                <a:latin typeface="Times New Roman" pitchFamily="18" charset="0"/>
              </a:rPr>
              <a:t> </a:t>
            </a:r>
            <a:r>
              <a:rPr lang="en-US" sz="2800" i="1" dirty="0">
                <a:latin typeface="Times New Roman" pitchFamily="18" charset="0"/>
              </a:rPr>
              <a:t>T</a:t>
            </a:r>
            <a:r>
              <a:rPr lang="en-US" sz="2800" dirty="0">
                <a:latin typeface="Times New Roman" pitchFamily="18" charset="0"/>
              </a:rPr>
              <a:t> </a:t>
            </a:r>
            <a:r>
              <a:rPr lang="ru-RU" sz="2800" dirty="0">
                <a:latin typeface="Times New Roman" pitchFamily="18" charset="0"/>
              </a:rPr>
              <a:t>|</a:t>
            </a:r>
            <a:r>
              <a:rPr lang="en-US" sz="2800" dirty="0">
                <a:latin typeface="Times New Roman" pitchFamily="18" charset="0"/>
              </a:rPr>
              <a:t> </a:t>
            </a:r>
            <a:r>
              <a:rPr lang="en-US" sz="2800" i="1" dirty="0">
                <a:latin typeface="Times New Roman" pitchFamily="18" charset="0"/>
              </a:rPr>
              <a:t>T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>
                <a:latin typeface="Times New Roman" pitchFamily="18" charset="0"/>
              </a:rPr>
              <a:t>				</a:t>
            </a:r>
            <a:r>
              <a:rPr lang="en-US" sz="2800" i="1" dirty="0">
                <a:latin typeface="Times New Roman" pitchFamily="18" charset="0"/>
              </a:rPr>
              <a:t>T</a:t>
            </a:r>
            <a:r>
              <a:rPr lang="en-US" sz="2800" dirty="0">
                <a:latin typeface="Times New Roman" pitchFamily="18" charset="0"/>
              </a:rPr>
              <a:t> → </a:t>
            </a:r>
            <a:r>
              <a:rPr lang="en-US" sz="2800" i="1" dirty="0">
                <a:latin typeface="Times New Roman" pitchFamily="18" charset="0"/>
              </a:rPr>
              <a:t>T </a:t>
            </a:r>
            <a:r>
              <a:rPr lang="en-US" sz="2800" dirty="0">
                <a:latin typeface="Times New Roman" pitchFamily="18" charset="0"/>
              </a:rPr>
              <a:t>* </a:t>
            </a:r>
            <a:r>
              <a:rPr lang="en-US" sz="2800" i="1" dirty="0">
                <a:latin typeface="Times New Roman" pitchFamily="18" charset="0"/>
              </a:rPr>
              <a:t>F</a:t>
            </a:r>
            <a:r>
              <a:rPr lang="en-US" sz="2800" dirty="0">
                <a:latin typeface="Times New Roman" pitchFamily="18" charset="0"/>
              </a:rPr>
              <a:t> | </a:t>
            </a:r>
            <a:r>
              <a:rPr lang="en-US" sz="2800" i="1" dirty="0">
                <a:latin typeface="Times New Roman" pitchFamily="18" charset="0"/>
              </a:rPr>
              <a:t>F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i="1" dirty="0">
                <a:latin typeface="Times New Roman" pitchFamily="18" charset="0"/>
              </a:rPr>
              <a:t>				</a:t>
            </a:r>
            <a:r>
              <a:rPr lang="en-US" sz="2800" i="1" dirty="0">
                <a:latin typeface="Times New Roman" pitchFamily="18" charset="0"/>
              </a:rPr>
              <a:t>F</a:t>
            </a:r>
            <a:r>
              <a:rPr lang="en-US" sz="2800" dirty="0">
                <a:latin typeface="Times New Roman" pitchFamily="18" charset="0"/>
              </a:rPr>
              <a:t> → (</a:t>
            </a:r>
            <a:r>
              <a:rPr lang="en-US" sz="2800" i="1" dirty="0">
                <a:latin typeface="Times New Roman" pitchFamily="18" charset="0"/>
              </a:rPr>
              <a:t>S</a:t>
            </a:r>
            <a:r>
              <a:rPr lang="en-US" sz="2800" dirty="0">
                <a:latin typeface="Times New Roman" pitchFamily="18" charset="0"/>
              </a:rPr>
              <a:t>) | </a:t>
            </a:r>
            <a:r>
              <a:rPr lang="en-US" sz="2800" i="1" dirty="0" smtClean="0">
                <a:latin typeface="Times New Roman" pitchFamily="18" charset="0"/>
              </a:rPr>
              <a:t>a</a:t>
            </a:r>
            <a:endParaRPr lang="ru-RU" sz="2800" i="1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ru-RU" sz="2800" i="1" dirty="0">
              <a:latin typeface="Times New Roman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ru-RU" sz="2800" dirty="0" smtClean="0"/>
              <a:t>Рассматриваются все такие возможные варианты, когда в верхней части магазина будет формироваться правая часть некоторого правила порождения.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E8C4DD-BF62-429C-9ADB-8088255EEA89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53</a:t>
            </a:fld>
            <a:endParaRPr lang="ru-RU" altLang="ru-RU" sz="1400" smtClean="0"/>
          </a:p>
        </p:txBody>
      </p:sp>
      <p:sp>
        <p:nvSpPr>
          <p:cNvPr id="55299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91D1B2B-AD9C-4580-BDCE-CC478CDBDB8D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53</a:t>
            </a:fld>
            <a:endParaRPr lang="ru-RU" altLang="ru-RU" sz="1400"/>
          </a:p>
        </p:txBody>
      </p:sp>
      <p:sp>
        <p:nvSpPr>
          <p:cNvPr id="55300" name="Rectangle 87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graphicFrame>
        <p:nvGraphicFramePr>
          <p:cNvPr id="43152" name="Group 144"/>
          <p:cNvGraphicFramePr>
            <a:graphicFrameLocks noGrp="1"/>
          </p:cNvGraphicFramePr>
          <p:nvPr>
            <p:ph idx="4294967295"/>
          </p:nvPr>
        </p:nvGraphicFramePr>
        <p:xfrm>
          <a:off x="468313" y="77788"/>
          <a:ext cx="7848600" cy="6462712"/>
        </p:xfrm>
        <a:graphic>
          <a:graphicData uri="http://schemas.openxmlformats.org/drawingml/2006/table">
            <a:tbl>
              <a:tblPr/>
              <a:tblGrid>
                <a:gridCol w="810427"/>
                <a:gridCol w="1349737"/>
                <a:gridCol w="1296099"/>
                <a:gridCol w="864066"/>
                <a:gridCol w="1440110"/>
                <a:gridCol w="792061"/>
                <a:gridCol w="1296099"/>
              </a:tblGrid>
              <a:tr h="4572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</a:t>
                      </a: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u-RU" sz="2400" b="1" baseline="-25000" dirty="0" smtClean="0">
                          <a:solidFill>
                            <a:schemeClr val="tx1"/>
                          </a:solidFill>
                        </a:rPr>
                        <a:t>┴</a:t>
                      </a:r>
                      <a:endParaRPr kumimoji="0" lang="ru-RU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u-RU" sz="2000" b="1" baseline="-25000" dirty="0" smtClean="0">
                          <a:solidFill>
                            <a:schemeClr val="tx1"/>
                          </a:solidFill>
                        </a:rPr>
                        <a:t>┴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(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(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(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(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</a:t>
                      </a: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допуск</a:t>
                      </a: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 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T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 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 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Wingdings" pitchFamily="2" charset="2"/>
                        </a:rPr>
                        <a:t>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Wingdings" pitchFamily="2" charset="2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┴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F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 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 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 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 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 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 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 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 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8" marR="91438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BAA7CB-5093-41A9-B8F2-4679DAF14836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54</a:t>
            </a:fld>
            <a:endParaRPr lang="ru-RU" altLang="ru-RU" sz="1400" smtClean="0"/>
          </a:p>
        </p:txBody>
      </p:sp>
      <p:sp>
        <p:nvSpPr>
          <p:cNvPr id="56323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0625138-5CD8-462A-8BDF-7DDC6118D107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54</a:t>
            </a:fld>
            <a:endParaRPr lang="ru-RU" altLang="ru-RU" sz="1400"/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260350"/>
            <a:ext cx="8713788" cy="64087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       На рисунке изображено неявно строящееся           </a:t>
            </a:r>
            <a:r>
              <a:rPr lang="en-US" altLang="ru-RU" sz="2800" smtClean="0">
                <a:latin typeface="Times New Roman" pitchFamily="18" charset="0"/>
              </a:rPr>
              <a:t>LR</a:t>
            </a:r>
            <a:r>
              <a:rPr lang="ru-RU" altLang="ru-RU" sz="2800" smtClean="0">
                <a:latin typeface="Times New Roman" pitchFamily="18" charset="0"/>
              </a:rPr>
              <a:t>(1)</a:t>
            </a:r>
            <a:r>
              <a:rPr lang="en-US" altLang="ru-RU" sz="2800" smtClean="0">
                <a:latin typeface="Times New Roman" pitchFamily="18" charset="0"/>
              </a:rPr>
              <a:t>-</a:t>
            </a:r>
            <a:r>
              <a:rPr lang="ru-RU" altLang="ru-RU" sz="2800" smtClean="0">
                <a:latin typeface="Times New Roman" pitchFamily="18" charset="0"/>
              </a:rPr>
              <a:t>анализатором дерево порождения  цепочки:</a:t>
            </a:r>
          </a:p>
          <a:p>
            <a:pPr algn="ctr" eaLnBrk="1" hangingPunct="1"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+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a * a</a:t>
            </a:r>
            <a:r>
              <a:rPr lang="ru-RU" altLang="ru-RU" sz="2800" smtClean="0">
                <a:latin typeface="Times New Roman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  <p:grpSp>
        <p:nvGrpSpPr>
          <p:cNvPr id="56326" name="Group 4"/>
          <p:cNvGrpSpPr>
            <a:grpSpLocks noChangeAspect="1"/>
          </p:cNvGrpSpPr>
          <p:nvPr/>
        </p:nvGrpSpPr>
        <p:grpSpPr bwMode="auto">
          <a:xfrm>
            <a:off x="871538" y="1711325"/>
            <a:ext cx="6985000" cy="4286250"/>
            <a:chOff x="3942" y="1901"/>
            <a:chExt cx="4191" cy="2542"/>
          </a:xfrm>
        </p:grpSpPr>
        <p:sp>
          <p:nvSpPr>
            <p:cNvPr id="56327" name="AutoShape 5"/>
            <p:cNvSpPr>
              <a:spLocks noChangeAspect="1" noChangeArrowheads="1"/>
            </p:cNvSpPr>
            <p:nvPr/>
          </p:nvSpPr>
          <p:spPr bwMode="auto">
            <a:xfrm>
              <a:off x="3942" y="1901"/>
              <a:ext cx="4191" cy="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6328" name="Text Box 6"/>
            <p:cNvSpPr txBox="1">
              <a:spLocks noChangeArrowheads="1"/>
            </p:cNvSpPr>
            <p:nvPr/>
          </p:nvSpPr>
          <p:spPr bwMode="auto">
            <a:xfrm>
              <a:off x="5896" y="2028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6329" name="Text Box 7"/>
            <p:cNvSpPr txBox="1">
              <a:spLocks noChangeArrowheads="1"/>
            </p:cNvSpPr>
            <p:nvPr/>
          </p:nvSpPr>
          <p:spPr bwMode="auto">
            <a:xfrm>
              <a:off x="5253" y="2537"/>
              <a:ext cx="320" cy="30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6330" name="Text Box 8"/>
            <p:cNvSpPr txBox="1">
              <a:spLocks noChangeArrowheads="1"/>
            </p:cNvSpPr>
            <p:nvPr/>
          </p:nvSpPr>
          <p:spPr bwMode="auto">
            <a:xfrm>
              <a:off x="5877" y="2537"/>
              <a:ext cx="320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>
                  <a:latin typeface="Times New Roman" pitchFamily="18" charset="0"/>
                </a:rPr>
                <a:t> </a:t>
              </a:r>
              <a:r>
                <a:rPr lang="en-US" altLang="ru-RU" sz="2400">
                  <a:latin typeface="Times New Roman" pitchFamily="18" charset="0"/>
                </a:rPr>
                <a:t>+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6331" name="Text Box 9"/>
            <p:cNvSpPr txBox="1">
              <a:spLocks noChangeArrowheads="1"/>
            </p:cNvSpPr>
            <p:nvPr/>
          </p:nvSpPr>
          <p:spPr bwMode="auto">
            <a:xfrm>
              <a:off x="6539" y="2537"/>
              <a:ext cx="320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T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6332" name="Text Box 10"/>
            <p:cNvSpPr txBox="1">
              <a:spLocks noChangeArrowheads="1"/>
            </p:cNvSpPr>
            <p:nvPr/>
          </p:nvSpPr>
          <p:spPr bwMode="auto">
            <a:xfrm>
              <a:off x="4996" y="3045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T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6333" name="Text Box 11"/>
            <p:cNvSpPr txBox="1">
              <a:spLocks noChangeArrowheads="1"/>
            </p:cNvSpPr>
            <p:nvPr/>
          </p:nvSpPr>
          <p:spPr bwMode="auto">
            <a:xfrm>
              <a:off x="4739" y="3553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6334" name="Text Box 12"/>
            <p:cNvSpPr txBox="1">
              <a:spLocks noChangeArrowheads="1"/>
            </p:cNvSpPr>
            <p:nvPr/>
          </p:nvSpPr>
          <p:spPr bwMode="auto">
            <a:xfrm>
              <a:off x="4611" y="4061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6335" name="Text Box 13"/>
            <p:cNvSpPr txBox="1">
              <a:spLocks noChangeArrowheads="1"/>
            </p:cNvSpPr>
            <p:nvPr/>
          </p:nvSpPr>
          <p:spPr bwMode="auto">
            <a:xfrm>
              <a:off x="6411" y="3045"/>
              <a:ext cx="320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T</a:t>
              </a:r>
              <a:endParaRPr lang="ru-RU" altLang="ru-RU" sz="2400" i="1">
                <a:latin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6336" name="Text Box 14"/>
            <p:cNvSpPr txBox="1">
              <a:spLocks noChangeArrowheads="1"/>
            </p:cNvSpPr>
            <p:nvPr/>
          </p:nvSpPr>
          <p:spPr bwMode="auto">
            <a:xfrm>
              <a:off x="6025" y="3553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6337" name="Text Box 15"/>
            <p:cNvSpPr txBox="1">
              <a:spLocks noChangeArrowheads="1"/>
            </p:cNvSpPr>
            <p:nvPr/>
          </p:nvSpPr>
          <p:spPr bwMode="auto">
            <a:xfrm>
              <a:off x="7439" y="3045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56338" name="Text Box 16"/>
            <p:cNvSpPr txBox="1">
              <a:spLocks noChangeArrowheads="1"/>
            </p:cNvSpPr>
            <p:nvPr/>
          </p:nvSpPr>
          <p:spPr bwMode="auto">
            <a:xfrm>
              <a:off x="6925" y="3045"/>
              <a:ext cx="320" cy="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>
                  <a:latin typeface="Times New Roman" pitchFamily="18" charset="0"/>
                </a:rPr>
                <a:t> </a:t>
              </a:r>
              <a:r>
                <a:rPr lang="en-US" altLang="ru-RU" sz="2400">
                  <a:latin typeface="Times New Roman" pitchFamily="18" charset="0"/>
                </a:rPr>
                <a:t>*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6339" name="Text Box 17"/>
            <p:cNvSpPr txBox="1">
              <a:spLocks noChangeArrowheads="1"/>
            </p:cNvSpPr>
            <p:nvPr/>
          </p:nvSpPr>
          <p:spPr bwMode="auto">
            <a:xfrm>
              <a:off x="5896" y="4061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6340" name="Text Box 18"/>
            <p:cNvSpPr txBox="1">
              <a:spLocks noChangeArrowheads="1"/>
            </p:cNvSpPr>
            <p:nvPr/>
          </p:nvSpPr>
          <p:spPr bwMode="auto">
            <a:xfrm>
              <a:off x="7439" y="3553"/>
              <a:ext cx="320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 </a:t>
              </a: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56341" name="Line 19"/>
            <p:cNvSpPr>
              <a:spLocks noChangeShapeType="1"/>
            </p:cNvSpPr>
            <p:nvPr/>
          </p:nvSpPr>
          <p:spPr bwMode="auto">
            <a:xfrm flipH="1">
              <a:off x="5511" y="2283"/>
              <a:ext cx="385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42" name="Line 20"/>
            <p:cNvSpPr>
              <a:spLocks noChangeShapeType="1"/>
            </p:cNvSpPr>
            <p:nvPr/>
          </p:nvSpPr>
          <p:spPr bwMode="auto">
            <a:xfrm>
              <a:off x="6025" y="2283"/>
              <a:ext cx="7" cy="2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43" name="Line 21"/>
            <p:cNvSpPr>
              <a:spLocks noChangeShapeType="1"/>
            </p:cNvSpPr>
            <p:nvPr/>
          </p:nvSpPr>
          <p:spPr bwMode="auto">
            <a:xfrm>
              <a:off x="6153" y="2283"/>
              <a:ext cx="393" cy="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44" name="Line 22"/>
            <p:cNvSpPr>
              <a:spLocks noChangeShapeType="1"/>
            </p:cNvSpPr>
            <p:nvPr/>
          </p:nvSpPr>
          <p:spPr bwMode="auto">
            <a:xfrm flipH="1">
              <a:off x="5178" y="2791"/>
              <a:ext cx="204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45" name="Line 23"/>
            <p:cNvSpPr>
              <a:spLocks noChangeShapeType="1"/>
            </p:cNvSpPr>
            <p:nvPr/>
          </p:nvSpPr>
          <p:spPr bwMode="auto">
            <a:xfrm flipH="1">
              <a:off x="4926" y="3299"/>
              <a:ext cx="199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46" name="Line 24"/>
            <p:cNvSpPr>
              <a:spLocks noChangeShapeType="1"/>
            </p:cNvSpPr>
            <p:nvPr/>
          </p:nvSpPr>
          <p:spPr bwMode="auto">
            <a:xfrm flipH="1">
              <a:off x="4751" y="3807"/>
              <a:ext cx="117" cy="2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47" name="Line 25"/>
            <p:cNvSpPr>
              <a:spLocks noChangeShapeType="1"/>
            </p:cNvSpPr>
            <p:nvPr/>
          </p:nvSpPr>
          <p:spPr bwMode="auto">
            <a:xfrm flipH="1">
              <a:off x="6527" y="2791"/>
              <a:ext cx="141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48" name="Line 26"/>
            <p:cNvSpPr>
              <a:spLocks noChangeShapeType="1"/>
            </p:cNvSpPr>
            <p:nvPr/>
          </p:nvSpPr>
          <p:spPr bwMode="auto">
            <a:xfrm>
              <a:off x="6668" y="2791"/>
              <a:ext cx="315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49" name="Line 27"/>
            <p:cNvSpPr>
              <a:spLocks noChangeShapeType="1"/>
            </p:cNvSpPr>
            <p:nvPr/>
          </p:nvSpPr>
          <p:spPr bwMode="auto">
            <a:xfrm>
              <a:off x="6796" y="2791"/>
              <a:ext cx="643" cy="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50" name="Line 28"/>
            <p:cNvSpPr>
              <a:spLocks noChangeShapeType="1"/>
            </p:cNvSpPr>
            <p:nvPr/>
          </p:nvSpPr>
          <p:spPr bwMode="auto">
            <a:xfrm flipH="1">
              <a:off x="6213" y="3319"/>
              <a:ext cx="371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51" name="Line 29"/>
            <p:cNvSpPr>
              <a:spLocks noChangeShapeType="1"/>
            </p:cNvSpPr>
            <p:nvPr/>
          </p:nvSpPr>
          <p:spPr bwMode="auto">
            <a:xfrm flipH="1">
              <a:off x="6051" y="3807"/>
              <a:ext cx="102" cy="2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352" name="Line 30"/>
            <p:cNvSpPr>
              <a:spLocks noChangeShapeType="1"/>
            </p:cNvSpPr>
            <p:nvPr/>
          </p:nvSpPr>
          <p:spPr bwMode="auto">
            <a:xfrm flipH="1">
              <a:off x="7556" y="3299"/>
              <a:ext cx="12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DC8EE13-84C6-42D1-B969-91D50EDF105C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55</a:t>
            </a:fld>
            <a:endParaRPr lang="ru-RU" altLang="ru-RU" sz="1400" smtClean="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1368425"/>
          </a:xfrm>
        </p:spPr>
        <p:txBody>
          <a:bodyPr/>
          <a:lstStyle/>
          <a:p>
            <a:r>
              <a:rPr lang="ru-RU" altLang="ru-RU" sz="2800" smtClean="0">
                <a:solidFill>
                  <a:schemeClr val="accent2"/>
                </a:solidFill>
              </a:rPr>
              <a:t>Трудоемкость алгоритмов грамматического </a:t>
            </a:r>
            <a:r>
              <a:rPr lang="en-US" altLang="ru-RU" sz="2800" smtClean="0">
                <a:solidFill>
                  <a:schemeClr val="accent2"/>
                </a:solidFill>
              </a:rPr>
              <a:t/>
            </a:r>
            <a:br>
              <a:rPr lang="en-US" altLang="ru-RU" sz="2800" smtClean="0">
                <a:solidFill>
                  <a:schemeClr val="accent2"/>
                </a:solidFill>
              </a:rPr>
            </a:br>
            <a:r>
              <a:rPr lang="ru-RU" altLang="ru-RU" sz="2800" smtClean="0">
                <a:solidFill>
                  <a:schemeClr val="accent2"/>
                </a:solidFill>
              </a:rPr>
              <a:t>анализа – линейная относительно </a:t>
            </a:r>
            <a:r>
              <a:rPr lang="en-US" altLang="ru-RU" sz="2800" i="1" smtClean="0">
                <a:solidFill>
                  <a:schemeClr val="accent2"/>
                </a:solidFill>
              </a:rPr>
              <a:t>n</a:t>
            </a:r>
            <a:r>
              <a:rPr lang="ru-RU" altLang="ru-RU" sz="2800" smtClean="0">
                <a:solidFill>
                  <a:schemeClr val="accent2"/>
                </a:solidFill>
              </a:rPr>
              <a:t> - количества терминальных символов в входной цепочке</a:t>
            </a:r>
            <a:r>
              <a:rPr lang="ru-RU" altLang="ru-RU" sz="3600" smtClean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229600" cy="439261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/>
              <a:t>LL(1)-</a:t>
            </a:r>
            <a:r>
              <a:rPr lang="ru-RU" altLang="ru-RU" sz="2400" smtClean="0"/>
              <a:t>анализатор:  		</a:t>
            </a:r>
            <a:r>
              <a:rPr lang="ru-RU" altLang="ru-RU" sz="2400" i="1" smtClean="0">
                <a:latin typeface="Times New Roman" pitchFamily="18" charset="0"/>
              </a:rPr>
              <a:t>О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  </a:t>
            </a: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– максимальное количество нетерминалов среди всех правых частей порождающих правил, причем таких нетерминалов, которые могут порождать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l-GR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Рекурсивный спуск,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грамматики простого предшествования,</a:t>
            </a:r>
            <a:endParaRPr lang="en-US" altLang="ru-RU" sz="24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/>
              <a:t>LR(1)-</a:t>
            </a:r>
            <a:r>
              <a:rPr lang="ru-RU" altLang="ru-RU" sz="2400" smtClean="0"/>
              <a:t>анализатор:</a:t>
            </a:r>
            <a:r>
              <a:rPr lang="en-US" altLang="ru-RU" sz="2400" smtClean="0"/>
              <a:t> </a:t>
            </a:r>
            <a:r>
              <a:rPr lang="ru-RU" altLang="ru-RU" sz="2400" smtClean="0"/>
              <a:t>		</a:t>
            </a:r>
            <a:r>
              <a:rPr lang="ru-RU" altLang="ru-RU" sz="2400" i="1" smtClean="0">
                <a:latin typeface="Times New Roman" pitchFamily="18" charset="0"/>
              </a:rPr>
              <a:t>О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m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где </a:t>
            </a:r>
            <a:r>
              <a:rPr lang="en-US" altLang="ru-RU" sz="2400" i="1" smtClean="0">
                <a:latin typeface="Times New Roman" pitchFamily="18" charset="0"/>
              </a:rPr>
              <a:t>m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– общее количество нетерминалов в грамматике.</a:t>
            </a:r>
            <a:endParaRPr lang="ru-RU" altLang="ru-RU" sz="2400" smtClean="0"/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Грамматики операторного предшествования:</a:t>
            </a:r>
            <a:r>
              <a:rPr lang="en-US" altLang="ru-RU" sz="2400" smtClean="0"/>
              <a:t> </a:t>
            </a:r>
            <a:r>
              <a:rPr lang="ru-RU" altLang="ru-RU" sz="2400" i="1" smtClean="0">
                <a:latin typeface="Times New Roman" pitchFamily="18" charset="0"/>
              </a:rPr>
              <a:t>О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2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.</a:t>
            </a:r>
            <a:endParaRPr lang="ru-RU" altLang="ru-RU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2808</Words>
  <Application>Microsoft Office PowerPoint</Application>
  <PresentationFormat>Экран (4:3)</PresentationFormat>
  <Paragraphs>1042</Paragraphs>
  <Slides>55</Slides>
  <Notes>7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57" baseType="lpstr">
      <vt:lpstr>Оформление по умолчанию</vt:lpstr>
      <vt:lpstr>Формула</vt:lpstr>
      <vt:lpstr>ТОМСКИЙ ГОСУДАРСТВЕННЫЙ УНИВЕРСИТЕТ </vt:lpstr>
      <vt:lpstr>Рекурсивный спуск</vt:lpstr>
      <vt:lpstr>Презентация PowerPoint</vt:lpstr>
      <vt:lpstr>Анализатор рекурсивного спуска – набор рекурсивных функций</vt:lpstr>
      <vt:lpstr>Пример.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СИНТАКСИЧЕСКИЙ АНАЛИЗ СНИЗУ-ВВЕРХ </vt:lpstr>
      <vt:lpstr>Презентация PowerPoint</vt:lpstr>
      <vt:lpstr>Автомат с магазинной памятью (МПА)</vt:lpstr>
      <vt:lpstr>Презентация PowerPoint</vt:lpstr>
      <vt:lpstr>Презентация PowerPoint</vt:lpstr>
      <vt:lpstr>Презентация PowerPoint</vt:lpstr>
      <vt:lpstr>LR-разбор КС-грамматики автоматом с магазинной памятью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Детерминированный LR-анализ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Таблица отношений преобразованной грамматики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Пример. Анализ цепочки на входе: a + a * a ┴</vt:lpstr>
      <vt:lpstr>Презентация PowerPoint</vt:lpstr>
      <vt:lpstr>LR(k)-анализатор </vt:lpstr>
      <vt:lpstr>Пример.</vt:lpstr>
      <vt:lpstr>Презентация PowerPoint</vt:lpstr>
      <vt:lpstr>Презентация PowerPoint</vt:lpstr>
      <vt:lpstr>Трудоемкость алгоритмов грамматического  анализа – линейная относительно n - количества терминальных символов в входной цепочке </vt:lpstr>
    </vt:vector>
  </TitlesOfParts>
  <Company>ТГУ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АВТОМАТОВ И ФОРМАЛЬНЫХ ЯЗЫКОВ</dc:title>
  <dc:creator>Вход</dc:creator>
  <cp:lastModifiedBy>User</cp:lastModifiedBy>
  <cp:revision>66</cp:revision>
  <dcterms:created xsi:type="dcterms:W3CDTF">2009-09-02T15:38:32Z</dcterms:created>
  <dcterms:modified xsi:type="dcterms:W3CDTF">2024-02-03T16:49:00Z</dcterms:modified>
</cp:coreProperties>
</file>