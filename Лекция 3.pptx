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63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21" r:id="rId11"/>
    <p:sldId id="306" r:id="rId12"/>
    <p:sldId id="307" r:id="rId13"/>
    <p:sldId id="362" r:id="rId14"/>
    <p:sldId id="361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371" r:id="rId23"/>
    <p:sldId id="372" r:id="rId24"/>
    <p:sldId id="373" r:id="rId25"/>
    <p:sldId id="374" r:id="rId26"/>
    <p:sldId id="375" r:id="rId27"/>
    <p:sldId id="376" r:id="rId28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120" y="-15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D4471F5-EDA1-4016-9786-1F22AA7A1453}" type="datetimeFigureOut">
              <a:rPr lang="ru-RU"/>
              <a:pPr>
                <a:defRPr/>
              </a:pPr>
              <a:t>03.02.2024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897FE01-2A5E-476A-83B4-2D41CBD67D7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1106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30724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8BD1977-8AC5-431C-A419-BB4FC0B7EA39}" type="slidenum">
              <a:rPr lang="ru-RU" altLang="ru-RU">
                <a:latin typeface="Arial" charset="0"/>
              </a:rPr>
              <a:pPr algn="r" eaLnBrk="1" hangingPunct="1">
                <a:spcBef>
                  <a:spcPct val="0"/>
                </a:spcBef>
              </a:pPr>
              <a:t>1</a:t>
            </a:fld>
            <a:endParaRPr lang="ru-RU" altLang="ru-RU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107E59-06B7-464E-941B-20FB20FFE60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924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860FD2-49F2-4D72-9949-7C575F6D679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04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72DADA-75A9-43D4-9747-0F08584BD5C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54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F44079-FDC3-45A6-9ECF-E1F47FFE1E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218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F17C5-E236-400B-84BC-315F58B2BEE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156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37803-440D-49F9-B9E3-2960C87393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56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DC5E5-253C-4F42-8A74-52778A88513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866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805DD3-812F-4E56-A325-1274412D77D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409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2CA73-8891-441D-9BB1-00AE2A1513E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770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23CBD-5675-4AA0-B255-1F0C55C6EA3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88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00D137-FE5D-4BA5-A6B8-FC49A906A45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054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7E8BF6-2FA9-461A-B85D-3ED510CB844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913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41DBF-249E-4A2A-A195-D2240000FF7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3558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02AE960-5D61-4A56-A7D3-F261B73ACDD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9144000" cy="1512887"/>
          </a:xfrm>
        </p:spPr>
        <p:txBody>
          <a:bodyPr/>
          <a:lstStyle/>
          <a:p>
            <a:r>
              <a:rPr lang="ru-RU" altLang="ru-RU" sz="2800" b="1" smtClean="0"/>
              <a:t>ТОМСКИЙ ГОСУДАРСТВЕННЫЙ УНИВЕРСИТЕТ</a:t>
            </a:r>
            <a:br>
              <a:rPr lang="ru-RU" altLang="ru-RU" sz="2800" b="1" smtClean="0"/>
            </a:br>
            <a:endParaRPr lang="ru-RU" altLang="ru-RU" sz="2800" smtClean="0"/>
          </a:p>
        </p:txBody>
      </p:sp>
      <p:sp>
        <p:nvSpPr>
          <p:cNvPr id="2051" name="Объект 2"/>
          <p:cNvSpPr>
            <a:spLocks noGrp="1"/>
          </p:cNvSpPr>
          <p:nvPr>
            <p:ph idx="4294967295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ru-RU" altLang="ru-RU" dirty="0" smtClean="0"/>
              <a:t>Костюк Ю. Л.</a:t>
            </a:r>
          </a:p>
          <a:p>
            <a:pPr marL="0" indent="0" algn="ctr">
              <a:buFontTx/>
              <a:buNone/>
            </a:pPr>
            <a:endParaRPr lang="ru-RU" altLang="ru-RU" sz="3600" b="1" dirty="0" smtClean="0"/>
          </a:p>
          <a:p>
            <a:pPr marL="0" indent="0" algn="ctr">
              <a:buFontTx/>
              <a:buNone/>
            </a:pPr>
            <a:r>
              <a:rPr lang="ru-RU" altLang="ru-RU" sz="3600" b="1"/>
              <a:t>МЕТОДЫ КОМПИЛЯЦИИ</a:t>
            </a:r>
          </a:p>
          <a:p>
            <a:pPr marL="0" indent="0" algn="ctr" eaLnBrk="1" hangingPunct="1">
              <a:buFontTx/>
              <a:buNone/>
            </a:pPr>
            <a:endParaRPr lang="ru-RU" altLang="ru-RU" sz="3600" b="1" dirty="0" smtClean="0"/>
          </a:p>
          <a:p>
            <a:pPr marL="0" indent="0" algn="ctr" eaLnBrk="1" hangingPunct="1">
              <a:buFontTx/>
              <a:buNone/>
            </a:pPr>
            <a:r>
              <a:rPr lang="ru-RU" altLang="ru-RU" sz="3600" b="1" dirty="0" smtClean="0"/>
              <a:t>Лекция 3</a:t>
            </a:r>
            <a:r>
              <a:rPr lang="ru-RU" altLang="ru-RU" sz="3600" dirty="0" smtClean="0"/>
              <a:t> </a:t>
            </a:r>
          </a:p>
          <a:p>
            <a:pPr marL="0" indent="0" algn="ctr">
              <a:buFontTx/>
              <a:buNone/>
            </a:pPr>
            <a:endParaRPr lang="ru-RU" altLang="ru-RU" sz="3600" dirty="0" smtClean="0"/>
          </a:p>
        </p:txBody>
      </p:sp>
      <p:sp>
        <p:nvSpPr>
          <p:cNvPr id="205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07901A9-7022-48F8-91A8-890C841A90F0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7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08050"/>
          </a:xfrm>
        </p:spPr>
        <p:txBody>
          <a:bodyPr/>
          <a:lstStyle/>
          <a:p>
            <a:r>
              <a:rPr lang="ru-RU" altLang="ru-RU" sz="3600" smtClean="0">
                <a:solidFill>
                  <a:schemeClr val="accent2"/>
                </a:solidFill>
              </a:rPr>
              <a:t>СИНТАКСИЧЕСКИЙ АНАЛИЗ</a:t>
            </a:r>
            <a:r>
              <a:rPr lang="ru-RU" altLang="ru-RU" smtClean="0"/>
              <a:t> </a:t>
            </a:r>
          </a:p>
        </p:txBody>
      </p:sp>
      <p:sp>
        <p:nvSpPr>
          <p:cNvPr id="3075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323850" y="981075"/>
            <a:ext cx="8712200" cy="547211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i="1" smtClean="0"/>
              <a:t>Дерево порождения для КС-грамматики</a:t>
            </a:r>
          </a:p>
          <a:p>
            <a:pPr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Все порождающие правила имеют вид:    </a:t>
            </a:r>
            <a:r>
              <a:rPr lang="en-US" altLang="ru-RU" sz="2000" i="1" smtClean="0">
                <a:latin typeface="Times New Roman" pitchFamily="18" charset="0"/>
              </a:rPr>
              <a:t>A</a:t>
            </a:r>
            <a:r>
              <a:rPr lang="ru-RU" altLang="ru-RU" sz="2000" smtClean="0">
                <a:latin typeface="Times New Roman" pitchFamily="18" charset="0"/>
              </a:rPr>
              <a:t> → γ,</a:t>
            </a:r>
          </a:p>
          <a:p>
            <a:pPr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где </a:t>
            </a:r>
            <a:r>
              <a:rPr lang="en-US" altLang="ru-RU" sz="2000" i="1" smtClean="0">
                <a:latin typeface="Times New Roman" pitchFamily="18" charset="0"/>
              </a:rPr>
              <a:t>A</a:t>
            </a:r>
            <a:r>
              <a:rPr lang="ru-RU" altLang="ru-RU" sz="2000" smtClean="0">
                <a:latin typeface="Times New Roman" pitchFamily="18" charset="0"/>
              </a:rPr>
              <a:t> – нетерминальный символ,  γ – цепочка из терминальных и нетерминальных символов.</a:t>
            </a:r>
            <a:r>
              <a:rPr lang="ru-RU" altLang="ru-RU" sz="2000" smtClean="0"/>
              <a:t> </a:t>
            </a:r>
          </a:p>
          <a:p>
            <a:pPr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Процесс порождения в КС-грамматике – построение дерева порождения.</a:t>
            </a:r>
          </a:p>
          <a:p>
            <a:pPr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Вершины дерева – терминальные и нетерминальные символы. </a:t>
            </a:r>
          </a:p>
          <a:p>
            <a:pPr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Корень дерева – начальный нетерминал, вниз от него идут ребра, в концах которых размещаются символы правой части порождающего правила. </a:t>
            </a:r>
          </a:p>
          <a:p>
            <a:pPr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От каждой вершины – нетерминала достраиваются вниз ребра с вершинами – символами в правой части примененного порождающего правила. </a:t>
            </a:r>
          </a:p>
          <a:p>
            <a:pPr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Процесс продолжается до тех пор, пока среди висячих вершин дерева не останется ни одного нетерминала. </a:t>
            </a:r>
          </a:p>
          <a:p>
            <a:pPr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Обход дерева слева направо по висячим вершинам дерева будет цепочкой языка, получившейся в процессе порождения.</a:t>
            </a:r>
          </a:p>
        </p:txBody>
      </p:sp>
      <p:sp>
        <p:nvSpPr>
          <p:cNvPr id="307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F8D2EB5-3526-4F11-9CC7-60894D8F7873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7512"/>
          </a:xfrm>
        </p:spPr>
        <p:txBody>
          <a:bodyPr/>
          <a:lstStyle/>
          <a:p>
            <a:r>
              <a:rPr lang="ru-RU" altLang="ru-RU" sz="3200" smtClean="0"/>
              <a:t>Однозначность грамматики и языка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229600" cy="5616575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b="1" smtClean="0"/>
              <a:t>Левое каноническое порождение </a:t>
            </a:r>
            <a:r>
              <a:rPr lang="ru-RU" altLang="ru-RU" sz="2400" smtClean="0"/>
              <a:t>– если на каждом очередном шаге порождения дерево достраивается от самой левой висячей вершины – нетерминала.</a:t>
            </a:r>
          </a:p>
          <a:p>
            <a:pPr>
              <a:buFontTx/>
              <a:buNone/>
            </a:pPr>
            <a:r>
              <a:rPr lang="ru-RU" altLang="ru-RU" sz="2400" i="1" smtClean="0"/>
              <a:t>Каждому построенному дереву порождения однозначно соответствует некоторое левое каноническое порождение.</a:t>
            </a:r>
          </a:p>
          <a:p>
            <a:pPr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Если для порождения некоторой цепочки языка возможно построение двух (или более) различных деревьев порождения, то грамматика является неоднозначной.</a:t>
            </a:r>
          </a:p>
          <a:p>
            <a:pPr>
              <a:buFontTx/>
              <a:buNone/>
            </a:pPr>
            <a:endParaRPr lang="ru-RU" altLang="ru-RU" sz="2400" b="1" smtClean="0"/>
          </a:p>
          <a:p>
            <a:pPr>
              <a:buFontTx/>
              <a:buNone/>
            </a:pPr>
            <a:r>
              <a:rPr lang="ru-RU" altLang="ru-RU" sz="2400" b="1" smtClean="0"/>
              <a:t>Язык неоднозначен, если для него не существует ни одной однозначной грамматики</a:t>
            </a:r>
            <a:r>
              <a:rPr lang="ru-RU" altLang="ru-RU" smtClean="0"/>
              <a:t>  </a:t>
            </a:r>
            <a:endParaRPr lang="ru-RU" altLang="ru-RU" sz="2000" i="1" smtClean="0"/>
          </a:p>
          <a:p>
            <a:pPr>
              <a:buFontTx/>
              <a:buNone/>
            </a:pPr>
            <a:endParaRPr lang="ru-RU" altLang="ru-RU" sz="2000" i="1" smtClean="0"/>
          </a:p>
        </p:txBody>
      </p:sp>
      <p:sp>
        <p:nvSpPr>
          <p:cNvPr id="410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E52EAA2-9213-4976-9BBC-88147040A61E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ru-RU" altLang="ru-RU" sz="3600" i="1" smtClean="0">
                <a:solidFill>
                  <a:schemeClr val="accent2"/>
                </a:solidFill>
              </a:rPr>
              <a:t>Автомат с магазинной памятью</a:t>
            </a:r>
            <a:r>
              <a:rPr lang="ru-RU" altLang="ru-RU" sz="3600" smtClean="0">
                <a:solidFill>
                  <a:schemeClr val="accent2"/>
                </a:solidFill>
              </a:rPr>
              <a:t> (МПА)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692150"/>
            <a:ext cx="8507412" cy="331311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МПА задается семеркой множеств: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{</a:t>
            </a:r>
            <a:r>
              <a:rPr lang="en-US" altLang="ru-RU" sz="2400" smtClean="0">
                <a:latin typeface="Times New Roman" pitchFamily="18" charset="0"/>
              </a:rPr>
              <a:t>Σ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ru-RU" altLang="ru-RU" sz="2400" smtClean="0">
                <a:latin typeface="Times New Roman" pitchFamily="18" charset="0"/>
              </a:rPr>
              <a:t>, Γ, </a:t>
            </a:r>
            <a:r>
              <a:rPr lang="en-US" altLang="ru-RU" sz="2400" i="1" smtClean="0">
                <a:latin typeface="Times New Roman" pitchFamily="18" charset="0"/>
              </a:rPr>
              <a:t>Z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δ</a:t>
            </a:r>
            <a:r>
              <a:rPr lang="ru-RU" altLang="ru-RU" sz="2400" smtClean="0">
                <a:latin typeface="Times New Roman" pitchFamily="18" charset="0"/>
              </a:rPr>
              <a:t>},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</a:t>
            </a:r>
            <a:r>
              <a:rPr lang="en-US" altLang="ru-RU" sz="2400" smtClean="0">
                <a:latin typeface="Times New Roman" pitchFamily="18" charset="0"/>
              </a:rPr>
              <a:t>Σ</a:t>
            </a:r>
            <a:r>
              <a:rPr lang="ru-RU" altLang="ru-RU" sz="2400" smtClean="0">
                <a:latin typeface="Times New Roman" pitchFamily="18" charset="0"/>
              </a:rPr>
              <a:t> – множество (алфавит) входных символов;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i="1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– множество состояний МПА;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 – начальное состояние,             ; 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ru-RU" altLang="ru-RU" sz="2400" smtClean="0">
                <a:latin typeface="Times New Roman" pitchFamily="18" charset="0"/>
              </a:rPr>
              <a:t> – множество заключительных состояний,             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Γ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– множество (алфавит) магазинных символов;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Z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 – начальный магазинный символ,             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δ</a:t>
            </a:r>
            <a:r>
              <a:rPr lang="ru-RU" altLang="ru-RU" sz="2400" smtClean="0">
                <a:latin typeface="Times New Roman" pitchFamily="18" charset="0"/>
              </a:rPr>
              <a:t> – множество правил перехода. </a:t>
            </a:r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25" name="Object 4"/>
          <p:cNvGraphicFramePr>
            <a:graphicFrameLocks noChangeAspect="1"/>
          </p:cNvGraphicFramePr>
          <p:nvPr/>
        </p:nvGraphicFramePr>
        <p:xfrm>
          <a:off x="6238875" y="2516188"/>
          <a:ext cx="9366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" name="Формула" r:id="rId3" imgW="520700" imgH="228600" progId="Equation.3">
                  <p:embed/>
                </p:oleObj>
              </mc:Choice>
              <mc:Fallback>
                <p:oleObj name="Формула" r:id="rId3" imgW="5207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75" y="2516188"/>
                        <a:ext cx="93662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27" name="Object 6"/>
          <p:cNvGraphicFramePr>
            <a:graphicFrameLocks noChangeAspect="1"/>
          </p:cNvGraphicFramePr>
          <p:nvPr/>
        </p:nvGraphicFramePr>
        <p:xfrm>
          <a:off x="5313363" y="3260725"/>
          <a:ext cx="9350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Формула" r:id="rId5" imgW="558558" imgH="241195" progId="Equation.3">
                  <p:embed/>
                </p:oleObj>
              </mc:Choice>
              <mc:Fallback>
                <p:oleObj name="Формула" r:id="rId5" imgW="558558" imgH="24119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3363" y="3260725"/>
                        <a:ext cx="93503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14DD8C9-F163-44C5-ADA3-E14BA3F88F1B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ru-RU" altLang="ru-RU" sz="1400" smtClean="0"/>
          </a:p>
        </p:txBody>
      </p:sp>
      <p:grpSp>
        <p:nvGrpSpPr>
          <p:cNvPr id="5129" name="Group 38"/>
          <p:cNvGrpSpPr>
            <a:grpSpLocks/>
          </p:cNvGrpSpPr>
          <p:nvPr/>
        </p:nvGrpSpPr>
        <p:grpSpPr bwMode="auto">
          <a:xfrm>
            <a:off x="1187450" y="4292600"/>
            <a:ext cx="6624638" cy="1944688"/>
            <a:chOff x="748" y="2704"/>
            <a:chExt cx="4173" cy="1225"/>
          </a:xfrm>
        </p:grpSpPr>
        <p:sp>
          <p:nvSpPr>
            <p:cNvPr id="5132" name="Rectangle 10"/>
            <p:cNvSpPr>
              <a:spLocks noChangeArrowheads="1"/>
            </p:cNvSpPr>
            <p:nvPr/>
          </p:nvSpPr>
          <p:spPr bwMode="auto">
            <a:xfrm>
              <a:off x="748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33" name="Rectangle 11"/>
            <p:cNvSpPr>
              <a:spLocks noChangeArrowheads="1"/>
            </p:cNvSpPr>
            <p:nvPr/>
          </p:nvSpPr>
          <p:spPr bwMode="auto">
            <a:xfrm>
              <a:off x="930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34" name="Rectangle 12"/>
            <p:cNvSpPr>
              <a:spLocks noChangeArrowheads="1"/>
            </p:cNvSpPr>
            <p:nvPr/>
          </p:nvSpPr>
          <p:spPr bwMode="auto">
            <a:xfrm>
              <a:off x="1111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35" name="Rectangle 13"/>
            <p:cNvSpPr>
              <a:spLocks noChangeArrowheads="1"/>
            </p:cNvSpPr>
            <p:nvPr/>
          </p:nvSpPr>
          <p:spPr bwMode="auto">
            <a:xfrm>
              <a:off x="1292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36" name="Rectangle 14"/>
            <p:cNvSpPr>
              <a:spLocks noChangeArrowheads="1"/>
            </p:cNvSpPr>
            <p:nvPr/>
          </p:nvSpPr>
          <p:spPr bwMode="auto">
            <a:xfrm>
              <a:off x="1474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37" name="Rectangle 15"/>
            <p:cNvSpPr>
              <a:spLocks noChangeArrowheads="1"/>
            </p:cNvSpPr>
            <p:nvPr/>
          </p:nvSpPr>
          <p:spPr bwMode="auto">
            <a:xfrm>
              <a:off x="1655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38" name="Rectangle 16"/>
            <p:cNvSpPr>
              <a:spLocks noChangeArrowheads="1"/>
            </p:cNvSpPr>
            <p:nvPr/>
          </p:nvSpPr>
          <p:spPr bwMode="auto">
            <a:xfrm>
              <a:off x="1837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39" name="Rectangle 17"/>
            <p:cNvSpPr>
              <a:spLocks noChangeArrowheads="1"/>
            </p:cNvSpPr>
            <p:nvPr/>
          </p:nvSpPr>
          <p:spPr bwMode="auto">
            <a:xfrm>
              <a:off x="2018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40" name="Rectangle 18"/>
            <p:cNvSpPr>
              <a:spLocks noChangeArrowheads="1"/>
            </p:cNvSpPr>
            <p:nvPr/>
          </p:nvSpPr>
          <p:spPr bwMode="auto">
            <a:xfrm>
              <a:off x="2200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41" name="Rectangle 19"/>
            <p:cNvSpPr>
              <a:spLocks noChangeArrowheads="1"/>
            </p:cNvSpPr>
            <p:nvPr/>
          </p:nvSpPr>
          <p:spPr bwMode="auto">
            <a:xfrm>
              <a:off x="3107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42" name="Rectangle 20"/>
            <p:cNvSpPr>
              <a:spLocks noChangeArrowheads="1"/>
            </p:cNvSpPr>
            <p:nvPr/>
          </p:nvSpPr>
          <p:spPr bwMode="auto">
            <a:xfrm>
              <a:off x="2925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43" name="Rectangle 21"/>
            <p:cNvSpPr>
              <a:spLocks noChangeArrowheads="1"/>
            </p:cNvSpPr>
            <p:nvPr/>
          </p:nvSpPr>
          <p:spPr bwMode="auto">
            <a:xfrm>
              <a:off x="2744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44" name="Rectangle 22"/>
            <p:cNvSpPr>
              <a:spLocks noChangeArrowheads="1"/>
            </p:cNvSpPr>
            <p:nvPr/>
          </p:nvSpPr>
          <p:spPr bwMode="auto">
            <a:xfrm>
              <a:off x="2562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45" name="Rectangle 23"/>
            <p:cNvSpPr>
              <a:spLocks noChangeArrowheads="1"/>
            </p:cNvSpPr>
            <p:nvPr/>
          </p:nvSpPr>
          <p:spPr bwMode="auto">
            <a:xfrm>
              <a:off x="2381" y="2750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46" name="Rectangle 24"/>
            <p:cNvSpPr>
              <a:spLocks noChangeArrowheads="1"/>
            </p:cNvSpPr>
            <p:nvPr/>
          </p:nvSpPr>
          <p:spPr bwMode="auto">
            <a:xfrm>
              <a:off x="1383" y="3067"/>
              <a:ext cx="1043" cy="45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47" name="Line 25"/>
            <p:cNvSpPr>
              <a:spLocks noChangeShapeType="1"/>
            </p:cNvSpPr>
            <p:nvPr/>
          </p:nvSpPr>
          <p:spPr bwMode="auto">
            <a:xfrm flipV="1">
              <a:off x="1927" y="2931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48" name="Rectangle 26"/>
            <p:cNvSpPr>
              <a:spLocks noChangeArrowheads="1"/>
            </p:cNvSpPr>
            <p:nvPr/>
          </p:nvSpPr>
          <p:spPr bwMode="auto">
            <a:xfrm>
              <a:off x="1338" y="3702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49" name="Rectangle 27"/>
            <p:cNvSpPr>
              <a:spLocks noChangeArrowheads="1"/>
            </p:cNvSpPr>
            <p:nvPr/>
          </p:nvSpPr>
          <p:spPr bwMode="auto">
            <a:xfrm>
              <a:off x="1156" y="3702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50" name="Rectangle 28"/>
            <p:cNvSpPr>
              <a:spLocks noChangeArrowheads="1"/>
            </p:cNvSpPr>
            <p:nvPr/>
          </p:nvSpPr>
          <p:spPr bwMode="auto">
            <a:xfrm>
              <a:off x="793" y="3702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51" name="Rectangle 29"/>
            <p:cNvSpPr>
              <a:spLocks noChangeArrowheads="1"/>
            </p:cNvSpPr>
            <p:nvPr/>
          </p:nvSpPr>
          <p:spPr bwMode="auto">
            <a:xfrm>
              <a:off x="975" y="3702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52" name="Rectangle 30"/>
            <p:cNvSpPr>
              <a:spLocks noChangeArrowheads="1"/>
            </p:cNvSpPr>
            <p:nvPr/>
          </p:nvSpPr>
          <p:spPr bwMode="auto">
            <a:xfrm>
              <a:off x="1882" y="3702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53" name="Rectangle 31"/>
            <p:cNvSpPr>
              <a:spLocks noChangeArrowheads="1"/>
            </p:cNvSpPr>
            <p:nvPr/>
          </p:nvSpPr>
          <p:spPr bwMode="auto">
            <a:xfrm>
              <a:off x="1519" y="3702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54" name="Rectangle 32"/>
            <p:cNvSpPr>
              <a:spLocks noChangeArrowheads="1"/>
            </p:cNvSpPr>
            <p:nvPr/>
          </p:nvSpPr>
          <p:spPr bwMode="auto">
            <a:xfrm>
              <a:off x="1700" y="3702"/>
              <a:ext cx="182" cy="1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5155" name="Line 33"/>
            <p:cNvSpPr>
              <a:spLocks noChangeShapeType="1"/>
            </p:cNvSpPr>
            <p:nvPr/>
          </p:nvSpPr>
          <p:spPr bwMode="auto">
            <a:xfrm>
              <a:off x="1973" y="3521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56" name="Line 34"/>
            <p:cNvSpPr>
              <a:spLocks noChangeShapeType="1"/>
            </p:cNvSpPr>
            <p:nvPr/>
          </p:nvSpPr>
          <p:spPr bwMode="auto">
            <a:xfrm flipV="1">
              <a:off x="793" y="361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5157" name="Text Box 35"/>
            <p:cNvSpPr txBox="1">
              <a:spLocks noChangeArrowheads="1"/>
            </p:cNvSpPr>
            <p:nvPr/>
          </p:nvSpPr>
          <p:spPr bwMode="auto">
            <a:xfrm>
              <a:off x="1429" y="3067"/>
              <a:ext cx="10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ru-RU" altLang="ru-RU" sz="1800"/>
                <a:t>Устройство управления</a:t>
              </a:r>
            </a:p>
          </p:txBody>
        </p:sp>
        <p:sp>
          <p:nvSpPr>
            <p:cNvPr id="5158" name="Text Box 36"/>
            <p:cNvSpPr txBox="1">
              <a:spLocks noChangeArrowheads="1"/>
            </p:cNvSpPr>
            <p:nvPr/>
          </p:nvSpPr>
          <p:spPr bwMode="auto">
            <a:xfrm>
              <a:off x="2245" y="3657"/>
              <a:ext cx="122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ru-RU" altLang="ru-RU" sz="1800" i="1"/>
                <a:t>Магазин</a:t>
              </a:r>
              <a:r>
                <a:rPr lang="ru-RU" altLang="ru-RU" sz="1800"/>
                <a:t>  (</a:t>
              </a:r>
              <a:r>
                <a:rPr lang="ru-RU" altLang="ru-RU" sz="1800" i="1"/>
                <a:t>стек</a:t>
              </a:r>
              <a:r>
                <a:rPr lang="ru-RU" altLang="ru-RU" sz="1800"/>
                <a:t>)</a:t>
              </a:r>
            </a:p>
          </p:txBody>
        </p:sp>
        <p:sp>
          <p:nvSpPr>
            <p:cNvPr id="5159" name="Text Box 37"/>
            <p:cNvSpPr txBox="1">
              <a:spLocks noChangeArrowheads="1"/>
            </p:cNvSpPr>
            <p:nvPr/>
          </p:nvSpPr>
          <p:spPr bwMode="auto">
            <a:xfrm>
              <a:off x="3560" y="2704"/>
              <a:ext cx="1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ru-RU" altLang="ru-RU" sz="1800" i="1"/>
                <a:t>Входная лента</a:t>
              </a:r>
            </a:p>
          </p:txBody>
        </p:sp>
      </p:grpSp>
      <p:sp>
        <p:nvSpPr>
          <p:cNvPr id="5130" name="Rectangle 4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31" name="Object 39"/>
          <p:cNvGraphicFramePr>
            <a:graphicFrameLocks noChangeAspect="1"/>
          </p:cNvGraphicFramePr>
          <p:nvPr/>
        </p:nvGraphicFramePr>
        <p:xfrm>
          <a:off x="3924300" y="2097088"/>
          <a:ext cx="10080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Формула" r:id="rId7" imgW="431613" imgH="203112" progId="Equation.3">
                  <p:embed/>
                </p:oleObj>
              </mc:Choice>
              <mc:Fallback>
                <p:oleObj name="Формула" r:id="rId7" imgW="431613" imgH="203112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097088"/>
                        <a:ext cx="1008063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229600" cy="60483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Действие в правиле перехода определяется входным символом, верхним символом магазина и текущим состоянием. Действие может содержать в различных сочетаниях такие шаги: а) удаление из магазина верхнего символа, б) запись в магазин нескольких символов, в) переход к чтению следующего входного символа, г) изменение текущего состояния.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Запись правила перехода в виде: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(</a:t>
            </a:r>
            <a:r>
              <a:rPr lang="en-US" altLang="ru-RU" sz="2200" i="1" smtClean="0">
                <a:latin typeface="Times New Roman" pitchFamily="18" charset="0"/>
              </a:rPr>
              <a:t>a</a:t>
            </a:r>
            <a:r>
              <a:rPr lang="ru-RU" altLang="ru-RU" sz="2200" smtClean="0">
                <a:latin typeface="Times New Roman" pitchFamily="18" charset="0"/>
              </a:rPr>
              <a:t>, </a:t>
            </a:r>
            <a:r>
              <a:rPr lang="en-US" altLang="ru-RU" sz="2200" i="1" smtClean="0">
                <a:latin typeface="Times New Roman" pitchFamily="18" charset="0"/>
              </a:rPr>
              <a:t>B</a:t>
            </a:r>
            <a:r>
              <a:rPr lang="ru-RU" altLang="ru-RU" sz="2200" smtClean="0">
                <a:latin typeface="Times New Roman" pitchFamily="18" charset="0"/>
              </a:rPr>
              <a:t>, </a:t>
            </a:r>
            <a:r>
              <a:rPr lang="en-US" altLang="ru-RU" sz="2200" i="1" smtClean="0">
                <a:latin typeface="Times New Roman" pitchFamily="18" charset="0"/>
              </a:rPr>
              <a:t>q</a:t>
            </a:r>
            <a:r>
              <a:rPr lang="en-US" altLang="ru-RU" sz="2200" i="1" baseline="-25000" smtClean="0">
                <a:latin typeface="Times New Roman" pitchFamily="18" charset="0"/>
              </a:rPr>
              <a:t>j</a:t>
            </a:r>
            <a:r>
              <a:rPr lang="ru-RU" altLang="ru-RU" sz="2200" smtClean="0">
                <a:latin typeface="Times New Roman" pitchFamily="18" charset="0"/>
              </a:rPr>
              <a:t>)</a:t>
            </a:r>
            <a:r>
              <a:rPr lang="en-US" altLang="ru-RU" sz="2200" smtClean="0">
                <a:latin typeface="Times New Roman" pitchFamily="18" charset="0"/>
              </a:rPr>
              <a:t> </a:t>
            </a:r>
            <a:r>
              <a:rPr lang="ru-RU" altLang="ru-RU" sz="2200" smtClean="0">
                <a:latin typeface="Times New Roman" pitchFamily="18" charset="0"/>
              </a:rPr>
              <a:t>→</a:t>
            </a:r>
            <a:r>
              <a:rPr lang="en-US" altLang="ru-RU" sz="2200" smtClean="0">
                <a:latin typeface="Times New Roman" pitchFamily="18" charset="0"/>
              </a:rPr>
              <a:t> </a:t>
            </a:r>
            <a:r>
              <a:rPr lang="ru-RU" altLang="ru-RU" sz="2200" smtClean="0">
                <a:latin typeface="Times New Roman" pitchFamily="18" charset="0"/>
              </a:rPr>
              <a:t>(</a:t>
            </a:r>
            <a:r>
              <a:rPr lang="en-US" altLang="ru-RU" sz="2200" smtClean="0">
                <a:latin typeface="Times New Roman" pitchFamily="18" charset="0"/>
              </a:rPr>
              <a:t>λ</a:t>
            </a:r>
            <a:r>
              <a:rPr lang="ru-RU" altLang="ru-RU" sz="2200" smtClean="0">
                <a:latin typeface="Times New Roman" pitchFamily="18" charset="0"/>
              </a:rPr>
              <a:t>, </a:t>
            </a:r>
            <a:r>
              <a:rPr lang="en-US" altLang="ru-RU" sz="2200" smtClean="0">
                <a:latin typeface="Times New Roman" pitchFamily="18" charset="0"/>
              </a:rPr>
              <a:t>γ</a:t>
            </a:r>
            <a:r>
              <a:rPr lang="en-US" altLang="ru-RU" sz="2200" i="1" smtClean="0">
                <a:latin typeface="Times New Roman" pitchFamily="18" charset="0"/>
              </a:rPr>
              <a:t>B</a:t>
            </a:r>
            <a:r>
              <a:rPr lang="ru-RU" altLang="ru-RU" sz="2200" smtClean="0">
                <a:latin typeface="Times New Roman" pitchFamily="18" charset="0"/>
              </a:rPr>
              <a:t>, </a:t>
            </a:r>
            <a:r>
              <a:rPr lang="en-US" altLang="ru-RU" sz="2200" i="1" smtClean="0">
                <a:latin typeface="Times New Roman" pitchFamily="18" charset="0"/>
              </a:rPr>
              <a:t>q</a:t>
            </a:r>
            <a:r>
              <a:rPr lang="en-US" altLang="ru-RU" sz="2200" i="1" baseline="-25000" smtClean="0">
                <a:latin typeface="Times New Roman" pitchFamily="18" charset="0"/>
              </a:rPr>
              <a:t>j</a:t>
            </a:r>
            <a:r>
              <a:rPr lang="ru-RU" altLang="ru-RU" sz="2200" smtClean="0">
                <a:latin typeface="Times New Roman" pitchFamily="18" charset="0"/>
              </a:rPr>
              <a:t>),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где                                    , символ</a:t>
            </a:r>
            <a:r>
              <a:rPr lang="ru-RU" altLang="ru-RU" sz="2200" i="1" smtClean="0">
                <a:latin typeface="Times New Roman" pitchFamily="18" charset="0"/>
              </a:rPr>
              <a:t> </a:t>
            </a:r>
            <a:r>
              <a:rPr lang="en-US" altLang="ru-RU" sz="2200" i="1" smtClean="0">
                <a:latin typeface="Times New Roman" pitchFamily="18" charset="0"/>
              </a:rPr>
              <a:t>B</a:t>
            </a:r>
            <a:r>
              <a:rPr lang="en-US" altLang="ru-RU" sz="2200" smtClean="0">
                <a:latin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и символы из цепочки </a:t>
            </a:r>
            <a:r>
              <a:rPr lang="en-US" altLang="ru-RU" sz="2200" smtClean="0">
                <a:latin typeface="Times New Roman" pitchFamily="18" charset="0"/>
              </a:rPr>
              <a:t>γ </a:t>
            </a:r>
            <a:r>
              <a:rPr lang="ru-RU" altLang="ru-RU" sz="2200" smtClean="0">
                <a:latin typeface="Times New Roman" pitchFamily="18" charset="0"/>
              </a:rPr>
              <a:t>все принадлежат алфавиту Γ, означает, что в магазин, содержащий верхний символ </a:t>
            </a:r>
            <a:r>
              <a:rPr lang="pt-BR" altLang="ru-RU" sz="2200" i="1" smtClean="0">
                <a:latin typeface="Times New Roman" pitchFamily="18" charset="0"/>
              </a:rPr>
              <a:t>B</a:t>
            </a:r>
            <a:r>
              <a:rPr lang="ru-RU" altLang="ru-RU" sz="2200" smtClean="0">
                <a:latin typeface="Times New Roman" pitchFamily="18" charset="0"/>
              </a:rPr>
              <a:t>, записывается цепочка символов </a:t>
            </a:r>
            <a:r>
              <a:rPr lang="en-US" altLang="ru-RU" sz="2200" smtClean="0">
                <a:latin typeface="Times New Roman" pitchFamily="18" charset="0"/>
              </a:rPr>
              <a:t>γ</a:t>
            </a:r>
            <a:r>
              <a:rPr lang="ru-RU" altLang="ru-RU" sz="2200" smtClean="0">
                <a:latin typeface="Times New Roman" pitchFamily="18" charset="0"/>
              </a:rPr>
              <a:t>, текущее состояние становится </a:t>
            </a:r>
            <a:r>
              <a:rPr lang="en-US" altLang="ru-RU" sz="2200" i="1" smtClean="0">
                <a:latin typeface="Times New Roman" pitchFamily="18" charset="0"/>
              </a:rPr>
              <a:t>q</a:t>
            </a:r>
            <a:r>
              <a:rPr lang="en-US" altLang="ru-RU" sz="2200" i="1" baseline="-25000" smtClean="0">
                <a:latin typeface="Times New Roman" pitchFamily="18" charset="0"/>
              </a:rPr>
              <a:t>j</a:t>
            </a:r>
            <a:r>
              <a:rPr lang="ru-RU" altLang="ru-RU" sz="2200" i="1" smtClean="0">
                <a:latin typeface="Times New Roman" pitchFamily="18" charset="0"/>
              </a:rPr>
              <a:t> </a:t>
            </a:r>
            <a:r>
              <a:rPr lang="ru-RU" altLang="ru-RU" sz="2200" smtClean="0">
                <a:latin typeface="Times New Roman" pitchFamily="18" charset="0"/>
              </a:rPr>
              <a:t>, после чего делается переход к чтению следующего входного символа. Правило: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(</a:t>
            </a:r>
            <a:r>
              <a:rPr lang="pt-BR" altLang="ru-RU" sz="2200" i="1" smtClean="0">
                <a:latin typeface="Times New Roman" pitchFamily="18" charset="0"/>
              </a:rPr>
              <a:t>a</a:t>
            </a:r>
            <a:r>
              <a:rPr lang="ru-RU" altLang="ru-RU" sz="2200" smtClean="0">
                <a:latin typeface="Times New Roman" pitchFamily="18" charset="0"/>
              </a:rPr>
              <a:t>, </a:t>
            </a:r>
            <a:r>
              <a:rPr lang="pt-BR" altLang="ru-RU" sz="2200" i="1" smtClean="0">
                <a:latin typeface="Times New Roman" pitchFamily="18" charset="0"/>
              </a:rPr>
              <a:t>B</a:t>
            </a:r>
            <a:r>
              <a:rPr lang="ru-RU" altLang="ru-RU" sz="2200" smtClean="0">
                <a:latin typeface="Times New Roman" pitchFamily="18" charset="0"/>
              </a:rPr>
              <a:t>, </a:t>
            </a:r>
            <a:r>
              <a:rPr lang="en-US" altLang="ru-RU" sz="2200" i="1" smtClean="0">
                <a:latin typeface="Times New Roman" pitchFamily="18" charset="0"/>
              </a:rPr>
              <a:t>q</a:t>
            </a:r>
            <a:r>
              <a:rPr lang="ru-RU" altLang="ru-RU" sz="2200" i="1" baseline="-25000" smtClean="0">
                <a:latin typeface="Times New Roman" pitchFamily="18" charset="0"/>
              </a:rPr>
              <a:t>i</a:t>
            </a:r>
            <a:r>
              <a:rPr lang="ru-RU" altLang="ru-RU" sz="2200" smtClean="0">
                <a:latin typeface="Times New Roman" pitchFamily="18" charset="0"/>
              </a:rPr>
              <a:t>)</a:t>
            </a:r>
            <a:r>
              <a:rPr lang="pt-BR" altLang="ru-RU" sz="2200" smtClean="0">
                <a:latin typeface="Times New Roman" pitchFamily="18" charset="0"/>
              </a:rPr>
              <a:t> </a:t>
            </a:r>
            <a:r>
              <a:rPr lang="ru-RU" altLang="ru-RU" sz="2200" smtClean="0">
                <a:latin typeface="Times New Roman" pitchFamily="18" charset="0"/>
              </a:rPr>
              <a:t>→</a:t>
            </a:r>
            <a:r>
              <a:rPr lang="pt-BR" altLang="ru-RU" sz="2200" smtClean="0">
                <a:latin typeface="Times New Roman" pitchFamily="18" charset="0"/>
              </a:rPr>
              <a:t> </a:t>
            </a:r>
            <a:r>
              <a:rPr lang="ru-RU" altLang="ru-RU" sz="2200" smtClean="0">
                <a:latin typeface="Times New Roman" pitchFamily="18" charset="0"/>
              </a:rPr>
              <a:t>(</a:t>
            </a:r>
            <a:r>
              <a:rPr lang="pt-BR" altLang="ru-RU" sz="2200" i="1" smtClean="0">
                <a:latin typeface="Times New Roman" pitchFamily="18" charset="0"/>
              </a:rPr>
              <a:t>a</a:t>
            </a:r>
            <a:r>
              <a:rPr lang="ru-RU" altLang="ru-RU" sz="2200" smtClean="0">
                <a:latin typeface="Times New Roman" pitchFamily="18" charset="0"/>
              </a:rPr>
              <a:t>, </a:t>
            </a:r>
            <a:r>
              <a:rPr lang="en-US" altLang="ru-RU" sz="2200" smtClean="0">
                <a:latin typeface="Times New Roman" pitchFamily="18" charset="0"/>
              </a:rPr>
              <a:t>λ</a:t>
            </a:r>
            <a:r>
              <a:rPr lang="ru-RU" altLang="ru-RU" sz="2200" smtClean="0">
                <a:latin typeface="Times New Roman" pitchFamily="18" charset="0"/>
              </a:rPr>
              <a:t>, </a:t>
            </a:r>
            <a:r>
              <a:rPr lang="en-US" altLang="ru-RU" sz="2200" i="1" smtClean="0">
                <a:latin typeface="Times New Roman" pitchFamily="18" charset="0"/>
              </a:rPr>
              <a:t>q</a:t>
            </a:r>
            <a:r>
              <a:rPr lang="en-US" altLang="ru-RU" sz="2200" i="1" baseline="-25000" smtClean="0">
                <a:latin typeface="Times New Roman" pitchFamily="18" charset="0"/>
              </a:rPr>
              <a:t>j</a:t>
            </a:r>
            <a:r>
              <a:rPr lang="ru-RU" altLang="ru-RU" sz="2200" smtClean="0">
                <a:latin typeface="Times New Roman" pitchFamily="18" charset="0"/>
              </a:rPr>
              <a:t>),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означает, что из магазина удаляется верхний символ </a:t>
            </a:r>
            <a:r>
              <a:rPr lang="pt-BR" altLang="ru-RU" sz="2200" i="1" smtClean="0">
                <a:latin typeface="Times New Roman" pitchFamily="18" charset="0"/>
              </a:rPr>
              <a:t>B</a:t>
            </a:r>
            <a:r>
              <a:rPr lang="ru-RU" altLang="ru-RU" sz="2200" smtClean="0">
                <a:latin typeface="Times New Roman" pitchFamily="18" charset="0"/>
              </a:rPr>
              <a:t>, текущее состояние становится </a:t>
            </a:r>
            <a:r>
              <a:rPr lang="en-US" altLang="ru-RU" sz="2200" i="1" smtClean="0">
                <a:latin typeface="Times New Roman" pitchFamily="18" charset="0"/>
              </a:rPr>
              <a:t>q</a:t>
            </a:r>
            <a:r>
              <a:rPr lang="en-US" altLang="ru-RU" sz="2200" i="1" baseline="-25000" smtClean="0">
                <a:latin typeface="Times New Roman" pitchFamily="18" charset="0"/>
              </a:rPr>
              <a:t>j</a:t>
            </a:r>
            <a:r>
              <a:rPr lang="ru-RU" altLang="ru-RU" sz="2200" i="1" smtClean="0">
                <a:latin typeface="Times New Roman" pitchFamily="18" charset="0"/>
              </a:rPr>
              <a:t> </a:t>
            </a:r>
            <a:r>
              <a:rPr lang="ru-RU" altLang="ru-RU" sz="2200" smtClean="0">
                <a:latin typeface="Times New Roman" pitchFamily="18" charset="0"/>
              </a:rPr>
              <a:t>, переход к чтению следующего входного символа не производится.</a:t>
            </a:r>
          </a:p>
        </p:txBody>
      </p:sp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6149" name="Object 4"/>
          <p:cNvGraphicFramePr>
            <a:graphicFrameLocks noChangeAspect="1"/>
          </p:cNvGraphicFramePr>
          <p:nvPr/>
        </p:nvGraphicFramePr>
        <p:xfrm>
          <a:off x="971550" y="3141663"/>
          <a:ext cx="251936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Формула" r:id="rId3" imgW="1701800" imgH="266700" progId="Equation.3">
                  <p:embed/>
                </p:oleObj>
              </mc:Choice>
              <mc:Fallback>
                <p:oleObj name="Формула" r:id="rId3" imgW="1701800" imgH="266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141663"/>
                        <a:ext cx="251936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20CAA6D-5C80-49FB-A0E4-8DC07F2C53B2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74637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507413" cy="6192837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До начала функционирования МПА в магазине имеется начальный магазинный символ, МПА находится в начальном состоянии.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На каждом шаге работы читается очередной символ входной цепочки, начиная с первого, читается верхний символ магазина, и выполняются действия по такому правилу перехода, которое соответствует этим символам и текущему состоянию.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Работа МПА заканчивается, когда не будет ни одного подходящего правила, чтобы можно было продолжать работу.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Если при этом выполнены три условия: цепочка прочитана вся, магазин пуст, МПА находится в заключительном состоянии, то цепочка считается распознанной.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Если же хотя бы одно из этих условий нарушено, цепочка считается нераспознанной. Цепочка считается нераспознанной и в том случае, если МПА никак не может остановиться, т.е. когда он зациклил, и нет продвижения по входной цепочке.</a:t>
            </a:r>
          </a:p>
        </p:txBody>
      </p:sp>
      <p:sp>
        <p:nvSpPr>
          <p:cNvPr id="7172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D6C7030-1330-4CD1-A052-3DC8FAD46CA4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229600" cy="6119812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smtClean="0"/>
              <a:t>МПА будет детерминированным (ДМПА), если на каждом шаге возможно применение не более одного правила перехода. </a:t>
            </a:r>
          </a:p>
          <a:p>
            <a:pPr>
              <a:buFontTx/>
              <a:buNone/>
            </a:pPr>
            <a:r>
              <a:rPr lang="ru-RU" altLang="ru-RU" sz="2400" smtClean="0"/>
              <a:t>Если же на каком-либо шаге можно выполнить действия по двум или более правилам перехода, то МПА будет недетерминированным (НМПА), тогда он должен выполнять действия в соответствии со всеми этими правилами параллельно и независимо, создавая собственные копии. </a:t>
            </a:r>
          </a:p>
          <a:p>
            <a:pPr>
              <a:buFontTx/>
              <a:buNone/>
            </a:pPr>
            <a:endParaRPr lang="ru-RU" altLang="ru-RU" sz="1000" smtClean="0"/>
          </a:p>
          <a:p>
            <a:pPr>
              <a:buFontTx/>
              <a:buNone/>
            </a:pPr>
            <a:r>
              <a:rPr lang="ru-RU" altLang="ru-RU" sz="2400" smtClean="0"/>
              <a:t>Если хотя бы одна из копий НМПА </a:t>
            </a:r>
            <a:r>
              <a:rPr lang="ru-RU" altLang="ru-RU" sz="2400" b="1" i="1" smtClean="0"/>
              <a:t>распознает</a:t>
            </a:r>
            <a:r>
              <a:rPr lang="ru-RU" altLang="ru-RU" sz="2400" smtClean="0"/>
              <a:t> входную цепочку, то считается, что входная цепочка </a:t>
            </a:r>
            <a:r>
              <a:rPr lang="ru-RU" altLang="ru-RU" sz="2400" b="1" i="1" smtClean="0"/>
              <a:t>распознана </a:t>
            </a:r>
            <a:r>
              <a:rPr lang="ru-RU" altLang="ru-RU" sz="2400" smtClean="0"/>
              <a:t>недетерминированным МПА. </a:t>
            </a:r>
          </a:p>
          <a:p>
            <a:pPr>
              <a:buFontTx/>
              <a:buNone/>
            </a:pPr>
            <a:endParaRPr lang="ru-RU" altLang="ru-RU" sz="1000" smtClean="0"/>
          </a:p>
          <a:p>
            <a:pPr>
              <a:buFontTx/>
              <a:buNone/>
            </a:pPr>
            <a:r>
              <a:rPr lang="ru-RU" altLang="ru-RU" sz="2400" smtClean="0"/>
              <a:t>Входная цепочка считается </a:t>
            </a:r>
            <a:r>
              <a:rPr lang="ru-RU" altLang="ru-RU" sz="2400" b="1" i="1" smtClean="0"/>
              <a:t>нераспознанной</a:t>
            </a:r>
            <a:r>
              <a:rPr lang="ru-RU" altLang="ru-RU" sz="2400" smtClean="0"/>
              <a:t>, если ни одна из копий НМПА </a:t>
            </a:r>
            <a:r>
              <a:rPr lang="ru-RU" altLang="ru-RU" sz="2400" b="1" i="1" smtClean="0"/>
              <a:t>не распознала</a:t>
            </a:r>
            <a:r>
              <a:rPr lang="ru-RU" altLang="ru-RU" sz="2400" smtClean="0"/>
              <a:t> цепочку. </a:t>
            </a:r>
          </a:p>
        </p:txBody>
      </p:sp>
      <p:sp>
        <p:nvSpPr>
          <p:cNvPr id="819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B0BBBAD-C683-4FC8-8D1A-9D4C2D831DB6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r>
              <a:rPr lang="en-US" altLang="ru-RU" sz="3200" b="1" smtClean="0">
                <a:solidFill>
                  <a:schemeClr val="accent2"/>
                </a:solidFill>
              </a:rPr>
              <a:t>LL</a:t>
            </a:r>
            <a:r>
              <a:rPr lang="ru-RU" altLang="ru-RU" sz="3200" b="1" smtClean="0">
                <a:solidFill>
                  <a:schemeClr val="accent2"/>
                </a:solidFill>
              </a:rPr>
              <a:t>-анализ КС-грамматики автоматом с магазинной памятью</a:t>
            </a:r>
            <a:r>
              <a:rPr lang="ru-RU" altLang="ru-RU" sz="4000" smtClean="0"/>
              <a:t>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511175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LL</a:t>
            </a:r>
            <a:r>
              <a:rPr lang="ru-RU" altLang="ru-RU" sz="2400" smtClean="0">
                <a:latin typeface="Times New Roman" pitchFamily="18" charset="0"/>
              </a:rPr>
              <a:t>-анализ – цепочка символов читается слева направо, дерево порождения неявно строится, как при левом каноническом порождении.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Пусть задана КС-грамматика. Построим по ней МПА, выполняющий синтаксический </a:t>
            </a:r>
            <a:r>
              <a:rPr lang="en-US" altLang="ru-RU" sz="2400" smtClean="0">
                <a:latin typeface="Times New Roman" pitchFamily="18" charset="0"/>
              </a:rPr>
              <a:t>LL</a:t>
            </a:r>
            <a:r>
              <a:rPr lang="ru-RU" altLang="ru-RU" sz="2400" smtClean="0">
                <a:latin typeface="Times New Roman" pitchFamily="18" charset="0"/>
              </a:rPr>
              <a:t>-анализ.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Множество входных символов Σ в МПА будет совпадать с множеством терминальных символов грамматики.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Множество состояний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smtClean="0">
                <a:latin typeface="Times New Roman" pitchFamily="18" charset="0"/>
              </a:rPr>
              <a:t> будет состоять из единственного состояния </a:t>
            </a:r>
            <a:r>
              <a:rPr lang="en-US" altLang="ru-RU" sz="2400" i="1" smtClean="0">
                <a:latin typeface="Times New Roman" pitchFamily="18" charset="0"/>
              </a:rPr>
              <a:t>q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, оно же будет начальным и заключительным.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Множество магазинных символов Γ будет содержать все терминальные и нетерминальные символы грамматики: Γ = Σ </a:t>
            </a:r>
            <a:r>
              <a:rPr lang="ru-RU" altLang="ru-RU" sz="2400" smtClean="0"/>
              <a:t>U</a:t>
            </a:r>
            <a:r>
              <a:rPr lang="ru-RU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N</a:t>
            </a:r>
            <a:r>
              <a:rPr lang="ru-RU" altLang="ru-RU" sz="2400" smtClean="0">
                <a:latin typeface="Times New Roman" pitchFamily="18" charset="0"/>
              </a:rPr>
              <a:t>. Начальный магазинный символ </a:t>
            </a:r>
            <a:r>
              <a:rPr lang="en-US" altLang="ru-RU" sz="2400" i="1" smtClean="0">
                <a:latin typeface="Times New Roman" pitchFamily="18" charset="0"/>
              </a:rPr>
              <a:t>Z</a:t>
            </a:r>
            <a:r>
              <a:rPr lang="ru-RU" altLang="ru-RU" sz="2400" baseline="-25000" smtClean="0">
                <a:latin typeface="Times New Roman" pitchFamily="18" charset="0"/>
              </a:rPr>
              <a:t>0</a:t>
            </a:r>
            <a:r>
              <a:rPr lang="ru-RU" altLang="ru-RU" sz="2400" smtClean="0">
                <a:latin typeface="Times New Roman" pitchFamily="18" charset="0"/>
              </a:rPr>
              <a:t> будет совпадать с начальным символом грамматики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. </a:t>
            </a:r>
          </a:p>
        </p:txBody>
      </p:sp>
      <p:sp>
        <p:nvSpPr>
          <p:cNvPr id="922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04E928B-A7E6-46AA-AEFE-0CE7518945D4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725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476250"/>
            <a:ext cx="8362950" cy="638175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Правила перехода δ для МПА задаются следующим образом.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Для каждого порождающего правила вида 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</a:rPr>
              <a:t> → γ соответствует правило перехода: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			(</a:t>
            </a:r>
            <a:r>
              <a:rPr lang="en-US" altLang="ru-RU" sz="2800" smtClean="0">
                <a:latin typeface="Times New Roman" pitchFamily="18" charset="0"/>
              </a:rPr>
              <a:t>λ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ru-RU" altLang="ru-RU" sz="2800" baseline="-25000" smtClean="0">
                <a:latin typeface="Times New Roman" pitchFamily="18" charset="0"/>
              </a:rPr>
              <a:t>0</a:t>
            </a:r>
            <a:r>
              <a:rPr lang="ru-RU" altLang="ru-RU" sz="2800" smtClean="0">
                <a:latin typeface="Times New Roman" pitchFamily="18" charset="0"/>
              </a:rPr>
              <a:t>)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→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(</a:t>
            </a:r>
            <a:r>
              <a:rPr lang="en-US" altLang="ru-RU" sz="2800" smtClean="0">
                <a:latin typeface="Times New Roman" pitchFamily="18" charset="0"/>
              </a:rPr>
              <a:t>λ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smtClean="0">
                <a:latin typeface="Times New Roman" pitchFamily="18" charset="0"/>
              </a:rPr>
              <a:t>γ</a:t>
            </a:r>
            <a:r>
              <a:rPr lang="ru-RU" altLang="ru-RU" sz="2800" baseline="30000" smtClean="0">
                <a:latin typeface="Times New Roman" pitchFamily="18" charset="0"/>
              </a:rPr>
              <a:t>–1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ru-RU" altLang="ru-RU" sz="2800" baseline="-25000" smtClean="0">
                <a:latin typeface="Times New Roman" pitchFamily="18" charset="0"/>
              </a:rPr>
              <a:t>0</a:t>
            </a:r>
            <a:r>
              <a:rPr lang="ru-RU" altLang="ru-RU" sz="2800" smtClean="0">
                <a:latin typeface="Times New Roman" pitchFamily="18" charset="0"/>
              </a:rPr>
              <a:t>),			(*)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где </a:t>
            </a:r>
            <a:r>
              <a:rPr lang="en-US" altLang="ru-RU" sz="2800" smtClean="0">
                <a:latin typeface="Times New Roman" pitchFamily="18" charset="0"/>
              </a:rPr>
              <a:t>γ</a:t>
            </a:r>
            <a:r>
              <a:rPr lang="ru-RU" altLang="ru-RU" sz="2800" baseline="30000" smtClean="0">
                <a:latin typeface="Times New Roman" pitchFamily="18" charset="0"/>
              </a:rPr>
              <a:t>–1</a:t>
            </a:r>
            <a:r>
              <a:rPr lang="ru-RU" altLang="ru-RU" sz="2800" smtClean="0">
                <a:latin typeface="Times New Roman" pitchFamily="18" charset="0"/>
              </a:rPr>
              <a:t> – правая часть правила γ в обратном порядке.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Для каждого терминального символа 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</a:rPr>
              <a:t>правило перехода: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			(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ru-RU" altLang="ru-RU" sz="2800" baseline="-25000" smtClean="0">
                <a:latin typeface="Times New Roman" pitchFamily="18" charset="0"/>
              </a:rPr>
              <a:t>0</a:t>
            </a:r>
            <a:r>
              <a:rPr lang="ru-RU" altLang="ru-RU" sz="2800" smtClean="0">
                <a:latin typeface="Times New Roman" pitchFamily="18" charset="0"/>
              </a:rPr>
              <a:t>)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→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(</a:t>
            </a:r>
            <a:r>
              <a:rPr lang="en-US" altLang="ru-RU" sz="2800" smtClean="0">
                <a:latin typeface="Times New Roman" pitchFamily="18" charset="0"/>
              </a:rPr>
              <a:t>λ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smtClean="0">
                <a:latin typeface="Times New Roman" pitchFamily="18" charset="0"/>
              </a:rPr>
              <a:t>λ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ru-RU" altLang="ru-RU" sz="2800" baseline="-25000" smtClean="0">
                <a:latin typeface="Times New Roman" pitchFamily="18" charset="0"/>
              </a:rPr>
              <a:t>0</a:t>
            </a:r>
            <a:r>
              <a:rPr lang="ru-RU" altLang="ru-RU" sz="2800" smtClean="0">
                <a:latin typeface="Times New Roman" pitchFamily="18" charset="0"/>
              </a:rPr>
              <a:t>). 			(**)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Этот МПА будет повторять левое каноническое порождение.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В общем случае МПА будет недетерминированным, и будет пытаться строить все варианты левого канонического порождения.  </a:t>
            </a:r>
          </a:p>
        </p:txBody>
      </p:sp>
      <p:sp>
        <p:nvSpPr>
          <p:cNvPr id="10244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1DAF239-DCBA-4E9A-AAB8-E5D739562F6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/>
          <p:cNvSpPr>
            <a:spLocks noGrp="1"/>
          </p:cNvSpPr>
          <p:nvPr>
            <p:ph type="title"/>
          </p:nvPr>
        </p:nvSpPr>
        <p:spPr>
          <a:xfrm>
            <a:off x="468313" y="476250"/>
            <a:ext cx="8229600" cy="936625"/>
          </a:xfrm>
        </p:spPr>
        <p:txBody>
          <a:bodyPr/>
          <a:lstStyle/>
          <a:p>
            <a:pPr algn="l"/>
            <a:r>
              <a:rPr lang="ru-RU" altLang="ru-RU" sz="3600" smtClean="0"/>
              <a:t>Теорема.</a:t>
            </a:r>
          </a:p>
        </p:txBody>
      </p:sp>
      <p:sp>
        <p:nvSpPr>
          <p:cNvPr id="11267" name="Объект 2"/>
          <p:cNvSpPr>
            <a:spLocks noGrp="1"/>
          </p:cNvSpPr>
          <p:nvPr>
            <p:ph idx="1"/>
          </p:nvPr>
        </p:nvSpPr>
        <p:spPr>
          <a:xfrm>
            <a:off x="457200" y="1700213"/>
            <a:ext cx="8229600" cy="442595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800" smtClean="0">
                <a:solidFill>
                  <a:schemeClr val="accent2"/>
                </a:solidFill>
              </a:rPr>
              <a:t>НМПА, реализующий </a:t>
            </a:r>
            <a:r>
              <a:rPr lang="en-US" altLang="ru-RU" sz="2800" smtClean="0">
                <a:solidFill>
                  <a:schemeClr val="accent2"/>
                </a:solidFill>
              </a:rPr>
              <a:t>LL</a:t>
            </a:r>
            <a:r>
              <a:rPr lang="ru-RU" altLang="ru-RU" sz="2800" smtClean="0">
                <a:solidFill>
                  <a:schemeClr val="accent2"/>
                </a:solidFill>
              </a:rPr>
              <a:t>-анализ  некоторой КС-грамматики, допускает входную цепочку тогда и только тогда, когда цепочка порождается этой КС-грамматикой.</a:t>
            </a:r>
          </a:p>
          <a:p>
            <a:pPr marL="0" indent="0">
              <a:buFontTx/>
              <a:buNone/>
            </a:pPr>
            <a:endParaRPr lang="ru-RU" altLang="ru-RU" sz="2800" smtClean="0">
              <a:solidFill>
                <a:schemeClr val="accent2"/>
              </a:solidFill>
            </a:endParaRPr>
          </a:p>
          <a:p>
            <a:pPr marL="0" indent="0">
              <a:buFontTx/>
              <a:buNone/>
            </a:pPr>
            <a:r>
              <a:rPr lang="ru-RU" altLang="ru-RU" sz="2800" i="1" smtClean="0"/>
              <a:t>Доказательство – методом от «противного» для двух случаев, когда входная цепочка порождается, и когда цепочка не порождается этой КС-грамматикой.</a:t>
            </a:r>
            <a:r>
              <a:rPr lang="ru-RU" altLang="ru-RU" smtClean="0"/>
              <a:t> </a:t>
            </a:r>
            <a:r>
              <a:rPr lang="ru-RU" altLang="ru-RU" sz="2800" i="1" smtClean="0"/>
              <a:t> </a:t>
            </a:r>
          </a:p>
        </p:txBody>
      </p:sp>
      <p:sp>
        <p:nvSpPr>
          <p:cNvPr id="11268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0B11E1B-7889-461B-BDB8-06172C1F2E12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ru-RU" altLang="ru-RU" sz="140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Пример. </a:t>
            </a:r>
            <a:r>
              <a:rPr lang="ru-RU" altLang="ru-RU" sz="2400" smtClean="0">
                <a:latin typeface="Times New Roman" pitchFamily="18" charset="0"/>
              </a:rPr>
              <a:t>Грамматика простых арифметических выражений (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 – начальный нетерминал, знаки + , * , скобки, переменная </a:t>
            </a:r>
            <a:r>
              <a:rPr lang="ru-RU" altLang="ru-RU" sz="2400" i="1" smtClean="0">
                <a:latin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</a:rPr>
              <a:t> – терминалы):</a:t>
            </a:r>
            <a:endParaRPr lang="en-US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 → </a:t>
            </a:r>
            <a:r>
              <a:rPr lang="en-US" altLang="ru-RU" sz="2400" i="1" smtClean="0">
                <a:latin typeface="Times New Roman" pitchFamily="18" charset="0"/>
              </a:rPr>
              <a:t>S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 → </a:t>
            </a:r>
            <a:r>
              <a:rPr lang="en-US" altLang="ru-RU" sz="2400" i="1" smtClean="0">
                <a:latin typeface="Times New Roman" pitchFamily="18" charset="0"/>
              </a:rPr>
              <a:t>T </a:t>
            </a:r>
            <a:r>
              <a:rPr lang="en-US" altLang="ru-RU" sz="2400" smtClean="0">
                <a:latin typeface="Times New Roman" pitchFamily="18" charset="0"/>
              </a:rPr>
              <a:t>* 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en-US" altLang="ru-RU" sz="2400" smtClean="0">
                <a:latin typeface="Times New Roman" pitchFamily="18" charset="0"/>
              </a:rPr>
              <a:t> | 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en-US" altLang="ru-RU" sz="2400" smtClean="0">
                <a:latin typeface="Times New Roman" pitchFamily="18" charset="0"/>
              </a:rPr>
              <a:t> → (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) | 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endParaRPr lang="ru-RU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Вертикальная черта разделяет различные правые части для одного и того же нетерминала в левой части для группы правил.</a:t>
            </a:r>
            <a:endParaRPr lang="en-US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Эта грамматика задает более высокий приоритет для операции * (умножение) и более низкий для операции + (сложение).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Пусть цепочка на входе: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a * a</a:t>
            </a:r>
            <a:r>
              <a:rPr lang="ru-RU" altLang="ru-RU" sz="2400" smtClean="0">
                <a:latin typeface="Times New Roman" pitchFamily="18" charset="0"/>
              </a:rPr>
              <a:t>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 таблице представлен тот </a:t>
            </a:r>
            <a:r>
              <a:rPr lang="ru-RU" altLang="ru-RU" sz="2400" i="1" smtClean="0">
                <a:latin typeface="Times New Roman" pitchFamily="18" charset="0"/>
              </a:rPr>
              <a:t>единственный</a:t>
            </a:r>
            <a:r>
              <a:rPr lang="ru-RU" altLang="ru-RU" sz="2400" smtClean="0">
                <a:latin typeface="Times New Roman" pitchFamily="18" charset="0"/>
              </a:rPr>
              <a:t> вариант шагов   </a:t>
            </a:r>
            <a:r>
              <a:rPr lang="en-US" altLang="ru-RU" sz="2400" smtClean="0">
                <a:latin typeface="Times New Roman" pitchFamily="18" charset="0"/>
              </a:rPr>
              <a:t>LL</a:t>
            </a:r>
            <a:r>
              <a:rPr lang="ru-RU" altLang="ru-RU" sz="2400" smtClean="0">
                <a:latin typeface="Times New Roman" pitchFamily="18" charset="0"/>
              </a:rPr>
              <a:t>-анализа, который приводит к успешному распознаванию.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Всех других возможных (</a:t>
            </a:r>
            <a:r>
              <a:rPr lang="ru-RU" altLang="ru-RU" sz="2400" b="1" i="1" smtClean="0">
                <a:latin typeface="Times New Roman" pitchFamily="18" charset="0"/>
              </a:rPr>
              <a:t>бесполезных</a:t>
            </a:r>
            <a:r>
              <a:rPr lang="ru-RU" altLang="ru-RU" sz="2400" smtClean="0">
                <a:latin typeface="Times New Roman" pitchFamily="18" charset="0"/>
              </a:rPr>
              <a:t>) вариантов – бесконечно много!</a:t>
            </a:r>
          </a:p>
        </p:txBody>
      </p:sp>
      <p:sp>
        <p:nvSpPr>
          <p:cNvPr id="12292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39E6084-8D78-44D7-B808-BC3ED4BCCE39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7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endParaRPr lang="ru-RU" altLang="ru-RU" sz="4000" smtClean="0"/>
          </a:p>
        </p:txBody>
      </p:sp>
      <p:graphicFrame>
        <p:nvGraphicFramePr>
          <p:cNvPr id="10366" name="Group 126"/>
          <p:cNvGraphicFramePr>
            <a:graphicFrameLocks noGrp="1"/>
          </p:cNvGraphicFramePr>
          <p:nvPr>
            <p:ph idx="1"/>
          </p:nvPr>
        </p:nvGraphicFramePr>
        <p:xfrm>
          <a:off x="395288" y="188913"/>
          <a:ext cx="7993062" cy="6438906"/>
        </p:xfrm>
        <a:graphic>
          <a:graphicData uri="http://schemas.openxmlformats.org/drawingml/2006/table">
            <a:tbl>
              <a:tblPr/>
              <a:tblGrid>
                <a:gridCol w="1295388"/>
                <a:gridCol w="1945190"/>
                <a:gridCol w="2376242"/>
                <a:gridCol w="2376242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№ шага 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Вход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Магазин 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Правило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 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 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 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 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 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 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 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 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397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6875463" y="6237288"/>
            <a:ext cx="2133600" cy="476250"/>
          </a:xfr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EBEEDEC-304E-447C-8D67-854844CFA9D9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r>
              <a:rPr lang="ru-RU" altLang="ru-RU" sz="2800" smtClean="0">
                <a:latin typeface="Times New Roman" pitchFamily="18" charset="0"/>
              </a:rPr>
              <a:t>На рисунке изображено </a:t>
            </a:r>
            <a:r>
              <a:rPr lang="ru-RU" altLang="ru-RU" sz="2800" b="1" i="1" smtClean="0">
                <a:latin typeface="Times New Roman" pitchFamily="18" charset="0"/>
              </a:rPr>
              <a:t>неявно строящееся </a:t>
            </a:r>
            <a:r>
              <a:rPr lang="ru-RU" altLang="ru-RU" sz="2800" smtClean="0">
                <a:latin typeface="Times New Roman" pitchFamily="18" charset="0"/>
              </a:rPr>
              <a:t>при анализе дерево порождения  цепочки: 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+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a * a</a:t>
            </a:r>
            <a:r>
              <a:rPr lang="ru-RU" altLang="ru-RU" sz="2800" smtClean="0">
                <a:latin typeface="Times New Roman" pitchFamily="18" charset="0"/>
              </a:rPr>
              <a:t>.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44675"/>
            <a:ext cx="8229600" cy="4281488"/>
          </a:xfrm>
        </p:spPr>
        <p:txBody>
          <a:bodyPr/>
          <a:lstStyle/>
          <a:p>
            <a:pPr>
              <a:buFontTx/>
              <a:buNone/>
            </a:pPr>
            <a:endParaRPr lang="ru-RU" altLang="ru-RU" smtClean="0"/>
          </a:p>
        </p:txBody>
      </p:sp>
      <p:grpSp>
        <p:nvGrpSpPr>
          <p:cNvPr id="14340" name="Group 4"/>
          <p:cNvGrpSpPr>
            <a:grpSpLocks noChangeAspect="1"/>
          </p:cNvGrpSpPr>
          <p:nvPr/>
        </p:nvGrpSpPr>
        <p:grpSpPr bwMode="auto">
          <a:xfrm>
            <a:off x="1547813" y="1989138"/>
            <a:ext cx="5616575" cy="3829050"/>
            <a:chOff x="1888" y="5121"/>
            <a:chExt cx="4281" cy="2945"/>
          </a:xfrm>
        </p:grpSpPr>
        <p:sp>
          <p:nvSpPr>
            <p:cNvPr id="14341" name="AutoShape 5"/>
            <p:cNvSpPr>
              <a:spLocks noChangeAspect="1" noChangeArrowheads="1"/>
            </p:cNvSpPr>
            <p:nvPr/>
          </p:nvSpPr>
          <p:spPr bwMode="auto">
            <a:xfrm>
              <a:off x="1888" y="5121"/>
              <a:ext cx="4281" cy="2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3640" y="5121"/>
              <a:ext cx="389" cy="393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grpSp>
          <p:nvGrpSpPr>
            <p:cNvPr id="14343" name="Group 7"/>
            <p:cNvGrpSpPr>
              <a:grpSpLocks/>
            </p:cNvGrpSpPr>
            <p:nvPr/>
          </p:nvGrpSpPr>
          <p:grpSpPr bwMode="auto">
            <a:xfrm>
              <a:off x="2277" y="5121"/>
              <a:ext cx="3698" cy="2749"/>
              <a:chOff x="2277" y="5121"/>
              <a:chExt cx="3698" cy="2749"/>
            </a:xfrm>
          </p:grpSpPr>
          <p:sp>
            <p:nvSpPr>
              <p:cNvPr id="14344" name="Text Box 8"/>
              <p:cNvSpPr txBox="1">
                <a:spLocks noChangeArrowheads="1"/>
              </p:cNvSpPr>
              <p:nvPr/>
            </p:nvSpPr>
            <p:spPr bwMode="auto">
              <a:xfrm>
                <a:off x="3640" y="5121"/>
                <a:ext cx="389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ru-RU" altLang="ru-RU" sz="2400" i="1">
                    <a:latin typeface="Times New Roman" pitchFamily="18" charset="0"/>
                  </a:rPr>
                  <a:t> </a:t>
                </a:r>
                <a:r>
                  <a:rPr lang="en-US" altLang="ru-RU" sz="2400" i="1">
                    <a:latin typeface="Times New Roman" pitchFamily="18" charset="0"/>
                  </a:rPr>
                  <a:t>S</a:t>
                </a: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345" name="Text Box 9"/>
              <p:cNvSpPr txBox="1">
                <a:spLocks noChangeArrowheads="1"/>
              </p:cNvSpPr>
              <p:nvPr/>
            </p:nvSpPr>
            <p:spPr bwMode="auto">
              <a:xfrm>
                <a:off x="3640" y="5710"/>
                <a:ext cx="389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ru-RU" altLang="ru-RU" sz="2400">
                    <a:latin typeface="Times New Roman" pitchFamily="18" charset="0"/>
                  </a:rPr>
                  <a:t> </a:t>
                </a:r>
                <a:r>
                  <a:rPr lang="en-US" altLang="ru-RU" sz="2400">
                    <a:latin typeface="Times New Roman" pitchFamily="18" charset="0"/>
                  </a:rPr>
                  <a:t>+</a:t>
                </a: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346" name="Text Box 10"/>
              <p:cNvSpPr txBox="1">
                <a:spLocks noChangeArrowheads="1"/>
              </p:cNvSpPr>
              <p:nvPr/>
            </p:nvSpPr>
            <p:spPr bwMode="auto">
              <a:xfrm>
                <a:off x="4612" y="5710"/>
                <a:ext cx="390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ru-RU" altLang="ru-RU" sz="2400" i="1">
                    <a:latin typeface="Times New Roman" pitchFamily="18" charset="0"/>
                  </a:rPr>
                  <a:t> </a:t>
                </a:r>
                <a:r>
                  <a:rPr lang="en-US" altLang="ru-RU" sz="2400" i="1">
                    <a:latin typeface="Times New Roman" pitchFamily="18" charset="0"/>
                  </a:rPr>
                  <a:t>T</a:t>
                </a: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347" name="Text Box 11"/>
              <p:cNvSpPr txBox="1">
                <a:spLocks noChangeArrowheads="1"/>
              </p:cNvSpPr>
              <p:nvPr/>
            </p:nvSpPr>
            <p:spPr bwMode="auto">
              <a:xfrm>
                <a:off x="2861" y="5710"/>
                <a:ext cx="389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ru-RU" altLang="ru-RU" sz="2400" i="1">
                    <a:latin typeface="Times New Roman" pitchFamily="18" charset="0"/>
                  </a:rPr>
                  <a:t> </a:t>
                </a:r>
                <a:r>
                  <a:rPr lang="en-US" altLang="ru-RU" sz="2400" i="1">
                    <a:latin typeface="Times New Roman" pitchFamily="18" charset="0"/>
                  </a:rPr>
                  <a:t>S</a:t>
                </a: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348" name="Text Box 12"/>
              <p:cNvSpPr txBox="1">
                <a:spLocks noChangeArrowheads="1"/>
              </p:cNvSpPr>
              <p:nvPr/>
            </p:nvSpPr>
            <p:spPr bwMode="auto">
              <a:xfrm>
                <a:off x="2472" y="6299"/>
                <a:ext cx="389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000" i="1">
                    <a:latin typeface="Times New Roman" pitchFamily="18" charset="0"/>
                  </a:rPr>
                  <a:t>T</a:t>
                </a:r>
                <a:endParaRPr lang="ru-RU" altLang="ru-RU" sz="2000" i="1">
                  <a:latin typeface="Times New Roman" pitchFamily="18" charset="0"/>
                </a:endParaRPr>
              </a:p>
            </p:txBody>
          </p:sp>
          <p:sp>
            <p:nvSpPr>
              <p:cNvPr id="14349" name="Text Box 13"/>
              <p:cNvSpPr txBox="1">
                <a:spLocks noChangeArrowheads="1"/>
              </p:cNvSpPr>
              <p:nvPr/>
            </p:nvSpPr>
            <p:spPr bwMode="auto">
              <a:xfrm>
                <a:off x="4029" y="6299"/>
                <a:ext cx="389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 i="1">
                    <a:latin typeface="Times New Roman" pitchFamily="18" charset="0"/>
                  </a:rPr>
                  <a:t>T</a:t>
                </a: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350" name="Text Box 14"/>
              <p:cNvSpPr txBox="1">
                <a:spLocks noChangeArrowheads="1"/>
              </p:cNvSpPr>
              <p:nvPr/>
            </p:nvSpPr>
            <p:spPr bwMode="auto">
              <a:xfrm>
                <a:off x="4807" y="6299"/>
                <a:ext cx="389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>
                    <a:latin typeface="Times New Roman" pitchFamily="18" charset="0"/>
                  </a:rPr>
                  <a:t>*</a:t>
                </a: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351" name="Text Box 15"/>
              <p:cNvSpPr txBox="1">
                <a:spLocks noChangeArrowheads="1"/>
              </p:cNvSpPr>
              <p:nvPr/>
            </p:nvSpPr>
            <p:spPr bwMode="auto">
              <a:xfrm>
                <a:off x="5585" y="6299"/>
                <a:ext cx="390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 i="1">
                    <a:latin typeface="Times New Roman" pitchFamily="18" charset="0"/>
                  </a:rPr>
                  <a:t>F</a:t>
                </a: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352" name="Text Box 16"/>
              <p:cNvSpPr txBox="1">
                <a:spLocks noChangeArrowheads="1"/>
              </p:cNvSpPr>
              <p:nvPr/>
            </p:nvSpPr>
            <p:spPr bwMode="auto">
              <a:xfrm>
                <a:off x="2277" y="6888"/>
                <a:ext cx="390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 i="1">
                    <a:latin typeface="Times New Roman" pitchFamily="18" charset="0"/>
                  </a:rPr>
                  <a:t>F</a:t>
                </a: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353" name="Text Box 17"/>
              <p:cNvSpPr txBox="1">
                <a:spLocks noChangeArrowheads="1"/>
              </p:cNvSpPr>
              <p:nvPr/>
            </p:nvSpPr>
            <p:spPr bwMode="auto">
              <a:xfrm>
                <a:off x="3834" y="6888"/>
                <a:ext cx="389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 i="1">
                    <a:latin typeface="Times New Roman" pitchFamily="18" charset="0"/>
                  </a:rPr>
                  <a:t>F</a:t>
                </a: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354" name="Text Box 18"/>
              <p:cNvSpPr txBox="1">
                <a:spLocks noChangeArrowheads="1"/>
              </p:cNvSpPr>
              <p:nvPr/>
            </p:nvSpPr>
            <p:spPr bwMode="auto">
              <a:xfrm>
                <a:off x="5585" y="6888"/>
                <a:ext cx="390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 i="1">
                    <a:latin typeface="Times New Roman" pitchFamily="18" charset="0"/>
                  </a:rPr>
                  <a:t>a</a:t>
                </a: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355" name="Text Box 19"/>
              <p:cNvSpPr txBox="1">
                <a:spLocks noChangeArrowheads="1"/>
              </p:cNvSpPr>
              <p:nvPr/>
            </p:nvSpPr>
            <p:spPr bwMode="auto">
              <a:xfrm>
                <a:off x="2277" y="7477"/>
                <a:ext cx="390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 i="1">
                    <a:latin typeface="Times New Roman" pitchFamily="18" charset="0"/>
                  </a:rPr>
                  <a:t>a</a:t>
                </a: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356" name="Text Box 20"/>
              <p:cNvSpPr txBox="1">
                <a:spLocks noChangeArrowheads="1"/>
              </p:cNvSpPr>
              <p:nvPr/>
            </p:nvSpPr>
            <p:spPr bwMode="auto">
              <a:xfrm>
                <a:off x="3834" y="7477"/>
                <a:ext cx="389" cy="39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ru-RU" sz="2400" i="1">
                    <a:latin typeface="Times New Roman" pitchFamily="18" charset="0"/>
                  </a:rPr>
                  <a:t>a</a:t>
                </a: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357" name="Line 21"/>
              <p:cNvSpPr>
                <a:spLocks noChangeShapeType="1"/>
              </p:cNvSpPr>
              <p:nvPr/>
            </p:nvSpPr>
            <p:spPr bwMode="auto">
              <a:xfrm>
                <a:off x="3834" y="5514"/>
                <a:ext cx="0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58" name="Line 22"/>
              <p:cNvSpPr>
                <a:spLocks noChangeShapeType="1"/>
              </p:cNvSpPr>
              <p:nvPr/>
            </p:nvSpPr>
            <p:spPr bwMode="auto">
              <a:xfrm flipH="1">
                <a:off x="3056" y="5514"/>
                <a:ext cx="584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59" name="Line 23"/>
              <p:cNvSpPr>
                <a:spLocks noChangeShapeType="1"/>
              </p:cNvSpPr>
              <p:nvPr/>
            </p:nvSpPr>
            <p:spPr bwMode="auto">
              <a:xfrm>
                <a:off x="4029" y="5514"/>
                <a:ext cx="778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60" name="Line 24"/>
              <p:cNvSpPr>
                <a:spLocks noChangeShapeType="1"/>
              </p:cNvSpPr>
              <p:nvPr/>
            </p:nvSpPr>
            <p:spPr bwMode="auto">
              <a:xfrm flipH="1">
                <a:off x="2667" y="6103"/>
                <a:ext cx="389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61" name="Line 25"/>
              <p:cNvSpPr>
                <a:spLocks noChangeShapeType="1"/>
              </p:cNvSpPr>
              <p:nvPr/>
            </p:nvSpPr>
            <p:spPr bwMode="auto">
              <a:xfrm>
                <a:off x="4807" y="6103"/>
                <a:ext cx="195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62" name="Line 26"/>
              <p:cNvSpPr>
                <a:spLocks noChangeShapeType="1"/>
              </p:cNvSpPr>
              <p:nvPr/>
            </p:nvSpPr>
            <p:spPr bwMode="auto">
              <a:xfrm flipH="1">
                <a:off x="4223" y="6103"/>
                <a:ext cx="389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63" name="Line 27"/>
              <p:cNvSpPr>
                <a:spLocks noChangeShapeType="1"/>
              </p:cNvSpPr>
              <p:nvPr/>
            </p:nvSpPr>
            <p:spPr bwMode="auto">
              <a:xfrm>
                <a:off x="5002" y="6103"/>
                <a:ext cx="778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64" name="Line 28"/>
              <p:cNvSpPr>
                <a:spLocks noChangeShapeType="1"/>
              </p:cNvSpPr>
              <p:nvPr/>
            </p:nvSpPr>
            <p:spPr bwMode="auto">
              <a:xfrm flipH="1">
                <a:off x="2472" y="6692"/>
                <a:ext cx="195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65" name="Line 29"/>
              <p:cNvSpPr>
                <a:spLocks noChangeShapeType="1"/>
              </p:cNvSpPr>
              <p:nvPr/>
            </p:nvSpPr>
            <p:spPr bwMode="auto">
              <a:xfrm>
                <a:off x="2472" y="7281"/>
                <a:ext cx="0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66" name="Line 30"/>
              <p:cNvSpPr>
                <a:spLocks noChangeShapeType="1"/>
              </p:cNvSpPr>
              <p:nvPr/>
            </p:nvSpPr>
            <p:spPr bwMode="auto">
              <a:xfrm flipH="1">
                <a:off x="4029" y="6692"/>
                <a:ext cx="194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67" name="Line 31"/>
              <p:cNvSpPr>
                <a:spLocks noChangeShapeType="1"/>
              </p:cNvSpPr>
              <p:nvPr/>
            </p:nvSpPr>
            <p:spPr bwMode="auto">
              <a:xfrm>
                <a:off x="4029" y="7281"/>
                <a:ext cx="0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4368" name="Line 32"/>
              <p:cNvSpPr>
                <a:spLocks noChangeShapeType="1"/>
              </p:cNvSpPr>
              <p:nvPr/>
            </p:nvSpPr>
            <p:spPr bwMode="auto">
              <a:xfrm>
                <a:off x="5780" y="6692"/>
                <a:ext cx="0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60350"/>
            <a:ext cx="8229600" cy="2160588"/>
          </a:xfrm>
        </p:spPr>
        <p:txBody>
          <a:bodyPr/>
          <a:lstStyle/>
          <a:p>
            <a:pPr algn="l"/>
            <a:r>
              <a:rPr lang="ru-RU" altLang="ru-RU" sz="2800" b="1" smtClean="0">
                <a:latin typeface="Times New Roman" pitchFamily="18" charset="0"/>
              </a:rPr>
              <a:t>Пример. </a:t>
            </a:r>
            <a:r>
              <a:rPr lang="ru-RU" altLang="ru-RU" sz="2800" smtClean="0">
                <a:latin typeface="Times New Roman" pitchFamily="18" charset="0"/>
              </a:rPr>
              <a:t>Грамматика, эквивалентная грамматике простых арифметических выражений:</a:t>
            </a:r>
            <a:r>
              <a:rPr lang="ru-RU" altLang="ru-RU" sz="2800" i="1" smtClean="0">
                <a:latin typeface="Times New Roman" pitchFamily="18" charset="0"/>
              </a:rPr>
              <a:t/>
            </a:r>
            <a:br>
              <a:rPr lang="ru-RU" altLang="ru-RU" sz="2800" i="1" smtClean="0">
                <a:latin typeface="Times New Roman" pitchFamily="18" charset="0"/>
              </a:rPr>
            </a:br>
            <a:r>
              <a:rPr lang="ru-RU" altLang="ru-RU" sz="2800" i="1" smtClean="0">
                <a:latin typeface="Times New Roman" pitchFamily="18" charset="0"/>
              </a:rPr>
              <a:t>		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r>
              <a:rPr lang="ru-RU" altLang="ru-RU" sz="2800" smtClean="0">
                <a:latin typeface="Times New Roman" pitchFamily="18" charset="0"/>
              </a:rPr>
              <a:t> → </a:t>
            </a:r>
            <a:r>
              <a:rPr lang="en-US" altLang="ru-RU" sz="2800" i="1" smtClean="0">
                <a:latin typeface="Times New Roman" pitchFamily="18" charset="0"/>
              </a:rPr>
              <a:t>S </a:t>
            </a:r>
            <a:r>
              <a:rPr lang="ru-RU" altLang="ru-RU" sz="2800" smtClean="0">
                <a:latin typeface="Times New Roman" pitchFamily="18" charset="0"/>
              </a:rPr>
              <a:t>+ </a:t>
            </a:r>
            <a:r>
              <a:rPr lang="en-US" altLang="ru-RU" sz="2800" i="1" smtClean="0">
                <a:latin typeface="Times New Roman" pitchFamily="18" charset="0"/>
              </a:rPr>
              <a:t>S </a:t>
            </a:r>
            <a:r>
              <a:rPr lang="ru-RU" altLang="ru-RU" sz="2800" smtClean="0">
                <a:latin typeface="Times New Roman" pitchFamily="18" charset="0"/>
              </a:rPr>
              <a:t>|</a:t>
            </a:r>
            <a:r>
              <a:rPr lang="en-US" altLang="ru-RU" sz="2800" smtClean="0">
                <a:latin typeface="Times New Roman" pitchFamily="18" charset="0"/>
              </a:rPr>
              <a:t>  </a:t>
            </a:r>
            <a:r>
              <a:rPr lang="en-US" altLang="ru-RU" sz="2800" i="1" smtClean="0">
                <a:latin typeface="Times New Roman" pitchFamily="18" charset="0"/>
              </a:rPr>
              <a:t>S </a:t>
            </a:r>
            <a:r>
              <a:rPr lang="en-US" altLang="ru-RU" sz="2800" smtClean="0">
                <a:latin typeface="Times New Roman" pitchFamily="18" charset="0"/>
              </a:rPr>
              <a:t>* </a:t>
            </a:r>
            <a:r>
              <a:rPr lang="en-US" altLang="ru-RU" sz="2800" i="1" smtClean="0">
                <a:latin typeface="Times New Roman" pitchFamily="18" charset="0"/>
              </a:rPr>
              <a:t>S </a:t>
            </a:r>
            <a:r>
              <a:rPr lang="en-US" altLang="ru-RU" sz="2800" smtClean="0">
                <a:latin typeface="Times New Roman" pitchFamily="18" charset="0"/>
              </a:rPr>
              <a:t>| (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</a:rPr>
              <a:t>) | 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ru-RU" altLang="ru-RU" sz="2800" i="1" smtClean="0">
                <a:latin typeface="Times New Roman" pitchFamily="18" charset="0"/>
              </a:rPr>
              <a:t/>
            </a:r>
            <a:br>
              <a:rPr lang="ru-RU" altLang="ru-RU" sz="2800" i="1" smtClean="0">
                <a:latin typeface="Times New Roman" pitchFamily="18" charset="0"/>
              </a:rPr>
            </a:br>
            <a:r>
              <a:rPr lang="ru-RU" altLang="ru-RU" sz="2800" smtClean="0">
                <a:latin typeface="Times New Roman" pitchFamily="18" charset="0"/>
              </a:rPr>
              <a:t>Для цепочки </a:t>
            </a:r>
            <a:r>
              <a:rPr lang="ru-RU" altLang="ru-RU" sz="2800" i="1" smtClean="0">
                <a:latin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+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a * a</a:t>
            </a:r>
            <a:r>
              <a:rPr lang="ru-RU" altLang="ru-RU" sz="2800" i="1" smtClean="0">
                <a:latin typeface="Times New Roman" pitchFamily="18" charset="0"/>
              </a:rPr>
              <a:t>  </a:t>
            </a:r>
            <a:r>
              <a:rPr lang="ru-RU" altLang="ru-RU" sz="2800" smtClean="0">
                <a:latin typeface="Times New Roman" pitchFamily="18" charset="0"/>
              </a:rPr>
              <a:t>существует два дерева порождения, т.е. грамматика неоднозначная!</a:t>
            </a:r>
            <a:br>
              <a:rPr lang="ru-RU" altLang="ru-RU" sz="2800" smtClean="0">
                <a:latin typeface="Times New Roman" pitchFamily="18" charset="0"/>
              </a:rPr>
            </a:br>
            <a:r>
              <a:rPr lang="ru-RU" altLang="ru-RU" sz="2800" smtClean="0">
                <a:latin typeface="Times New Roman" pitchFamily="18" charset="0"/>
              </a:rPr>
              <a:t>НМПА построит (неявно) оба дерева.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>
              <a:buFontTx/>
              <a:buNone/>
            </a:pPr>
            <a:endParaRPr lang="en-US" altLang="ru-RU" sz="2400" b="1" smtClean="0">
              <a:latin typeface="Times New Roman" pitchFamily="18" charset="0"/>
            </a:endParaRPr>
          </a:p>
          <a:p>
            <a:pPr>
              <a:buFontTx/>
              <a:buNone/>
            </a:pPr>
            <a:endParaRPr lang="en-US" altLang="ru-RU" sz="2400" b="1" smtClean="0">
              <a:latin typeface="Times New Roman" pitchFamily="18" charset="0"/>
            </a:endParaRPr>
          </a:p>
          <a:p>
            <a:pPr>
              <a:buFontTx/>
              <a:buNone/>
            </a:pPr>
            <a:endParaRPr lang="ru-RU" altLang="ru-RU" sz="2400" b="1" smtClean="0">
              <a:latin typeface="Times New Roman" pitchFamily="18" charset="0"/>
            </a:endParaRPr>
          </a:p>
        </p:txBody>
      </p:sp>
      <p:sp>
        <p:nvSpPr>
          <p:cNvPr id="15364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A305BAB-2ED2-4ADE-9D49-D008C1750F2A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ru-RU" altLang="ru-RU" sz="1400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2771775" y="3141663"/>
            <a:ext cx="504825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pSp>
        <p:nvGrpSpPr>
          <p:cNvPr id="15366" name="Group 6"/>
          <p:cNvGrpSpPr>
            <a:grpSpLocks/>
          </p:cNvGrpSpPr>
          <p:nvPr/>
        </p:nvGrpSpPr>
        <p:grpSpPr bwMode="auto">
          <a:xfrm>
            <a:off x="900113" y="3141663"/>
            <a:ext cx="6697662" cy="3241675"/>
            <a:chOff x="612" y="1706"/>
            <a:chExt cx="4219" cy="2042"/>
          </a:xfrm>
        </p:grpSpPr>
        <p:sp>
          <p:nvSpPr>
            <p:cNvPr id="15367" name="Text Box 7"/>
            <p:cNvSpPr txBox="1">
              <a:spLocks noChangeArrowheads="1"/>
            </p:cNvSpPr>
            <p:nvPr/>
          </p:nvSpPr>
          <p:spPr bwMode="auto">
            <a:xfrm>
              <a:off x="1791" y="1706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 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68" name="Rectangle 8"/>
            <p:cNvSpPr>
              <a:spLocks noChangeArrowheads="1"/>
            </p:cNvSpPr>
            <p:nvPr/>
          </p:nvSpPr>
          <p:spPr bwMode="auto">
            <a:xfrm>
              <a:off x="3379" y="1752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69" name="Rectangle 9"/>
            <p:cNvSpPr>
              <a:spLocks noChangeArrowheads="1"/>
            </p:cNvSpPr>
            <p:nvPr/>
          </p:nvSpPr>
          <p:spPr bwMode="auto">
            <a:xfrm>
              <a:off x="1247" y="2251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70" name="Rectangle 10"/>
            <p:cNvSpPr>
              <a:spLocks noChangeArrowheads="1"/>
            </p:cNvSpPr>
            <p:nvPr/>
          </p:nvSpPr>
          <p:spPr bwMode="auto">
            <a:xfrm>
              <a:off x="2245" y="2251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71" name="Rectangle 11"/>
            <p:cNvSpPr>
              <a:spLocks noChangeArrowheads="1"/>
            </p:cNvSpPr>
            <p:nvPr/>
          </p:nvSpPr>
          <p:spPr bwMode="auto">
            <a:xfrm>
              <a:off x="2880" y="2251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72" name="Rectangle 12"/>
            <p:cNvSpPr>
              <a:spLocks noChangeArrowheads="1"/>
            </p:cNvSpPr>
            <p:nvPr/>
          </p:nvSpPr>
          <p:spPr bwMode="auto">
            <a:xfrm>
              <a:off x="1746" y="2251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Times New Roman" pitchFamily="18" charset="0"/>
                </a:rPr>
                <a:t>*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5373" name="Rectangle 13"/>
            <p:cNvSpPr>
              <a:spLocks noChangeArrowheads="1"/>
            </p:cNvSpPr>
            <p:nvPr/>
          </p:nvSpPr>
          <p:spPr bwMode="auto">
            <a:xfrm>
              <a:off x="657" y="2795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74" name="Rectangle 14"/>
            <p:cNvSpPr>
              <a:spLocks noChangeArrowheads="1"/>
            </p:cNvSpPr>
            <p:nvPr/>
          </p:nvSpPr>
          <p:spPr bwMode="auto">
            <a:xfrm>
              <a:off x="1111" y="2795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Times New Roman" pitchFamily="18" charset="0"/>
                </a:rPr>
                <a:t>+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5375" name="Rectangle 15"/>
            <p:cNvSpPr>
              <a:spLocks noChangeArrowheads="1"/>
            </p:cNvSpPr>
            <p:nvPr/>
          </p:nvSpPr>
          <p:spPr bwMode="auto">
            <a:xfrm>
              <a:off x="1610" y="2795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76" name="Rectangle 16"/>
            <p:cNvSpPr>
              <a:spLocks noChangeArrowheads="1"/>
            </p:cNvSpPr>
            <p:nvPr/>
          </p:nvSpPr>
          <p:spPr bwMode="auto">
            <a:xfrm>
              <a:off x="612" y="3430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77" name="Rectangle 17"/>
            <p:cNvSpPr>
              <a:spLocks noChangeArrowheads="1"/>
            </p:cNvSpPr>
            <p:nvPr/>
          </p:nvSpPr>
          <p:spPr bwMode="auto">
            <a:xfrm>
              <a:off x="1565" y="3430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78" name="Rectangle 18"/>
            <p:cNvSpPr>
              <a:spLocks noChangeArrowheads="1"/>
            </p:cNvSpPr>
            <p:nvPr/>
          </p:nvSpPr>
          <p:spPr bwMode="auto">
            <a:xfrm>
              <a:off x="2200" y="2795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79" name="Line 19"/>
            <p:cNvSpPr>
              <a:spLocks noChangeShapeType="1"/>
            </p:cNvSpPr>
            <p:nvPr/>
          </p:nvSpPr>
          <p:spPr bwMode="auto">
            <a:xfrm flipH="1">
              <a:off x="1383" y="2024"/>
              <a:ext cx="454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80" name="Line 20"/>
            <p:cNvSpPr>
              <a:spLocks noChangeShapeType="1"/>
            </p:cNvSpPr>
            <p:nvPr/>
          </p:nvSpPr>
          <p:spPr bwMode="auto">
            <a:xfrm flipH="1">
              <a:off x="1882" y="2024"/>
              <a:ext cx="45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81" name="Line 21"/>
            <p:cNvSpPr>
              <a:spLocks noChangeShapeType="1"/>
            </p:cNvSpPr>
            <p:nvPr/>
          </p:nvSpPr>
          <p:spPr bwMode="auto">
            <a:xfrm>
              <a:off x="2018" y="2024"/>
              <a:ext cx="318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82" name="Line 22"/>
            <p:cNvSpPr>
              <a:spLocks noChangeShapeType="1"/>
            </p:cNvSpPr>
            <p:nvPr/>
          </p:nvSpPr>
          <p:spPr bwMode="auto">
            <a:xfrm flipH="1">
              <a:off x="884" y="2568"/>
              <a:ext cx="408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83" name="Line 23"/>
            <p:cNvSpPr>
              <a:spLocks noChangeShapeType="1"/>
            </p:cNvSpPr>
            <p:nvPr/>
          </p:nvSpPr>
          <p:spPr bwMode="auto">
            <a:xfrm flipH="1">
              <a:off x="1292" y="2568"/>
              <a:ext cx="91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84" name="Line 24"/>
            <p:cNvSpPr>
              <a:spLocks noChangeShapeType="1"/>
            </p:cNvSpPr>
            <p:nvPr/>
          </p:nvSpPr>
          <p:spPr bwMode="auto">
            <a:xfrm>
              <a:off x="1474" y="2568"/>
              <a:ext cx="22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85" name="Line 25"/>
            <p:cNvSpPr>
              <a:spLocks noChangeShapeType="1"/>
            </p:cNvSpPr>
            <p:nvPr/>
          </p:nvSpPr>
          <p:spPr bwMode="auto">
            <a:xfrm flipH="1">
              <a:off x="748" y="3113"/>
              <a:ext cx="45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86" name="Line 26"/>
            <p:cNvSpPr>
              <a:spLocks noChangeShapeType="1"/>
            </p:cNvSpPr>
            <p:nvPr/>
          </p:nvSpPr>
          <p:spPr bwMode="auto">
            <a:xfrm flipH="1">
              <a:off x="1701" y="3113"/>
              <a:ext cx="45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87" name="Line 27"/>
            <p:cNvSpPr>
              <a:spLocks noChangeShapeType="1"/>
            </p:cNvSpPr>
            <p:nvPr/>
          </p:nvSpPr>
          <p:spPr bwMode="auto">
            <a:xfrm flipH="1">
              <a:off x="2381" y="2568"/>
              <a:ext cx="45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88" name="Rectangle 28"/>
            <p:cNvSpPr>
              <a:spLocks noChangeArrowheads="1"/>
            </p:cNvSpPr>
            <p:nvPr/>
          </p:nvSpPr>
          <p:spPr bwMode="auto">
            <a:xfrm>
              <a:off x="3969" y="2251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89" name="Rectangle 29"/>
            <p:cNvSpPr>
              <a:spLocks noChangeArrowheads="1"/>
            </p:cNvSpPr>
            <p:nvPr/>
          </p:nvSpPr>
          <p:spPr bwMode="auto">
            <a:xfrm>
              <a:off x="4468" y="3430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90" name="Rectangle 30"/>
            <p:cNvSpPr>
              <a:spLocks noChangeArrowheads="1"/>
            </p:cNvSpPr>
            <p:nvPr/>
          </p:nvSpPr>
          <p:spPr bwMode="auto">
            <a:xfrm>
              <a:off x="2835" y="2795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91" name="Rectangle 31"/>
            <p:cNvSpPr>
              <a:spLocks noChangeArrowheads="1"/>
            </p:cNvSpPr>
            <p:nvPr/>
          </p:nvSpPr>
          <p:spPr bwMode="auto">
            <a:xfrm>
              <a:off x="3515" y="2795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92" name="Rectangle 32"/>
            <p:cNvSpPr>
              <a:spLocks noChangeArrowheads="1"/>
            </p:cNvSpPr>
            <p:nvPr/>
          </p:nvSpPr>
          <p:spPr bwMode="auto">
            <a:xfrm>
              <a:off x="4014" y="2795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15393" name="Rectangle 33"/>
            <p:cNvSpPr>
              <a:spLocks noChangeArrowheads="1"/>
            </p:cNvSpPr>
            <p:nvPr/>
          </p:nvSpPr>
          <p:spPr bwMode="auto">
            <a:xfrm>
              <a:off x="4513" y="2795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94" name="Rectangle 35"/>
            <p:cNvSpPr>
              <a:spLocks noChangeArrowheads="1"/>
            </p:cNvSpPr>
            <p:nvPr/>
          </p:nvSpPr>
          <p:spPr bwMode="auto">
            <a:xfrm>
              <a:off x="3470" y="3430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15395" name="Rectangle 36"/>
            <p:cNvSpPr>
              <a:spLocks noChangeArrowheads="1"/>
            </p:cNvSpPr>
            <p:nvPr/>
          </p:nvSpPr>
          <p:spPr bwMode="auto">
            <a:xfrm>
              <a:off x="3424" y="2251"/>
              <a:ext cx="31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5396" name="Line 37"/>
            <p:cNvSpPr>
              <a:spLocks noChangeShapeType="1"/>
            </p:cNvSpPr>
            <p:nvPr/>
          </p:nvSpPr>
          <p:spPr bwMode="auto">
            <a:xfrm flipH="1">
              <a:off x="3107" y="2069"/>
              <a:ext cx="31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97" name="Line 38"/>
            <p:cNvSpPr>
              <a:spLocks noChangeShapeType="1"/>
            </p:cNvSpPr>
            <p:nvPr/>
          </p:nvSpPr>
          <p:spPr bwMode="auto">
            <a:xfrm>
              <a:off x="3515" y="2069"/>
              <a:ext cx="4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98" name="Line 39"/>
            <p:cNvSpPr>
              <a:spLocks noChangeShapeType="1"/>
            </p:cNvSpPr>
            <p:nvPr/>
          </p:nvSpPr>
          <p:spPr bwMode="auto">
            <a:xfrm>
              <a:off x="3606" y="2069"/>
              <a:ext cx="45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399" name="Line 40"/>
            <p:cNvSpPr>
              <a:spLocks noChangeShapeType="1"/>
            </p:cNvSpPr>
            <p:nvPr/>
          </p:nvSpPr>
          <p:spPr bwMode="auto">
            <a:xfrm flipH="1">
              <a:off x="2971" y="2568"/>
              <a:ext cx="45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400" name="Line 42"/>
            <p:cNvSpPr>
              <a:spLocks noChangeShapeType="1"/>
            </p:cNvSpPr>
            <p:nvPr/>
          </p:nvSpPr>
          <p:spPr bwMode="auto">
            <a:xfrm flipH="1">
              <a:off x="3696" y="2568"/>
              <a:ext cx="318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401" name="Line 43"/>
            <p:cNvSpPr>
              <a:spLocks noChangeShapeType="1"/>
            </p:cNvSpPr>
            <p:nvPr/>
          </p:nvSpPr>
          <p:spPr bwMode="auto">
            <a:xfrm>
              <a:off x="4150" y="2568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402" name="Line 44"/>
            <p:cNvSpPr>
              <a:spLocks noChangeShapeType="1"/>
            </p:cNvSpPr>
            <p:nvPr/>
          </p:nvSpPr>
          <p:spPr bwMode="auto">
            <a:xfrm>
              <a:off x="4241" y="2568"/>
              <a:ext cx="363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403" name="Line 45"/>
            <p:cNvSpPr>
              <a:spLocks noChangeShapeType="1"/>
            </p:cNvSpPr>
            <p:nvPr/>
          </p:nvSpPr>
          <p:spPr bwMode="auto">
            <a:xfrm flipH="1">
              <a:off x="3606" y="3113"/>
              <a:ext cx="45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404" name="Line 46"/>
            <p:cNvSpPr>
              <a:spLocks noChangeShapeType="1"/>
            </p:cNvSpPr>
            <p:nvPr/>
          </p:nvSpPr>
          <p:spPr bwMode="auto">
            <a:xfrm>
              <a:off x="4649" y="3113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981075"/>
          </a:xfrm>
        </p:spPr>
        <p:txBody>
          <a:bodyPr/>
          <a:lstStyle/>
          <a:p>
            <a:r>
              <a:rPr lang="ru-RU" altLang="ru-RU" sz="3600" b="1" smtClean="0">
                <a:solidFill>
                  <a:schemeClr val="accent2"/>
                </a:solidFill>
              </a:rPr>
              <a:t>Детерминированный </a:t>
            </a:r>
            <a:r>
              <a:rPr lang="en-US" altLang="ru-RU" sz="3600" b="1" smtClean="0">
                <a:solidFill>
                  <a:schemeClr val="accent2"/>
                </a:solidFill>
              </a:rPr>
              <a:t>LL</a:t>
            </a:r>
            <a:r>
              <a:rPr lang="ru-RU" altLang="ru-RU" sz="3600" b="1" smtClean="0">
                <a:solidFill>
                  <a:schemeClr val="accent2"/>
                </a:solidFill>
              </a:rPr>
              <a:t>-анализ </a:t>
            </a:r>
            <a:r>
              <a:rPr lang="ru-RU" altLang="ru-RU" sz="3600" b="1" smtClean="0"/>
              <a:t>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52513"/>
            <a:ext cx="8229600" cy="5073650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800" i="1" smtClean="0"/>
              <a:t>Левая рекурсия и ее устранение</a:t>
            </a:r>
            <a:r>
              <a:rPr lang="ru-RU" altLang="ru-RU" smtClean="0"/>
              <a:t> 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Правило порождения вида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 → 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γ леворекурсивное. Тогда должно быть также правило вида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 → α, где первый символ цепочки α не совпадает с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, так как в противном случае символ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i="1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– бесполезный.  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Цепочки символов, порождаемые этими двумя правилами: 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α, αγ, αγγ и т.д. 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Эти же цепочки можно получить другими правилами: </a:t>
            </a:r>
          </a:p>
          <a:p>
            <a:pPr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 → </a:t>
            </a:r>
            <a:r>
              <a:rPr lang="en-US" altLang="ru-RU" sz="2400" smtClean="0">
                <a:latin typeface="Times New Roman" pitchFamily="18" charset="0"/>
              </a:rPr>
              <a:t>α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’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’ → </a:t>
            </a:r>
            <a:r>
              <a:rPr lang="en-US" altLang="ru-RU" sz="2400" smtClean="0">
                <a:latin typeface="Times New Roman" pitchFamily="18" charset="0"/>
              </a:rPr>
              <a:t>γ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’|</a:t>
            </a:r>
            <a:r>
              <a:rPr lang="en-US" altLang="ru-RU" sz="2400" smtClean="0">
                <a:latin typeface="Times New Roman" pitchFamily="18" charset="0"/>
              </a:rPr>
              <a:t> λ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где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’ – новый нетерминал. </a:t>
            </a:r>
          </a:p>
        </p:txBody>
      </p:sp>
      <p:sp>
        <p:nvSpPr>
          <p:cNvPr id="16388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94C8A3C-1295-47CF-AB4B-2FD9075F13B6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549275"/>
            <a:ext cx="8229600" cy="5576888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Косвенная рекурсия, когда имеется совокупность правил вида:</a:t>
            </a:r>
          </a:p>
          <a:p>
            <a:pPr algn="ctr">
              <a:buFontTx/>
              <a:buNone/>
            </a:pP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</a:rPr>
              <a:t> → </a:t>
            </a:r>
            <a:r>
              <a:rPr lang="en-US" altLang="ru-RU" sz="2800" i="1" smtClean="0">
                <a:latin typeface="Times New Roman" pitchFamily="18" charset="0"/>
              </a:rPr>
              <a:t>B</a:t>
            </a:r>
            <a:r>
              <a:rPr lang="ru-RU" altLang="ru-RU" sz="2800" baseline="-25000" smtClean="0">
                <a:latin typeface="Times New Roman" pitchFamily="18" charset="0"/>
              </a:rPr>
              <a:t>1</a:t>
            </a:r>
            <a:r>
              <a:rPr lang="en-US" altLang="ru-RU" sz="2800" smtClean="0">
                <a:latin typeface="Times New Roman" pitchFamily="18" charset="0"/>
              </a:rPr>
              <a:t>γ</a:t>
            </a:r>
            <a:r>
              <a:rPr lang="ru-RU" altLang="ru-RU" sz="2800" baseline="-25000" smtClean="0">
                <a:latin typeface="Times New Roman" pitchFamily="18" charset="0"/>
              </a:rPr>
              <a:t>1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B</a:t>
            </a:r>
            <a:r>
              <a:rPr lang="ru-RU" altLang="ru-RU" sz="2800" baseline="-25000" smtClean="0">
                <a:latin typeface="Times New Roman" pitchFamily="18" charset="0"/>
              </a:rPr>
              <a:t>1</a:t>
            </a:r>
            <a:r>
              <a:rPr lang="ru-RU" altLang="ru-RU" sz="2800" smtClean="0">
                <a:latin typeface="Times New Roman" pitchFamily="18" charset="0"/>
              </a:rPr>
              <a:t> → </a:t>
            </a:r>
            <a:r>
              <a:rPr lang="en-US" altLang="ru-RU" sz="2800" i="1" smtClean="0">
                <a:latin typeface="Times New Roman" pitchFamily="18" charset="0"/>
              </a:rPr>
              <a:t>B</a:t>
            </a:r>
            <a:r>
              <a:rPr lang="ru-RU" altLang="ru-RU" sz="2800" baseline="-25000" smtClean="0">
                <a:latin typeface="Times New Roman" pitchFamily="18" charset="0"/>
              </a:rPr>
              <a:t>2</a:t>
            </a:r>
            <a:r>
              <a:rPr lang="en-US" altLang="ru-RU" sz="2800" smtClean="0">
                <a:latin typeface="Times New Roman" pitchFamily="18" charset="0"/>
              </a:rPr>
              <a:t>γ</a:t>
            </a:r>
            <a:r>
              <a:rPr lang="ru-RU" altLang="ru-RU" sz="2800" baseline="-25000" smtClean="0">
                <a:latin typeface="Times New Roman" pitchFamily="18" charset="0"/>
              </a:rPr>
              <a:t>2</a:t>
            </a:r>
            <a:r>
              <a:rPr lang="ru-RU" altLang="ru-RU" sz="2800" smtClean="0">
                <a:latin typeface="Times New Roman" pitchFamily="18" charset="0"/>
              </a:rPr>
              <a:t>, …, </a:t>
            </a:r>
            <a:r>
              <a:rPr lang="en-US" altLang="ru-RU" sz="2800" i="1" smtClean="0">
                <a:latin typeface="Times New Roman" pitchFamily="18" charset="0"/>
              </a:rPr>
              <a:t>B</a:t>
            </a:r>
            <a:r>
              <a:rPr lang="en-US" altLang="ru-RU" sz="2800" i="1" baseline="-25000" smtClean="0">
                <a:latin typeface="Times New Roman" pitchFamily="18" charset="0"/>
              </a:rPr>
              <a:t>n</a:t>
            </a:r>
            <a:r>
              <a:rPr lang="ru-RU" altLang="ru-RU" sz="2800" smtClean="0">
                <a:latin typeface="Times New Roman" pitchFamily="18" charset="0"/>
              </a:rPr>
              <a:t> → 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</a:rPr>
              <a:t>γ</a:t>
            </a:r>
            <a:r>
              <a:rPr lang="en-US" altLang="ru-RU" sz="2800" i="1" baseline="-25000" smtClean="0">
                <a:latin typeface="Times New Roman" pitchFamily="18" charset="0"/>
              </a:rPr>
              <a:t>n</a:t>
            </a:r>
            <a:r>
              <a:rPr lang="ru-RU" altLang="ru-RU" sz="2800" smtClean="0">
                <a:latin typeface="Times New Roman" pitchFamily="18" charset="0"/>
              </a:rPr>
              <a:t>. </a:t>
            </a:r>
          </a:p>
          <a:p>
            <a:pPr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Тогда вначале косвенную рекурсию нужно свести к непосредственной, сделав следующую замену этой группы правил на правило: </a:t>
            </a:r>
          </a:p>
          <a:p>
            <a:pPr algn="ctr"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  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</a:rPr>
              <a:t> → 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</a:rPr>
              <a:t>γ</a:t>
            </a:r>
            <a:r>
              <a:rPr lang="en-US" altLang="ru-RU" sz="2800" i="1" baseline="-25000" smtClean="0">
                <a:latin typeface="Times New Roman" pitchFamily="18" charset="0"/>
              </a:rPr>
              <a:t>n</a:t>
            </a:r>
            <a:r>
              <a:rPr lang="ru-RU" altLang="ru-RU" sz="2800" smtClean="0">
                <a:latin typeface="Times New Roman" pitchFamily="18" charset="0"/>
              </a:rPr>
              <a:t> …  </a:t>
            </a:r>
            <a:r>
              <a:rPr lang="en-US" altLang="ru-RU" sz="2800" smtClean="0">
                <a:latin typeface="Times New Roman" pitchFamily="18" charset="0"/>
              </a:rPr>
              <a:t>γ</a:t>
            </a:r>
            <a:r>
              <a:rPr lang="ru-RU" altLang="ru-RU" sz="2800" baseline="-25000" smtClean="0">
                <a:latin typeface="Times New Roman" pitchFamily="18" charset="0"/>
              </a:rPr>
              <a:t>2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en-US" altLang="ru-RU" sz="2800" smtClean="0">
                <a:latin typeface="Times New Roman" pitchFamily="18" charset="0"/>
              </a:rPr>
              <a:t>γ</a:t>
            </a:r>
            <a:r>
              <a:rPr lang="ru-RU" altLang="ru-RU" sz="2800" baseline="-25000" smtClean="0">
                <a:latin typeface="Times New Roman" pitchFamily="18" charset="0"/>
              </a:rPr>
              <a:t>1</a:t>
            </a:r>
            <a:r>
              <a:rPr lang="ru-RU" altLang="ru-RU" sz="2800" smtClean="0">
                <a:latin typeface="Times New Roman" pitchFamily="18" charset="0"/>
              </a:rPr>
              <a:t>. </a:t>
            </a:r>
          </a:p>
          <a:p>
            <a:pPr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При этом надо учесть и другие совокупности правил, аналогичные рассмотренным, в которые входят какие-либо из нетерминалов </a:t>
            </a:r>
          </a:p>
          <a:p>
            <a:pPr algn="ctr">
              <a:buFontTx/>
              <a:buNone/>
            </a:pPr>
            <a:r>
              <a:rPr lang="en-US" altLang="ru-RU" sz="2800" i="1" smtClean="0">
                <a:latin typeface="Times New Roman" pitchFamily="18" charset="0"/>
              </a:rPr>
              <a:t>B</a:t>
            </a:r>
            <a:r>
              <a:rPr lang="ru-RU" altLang="ru-RU" sz="2800" baseline="-25000" smtClean="0">
                <a:latin typeface="Times New Roman" pitchFamily="18" charset="0"/>
              </a:rPr>
              <a:t>1</a:t>
            </a:r>
            <a:r>
              <a:rPr lang="ru-RU" altLang="ru-RU" sz="2800" smtClean="0">
                <a:latin typeface="Times New Roman" pitchFamily="18" charset="0"/>
              </a:rPr>
              <a:t>, …, </a:t>
            </a:r>
            <a:r>
              <a:rPr lang="en-US" altLang="ru-RU" sz="2800" i="1" smtClean="0">
                <a:latin typeface="Times New Roman" pitchFamily="18" charset="0"/>
              </a:rPr>
              <a:t>B</a:t>
            </a:r>
            <a:r>
              <a:rPr lang="en-US" altLang="ru-RU" sz="2800" i="1" baseline="-25000" smtClean="0">
                <a:latin typeface="Times New Roman" pitchFamily="18" charset="0"/>
              </a:rPr>
              <a:t>n</a:t>
            </a:r>
            <a:r>
              <a:rPr lang="ru-RU" altLang="ru-RU" sz="2800" smtClean="0">
                <a:latin typeface="Times New Roman" pitchFamily="18" charset="0"/>
              </a:rPr>
              <a:t>.</a:t>
            </a:r>
          </a:p>
        </p:txBody>
      </p:sp>
      <p:sp>
        <p:nvSpPr>
          <p:cNvPr id="1741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944D7FF-019E-4272-8107-DC134C293FE5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74637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404813"/>
            <a:ext cx="8229600" cy="62642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b="1" smtClean="0">
                <a:latin typeface="Times New Roman" pitchFamily="18" charset="0"/>
              </a:rPr>
              <a:t>Пример. </a:t>
            </a:r>
            <a:r>
              <a:rPr lang="ru-RU" altLang="ru-RU" sz="2800" smtClean="0">
                <a:latin typeface="Times New Roman" pitchFamily="18" charset="0"/>
              </a:rPr>
              <a:t>Грамматика простых арифметических выражений:</a:t>
            </a:r>
            <a:endParaRPr lang="en-US" altLang="ru-RU" sz="28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r>
              <a:rPr lang="ru-RU" altLang="ru-RU" sz="2800" smtClean="0">
                <a:latin typeface="Times New Roman" pitchFamily="18" charset="0"/>
              </a:rPr>
              <a:t> → </a:t>
            </a:r>
            <a:r>
              <a:rPr lang="en-US" altLang="ru-RU" sz="2800" i="1" smtClean="0">
                <a:latin typeface="Times New Roman" pitchFamily="18" charset="0"/>
              </a:rPr>
              <a:t>S </a:t>
            </a:r>
            <a:r>
              <a:rPr lang="ru-RU" altLang="ru-RU" sz="2800" smtClean="0">
                <a:latin typeface="Times New Roman" pitchFamily="18" charset="0"/>
              </a:rPr>
              <a:t>+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T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|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en-US" altLang="ru-RU" sz="2800" i="1" smtClean="0">
                <a:latin typeface="Times New Roman" pitchFamily="18" charset="0"/>
              </a:rPr>
              <a:t>T</a:t>
            </a:r>
            <a:r>
              <a:rPr lang="en-US" altLang="ru-RU" sz="2800" smtClean="0">
                <a:latin typeface="Times New Roman" pitchFamily="18" charset="0"/>
              </a:rPr>
              <a:t> → </a:t>
            </a:r>
            <a:r>
              <a:rPr lang="en-US" altLang="ru-RU" sz="2800" i="1" smtClean="0">
                <a:latin typeface="Times New Roman" pitchFamily="18" charset="0"/>
              </a:rPr>
              <a:t>T </a:t>
            </a:r>
            <a:r>
              <a:rPr lang="en-US" altLang="ru-RU" sz="2800" smtClean="0">
                <a:latin typeface="Times New Roman" pitchFamily="18" charset="0"/>
              </a:rPr>
              <a:t>* </a:t>
            </a:r>
            <a:r>
              <a:rPr lang="en-US" altLang="ru-RU" sz="2800" i="1" smtClean="0">
                <a:latin typeface="Times New Roman" pitchFamily="18" charset="0"/>
              </a:rPr>
              <a:t>F</a:t>
            </a:r>
            <a:r>
              <a:rPr lang="en-US" altLang="ru-RU" sz="2800" smtClean="0">
                <a:latin typeface="Times New Roman" pitchFamily="18" charset="0"/>
              </a:rPr>
              <a:t> | </a:t>
            </a:r>
            <a:r>
              <a:rPr lang="en-US" altLang="ru-RU" sz="2800" i="1" smtClean="0">
                <a:latin typeface="Times New Roman" pitchFamily="18" charset="0"/>
              </a:rPr>
              <a:t>F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en-US" altLang="ru-RU" sz="2800" i="1" smtClean="0">
                <a:latin typeface="Times New Roman" pitchFamily="18" charset="0"/>
              </a:rPr>
              <a:t>F</a:t>
            </a:r>
            <a:r>
              <a:rPr lang="en-US" altLang="ru-RU" sz="2800" smtClean="0">
                <a:latin typeface="Times New Roman" pitchFamily="18" charset="0"/>
              </a:rPr>
              <a:t> → (</a:t>
            </a:r>
            <a:r>
              <a:rPr lang="en-US" altLang="ru-RU" sz="2800" i="1" smtClean="0">
                <a:latin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</a:rPr>
              <a:t>) | 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endParaRPr lang="ru-RU" altLang="ru-RU" sz="28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8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b="1" i="1" smtClean="0">
                <a:latin typeface="Times New Roman" pitchFamily="18" charset="0"/>
              </a:rPr>
              <a:t>         После устранения левой рекурсии</a:t>
            </a:r>
            <a:r>
              <a:rPr lang="ru-RU" altLang="ru-RU" sz="2800" b="1" smtClean="0">
                <a:latin typeface="Times New Roman" pitchFamily="18" charset="0"/>
              </a:rPr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endParaRPr lang="pt-BR" altLang="ru-RU" sz="1200" b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pt-BR" altLang="ru-RU" sz="2800" i="1" smtClean="0">
                <a:latin typeface="Times New Roman" pitchFamily="18" charset="0"/>
              </a:rPr>
              <a:t>S → TU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pt-BR" altLang="ru-RU" sz="2800" i="1" smtClean="0">
                <a:latin typeface="Times New Roman" pitchFamily="18" charset="0"/>
              </a:rPr>
              <a:t>U → + TU | </a:t>
            </a:r>
            <a:r>
              <a:rPr lang="en-US" altLang="ru-RU" sz="2800" i="1" smtClean="0">
                <a:latin typeface="Times New Roman" pitchFamily="18" charset="0"/>
              </a:rPr>
              <a:t>λ</a:t>
            </a:r>
            <a:endParaRPr lang="pt-BR" altLang="ru-RU" sz="28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pt-BR" altLang="ru-RU" sz="2800" i="1" smtClean="0">
                <a:latin typeface="Times New Roman" pitchFamily="18" charset="0"/>
              </a:rPr>
              <a:t>T → FV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pt-BR" altLang="ru-RU" sz="2800" i="1" smtClean="0">
                <a:latin typeface="Times New Roman" pitchFamily="18" charset="0"/>
              </a:rPr>
              <a:t>V → * FV | λ</a:t>
            </a:r>
            <a:endParaRPr lang="en-US" altLang="ru-RU" sz="28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>
                <a:latin typeface="Times New Roman" pitchFamily="18" charset="0"/>
              </a:rPr>
              <a:t>				</a:t>
            </a:r>
            <a:r>
              <a:rPr lang="en-US" altLang="ru-RU" sz="2800" i="1" smtClean="0">
                <a:latin typeface="Times New Roman" pitchFamily="18" charset="0"/>
              </a:rPr>
              <a:t>F → (S) | a</a:t>
            </a:r>
            <a:endParaRPr lang="ru-RU" altLang="ru-RU" sz="2800" smtClean="0">
              <a:latin typeface="Times New Roman" pitchFamily="18" charset="0"/>
            </a:endParaRPr>
          </a:p>
        </p:txBody>
      </p:sp>
      <p:sp>
        <p:nvSpPr>
          <p:cNvPr id="18436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10749E6-BBFE-48AE-AFDA-9600818B3FAA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981075"/>
          </a:xfrm>
        </p:spPr>
        <p:txBody>
          <a:bodyPr/>
          <a:lstStyle/>
          <a:p>
            <a:r>
              <a:rPr lang="ru-RU" altLang="ru-RU" sz="3400" b="1" smtClean="0">
                <a:solidFill>
                  <a:schemeClr val="accent2"/>
                </a:solidFill>
              </a:rPr>
              <a:t>Нестрогая нормальная форма Грейбах</a:t>
            </a:r>
            <a:r>
              <a:rPr lang="ru-RU" altLang="ru-RU" sz="4000" smtClean="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836613"/>
            <a:ext cx="8435975" cy="58324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i="1" smtClean="0">
                <a:latin typeface="Times New Roman" pitchFamily="18" charset="0"/>
              </a:rPr>
              <a:t>Нормальная форма Грейбах: правые части всех порождающих правил начинаются с терминала.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i="1" smtClean="0">
                <a:solidFill>
                  <a:srgbClr val="CC0066"/>
                </a:solidFill>
                <a:latin typeface="Times New Roman" pitchFamily="18" charset="0"/>
              </a:rPr>
              <a:t>Нестрогая нормальная форма Грейбах: 				правая часть может быть пустой!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b="1" smtClean="0"/>
              <a:t>Преобразование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 каждом правиле вида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 → </a:t>
            </a: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α нетерминал </a:t>
            </a: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заменяется совокупностью правых частей правил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ru-RU" altLang="ru-RU" sz="2400" smtClean="0">
                <a:latin typeface="Times New Roman" pitchFamily="18" charset="0"/>
              </a:rPr>
              <a:t> → </a:t>
            </a:r>
            <a:r>
              <a:rPr lang="en-US" altLang="ru-RU" sz="2400" smtClean="0">
                <a:latin typeface="Times New Roman" pitchFamily="18" charset="0"/>
              </a:rPr>
              <a:t>γ</a:t>
            </a:r>
            <a:r>
              <a:rPr lang="ru-RU" altLang="ru-RU" sz="2400" baseline="-25000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 |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…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i="1" smtClean="0">
                <a:latin typeface="Times New Roman" pitchFamily="18" charset="0"/>
              </a:rPr>
              <a:t> </a:t>
            </a:r>
            <a:r>
              <a:rPr lang="en-US" altLang="ru-RU" sz="2400" smtClean="0">
                <a:latin typeface="Times New Roman" pitchFamily="18" charset="0"/>
              </a:rPr>
              <a:t>γ</a:t>
            </a:r>
            <a:r>
              <a:rPr lang="en-US" altLang="ru-RU" sz="2400" i="1" baseline="-25000" smtClean="0">
                <a:latin typeface="Times New Roman" pitchFamily="18" charset="0"/>
              </a:rPr>
              <a:t>n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 результате получатся правила:</a:t>
            </a:r>
            <a:endParaRPr lang="en-US" altLang="ru-RU" sz="2400" i="1" smtClean="0">
              <a:latin typeface="Times New Roman" pitchFamily="18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 → </a:t>
            </a:r>
            <a:r>
              <a:rPr lang="en-US" altLang="ru-RU" sz="2400" smtClean="0">
                <a:latin typeface="Times New Roman" pitchFamily="18" charset="0"/>
              </a:rPr>
              <a:t>γ</a:t>
            </a:r>
            <a:r>
              <a:rPr lang="ru-RU" altLang="ru-RU" sz="2400" baseline="-25000" smtClean="0">
                <a:latin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 α |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…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i="1" smtClean="0">
                <a:latin typeface="Times New Roman" pitchFamily="18" charset="0"/>
              </a:rPr>
              <a:t> </a:t>
            </a:r>
            <a:r>
              <a:rPr lang="en-US" altLang="ru-RU" sz="2400" smtClean="0">
                <a:latin typeface="Times New Roman" pitchFamily="18" charset="0"/>
              </a:rPr>
              <a:t>γ</a:t>
            </a:r>
            <a:r>
              <a:rPr lang="en-US" altLang="ru-RU" sz="2400" i="1" baseline="-25000" smtClean="0">
                <a:latin typeface="Times New Roman" pitchFamily="18" charset="0"/>
              </a:rPr>
              <a:t>n </a:t>
            </a:r>
            <a:r>
              <a:rPr lang="ru-RU" altLang="ru-RU" sz="2400" smtClean="0">
                <a:latin typeface="Times New Roman" pitchFamily="18" charset="0"/>
              </a:rPr>
              <a:t>α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Когда все подобные замены будут сделаны, все правые части правил будут начинаться с терминальных символов или будут пустыми.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Следствие: </a:t>
            </a:r>
            <a:r>
              <a:rPr lang="ru-RU" altLang="ru-RU" sz="2400" b="1" i="1" smtClean="0">
                <a:latin typeface="Times New Roman" pitchFamily="18" charset="0"/>
              </a:rPr>
              <a:t>Любой КС-язык представим грамматикой в нестрогой нормальной форме Грейбах</a:t>
            </a:r>
          </a:p>
        </p:txBody>
      </p:sp>
      <p:sp>
        <p:nvSpPr>
          <p:cNvPr id="19460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241CF11-F4B8-4DA0-B5C1-7B65BAD6F39C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476250"/>
            <a:ext cx="8229600" cy="564991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/>
              <a:t>Пример. </a:t>
            </a:r>
            <a:r>
              <a:rPr lang="ru-RU" altLang="ru-RU" sz="2400" smtClean="0"/>
              <a:t>Грамматика простых арифметических выражений с устраненной левой рекурсией:</a:t>
            </a:r>
            <a:endParaRPr lang="pt-BR" altLang="ru-RU" sz="2400" i="1" smtClean="0"/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pt-BR" altLang="ru-RU" sz="2400" smtClean="0">
                <a:latin typeface="Times New Roman" pitchFamily="18" charset="0"/>
              </a:rPr>
              <a:t> → </a:t>
            </a:r>
            <a:r>
              <a:rPr lang="pt-BR" altLang="ru-RU" sz="2400" i="1" smtClean="0">
                <a:latin typeface="Times New Roman" pitchFamily="18" charset="0"/>
              </a:rPr>
              <a:t>TU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  <a:r>
              <a:rPr lang="pt-BR" altLang="ru-RU" sz="2400" smtClean="0">
                <a:latin typeface="Times New Roman" pitchFamily="18" charset="0"/>
              </a:rPr>
              <a:t> → + </a:t>
            </a:r>
            <a:r>
              <a:rPr lang="pt-BR" altLang="ru-RU" sz="2400" i="1" smtClean="0">
                <a:latin typeface="Times New Roman" pitchFamily="18" charset="0"/>
              </a:rPr>
              <a:t>TU</a:t>
            </a:r>
            <a:r>
              <a:rPr lang="pt-BR" altLang="ru-RU" sz="2400" smtClean="0">
                <a:latin typeface="Times New Roman" pitchFamily="18" charset="0"/>
              </a:rPr>
              <a:t> | 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endParaRPr lang="pt-BR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T</a:t>
            </a:r>
            <a:r>
              <a:rPr lang="pt-BR" altLang="ru-RU" sz="2400" smtClean="0">
                <a:latin typeface="Times New Roman" pitchFamily="18" charset="0"/>
              </a:rPr>
              <a:t> → </a:t>
            </a:r>
            <a:r>
              <a:rPr lang="pt-BR" altLang="ru-RU" sz="2400" i="1" smtClean="0">
                <a:latin typeface="Times New Roman" pitchFamily="18" charset="0"/>
              </a:rPr>
              <a:t>FV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V</a:t>
            </a:r>
            <a:r>
              <a:rPr lang="pt-BR" altLang="ru-RU" sz="2400" smtClean="0">
                <a:latin typeface="Times New Roman" pitchFamily="18" charset="0"/>
              </a:rPr>
              <a:t> → * </a:t>
            </a:r>
            <a:r>
              <a:rPr lang="pt-BR" altLang="ru-RU" sz="2400" i="1" smtClean="0">
                <a:latin typeface="Times New Roman" pitchFamily="18" charset="0"/>
              </a:rPr>
              <a:t>FV</a:t>
            </a:r>
            <a:r>
              <a:rPr lang="pt-BR" altLang="ru-RU" sz="2400" smtClean="0">
                <a:latin typeface="Times New Roman" pitchFamily="18" charset="0"/>
              </a:rPr>
              <a:t> | λ</a:t>
            </a:r>
            <a:endParaRPr lang="en-US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en-US" altLang="ru-RU" sz="2400" i="1" smtClean="0">
                <a:latin typeface="Times New Roman" pitchFamily="18" charset="0"/>
              </a:rPr>
              <a:t>F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→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После ее преобразования к нестрогой нормальной форме Грейбах получим:</a:t>
            </a:r>
            <a:endParaRPr lang="pt-BR" altLang="ru-RU" sz="2400" i="1" smtClean="0"/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pt-BR" altLang="ru-RU" sz="2400" smtClean="0">
                <a:latin typeface="Times New Roman" pitchFamily="18" charset="0"/>
              </a:rPr>
              <a:t> → 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aV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  <a:r>
              <a:rPr lang="pt-BR" altLang="ru-RU" sz="2400" smtClean="0">
                <a:latin typeface="Times New Roman" pitchFamily="18" charset="0"/>
              </a:rPr>
              <a:t> → + </a:t>
            </a:r>
            <a:r>
              <a:rPr lang="pt-BR" altLang="ru-RU" sz="2400" i="1" smtClean="0">
                <a:latin typeface="Times New Roman" pitchFamily="18" charset="0"/>
              </a:rPr>
              <a:t>TU</a:t>
            </a:r>
            <a:r>
              <a:rPr lang="pt-BR" altLang="ru-RU" sz="2400" smtClean="0">
                <a:latin typeface="Times New Roman" pitchFamily="18" charset="0"/>
              </a:rPr>
              <a:t> | 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endParaRPr lang="pt-BR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T</a:t>
            </a:r>
            <a:r>
              <a:rPr lang="pt-BR" altLang="ru-RU" sz="2400" smtClean="0">
                <a:latin typeface="Times New Roman" pitchFamily="18" charset="0"/>
              </a:rPr>
              <a:t> → (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pt-BR" altLang="ru-RU" sz="2400" smtClean="0">
                <a:latin typeface="Times New Roman" pitchFamily="18" charset="0"/>
              </a:rPr>
              <a:t>)</a:t>
            </a:r>
            <a:r>
              <a:rPr lang="pt-BR" altLang="ru-RU" sz="2400" i="1" smtClean="0">
                <a:latin typeface="Times New Roman" pitchFamily="18" charset="0"/>
              </a:rPr>
              <a:t>V</a:t>
            </a:r>
            <a:r>
              <a:rPr lang="pt-BR" altLang="ru-RU" sz="2400" smtClean="0">
                <a:latin typeface="Times New Roman" pitchFamily="18" charset="0"/>
              </a:rPr>
              <a:t> | </a:t>
            </a:r>
            <a:r>
              <a:rPr lang="pt-BR" altLang="ru-RU" sz="2400" i="1" smtClean="0">
                <a:latin typeface="Times New Roman" pitchFamily="18" charset="0"/>
              </a:rPr>
              <a:t>aV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V</a:t>
            </a:r>
            <a:r>
              <a:rPr lang="pt-BR" altLang="ru-RU" sz="2400" smtClean="0">
                <a:latin typeface="Times New Roman" pitchFamily="18" charset="0"/>
              </a:rPr>
              <a:t> → * </a:t>
            </a:r>
            <a:r>
              <a:rPr lang="pt-BR" altLang="ru-RU" sz="2400" i="1" smtClean="0">
                <a:latin typeface="Times New Roman" pitchFamily="18" charset="0"/>
              </a:rPr>
              <a:t>FV</a:t>
            </a:r>
            <a:r>
              <a:rPr lang="pt-BR" altLang="ru-RU" sz="2400" smtClean="0">
                <a:latin typeface="Times New Roman" pitchFamily="18" charset="0"/>
              </a:rPr>
              <a:t> | λ</a:t>
            </a:r>
            <a:endParaRPr lang="pt-BR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F</a:t>
            </a:r>
            <a:r>
              <a:rPr lang="pt-BR" altLang="ru-RU" sz="2400" smtClean="0">
                <a:latin typeface="Times New Roman" pitchFamily="18" charset="0"/>
              </a:rPr>
              <a:t> → (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pt-BR" altLang="ru-RU" sz="2400" smtClean="0">
                <a:latin typeface="Times New Roman" pitchFamily="18" charset="0"/>
              </a:rPr>
              <a:t>) | </a:t>
            </a:r>
            <a:r>
              <a:rPr lang="pt-BR" altLang="ru-RU" sz="2400" i="1" smtClean="0">
                <a:latin typeface="Times New Roman" pitchFamily="18" charset="0"/>
              </a:rPr>
              <a:t>a</a:t>
            </a:r>
            <a:endParaRPr lang="ru-RU" altLang="ru-RU" sz="2400" i="1" smtClean="0">
              <a:latin typeface="Times New Roman" pitchFamily="18" charset="0"/>
            </a:endParaRPr>
          </a:p>
        </p:txBody>
      </p:sp>
      <p:sp>
        <p:nvSpPr>
          <p:cNvPr id="20484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71D6B8B-D986-425E-A138-5486C23CBF4D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836613"/>
          </a:xfrm>
        </p:spPr>
        <p:txBody>
          <a:bodyPr/>
          <a:lstStyle/>
          <a:p>
            <a:r>
              <a:rPr lang="ru-RU" altLang="ru-RU" sz="3600" b="1" smtClean="0">
                <a:solidFill>
                  <a:schemeClr val="accent2"/>
                </a:solidFill>
              </a:rPr>
              <a:t>Детерминированный </a:t>
            </a:r>
            <a:r>
              <a:rPr lang="en-US" altLang="ru-RU" sz="3600" b="1" smtClean="0">
                <a:solidFill>
                  <a:schemeClr val="accent2"/>
                </a:solidFill>
              </a:rPr>
              <a:t>LL</a:t>
            </a:r>
            <a:r>
              <a:rPr lang="ru-RU" altLang="ru-RU" sz="3600" b="1" smtClean="0">
                <a:solidFill>
                  <a:schemeClr val="accent2"/>
                </a:solidFill>
              </a:rPr>
              <a:t>-анализ</a:t>
            </a:r>
            <a:r>
              <a:rPr lang="ru-RU" altLang="ru-RU" smtClean="0"/>
              <a:t> 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68413"/>
            <a:ext cx="8229600" cy="5256212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800" smtClean="0"/>
              <a:t>КС-грамматика</a:t>
            </a:r>
            <a:r>
              <a:rPr lang="en-US" altLang="ru-RU" sz="2800" smtClean="0"/>
              <a:t> </a:t>
            </a:r>
            <a:r>
              <a:rPr lang="ru-RU" altLang="ru-RU" sz="2800" smtClean="0"/>
              <a:t>в нестрогой нормальной форме Грейбах допускает детерминированный      </a:t>
            </a:r>
            <a:r>
              <a:rPr lang="en-US" altLang="ru-RU" sz="2800" smtClean="0"/>
              <a:t>LL</a:t>
            </a:r>
            <a:r>
              <a:rPr lang="ru-RU" altLang="ru-RU" sz="2800" smtClean="0"/>
              <a:t>-анализ, если для каждой группы порождающих правил с одним и тем же нетерминалом в левой части правые части будут однозначно различимы по нескольким первым терминальным символам. </a:t>
            </a:r>
          </a:p>
          <a:p>
            <a:pPr>
              <a:buFontTx/>
              <a:buNone/>
            </a:pPr>
            <a:endParaRPr lang="ru-RU" altLang="ru-RU" sz="2800" smtClean="0"/>
          </a:p>
          <a:p>
            <a:pPr>
              <a:buFontTx/>
              <a:buNone/>
            </a:pPr>
            <a:r>
              <a:rPr lang="en-US" altLang="ru-RU" sz="2800" smtClean="0"/>
              <a:t>LL</a:t>
            </a:r>
            <a:r>
              <a:rPr lang="ru-RU" altLang="ru-RU" sz="2800" smtClean="0"/>
              <a:t>(1)-анализатор выполняет </a:t>
            </a:r>
            <a:r>
              <a:rPr lang="en-US" altLang="ru-RU" sz="2800" smtClean="0"/>
              <a:t>LL</a:t>
            </a:r>
            <a:r>
              <a:rPr lang="ru-RU" altLang="ru-RU" sz="2800" smtClean="0"/>
              <a:t>(1)-анализ, если правые части правил грамматики различимы по одному первому терминальному символу.</a:t>
            </a:r>
          </a:p>
        </p:txBody>
      </p:sp>
      <p:sp>
        <p:nvSpPr>
          <p:cNvPr id="21508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9AD2FA9-70FD-4D1F-8C24-B46430397770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484313"/>
          </a:xfrm>
        </p:spPr>
        <p:txBody>
          <a:bodyPr/>
          <a:lstStyle/>
          <a:p>
            <a:r>
              <a:rPr lang="ru-RU" altLang="ru-RU" sz="3600" smtClean="0">
                <a:solidFill>
                  <a:schemeClr val="accent2"/>
                </a:solidFill>
              </a:rPr>
              <a:t>Преобразование порождающих правил: факторизация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если в грамматике есть правила вида:</a:t>
            </a:r>
            <a:endParaRPr lang="pt-BR" altLang="ru-RU" sz="2400" i="1" smtClean="0"/>
          </a:p>
          <a:p>
            <a:pPr algn="r">
              <a:lnSpc>
                <a:spcPct val="90000"/>
              </a:lnSpc>
              <a:buFontTx/>
              <a:buNone/>
            </a:pPr>
            <a:r>
              <a:rPr lang="ru-RU" altLang="ru-RU" sz="2400" i="1" smtClean="0"/>
              <a:t>		</a:t>
            </a:r>
            <a:r>
              <a:rPr lang="en-US" altLang="ru-RU" sz="2400" i="1" smtClean="0"/>
              <a:t>	</a:t>
            </a:r>
            <a:r>
              <a:rPr lang="pt-BR" altLang="ru-RU" sz="2400" i="1" smtClean="0">
                <a:latin typeface="Times New Roman" pitchFamily="18" charset="0"/>
              </a:rPr>
              <a:t>A</a:t>
            </a:r>
            <a:r>
              <a:rPr lang="pt-BR" altLang="ru-RU" sz="2400" smtClean="0">
                <a:latin typeface="Times New Roman" pitchFamily="18" charset="0"/>
              </a:rPr>
              <a:t> → </a:t>
            </a:r>
            <a:r>
              <a:rPr lang="pt-BR" altLang="ru-RU" sz="2400" i="1" smtClean="0">
                <a:latin typeface="Times New Roman" pitchFamily="18" charset="0"/>
              </a:rPr>
              <a:t>a</a:t>
            </a:r>
            <a:r>
              <a:rPr lang="el-GR" altLang="ru-RU" sz="2400" smtClean="0">
                <a:latin typeface="Times New Roman" pitchFamily="18" charset="0"/>
                <a:cs typeface="Arial" charset="0"/>
              </a:rPr>
              <a:t>β</a:t>
            </a:r>
            <a:r>
              <a:rPr lang="pt-BR" altLang="ru-RU" sz="2400" smtClean="0">
                <a:latin typeface="Times New Roman" pitchFamily="18" charset="0"/>
              </a:rPr>
              <a:t>ω</a:t>
            </a:r>
            <a:r>
              <a:rPr lang="pt-BR" altLang="ru-RU" sz="2400" baseline="-25000" smtClean="0">
                <a:latin typeface="Times New Roman" pitchFamily="18" charset="0"/>
              </a:rPr>
              <a:t>1</a:t>
            </a:r>
            <a:r>
              <a:rPr lang="pt-BR" altLang="ru-RU" sz="2400" smtClean="0">
                <a:latin typeface="Times New Roman" pitchFamily="18" charset="0"/>
              </a:rPr>
              <a:t> | </a:t>
            </a:r>
            <a:r>
              <a:rPr lang="pt-BR" altLang="ru-RU" sz="2400" i="1" smtClean="0">
                <a:latin typeface="Times New Roman" pitchFamily="18" charset="0"/>
              </a:rPr>
              <a:t>a</a:t>
            </a:r>
            <a:r>
              <a:rPr lang="el-GR" altLang="ru-RU" sz="2400" smtClean="0">
                <a:latin typeface="Times New Roman" pitchFamily="18" charset="0"/>
                <a:cs typeface="Arial" charset="0"/>
              </a:rPr>
              <a:t>β</a:t>
            </a:r>
            <a:r>
              <a:rPr lang="pt-BR" altLang="ru-RU" sz="2400" smtClean="0">
                <a:latin typeface="Times New Roman" pitchFamily="18" charset="0"/>
              </a:rPr>
              <a:t>ω</a:t>
            </a:r>
            <a:r>
              <a:rPr lang="pt-BR" altLang="ru-RU" sz="2400" baseline="-25000" smtClean="0">
                <a:latin typeface="Times New Roman" pitchFamily="18" charset="0"/>
              </a:rPr>
              <a:t>2</a:t>
            </a:r>
            <a:r>
              <a:rPr lang="pt-BR" altLang="ru-RU" sz="2400" i="1" smtClean="0">
                <a:latin typeface="Times New Roman" pitchFamily="18" charset="0"/>
              </a:rPr>
              <a:t> </a:t>
            </a:r>
            <a:r>
              <a:rPr lang="pt-BR" altLang="ru-RU" sz="2400" smtClean="0">
                <a:latin typeface="Times New Roman" pitchFamily="18" charset="0"/>
              </a:rPr>
              <a:t>| . . . | </a:t>
            </a:r>
            <a:r>
              <a:rPr lang="pt-BR" altLang="ru-RU" sz="2400" i="1" smtClean="0">
                <a:latin typeface="Times New Roman" pitchFamily="18" charset="0"/>
              </a:rPr>
              <a:t>a</a:t>
            </a:r>
            <a:r>
              <a:rPr lang="el-GR" altLang="ru-RU" sz="2400" smtClean="0">
                <a:latin typeface="Times New Roman" pitchFamily="18" charset="0"/>
                <a:cs typeface="Arial" charset="0"/>
              </a:rPr>
              <a:t>β</a:t>
            </a:r>
            <a:r>
              <a:rPr lang="pt-BR" altLang="ru-RU" sz="2400" smtClean="0">
                <a:latin typeface="Times New Roman" pitchFamily="18" charset="0"/>
              </a:rPr>
              <a:t>ω</a:t>
            </a:r>
            <a:r>
              <a:rPr lang="pt-BR" altLang="ru-RU" sz="2400" i="1" baseline="-25000" smtClean="0">
                <a:latin typeface="Times New Roman" pitchFamily="18" charset="0"/>
              </a:rPr>
              <a:t>n</a:t>
            </a:r>
            <a:r>
              <a:rPr lang="ru-RU" altLang="ru-RU" sz="2400" smtClean="0"/>
              <a:t> 	</a:t>
            </a:r>
            <a:r>
              <a:rPr lang="en-US" altLang="ru-RU" sz="2400" smtClean="0"/>
              <a:t>	</a:t>
            </a:r>
            <a:r>
              <a:rPr lang="ru-RU" altLang="ru-RU" sz="2400" smtClean="0"/>
              <a:t>	</a:t>
            </a:r>
            <a:r>
              <a:rPr lang="en-US" altLang="ru-RU" sz="2400" smtClean="0"/>
              <a:t>   </a:t>
            </a:r>
            <a:r>
              <a:rPr lang="ru-RU" altLang="ru-RU" sz="2400" smtClean="0"/>
              <a:t>(*)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Добавим в грамматику нетерминал </a:t>
            </a:r>
            <a:r>
              <a:rPr lang="en-US" altLang="ru-RU" sz="2400" i="1" smtClean="0">
                <a:latin typeface="Times New Roman" pitchFamily="18" charset="0"/>
              </a:rPr>
              <a:t>B</a:t>
            </a:r>
            <a:r>
              <a:rPr lang="en-US" altLang="ru-RU" sz="2400" smtClean="0"/>
              <a:t> </a:t>
            </a:r>
            <a:r>
              <a:rPr lang="ru-RU" altLang="ru-RU" sz="2400" smtClean="0"/>
              <a:t>и вместо правил (*) включим в грамматику следующие правила:</a:t>
            </a:r>
            <a:endParaRPr lang="pt-BR" altLang="ru-RU" sz="2400" i="1" smtClean="0"/>
          </a:p>
          <a:p>
            <a:pPr algn="r">
              <a:lnSpc>
                <a:spcPct val="90000"/>
              </a:lnSpc>
              <a:buFontTx/>
              <a:buNone/>
            </a:pPr>
            <a:r>
              <a:rPr lang="pt-BR" altLang="ru-RU" sz="2400" i="1" smtClean="0">
                <a:latin typeface="Times New Roman" pitchFamily="18" charset="0"/>
              </a:rPr>
              <a:t>A</a:t>
            </a:r>
            <a:r>
              <a:rPr lang="pt-BR" altLang="ru-RU" sz="2400" smtClean="0">
                <a:latin typeface="Times New Roman" pitchFamily="18" charset="0"/>
              </a:rPr>
              <a:t> → </a:t>
            </a:r>
            <a:r>
              <a:rPr lang="pt-BR" altLang="ru-RU" sz="2400" i="1" smtClean="0">
                <a:latin typeface="Times New Roman" pitchFamily="18" charset="0"/>
              </a:rPr>
              <a:t>a</a:t>
            </a:r>
            <a:r>
              <a:rPr lang="el-GR" altLang="ru-RU" sz="2400" smtClean="0">
                <a:latin typeface="Times New Roman" pitchFamily="18" charset="0"/>
                <a:cs typeface="Arial" charset="0"/>
              </a:rPr>
              <a:t>β</a:t>
            </a:r>
            <a:r>
              <a:rPr lang="en-US" altLang="ru-RU" sz="2400" i="1" smtClean="0">
                <a:latin typeface="Times New Roman" pitchFamily="18" charset="0"/>
              </a:rPr>
              <a:t>B 	</a:t>
            </a:r>
            <a:r>
              <a:rPr lang="en-US" altLang="ru-RU" sz="2400" i="1" smtClean="0"/>
              <a:t> 	</a:t>
            </a:r>
            <a:r>
              <a:rPr lang="ru-RU" altLang="ru-RU" sz="2400" smtClean="0"/>
              <a:t> 			</a:t>
            </a:r>
            <a:r>
              <a:rPr lang="en-US" altLang="ru-RU" sz="2400" smtClean="0"/>
              <a:t>  </a:t>
            </a:r>
            <a:r>
              <a:rPr lang="ru-RU" altLang="ru-RU" sz="2400" smtClean="0"/>
              <a:t>(**)</a:t>
            </a:r>
            <a:endParaRPr lang="pt-BR" altLang="ru-RU" sz="2400" i="1" smtClean="0"/>
          </a:p>
          <a:p>
            <a:pPr algn="r">
              <a:lnSpc>
                <a:spcPct val="90000"/>
              </a:lnSpc>
              <a:buFontTx/>
              <a:buNone/>
            </a:pPr>
            <a:r>
              <a:rPr lang="pt-BR" altLang="ru-RU" sz="2400" i="1" smtClean="0">
                <a:latin typeface="Times New Roman" pitchFamily="18" charset="0"/>
              </a:rPr>
              <a:t>B</a:t>
            </a:r>
            <a:r>
              <a:rPr lang="pt-BR" altLang="ru-RU" sz="2400" smtClean="0">
                <a:latin typeface="Times New Roman" pitchFamily="18" charset="0"/>
              </a:rPr>
              <a:t> → ω</a:t>
            </a:r>
            <a:r>
              <a:rPr lang="pt-BR" altLang="ru-RU" sz="2400" baseline="-25000" smtClean="0">
                <a:latin typeface="Times New Roman" pitchFamily="18" charset="0"/>
              </a:rPr>
              <a:t>1</a:t>
            </a:r>
            <a:r>
              <a:rPr lang="pt-BR" altLang="ru-RU" sz="2400" smtClean="0">
                <a:latin typeface="Times New Roman" pitchFamily="18" charset="0"/>
              </a:rPr>
              <a:t> | ω</a:t>
            </a:r>
            <a:r>
              <a:rPr lang="pt-BR" altLang="ru-RU" sz="2400" baseline="-25000" smtClean="0">
                <a:latin typeface="Times New Roman" pitchFamily="18" charset="0"/>
              </a:rPr>
              <a:t>2</a:t>
            </a:r>
            <a:r>
              <a:rPr lang="pt-BR" altLang="ru-RU" sz="2400" i="1" smtClean="0">
                <a:latin typeface="Times New Roman" pitchFamily="18" charset="0"/>
              </a:rPr>
              <a:t> </a:t>
            </a:r>
            <a:r>
              <a:rPr lang="pt-BR" altLang="ru-RU" sz="2400" smtClean="0">
                <a:latin typeface="Times New Roman" pitchFamily="18" charset="0"/>
              </a:rPr>
              <a:t>| . . . | ω</a:t>
            </a:r>
            <a:r>
              <a:rPr lang="pt-BR" altLang="ru-RU" sz="2400" i="1" baseline="-25000" smtClean="0">
                <a:latin typeface="Times New Roman" pitchFamily="18" charset="0"/>
              </a:rPr>
              <a:t>n</a:t>
            </a:r>
            <a:r>
              <a:rPr lang="ru-RU" altLang="ru-RU" sz="2400" smtClean="0"/>
              <a:t> 	</a:t>
            </a:r>
            <a:r>
              <a:rPr lang="en-US" altLang="ru-RU" sz="2400" smtClean="0"/>
              <a:t>	</a:t>
            </a:r>
            <a:r>
              <a:rPr lang="ru-RU" altLang="ru-RU" sz="2400" smtClean="0"/>
              <a:t>		(***)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Затем получившиеся правила (***) следует преобразовать к нестрогой нормальной форме Грейбах.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/>
              <a:t>Если это удастся, то для преобразованной грамматики становится возможным </a:t>
            </a:r>
            <a:r>
              <a:rPr lang="en-US" altLang="ru-RU" sz="2400" smtClean="0"/>
              <a:t>LL</a:t>
            </a:r>
            <a:r>
              <a:rPr lang="ru-RU" altLang="ru-RU" sz="2400" smtClean="0"/>
              <a:t>(1)-анализ.</a:t>
            </a:r>
          </a:p>
        </p:txBody>
      </p:sp>
      <p:sp>
        <p:nvSpPr>
          <p:cNvPr id="2253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5C575A2-B747-4691-A89B-19318DA692A4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ru-RU" altLang="ru-RU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288" y="274638"/>
            <a:ext cx="8291512" cy="777875"/>
          </a:xfrm>
        </p:spPr>
        <p:txBody>
          <a:bodyPr/>
          <a:lstStyle/>
          <a:p>
            <a:r>
              <a:rPr lang="ru-RU" altLang="ru-RU" sz="3200" smtClean="0">
                <a:solidFill>
                  <a:schemeClr val="accent2"/>
                </a:solidFill>
              </a:rPr>
              <a:t>Построение </a:t>
            </a:r>
            <a:r>
              <a:rPr lang="en-US" altLang="ru-RU" sz="3200" smtClean="0">
                <a:solidFill>
                  <a:schemeClr val="accent2"/>
                </a:solidFill>
              </a:rPr>
              <a:t>LL</a:t>
            </a:r>
            <a:r>
              <a:rPr lang="ru-RU" altLang="ru-RU" sz="3200" smtClean="0">
                <a:solidFill>
                  <a:schemeClr val="accent2"/>
                </a:solidFill>
              </a:rPr>
              <a:t>(1)-анализатора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68413"/>
            <a:ext cx="8686800" cy="5256212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Пусть входная цепочка символов всегда заканчивается символом-ограничителем </a:t>
            </a:r>
            <a:r>
              <a:rPr lang="ru-RU" altLang="ru-RU" sz="2800" baseline="-25000" smtClean="0"/>
              <a:t>┴</a:t>
            </a:r>
            <a:r>
              <a:rPr lang="ru-RU" altLang="ru-RU" sz="2400" smtClean="0"/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240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Таблица </a:t>
            </a:r>
            <a:r>
              <a:rPr lang="en-US" altLang="ru-RU" sz="2400" smtClean="0"/>
              <a:t>LL</a:t>
            </a:r>
            <a:r>
              <a:rPr lang="ru-RU" altLang="ru-RU" sz="2400" smtClean="0"/>
              <a:t>(1)-анализатора: столбцы помечены терминальными символами (включая </a:t>
            </a:r>
            <a:r>
              <a:rPr lang="ru-RU" altLang="ru-RU" sz="2800" baseline="-25000" smtClean="0"/>
              <a:t>┴</a:t>
            </a:r>
            <a:r>
              <a:rPr lang="ru-RU" altLang="ru-RU" sz="2400" smtClean="0"/>
              <a:t>), а строки – нетерминалами преобразованной грамматики.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240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Для каждого из правил вида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 → 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γ</a:t>
            </a:r>
            <a:r>
              <a:rPr lang="ru-RU" altLang="ru-RU" sz="2400" smtClean="0"/>
              <a:t>, правая часть заносится на пересечение строки, помеченной нетерминалом</a:t>
            </a:r>
            <a:r>
              <a:rPr lang="ru-RU" altLang="ru-RU" sz="2400" i="1" smtClean="0"/>
              <a:t>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/>
              <a:t>, и столбца, помеченного терминалом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smtClean="0"/>
              <a:t>. Если же правая часть правила пустая, то во все клетки строки, не занятые другими правилами, записывается </a:t>
            </a:r>
            <a:r>
              <a:rPr lang="pt-BR" altLang="ru-RU" sz="2400" smtClean="0">
                <a:latin typeface="Times New Roman" pitchFamily="18" charset="0"/>
              </a:rPr>
              <a:t>λ</a:t>
            </a:r>
            <a:r>
              <a:rPr lang="ru-RU" altLang="ru-RU" sz="2400" smtClean="0"/>
              <a:t>. 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240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До начала работы в магазин записывается ограничитель </a:t>
            </a:r>
            <a:r>
              <a:rPr lang="ru-RU" altLang="ru-RU" sz="2800" baseline="-25000" smtClean="0"/>
              <a:t>┴</a:t>
            </a:r>
            <a:r>
              <a:rPr lang="ru-RU" altLang="ru-RU" sz="2400" smtClean="0"/>
              <a:t> , а затем начальный нетерминал.</a:t>
            </a:r>
            <a:r>
              <a:rPr lang="ru-RU" altLang="ru-RU" smtClean="0"/>
              <a:t> </a:t>
            </a:r>
            <a:r>
              <a:rPr lang="ru-RU" altLang="ru-RU" sz="2400" smtClean="0"/>
              <a:t> </a:t>
            </a:r>
          </a:p>
        </p:txBody>
      </p:sp>
      <p:sp>
        <p:nvSpPr>
          <p:cNvPr id="23556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DDE1BCA-2F5F-415D-8248-AFFE39015158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333375"/>
            <a:ext cx="8507413" cy="626427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200" smtClean="0"/>
              <a:t>На каждом шаге анализатор проверяет, допустим ли очередной входной символ, и если да, то выполняет одно из двух действий: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200" smtClean="0"/>
              <a:t>1) если в вершине магазина нетерминал, то, в зависимости от того, каков очередной входной символ, этот нетерминал заменяется символами правой части соответствующего правила, причем символы записываются в обратном порядке. Если для очередного входного символа в таблице записано </a:t>
            </a:r>
            <a:r>
              <a:rPr lang="pt-BR" altLang="ru-RU" sz="2200" smtClean="0"/>
              <a:t>λ</a:t>
            </a:r>
            <a:r>
              <a:rPr lang="ru-RU" altLang="ru-RU" sz="2200" smtClean="0"/>
              <a:t>, то нетерминал удаляется из магазина, а если в таблице пустая клетка, то анализатор прекращает цикл из-за ошибочного символа во входной цепочке;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200" smtClean="0"/>
              <a:t>2) если в вершине магазина терминал, то он сравнивается с очередным входным символом. При совпадении терминал удаляется из магазина и делается переход к следующему символу входной цепочки. При несовпадении анализатор прекращает цикл из-за ошибочного символа во входной цепочке.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200" smtClean="0"/>
              <a:t>Цикл завершается, когда входная цепочка символов оказалась вся просмотрена, т.е. на входе – символ </a:t>
            </a:r>
            <a:r>
              <a:rPr lang="ru-RU" altLang="ru-RU" sz="2400" baseline="-25000" smtClean="0"/>
              <a:t>┴</a:t>
            </a:r>
            <a:r>
              <a:rPr lang="ru-RU" altLang="ru-RU" sz="2200" smtClean="0"/>
              <a:t>. Если при этом в магазине символ </a:t>
            </a:r>
            <a:r>
              <a:rPr lang="ru-RU" altLang="ru-RU" sz="2400" baseline="-25000" smtClean="0"/>
              <a:t>┴</a:t>
            </a:r>
            <a:r>
              <a:rPr lang="ru-RU" altLang="ru-RU" sz="2200" smtClean="0"/>
              <a:t>, то входная цепочка символов считается распознанной, если нет – то нераспознанной.</a:t>
            </a:r>
          </a:p>
        </p:txBody>
      </p:sp>
      <p:sp>
        <p:nvSpPr>
          <p:cNvPr id="24580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E1C8924-5768-4B59-9883-2D1CE4754F4B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3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130175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50825" y="260350"/>
            <a:ext cx="8497888" cy="2808288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/>
              <a:t>Пример. </a:t>
            </a:r>
            <a:r>
              <a:rPr lang="ru-RU" altLang="ru-RU" sz="2400" smtClean="0">
                <a:latin typeface="Times New Roman" pitchFamily="18" charset="0"/>
              </a:rPr>
              <a:t>Грамматика простых арифметических выражений, преобразованная к нестрогой нормальной форме Грейбах:</a:t>
            </a:r>
            <a:r>
              <a:rPr lang="ru-RU" altLang="ru-RU" sz="2400" smtClean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endParaRPr lang="pt-BR" altLang="ru-RU" sz="1000" i="1" smtClean="0"/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pt-BR" altLang="ru-RU" sz="2400" smtClean="0">
                <a:latin typeface="Times New Roman" pitchFamily="18" charset="0"/>
              </a:rPr>
              <a:t> → 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</a:rPr>
              <a:t>)</a:t>
            </a:r>
            <a:r>
              <a:rPr lang="en-US" altLang="ru-RU" sz="2400" i="1" smtClean="0">
                <a:latin typeface="Times New Roman" pitchFamily="18" charset="0"/>
              </a:rPr>
              <a:t>V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|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aV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U</a:t>
            </a:r>
            <a:r>
              <a:rPr lang="pt-BR" altLang="ru-RU" sz="2400" smtClean="0">
                <a:latin typeface="Times New Roman" pitchFamily="18" charset="0"/>
              </a:rPr>
              <a:t> → + </a:t>
            </a:r>
            <a:r>
              <a:rPr lang="pt-BR" altLang="ru-RU" sz="2400" i="1" smtClean="0">
                <a:latin typeface="Times New Roman" pitchFamily="18" charset="0"/>
              </a:rPr>
              <a:t>TU</a:t>
            </a:r>
            <a:r>
              <a:rPr lang="pt-BR" altLang="ru-RU" sz="2400" smtClean="0">
                <a:latin typeface="Times New Roman" pitchFamily="18" charset="0"/>
              </a:rPr>
              <a:t> | </a:t>
            </a:r>
            <a:r>
              <a:rPr lang="en-US" altLang="ru-RU" sz="2400" smtClean="0">
                <a:latin typeface="Times New Roman" pitchFamily="18" charset="0"/>
              </a:rPr>
              <a:t>λ</a:t>
            </a:r>
            <a:endParaRPr lang="pt-BR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T</a:t>
            </a:r>
            <a:r>
              <a:rPr lang="pt-BR" altLang="ru-RU" sz="2400" smtClean="0">
                <a:latin typeface="Times New Roman" pitchFamily="18" charset="0"/>
              </a:rPr>
              <a:t> → (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pt-BR" altLang="ru-RU" sz="2400" smtClean="0">
                <a:latin typeface="Times New Roman" pitchFamily="18" charset="0"/>
              </a:rPr>
              <a:t>)</a:t>
            </a:r>
            <a:r>
              <a:rPr lang="pt-BR" altLang="ru-RU" sz="2400" i="1" smtClean="0">
                <a:latin typeface="Times New Roman" pitchFamily="18" charset="0"/>
              </a:rPr>
              <a:t>V</a:t>
            </a:r>
            <a:r>
              <a:rPr lang="pt-BR" altLang="ru-RU" sz="2400" smtClean="0">
                <a:latin typeface="Times New Roman" pitchFamily="18" charset="0"/>
              </a:rPr>
              <a:t> | </a:t>
            </a:r>
            <a:r>
              <a:rPr lang="pt-BR" altLang="ru-RU" sz="2400" i="1" smtClean="0">
                <a:latin typeface="Times New Roman" pitchFamily="18" charset="0"/>
              </a:rPr>
              <a:t>aV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V</a:t>
            </a:r>
            <a:r>
              <a:rPr lang="pt-BR" altLang="ru-RU" sz="2400" smtClean="0">
                <a:latin typeface="Times New Roman" pitchFamily="18" charset="0"/>
              </a:rPr>
              <a:t> → * </a:t>
            </a:r>
            <a:r>
              <a:rPr lang="pt-BR" altLang="ru-RU" sz="2400" i="1" smtClean="0">
                <a:latin typeface="Times New Roman" pitchFamily="18" charset="0"/>
              </a:rPr>
              <a:t>FV</a:t>
            </a:r>
            <a:r>
              <a:rPr lang="pt-BR" altLang="ru-RU" sz="2400" smtClean="0">
                <a:latin typeface="Times New Roman" pitchFamily="18" charset="0"/>
              </a:rPr>
              <a:t> | λ</a:t>
            </a:r>
            <a:endParaRPr lang="pt-BR" altLang="ru-RU" sz="2400" i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i="1" smtClean="0">
                <a:latin typeface="Times New Roman" pitchFamily="18" charset="0"/>
              </a:rPr>
              <a:t>				</a:t>
            </a:r>
            <a:r>
              <a:rPr lang="pt-BR" altLang="ru-RU" sz="2400" i="1" smtClean="0">
                <a:latin typeface="Times New Roman" pitchFamily="18" charset="0"/>
              </a:rPr>
              <a:t>F</a:t>
            </a:r>
            <a:r>
              <a:rPr lang="pt-BR" altLang="ru-RU" sz="2400" smtClean="0">
                <a:latin typeface="Times New Roman" pitchFamily="18" charset="0"/>
              </a:rPr>
              <a:t> → (</a:t>
            </a:r>
            <a:r>
              <a:rPr lang="pt-BR" altLang="ru-RU" sz="2400" i="1" smtClean="0">
                <a:latin typeface="Times New Roman" pitchFamily="18" charset="0"/>
              </a:rPr>
              <a:t>S</a:t>
            </a:r>
            <a:r>
              <a:rPr lang="pt-BR" altLang="ru-RU" sz="2400" smtClean="0">
                <a:latin typeface="Times New Roman" pitchFamily="18" charset="0"/>
              </a:rPr>
              <a:t>) | </a:t>
            </a:r>
            <a:r>
              <a:rPr lang="pt-BR" altLang="ru-RU" sz="2400" i="1" smtClean="0">
                <a:latin typeface="Times New Roman" pitchFamily="18" charset="0"/>
              </a:rPr>
              <a:t>a</a:t>
            </a:r>
            <a:endParaRPr lang="ru-RU" altLang="ru-RU" sz="2400" i="1" smtClean="0">
              <a:latin typeface="Times New Roman" pitchFamily="18" charset="0"/>
            </a:endParaRPr>
          </a:p>
        </p:txBody>
      </p:sp>
      <p:graphicFrame>
        <p:nvGraphicFramePr>
          <p:cNvPr id="25682" name="Group 82"/>
          <p:cNvGraphicFramePr>
            <a:graphicFrameLocks noGrp="1"/>
          </p:cNvGraphicFramePr>
          <p:nvPr>
            <p:ph sz="half" idx="4294967295"/>
          </p:nvPr>
        </p:nvGraphicFramePr>
        <p:xfrm>
          <a:off x="611188" y="3357563"/>
          <a:ext cx="7848600" cy="2803525"/>
        </p:xfrm>
        <a:graphic>
          <a:graphicData uri="http://schemas.openxmlformats.org/drawingml/2006/table">
            <a:tbl>
              <a:tblPr/>
              <a:tblGrid>
                <a:gridCol w="1120775"/>
                <a:gridCol w="1122362"/>
                <a:gridCol w="1120775"/>
                <a:gridCol w="1120775"/>
                <a:gridCol w="1120775"/>
                <a:gridCol w="1122363"/>
                <a:gridCol w="1120775"/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 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FV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66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1D2602E-9A58-4E42-91A0-30C22FB10261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476250"/>
          </a:xfrm>
        </p:spPr>
        <p:txBody>
          <a:bodyPr/>
          <a:lstStyle/>
          <a:p>
            <a:pPr algn="l"/>
            <a:r>
              <a:rPr lang="ru-RU" altLang="ru-RU" sz="2200" smtClean="0"/>
              <a:t>Пример. Анализ цепочки </a:t>
            </a:r>
            <a:r>
              <a:rPr lang="en-US" altLang="ru-RU" sz="22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 </a:t>
            </a:r>
            <a:r>
              <a:rPr lang="ru-RU" altLang="ru-RU" sz="22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ru-RU" sz="22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a * a </a:t>
            </a:r>
            <a:r>
              <a:rPr lang="ru-RU" altLang="ru-RU" sz="2200" baseline="-25000" smtClean="0"/>
              <a:t>┴</a:t>
            </a:r>
            <a:r>
              <a:rPr lang="ru-RU" altLang="ru-RU" sz="3500" i="1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graphicFrame>
        <p:nvGraphicFramePr>
          <p:cNvPr id="96259" name="Group 3"/>
          <p:cNvGraphicFramePr>
            <a:graphicFrameLocks noGrp="1"/>
          </p:cNvGraphicFramePr>
          <p:nvPr>
            <p:ph idx="4294967295"/>
          </p:nvPr>
        </p:nvGraphicFramePr>
        <p:xfrm>
          <a:off x="539750" y="549275"/>
          <a:ext cx="7920038" cy="6229350"/>
        </p:xfrm>
        <a:graphic>
          <a:graphicData uri="http://schemas.openxmlformats.org/drawingml/2006/table">
            <a:tbl>
              <a:tblPr/>
              <a:tblGrid>
                <a:gridCol w="1150938"/>
                <a:gridCol w="2233612"/>
                <a:gridCol w="2447925"/>
                <a:gridCol w="2087563"/>
              </a:tblGrid>
              <a:tr h="42701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№ шага 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Вход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Магазин 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Правило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47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 </a:t>
                      </a:r>
                      <a:r>
                        <a:rPr kumimoji="0" lang="ru-RU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a * a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 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aVU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aVU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9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VU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 </a:t>
                      </a: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 + </a:t>
                      </a: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</a:t>
                      </a:r>
                      <a:endParaRPr kumimoji="0" lang="ru-RU" alt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+ </a:t>
                      </a: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 </a:t>
                      </a:r>
                      <a:endParaRPr kumimoji="0" lang="ru-RU" alt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* a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aVU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a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VU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 * </a:t>
                      </a: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FV</a:t>
                      </a:r>
                      <a:endParaRPr kumimoji="0" lang="ru-RU" alt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9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 a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 </a:t>
                      </a: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FVU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FVU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alt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9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aVU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VU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 </a:t>
                      </a: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  <a:endParaRPr kumimoji="0" lang="ru-RU" alt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 </a:t>
                      </a: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 </a:t>
                      </a: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altLang="ru-RU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ru-RU" alt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endParaRPr kumimoji="0" lang="ru-RU" altLang="ru-RU" sz="21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709" name="Номер слайда 1"/>
          <p:cNvSpPr txBox="1">
            <a:spLocks noGrp="1"/>
          </p:cNvSpPr>
          <p:nvPr/>
        </p:nvSpPr>
        <p:spPr bwMode="auto">
          <a:xfrm>
            <a:off x="6804025" y="6308725"/>
            <a:ext cx="2133600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002D191-0463-48DA-912E-DC635D5B092B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333375"/>
            <a:ext cx="8229600" cy="6121400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На рисунке изображено </a:t>
            </a:r>
            <a:r>
              <a:rPr lang="ru-RU" altLang="ru-RU" sz="2400" b="1" i="1" smtClean="0">
                <a:latin typeface="Times New Roman" pitchFamily="18" charset="0"/>
              </a:rPr>
              <a:t>неявно строящееся </a:t>
            </a:r>
            <a:r>
              <a:rPr lang="ru-RU" altLang="ru-RU" sz="2400" smtClean="0">
                <a:latin typeface="Times New Roman" pitchFamily="18" charset="0"/>
              </a:rPr>
              <a:t>при анализе дерево порождения  цепочки: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ru-RU" altLang="ru-RU" sz="2400" smtClean="0">
                <a:latin typeface="Times New Roman" pitchFamily="18" charset="0"/>
              </a:rPr>
              <a:t>+</a:t>
            </a:r>
            <a:r>
              <a:rPr lang="en-US" altLang="ru-RU" sz="2400" smtClean="0">
                <a:latin typeface="Times New Roman" pitchFamily="18" charset="0"/>
              </a:rPr>
              <a:t> </a:t>
            </a:r>
            <a:r>
              <a:rPr lang="en-US" altLang="ru-RU" sz="2400" i="1" smtClean="0">
                <a:latin typeface="Times New Roman" pitchFamily="18" charset="0"/>
              </a:rPr>
              <a:t>a * a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</p:txBody>
      </p:sp>
      <p:sp>
        <p:nvSpPr>
          <p:cNvPr id="27652" name="AutoShape 5"/>
          <p:cNvSpPr>
            <a:spLocks noChangeAspect="1" noChangeArrowheads="1"/>
          </p:cNvSpPr>
          <p:nvPr/>
        </p:nvSpPr>
        <p:spPr bwMode="auto">
          <a:xfrm>
            <a:off x="827088" y="1484313"/>
            <a:ext cx="7777162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7653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E334467-5217-4E6D-888E-9B6EAFA1B252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ru-RU" altLang="ru-RU" sz="1400"/>
          </a:p>
        </p:txBody>
      </p:sp>
      <p:grpSp>
        <p:nvGrpSpPr>
          <p:cNvPr id="27654" name="Group 6"/>
          <p:cNvGrpSpPr>
            <a:grpSpLocks/>
          </p:cNvGrpSpPr>
          <p:nvPr/>
        </p:nvGrpSpPr>
        <p:grpSpPr bwMode="auto">
          <a:xfrm>
            <a:off x="1763713" y="1341438"/>
            <a:ext cx="5113337" cy="4824412"/>
            <a:chOff x="1897" y="1074"/>
            <a:chExt cx="3088" cy="2989"/>
          </a:xfrm>
        </p:grpSpPr>
        <p:sp>
          <p:nvSpPr>
            <p:cNvPr id="27655" name="Text Box 6"/>
            <p:cNvSpPr txBox="1">
              <a:spLocks noChangeArrowheads="1"/>
            </p:cNvSpPr>
            <p:nvPr/>
          </p:nvSpPr>
          <p:spPr bwMode="auto">
            <a:xfrm>
              <a:off x="2572" y="1074"/>
              <a:ext cx="336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S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56" name="Text Box 7"/>
            <p:cNvSpPr txBox="1">
              <a:spLocks noChangeArrowheads="1"/>
            </p:cNvSpPr>
            <p:nvPr/>
          </p:nvSpPr>
          <p:spPr bwMode="auto">
            <a:xfrm>
              <a:off x="1897" y="1611"/>
              <a:ext cx="336" cy="3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57" name="Text Box 8"/>
            <p:cNvSpPr txBox="1">
              <a:spLocks noChangeArrowheads="1"/>
            </p:cNvSpPr>
            <p:nvPr/>
          </p:nvSpPr>
          <p:spPr bwMode="auto">
            <a:xfrm>
              <a:off x="2572" y="1611"/>
              <a:ext cx="336" cy="3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V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58" name="Text Box 9"/>
            <p:cNvSpPr txBox="1">
              <a:spLocks noChangeArrowheads="1"/>
            </p:cNvSpPr>
            <p:nvPr/>
          </p:nvSpPr>
          <p:spPr bwMode="auto">
            <a:xfrm>
              <a:off x="3248" y="1611"/>
              <a:ext cx="335" cy="3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U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59" name="Text Box 13"/>
            <p:cNvSpPr txBox="1">
              <a:spLocks noChangeArrowheads="1"/>
            </p:cNvSpPr>
            <p:nvPr/>
          </p:nvSpPr>
          <p:spPr bwMode="auto">
            <a:xfrm>
              <a:off x="3061" y="2160"/>
              <a:ext cx="336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>
                  <a:latin typeface="Times New Roman" pitchFamily="18" charset="0"/>
                </a:rPr>
                <a:t>+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60" name="Text Box 15"/>
            <p:cNvSpPr txBox="1">
              <a:spLocks noChangeArrowheads="1"/>
            </p:cNvSpPr>
            <p:nvPr/>
          </p:nvSpPr>
          <p:spPr bwMode="auto">
            <a:xfrm>
              <a:off x="4192" y="2150"/>
              <a:ext cx="336" cy="3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U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61" name="Text Box 16"/>
            <p:cNvSpPr txBox="1">
              <a:spLocks noChangeArrowheads="1"/>
            </p:cNvSpPr>
            <p:nvPr/>
          </p:nvSpPr>
          <p:spPr bwMode="auto">
            <a:xfrm>
              <a:off x="3653" y="2150"/>
              <a:ext cx="336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T</a:t>
              </a:r>
              <a:endParaRPr lang="ru-RU" altLang="ru-RU" sz="2400" i="1">
                <a:latin typeface="Times New Roman" pitchFamily="18" charset="0"/>
              </a:endParaRPr>
            </a:p>
          </p:txBody>
        </p:sp>
        <p:sp>
          <p:nvSpPr>
            <p:cNvPr id="27662" name="Line 19"/>
            <p:cNvSpPr>
              <a:spLocks noChangeShapeType="1"/>
            </p:cNvSpPr>
            <p:nvPr/>
          </p:nvSpPr>
          <p:spPr bwMode="auto">
            <a:xfrm flipH="1">
              <a:off x="2168" y="1341"/>
              <a:ext cx="404" cy="2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63" name="Line 20"/>
            <p:cNvSpPr>
              <a:spLocks noChangeShapeType="1"/>
            </p:cNvSpPr>
            <p:nvPr/>
          </p:nvSpPr>
          <p:spPr bwMode="auto">
            <a:xfrm>
              <a:off x="2699" y="1389"/>
              <a:ext cx="7" cy="2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64" name="Line 21"/>
            <p:cNvSpPr>
              <a:spLocks noChangeShapeType="1"/>
            </p:cNvSpPr>
            <p:nvPr/>
          </p:nvSpPr>
          <p:spPr bwMode="auto">
            <a:xfrm>
              <a:off x="2842" y="1341"/>
              <a:ext cx="413" cy="3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65" name="Line 25"/>
            <p:cNvSpPr>
              <a:spLocks noChangeShapeType="1"/>
            </p:cNvSpPr>
            <p:nvPr/>
          </p:nvSpPr>
          <p:spPr bwMode="auto">
            <a:xfrm flipH="1">
              <a:off x="3243" y="1888"/>
              <a:ext cx="148" cy="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66" name="Line 26"/>
            <p:cNvSpPr>
              <a:spLocks noChangeShapeType="1"/>
            </p:cNvSpPr>
            <p:nvPr/>
          </p:nvSpPr>
          <p:spPr bwMode="auto">
            <a:xfrm>
              <a:off x="3383" y="1880"/>
              <a:ext cx="331" cy="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67" name="Line 27"/>
            <p:cNvSpPr>
              <a:spLocks noChangeShapeType="1"/>
            </p:cNvSpPr>
            <p:nvPr/>
          </p:nvSpPr>
          <p:spPr bwMode="auto">
            <a:xfrm>
              <a:off x="3517" y="1880"/>
              <a:ext cx="675" cy="3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68" name="Text Box 13"/>
            <p:cNvSpPr txBox="1">
              <a:spLocks noChangeArrowheads="1"/>
            </p:cNvSpPr>
            <p:nvPr/>
          </p:nvSpPr>
          <p:spPr bwMode="auto">
            <a:xfrm>
              <a:off x="3243" y="2795"/>
              <a:ext cx="336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69" name="Text Box 13"/>
            <p:cNvSpPr txBox="1">
              <a:spLocks noChangeArrowheads="1"/>
            </p:cNvSpPr>
            <p:nvPr/>
          </p:nvSpPr>
          <p:spPr bwMode="auto">
            <a:xfrm>
              <a:off x="3742" y="2795"/>
              <a:ext cx="336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V</a:t>
              </a:r>
              <a:endParaRPr lang="ru-RU" altLang="ru-RU" sz="2400" i="1">
                <a:latin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70" name="Text Box 13"/>
            <p:cNvSpPr txBox="1">
              <a:spLocks noChangeArrowheads="1"/>
            </p:cNvSpPr>
            <p:nvPr/>
          </p:nvSpPr>
          <p:spPr bwMode="auto">
            <a:xfrm>
              <a:off x="3515" y="3294"/>
              <a:ext cx="336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>
                  <a:latin typeface="Times New Roman" pitchFamily="18" charset="0"/>
                </a:rPr>
                <a:t>*</a:t>
              </a: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71" name="Text Box 13"/>
            <p:cNvSpPr txBox="1">
              <a:spLocks noChangeArrowheads="1"/>
            </p:cNvSpPr>
            <p:nvPr/>
          </p:nvSpPr>
          <p:spPr bwMode="auto">
            <a:xfrm>
              <a:off x="4105" y="3294"/>
              <a:ext cx="336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F</a:t>
              </a:r>
              <a:endParaRPr lang="ru-RU" altLang="ru-RU" sz="2400" i="1">
                <a:latin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72" name="Text Box 13"/>
            <p:cNvSpPr txBox="1">
              <a:spLocks noChangeArrowheads="1"/>
            </p:cNvSpPr>
            <p:nvPr/>
          </p:nvSpPr>
          <p:spPr bwMode="auto">
            <a:xfrm>
              <a:off x="4649" y="3294"/>
              <a:ext cx="336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2400" i="1">
                  <a:latin typeface="Times New Roman" pitchFamily="18" charset="0"/>
                </a:rPr>
                <a:t>V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73" name="Text Box 13"/>
            <p:cNvSpPr txBox="1">
              <a:spLocks noChangeArrowheads="1"/>
            </p:cNvSpPr>
            <p:nvPr/>
          </p:nvSpPr>
          <p:spPr bwMode="auto">
            <a:xfrm>
              <a:off x="3833" y="3748"/>
              <a:ext cx="336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itchFamily="18" charset="0"/>
                </a:rPr>
                <a:t>a</a:t>
              </a:r>
              <a:endParaRPr lang="ru-RU" altLang="ru-RU" sz="2400" i="1">
                <a:latin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7674" name="Line 26"/>
            <p:cNvSpPr>
              <a:spLocks noChangeShapeType="1"/>
            </p:cNvSpPr>
            <p:nvPr/>
          </p:nvSpPr>
          <p:spPr bwMode="auto">
            <a:xfrm flipH="1">
              <a:off x="3470" y="2478"/>
              <a:ext cx="272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5" name="Line 27"/>
            <p:cNvSpPr>
              <a:spLocks noChangeShapeType="1"/>
            </p:cNvSpPr>
            <p:nvPr/>
          </p:nvSpPr>
          <p:spPr bwMode="auto">
            <a:xfrm>
              <a:off x="3833" y="2478"/>
              <a:ext cx="9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6" name="Line 28"/>
            <p:cNvSpPr>
              <a:spLocks noChangeShapeType="1"/>
            </p:cNvSpPr>
            <p:nvPr/>
          </p:nvSpPr>
          <p:spPr bwMode="auto">
            <a:xfrm flipH="1">
              <a:off x="3696" y="3113"/>
              <a:ext cx="137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7" name="Line 29"/>
            <p:cNvSpPr>
              <a:spLocks noChangeShapeType="1"/>
            </p:cNvSpPr>
            <p:nvPr/>
          </p:nvSpPr>
          <p:spPr bwMode="auto">
            <a:xfrm>
              <a:off x="3923" y="3113"/>
              <a:ext cx="227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8" name="Line 30"/>
            <p:cNvSpPr>
              <a:spLocks noChangeShapeType="1"/>
            </p:cNvSpPr>
            <p:nvPr/>
          </p:nvSpPr>
          <p:spPr bwMode="auto">
            <a:xfrm>
              <a:off x="4014" y="3113"/>
              <a:ext cx="635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7679" name="Line 31"/>
            <p:cNvSpPr>
              <a:spLocks noChangeShapeType="1"/>
            </p:cNvSpPr>
            <p:nvPr/>
          </p:nvSpPr>
          <p:spPr bwMode="auto">
            <a:xfrm flipH="1">
              <a:off x="4014" y="3612"/>
              <a:ext cx="227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268413"/>
          </a:xfrm>
        </p:spPr>
        <p:txBody>
          <a:bodyPr/>
          <a:lstStyle/>
          <a:p>
            <a:pPr algn="l"/>
            <a:r>
              <a:rPr lang="ru-RU" altLang="ru-RU" sz="2400" smtClean="0"/>
              <a:t>Пример. Анализ ошибочной цепочки     </a:t>
            </a:r>
            <a:r>
              <a:rPr lang="en-US" altLang="ru-RU" sz="24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i="1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altLang="ru-RU" sz="2400" smtClean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en-US" altLang="ru-RU" sz="24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altLang="ru-RU" sz="2400" baseline="-25000" smtClean="0"/>
              <a:t>┴</a:t>
            </a:r>
            <a:r>
              <a:rPr lang="ru-RU" altLang="ru-RU" sz="3500" i="1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graphicFrame>
        <p:nvGraphicFramePr>
          <p:cNvPr id="98307" name="Group 3"/>
          <p:cNvGraphicFramePr>
            <a:graphicFrameLocks noGrp="1"/>
          </p:cNvGraphicFramePr>
          <p:nvPr>
            <p:ph idx="4294967295"/>
          </p:nvPr>
        </p:nvGraphicFramePr>
        <p:xfrm>
          <a:off x="971550" y="1989138"/>
          <a:ext cx="6911975" cy="2593975"/>
        </p:xfrm>
        <a:graphic>
          <a:graphicData uri="http://schemas.openxmlformats.org/drawingml/2006/table">
            <a:tbl>
              <a:tblPr/>
              <a:tblGrid>
                <a:gridCol w="1295400"/>
                <a:gridCol w="1584325"/>
                <a:gridCol w="1873250"/>
                <a:gridCol w="2159000"/>
              </a:tblGrid>
              <a:tr h="45721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№ шага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Вход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Магазин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Правило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 </a:t>
                      </a: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alt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 </a:t>
                      </a:r>
                      <a:r>
                        <a:rPr kumimoji="0" lang="ru-RU" alt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</a:t>
                      </a: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aVU</a:t>
                      </a: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</a:t>
                      </a: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 </a:t>
                      </a: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alt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ru-RU" alt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aVU </a:t>
                      </a:r>
                      <a:r>
                        <a:rPr kumimoji="0" lang="ru-RU" alt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alt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  <a:r>
                        <a:rPr kumimoji="0" lang="ru-RU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ru-RU" alt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VU </a:t>
                      </a:r>
                      <a:r>
                        <a:rPr kumimoji="0" lang="ru-RU" alt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  </a:t>
                      </a: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λ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alt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 </a:t>
                      </a:r>
                      <a:r>
                        <a:rPr kumimoji="0" lang="ru-RU" alt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 →</a:t>
                      </a: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λ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alt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ОШИБКА</a:t>
                      </a: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alt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71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062E54E-FA96-45EB-A04A-0BBC0F42984F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3054</TotalTime>
  <Words>1052</Words>
  <Application>Microsoft Office PowerPoint</Application>
  <PresentationFormat>Экран (4:3)</PresentationFormat>
  <Paragraphs>398</Paragraphs>
  <Slides>27</Slides>
  <Notes>1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9" baseType="lpstr">
      <vt:lpstr>Оформление по умолчанию</vt:lpstr>
      <vt:lpstr>Формула</vt:lpstr>
      <vt:lpstr>ТОМСКИЙ ГОСУДАРСТВЕННЫЙ УНИВЕРСИТЕТ </vt:lpstr>
      <vt:lpstr>СИНТАКСИЧЕСКИЙ АНАЛИЗ </vt:lpstr>
      <vt:lpstr>Однозначность грамматики и языка</vt:lpstr>
      <vt:lpstr>Автомат с магазинной памятью (МПА)</vt:lpstr>
      <vt:lpstr>Презентация PowerPoint</vt:lpstr>
      <vt:lpstr>Презентация PowerPoint</vt:lpstr>
      <vt:lpstr>Презентация PowerPoint</vt:lpstr>
      <vt:lpstr>LL-анализ КС-грамматики автоматом с магазинной памятью </vt:lpstr>
      <vt:lpstr>Презентация PowerPoint</vt:lpstr>
      <vt:lpstr>Теорема.</vt:lpstr>
      <vt:lpstr>Презентация PowerPoint</vt:lpstr>
      <vt:lpstr>Презентация PowerPoint</vt:lpstr>
      <vt:lpstr>На рисунке изображено неявно строящееся при анализе дерево порождения  цепочки: a + a * a.</vt:lpstr>
      <vt:lpstr>Пример. Грамматика, эквивалентная грамматике простых арифметических выражений:   S → S + S |  S * S | (S) | a Для цепочки  a + a * a  существует два дерева порождения, т.е. грамматика неоднозначная! НМПА построит (неявно) оба дерева.</vt:lpstr>
      <vt:lpstr>Детерминированный LL-анализ  </vt:lpstr>
      <vt:lpstr>Презентация PowerPoint</vt:lpstr>
      <vt:lpstr>Презентация PowerPoint</vt:lpstr>
      <vt:lpstr>Нестрогая нормальная форма Грейбах </vt:lpstr>
      <vt:lpstr>Презентация PowerPoint</vt:lpstr>
      <vt:lpstr>Детерминированный LL-анализ  </vt:lpstr>
      <vt:lpstr>Преобразование порождающих правил: факторизация</vt:lpstr>
      <vt:lpstr>Построение LL(1)-анализатора</vt:lpstr>
      <vt:lpstr>Презентация PowerPoint</vt:lpstr>
      <vt:lpstr>Презентация PowerPoint</vt:lpstr>
      <vt:lpstr>Пример. Анализ цепочки a + a * a ┴ </vt:lpstr>
      <vt:lpstr>Презентация PowerPoint</vt:lpstr>
      <vt:lpstr>Пример. Анализ ошибочной цепочки     a ) ┴ </vt:lpstr>
    </vt:vector>
  </TitlesOfParts>
  <Company>ТГУ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АВТОМАТОВ И ФОРМАЛЬНЫХ ЯЗЫКОВ</dc:title>
  <dc:creator>Вход</dc:creator>
  <cp:lastModifiedBy>User</cp:lastModifiedBy>
  <cp:revision>96</cp:revision>
  <dcterms:created xsi:type="dcterms:W3CDTF">2009-09-02T15:38:32Z</dcterms:created>
  <dcterms:modified xsi:type="dcterms:W3CDTF">2024-02-03T16:47:36Z</dcterms:modified>
</cp:coreProperties>
</file>